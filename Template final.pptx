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7"/>
  </p:notesMasterIdLst>
  <p:sldIdLst>
    <p:sldId id="318" r:id="rId2"/>
    <p:sldId id="319" r:id="rId3"/>
    <p:sldId id="320" r:id="rId4"/>
    <p:sldId id="257" r:id="rId5"/>
    <p:sldId id="258" r:id="rId6"/>
    <p:sldId id="259"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56" r:id="rId25"/>
    <p:sldId id="278" r:id="rId26"/>
    <p:sldId id="279" r:id="rId27"/>
    <p:sldId id="280" r:id="rId28"/>
    <p:sldId id="26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 id="303" r:id="rId52"/>
    <p:sldId id="304" r:id="rId53"/>
    <p:sldId id="305" r:id="rId54"/>
    <p:sldId id="306" r:id="rId55"/>
    <p:sldId id="307" r:id="rId56"/>
    <p:sldId id="308" r:id="rId57"/>
    <p:sldId id="309" r:id="rId58"/>
    <p:sldId id="310" r:id="rId59"/>
    <p:sldId id="311" r:id="rId60"/>
    <p:sldId id="312" r:id="rId61"/>
    <p:sldId id="313" r:id="rId62"/>
    <p:sldId id="314" r:id="rId63"/>
    <p:sldId id="315" r:id="rId64"/>
    <p:sldId id="316" r:id="rId65"/>
    <p:sldId id="317" r:id="rId66"/>
  </p:sldIdLst>
  <p:sldSz cx="18288000" cy="10287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561"/>
    <p:restoredTop sz="94744"/>
  </p:normalViewPr>
  <p:slideViewPr>
    <p:cSldViewPr snapToGrid="0" snapToObjects="1">
      <p:cViewPr varScale="1">
        <p:scale>
          <a:sx n="76" d="100"/>
          <a:sy n="76" d="100"/>
        </p:scale>
        <p:origin x="712" y="20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9CAFFDE-4A13-2243-BFEC-2CC977B3E576}" type="datetimeFigureOut">
              <a:rPr lang="de-DE" smtClean="0"/>
              <a:t>16.10.26</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7C973EC-0DB4-5941-9624-EA1CD6E9C4BF}" type="slidenum">
              <a:rPr lang="de-DE" smtClean="0"/>
              <a:t>‹Nr.›</a:t>
            </a:fld>
            <a:endParaRPr lang="de-DE"/>
          </a:p>
        </p:txBody>
      </p:sp>
    </p:spTree>
    <p:extLst>
      <p:ext uri="{BB962C8B-B14F-4D97-AF65-F5344CB8AC3E}">
        <p14:creationId xmlns:p14="http://schemas.microsoft.com/office/powerpoint/2010/main" val="26139635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Fiktives Zukunftskonzept. Ausgangsproblem 150.000 EUR aus dem gelieferten Kundenszenario, keine Einspargarantie. Quellen: LeadPilot Pitch für Jens Hartwig Kopie.pptx; LeadPilot-Pitch-Hartwig-hell-2-bis-4 Kopie.pptx. Faktenblatt v1.2 Abschnitte 1, 9, 16: Mobile App bisher ausdrücklich ausgeschlossen. Expo ist hier eine neue Planungsidee. Funktionsvorbild https://www.mystandleads.com/de/ (13.10.2026). *Szenarioannahme des Kundenpitches. Bild KI-generiert, Konzeptvisualisierung.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Geplante Funktionen, keine Bestandsbehauptung. Funktionsumfang: https://www.mystandleads.com/de/ und bereitgestellte Screens in lp_mobile_feature/features_singleview. 13 Ansichten: Aktivierung, Datenvisualisierung, Cardview, Karten scannen, Kommunikation, Ratings, Fragebögen, Notizen, Dokumente versenden, Fotos, Unterschriften, Freihandskizzen, Präsentieren. Ergänzend Schnellstart, Teamwork, kontaktarme Nutzung, Export und Datenschutzanforderungen. LeadPilot-Anschluss an bestehende automatische Aufgaben-Zuweisung, KI-Scoring und Automatisierungen nach Paket: Faktenblatt v1.2 Abschnitte 2 und 16. 48 Stunden ist ein neu vorgeschlagenes Pilotziel; eine Wiedervorlage bedeutet nicht, dass schon Kontakt aufgenommen wurde. Smartphone-Ansicht: eigenständig gestalteter Prototyp, Beispieldaten.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Preisquelle: LeadPilot Faktenblatt v1.2 Abschnitt 2 und Persona Abschnitt 13: Growth 89 EUR pro Nutzer/Monat, 7 Nutzer = 623 EUR/Monat bzw. 7.476 EUR/Jahr vor Jahresrabatt, zzgl. Setup. Keine Paketpreise pro Account. Expo ohne separaten Modulaufschlag ist eine neue Konzeptentscheidung, kein bestehendes Angebot. 14 Tage Test, kein Freemium. Pro auf individuelles Angebot. Netto-B2B-Preise sind Konzeptannahme. Pilotziele sind nicht bereits erreicht. Frühestens Q3 2027 Vollumfang ist eine neue Planung unter Kapazitäts- und Datenschutzvorbehalt; bestehende v2.0/v2.1-Status bleiben unberührt. Keine Einsparungs- oder Umsatzgarantie. CTA bezeichnet einen Gesprächsvorschlag, keinen gebuchten Termin.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0:00–0:45 · Beamer zuerst AUS. Frage stellen: „Herr Hartwig, wo landen bei Ihnen nach der Messe die Anfragen?“ Antwort abwarten, dann Beamer an. Fakt: 60 Anfragen, ein Drittel versandet im Excel-Chaos. Überleitung: „Was das kostet, sehen wir gleich.“</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0:45–1:45 · Zwei Schmerzpunkte nacheinander. 1) Verlorene Leads = ca. 150.000 € Erstumsatz pro Jahr. 2) Jeden Freitag 3 Stunden Forecast aus Excel und Bauchgefühl. Kurz auf Salesforce eingehen: Pflichtfelder, hoher Aufwand, wenig Ertrag. Nachfragen: „Stimmt das so?“ Zahlen als Schätzung kennzeichnen und mit Hartwigs Werten abgleichen.</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1:45–3:15 · Beamer ggf. kurz aus, frei erzählen. Kern: keine 30 Pflichtfelder. Messe-Liste rein, LeadPilot fasst jeden Lead binnen 48 Stunden automatisch nach, der Freitags-Forecast kommt auf Knopfdruck aus dem Live-Dashboard. Gegen die Salesforce-Enttäuschung setzen: schlank, sofort nutzbar, für Vertriebler gebaut.</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3:15–4:15 · Social Proof ehrlich und knapp. 66 B2B-Mittelständler, 36 % Maschinenbau, DSGVO-konform, Hosting in Europa. NPS 34 offen nennen. Mini-Case: Maschinenbauer mit 6 Vertrieblern verliert keine Anfragen mehr und spart jede Woche Zeit beim Forecast. Überleitung: „Ob das bei Ihnen genauso funktioniert, zeigen echte Daten.“</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4:15–5:00 · Beamer AUS. Direkter Kontakt, Blickkontakt. Angebot: Dienstag, 30 Minuten, die letzte Messe-Liste live in LeadPilot aufbereiten, mit echten Daten und Forecast. Abschlussfrage: „Passt Ihnen Dienstag?“ Danach schweigen und auf Antwort warten.</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0:00–0:45 · Beamer zuerst AUS. Frage stellen: „Herr Hartwig, wo landen bei Ihnen nach der Messe die Anfragen?“ Antwort abwarten, dann Beamer an. Fakt: 60 Anfragen, ein Drittel versandet im Excel-Chaos. Überleitung: „Was das kostet, sehen wir gleich.“</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0:45–1:45 · Zwei Schmerzpunkte nacheinander. 1) Verlorene Leads = ca. 150.000 € Erstumsatz pro Jahr. 2) Jeden Freitag 3 Stunden Forecast aus Excel und Bauchgefühl. Kurz auf Salesforce eingehen: Pflichtfelder, hoher Aufwand, wenig Ertrag. Nachfragen: „Stimmt das so?“ Zahlen als Schätzung kennzeichnen und mit Hartwigs Werten abgleichen.</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1:45–3:15 · Beamer ggf. kurz aus, frei erzählen. Kern: keine 30 Pflichtfelder. Messe-Liste rein, LeadPilot fasst jeden Lead binnen 48 Stunden automatisch nach, der Freitags-Forecast kommt auf Knopfdruck aus dem Live-Dashboard. Gegen die Salesforce-Enttäuschung setzen: schlank, sofort nutzbar, für Vertriebler gebaut.</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3:15–4:15 · Social Proof ehrlich und knapp. 66 B2B-Mittelständler, 36 % Maschinenbau, DSGVO-konform, Hosting in Europa. NPS 34 offen nennen. Mini-Case: Maschinenbauer mit 6 Vertrieblern verliert keine Anfragen mehr und spart jede Woche Zeit beim Forecast. Überleitung: „Ob das bei Ihnen genauso funktioniert, zeigen echte Daten.“</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4:15–5:00 · Beamer AUS. Direkter Kontakt, Blickkontakt. Angebot: Dienstag, 30 Minuten, die letzte Messe-Liste live in LeadPilot aufbereiten, mit echten Daten und Forecast. Abschlussfrage: „Passt Ihnen Dienstag?“ Danach schweigen und auf Antwort warten.</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45 Sekunden. Herr Hartwig, die Messe ist vorbei. Ihr Team hat gute Gespräche geführt und die Kontaktlisten verteilt. Im Tagesgeschäft bleiben einige Anfragen liegen. Sie merken das erst Wochen später. Genau an dieser Stelle setzt LeadPilot an. Sie brauchen einen verlässlichen nächsten Schritt für jede Anfrage und einen Überblick, der Ihnen das Nachfragen erspart.</a:t>
            </a:r>
          </a:p>
          <a:p>
            <a:endParaRPr/>
          </a:p>
          <a:p>
            <a:r>
              <a:t>Quelle: 2.8.1 Grundlagen der Verkaufspräsentation – Lösungen.docx.pdf, bereitgestelltes Pitch-Dossier. Alle Firmen, Personen, Produktwerte und Preise gehören zum fiktiven LeadPilot-Lernprojekt. Gestaltung: bereitgestelltes LeadPilot-Designsystem, readme.md und tokens/colors.css. Logo: assets/logo/leadpilot-wordmark.svg. Zitat und Einstieg aus Aufgabe 2, Zitat verkürzt.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60 Sekunden. Im Dossier stehen zwei Belastungen. Erstens bleiben Messe-Anfragen ohne Rückruf. Das angenommene Potenzial von zwei zusätzlichen Aufträgen je Messe ergibt bei drei Messen und 25.000 Euro pro Auftrag 150.000 Euro Erstumsatz. Das ist eine Szenario-Rechnung, keine Umsatzgarantie und kein belegter Schaden. Zweitens verbringen Sie jeden Freitag drei Stunden mit dem Forecast. Bei 50 Arbeitswochen sind das rund 150 Stunden. Wie viel sich davon zurückgewinnen lässt, prüfen wir gemeinsam. Beide Punkte wirken direkt auf Ihren Alltag und das Vertrauen der Geschäftsführung.</a:t>
            </a:r>
          </a:p>
          <a:p>
            <a:endParaRPr/>
          </a:p>
          <a:p>
            <a:r>
              <a:t>Quelle: 2.8.1 Grundlagen der Verkaufspräsentation – Lösungen.docx.pdf, bereitgestelltes Pitch-Dossier. Alle Firmen, Personen, Produktwerte und Preise gehören zum fiktiven LeadPilot-Lernprojekt. Gestaltung: bereitgestelltes LeadPilot-Designsystem, readme.md und tokens/colors.css. Logo: assets/logo/leadpilot-wordmark.svg. Aufgabe 2, Pain hinter dem Pain. Rechenannahme 50 Wochen für die gerundete Jahreszahl.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65 Sekunden. Mit LeadPilot bekommt jeder Ihrer Messe-Leads automatisch einen nächsten Schritt und einen Verantwortlichen. Damit erkennt Ihr Team, welche Anfrage heute dran ist. Sie sehen offene und überfällige Schritte an einer Stelle, statt sieben Listen durchzugehen. Der zweite Nutzen ist Ihr Freitags-Forecast. Das Dashboard greift auf die laufenden Deals zurück. Sie müssen den Stand nicht jede Woche neu zusammensuchen. Ein Forecast bleibt nur so belastbar wie die gepflegten Deal-Daten. Deshalb prüfen wir in der Testphase auch, ob Ihr Team den Stand im Alltag aktuell hält.</a:t>
            </a:r>
          </a:p>
          <a:p>
            <a:endParaRPr/>
          </a:p>
          <a:p>
            <a:r>
              <a:t>Quelle: 2.8.1 Grundlagen der Verkaufspräsentation – Lösungen.docx.pdf, bereitgestelltes Pitch-Dossier. Alle Firmen, Personen, Produktwerte und Preise gehören zum fiktiven LeadPilot-Lernprojekt. Gestaltung: bereitgestelltes LeadPilot-Designsystem, readme.md und tokens/colors.css. Logo: assets/logo/leadpilot-wordmark.svg. Aufgabe 3, ausgewählte Argumente 1 und 2. Die absoluten Erfolgsversprechen der Vorlage sind als überprüfbare Nutzenbeschreibung formuliert.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65 Sekunden. Nach Ihrer früheren CRM-Erfahrung ist entscheidend, dass Ihr Team diesmal wirklich damit arbeitet. Deshalb starten wir mit einer überschaubaren Messe-Liste und beziehen den Innendienst ein. In den 14 Tagen beobachten wir zwei Dinge: Welchen Anteil der Anfragen erreicht Ihr Team innerhalb von 48 Stunden? Und wie lange brauchen Sie am Freitag für einen nachvollziehbaren Forecast? Die 48 Stunden sind ein Prüfziel aus Ihrer Nutzenargumentation, keine garantierte Reaktionszeit. Einen belegten Vorher-Nachher-Kundenfall enthält das Dossier nicht. Für Ihre Entscheidung zählt deshalb der Test an Ihrem eigenen Prozess.</a:t>
            </a:r>
          </a:p>
          <a:p>
            <a:endParaRPr/>
          </a:p>
          <a:p>
            <a:r>
              <a:t>Quelle: 2.8.1 Grundlagen der Verkaufspräsentation – Lösungen.docx.pdf, bereitgestelltes Pitch-Dossier. Alle Firmen, Personen, Produktwerte und Preise gehören zum fiktiven LeadPilot-Lernprojekt. Gestaltung: bereitgestelltes LeadPilot-Designsystem, readme.md und tokens/colors.css. Logo: assets/logo/leadpilot-wordmark.svg. Aufgabe 1: 14 Tage Testversion. Aufgabe 3: 48-Stunden-Nutzenziel. Aufgabe 4: Team-Test nach der Demo. Testgestaltung als Vorschlag, nicht als bestehender Erfolgsnachweis.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65 Sekunden. Für sieben Nutzer kostet Starter 343 Euro pro Monat, monatlich kündbar. Wenn Sie KI-Scoring benötigen, liegt Growth bei 623 Euro pro Monat. Ab Growth kommt eine Onboarding-Gebühr hinzu. Deren genaue Höhe ist im Dossier offen und muss vor einer Buchung geklärt werden. Wir entscheiden zuerst, ob der Ablauf für Ihr Team passt. Herr Hartwig, lassen Sie uns in einer 30-minütigen Demo Ihre letzte Messe-Liste durchgehen. Ich zeige Ihnen, welche Anfragen noch offen sind und wie LeadPilot die nächsten Schritte zuordnet. Danach können Sie 14 Tage mit Ihrem Team testen. Passt Ihnen Dienstag um 10 Uhr?</a:t>
            </a:r>
          </a:p>
          <a:p>
            <a:endParaRPr/>
          </a:p>
          <a:p>
            <a:r>
              <a:t>Quelle: 2.8.1 Grundlagen der Verkaufspräsentation – Lösungen.docx.pdf, bereitgestelltes Pitch-Dossier. Alle Firmen, Personen, Produktwerte und Preise gehören zum fiktiven LeadPilot-Lernprojekt. Gestaltung: bereitgestelltes LeadPilot-Designsystem, readme.md und tokens/colors.css. Logo: assets/logo/leadpilot-wordmark.svg. Aufgabe 4, Angebot und CTA. Der Termin ist ein Vorschlag, keine Buchung. Die Demo setzt eine Liste mit Kontakt- und Bearbeitungsstatus voraus.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45 Sekunden. Herr Hartwig, die Messe ist vorbei. Ihr Team hat gute Gespräche geführt und die Kontaktlisten verteilt. Im Tagesgeschäft bleiben einige Anfragen liegen. Sie merken das erst Wochen später. Genau an dieser Stelle setzt LeadPilot an. Sie brauchen einen verlässlichen nächsten Schritt für jede Anfrage und einen Überblick, der Ihnen das Nachfragen erspart.</a:t>
            </a:r>
          </a:p>
          <a:p>
            <a:endParaRPr/>
          </a:p>
          <a:p>
            <a:r>
              <a:t>Quelle: 2.8.1 Grundlagen der Verkaufspräsentation – Lösungen.docx.pdf, bereitgestelltes Pitch-Dossier. Alle Firmen, Personen, Produktwerte und Preise gehören zum fiktiven LeadPilot-Lernprojekt. Gestaltung: bereitgestelltes LeadPilot-Designsystem, readme.md und tokens/colors.css. Logo: vom Nutzer bereitgestellt, Bilder/Final/Logo(final-detailed-big).png. Zitat und Einstieg aus Aufgabe 2, Zitat verkürzt. Grafik: KI-generierte Illustration zu Messekontakten (Imagegen).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60 Sekunden. Im Dossier stehen zwei Belastungen. Erstens bleiben Messe-Anfragen ohne Rückruf. Das angenommene Potenzial von zwei zusätzlichen Aufträgen je Messe ergibt bei drei Messen und 25.000 Euro pro Auftrag 150.000 Euro Erstumsatz. Das ist eine Szenario-Rechnung, keine Umsatzgarantie und kein belegter Schaden. Zweitens verbringen Sie jeden Freitag drei Stunden mit dem Forecast. Bei 50 Arbeitswochen sind das rund 150 Stunden. Wie viel sich davon zurückgewinnen lässt, prüfen wir gemeinsam. Beide Punkte wirken direkt auf Ihren Alltag und das Vertrauen der Geschäftsführung.</a:t>
            </a:r>
          </a:p>
          <a:p>
            <a:endParaRPr/>
          </a:p>
          <a:p>
            <a:r>
              <a:t>Quelle: 2.8.1 Grundlagen der Verkaufspräsentation – Lösungen.docx.pdf, bereitgestelltes Pitch-Dossier. Alle Firmen, Personen, Produktwerte und Preise gehören zum fiktiven LeadPilot-Lernprojekt. Gestaltung: bereitgestelltes LeadPilot-Designsystem, readme.md und tokens/colors.css. Logo: vom Nutzer bereitgestellt, Bilder/Final/Logo(final-detailed-big).png. Aufgabe 2, Pain hinter dem Pain. Rechenannahme 50 Wochen für die gerundete Jahreszahl.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65 Sekunden. Mit LeadPilot bekommt jeder Ihrer Messe-Leads automatisch einen nächsten Schritt und einen Verantwortlichen. Damit erkennt Ihr Team, welche Anfrage heute dran ist. Sie sehen offene und überfällige Schritte an einer Stelle, statt sieben Listen durchzugehen. Der zweite Nutzen ist Ihr Freitags-Forecast. Das Dashboard greift auf die laufenden Deals zurück. Sie müssen den Stand nicht jede Woche neu zusammensuchen. Ein Forecast bleibt nur so belastbar wie die gepflegten Deal-Daten. Deshalb prüfen wir in der Testphase auch, ob Ihr Team den Stand im Alltag aktuell hält.</a:t>
            </a:r>
          </a:p>
          <a:p>
            <a:endParaRPr/>
          </a:p>
          <a:p>
            <a:r>
              <a:t>Quelle: 2.8.1 Grundlagen der Verkaufspräsentation – Lösungen.docx.pdf, bereitgestelltes Pitch-Dossier. Alle Firmen, Personen, Produktwerte und Preise gehören zum fiktiven LeadPilot-Lernprojekt. Gestaltung: bereitgestelltes LeadPilot-Designsystem, readme.md und tokens/colors.css. Logo: vom Nutzer bereitgestellt, Bilder/Final/Logo(final-detailed-big).png. Aufgabe 3, ausgewählte Argumente 1 und 2. Die absoluten Erfolgsversprechen der Vorlage sind als überprüfbare Nutzenbeschreibung formuliert.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65 Sekunden. Nach Ihrer früheren CRM-Erfahrung ist entscheidend, dass Ihr Team diesmal wirklich damit arbeitet. Deshalb starten wir mit einer überschaubaren Messe-Liste und beziehen den Innendienst ein. In den 14 Tagen beobachten wir zwei Dinge: Welchen Anteil der Anfragen erreicht Ihr Team innerhalb von 48 Stunden? Und wie lange brauchen Sie am Freitag für einen nachvollziehbaren Forecast? Die 48 Stunden sind ein Prüfziel aus Ihrer Nutzenargumentation, keine garantierte Reaktionszeit. Einen belegten Vorher-Nachher-Kundenfall enthält das Dossier nicht. Für Ihre Entscheidung zählt deshalb der Test an Ihrem eigenen Prozess.</a:t>
            </a:r>
          </a:p>
          <a:p>
            <a:endParaRPr/>
          </a:p>
          <a:p>
            <a:r>
              <a:t>Quelle: 2.8.1 Grundlagen der Verkaufspräsentation – Lösungen.docx.pdf, bereitgestelltes Pitch-Dossier. Alle Firmen, Personen, Produktwerte und Preise gehören zum fiktiven LeadPilot-Lernprojekt. Gestaltung: bereitgestelltes LeadPilot-Designsystem, readme.md und tokens/colors.css. Logo: vom Nutzer bereitgestellt, Bilder/Final/Logo(final-detailed-big).png. Aufgabe 1: 14 Tage Testversion. Aufgabe 3: 48-Stunden-Nutzenziel. Aufgabe 4: Team-Test nach der Demo. Testgestaltung als Vorschlag, nicht als bestehender Erfolgsnachweis.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65 Sekunden. Für sieben Nutzer kostet Starter 343 Euro pro Monat, monatlich kündbar. Wenn Sie KI-Scoring benötigen, liegt Growth bei 623 Euro pro Monat. Ab Growth kommt eine Onboarding-Gebühr hinzu. Deren genaue Höhe ist im Dossier offen und muss vor einer Buchung geklärt werden. Wir entscheiden zuerst, ob der Ablauf für Ihr Team passt. Herr Hartwig, lassen Sie uns in einer 30-minütigen Demo Ihre letzte Messe-Liste durchgehen. Ich zeige Ihnen, welche Anfragen noch offen sind und wie LeadPilot die nächsten Schritte zuordnet. Danach können Sie 14 Tage mit Ihrem Team testen. Passt Ihnen Dienstag um 10 Uhr?</a:t>
            </a:r>
          </a:p>
          <a:p>
            <a:endParaRPr/>
          </a:p>
          <a:p>
            <a:r>
              <a:t>Quelle: 2.8.1 Grundlagen der Verkaufspräsentation – Lösungen.docx.pdf, bereitgestelltes Pitch-Dossier. Alle Firmen, Personen, Produktwerte und Preise gehören zum fiktiven LeadPilot-Lernprojekt. Gestaltung: bereitgestelltes LeadPilot-Designsystem, readme.md und tokens/colors.css. Logo: vom Nutzer bereitgestellt, Bilder/Final/Logo(final-detailed-big).png. Aufgabe 4, Angebot und CTA. Der Termin ist ein Vorschlag, keine Buchung. Die Demo setzt eine Liste mit Kontakt- und Bearbeitungsstatus voraus. Grafik: KI-generierte Illustration zu Demo-Termin und Kontaktliste (Imagegen).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Minute 1, Beamer noch aus: Erst sprechen, dann die Folie zeigen. Einstieg: „Herr Hartwig, Sie waren auf der Messe. 60 Anfragen am Stand. Wie viele davon hat Ihr Team innerhalb einer Woche angerufen?“ Pause. Dann Folie: Ein Drittel, also 20 Anfragen, versandet im Excel. Das Zitat „Leads haben wir genug.“ aufgreifen: Leads sind nicht das Problem, das Nachfassen ist. Ca. 60 Sekunden.</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Minute 2, jetzt Beamer an. Links: 3 Messen pro Jahr, je 2 Aufträge à 25.000 € gehen verloren, weil niemand nachfasst. Das sind 150.000 € möglicher Erstumsatz. Das ist eine Szenario-Schätzung, so ehrlich benennen. Rechts: Jeden Freitag 3 Stunden für den Forecast, 50 Wochen im Jahr, 150 Stunden. Zeit, die Herrn Hartwig beim Kunden fehlt. Schlusssatz: Drei Stunden jeden Freitag für ein Bauchgefühl. Ca. 60 Sekunden.</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Minute 3 bis 4, Kern des Pitches. Beamer kann hier auch kurz aus, dann Blickkontakt. Zwei Argumente, nicht mehr. Erstens: Jede Messe-Anfrage bekommt einen Namen und einen Termin für den nächsten Schritt, das Team sieht, was in 48 Stunden offen ist. Zweitens: Der Freitags-Forecast entsteht aus den laufenden Deals, ohne Zusammentragen. Dann die Brücke zur Salesforce-Enttäuschung: Keine 30 Pflichtfelder, nur das, was zählt. Ca. 90 Sekunden.</a:t>
            </a:r>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Minute 4, kurz halten. Nicht alle Zahlen vorlesen. Drei Aussagen: 66 Mittelständler nutzen LeadPilot, gut ein Drittel davon im Maschinenbau, also Herrn Hartwigs Welt. NPS 34. Und: 100 % DSGVO-konform, Hosting in Europa, das beantwortet die Frage, die Herr Hartwig sonst stellt. Dann die Mini-Referenz in einem Satz. Hinweis: Die Zahlen stammen aus dem fiktiven Pitch-Dossier. Ca. 45 Sekunden.</a:t>
            </a:r>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Minute 5, Beamer wieder aus oder auf dieser Folie stehen lassen. Der Ablauf in drei Sätzen: Dienstag 30 Minuten Demo mit Ihrer letzten Messe-Liste, danach 14 Tage Test mit Ihrem Team, Starter ab 343 € pro Monat (7 Nutzer × 49 €), Growth mit KI-Scoring 623 € pro Monat (7 × 89 €), zuzüglich einmaliger Onboarding-Gebühr, Höhe noch offen. Dann der Schlusssatz wörtlich, Blickkontakt, Stille: „Herr Hartwig, passt Ihnen Dienstag um 10 Uhr?“ Ca. 45 Sekunden.</a:t>
            </a:r>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de"/>
              <a:t>Minute 1 (Beamer idealerweise anfangs aus): Einstieg ohne Umschweife direkt in Herrn Hartwigs Alltag. „Herr Hartwig, Sie kommen von der Messe zurück: 60 qualifizierte Anfragen am Stand. Wie viele davon hat Ihr 7-köpfiges Vertriebsteam innerhalb einer Woche angerufen?“ Kurze Pause wirken lassen. Dann Folie zeigen: Ein Drittel – ganze 20 Anfragen – versandet erfahrungsgemäß im Excel-Chaos. Das Zitat von Herrn Hartwig aufgreifen: „Leads haben wir genug.“ Genau darum geht es: Die Leads sind da, die Messe war teuer bezahlt, aber das strukturierte Nachfassen scheitert an dezentralen Listen. Dauer: ca. 60 Sekunden.</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Google Shape;77;slide_179183550277399900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 name="Google Shape;78;slide_179183550277399900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de"/>
              <a:t>Minute 2: Den konkreten Schmerz in Zahlen übersetzen. Links: Bei 3 Messen im Jahr genügen 2 verloren gegangene Aufträge à 25.000 € pro Messe – und schon liegen 150.000 € bezahlter Erstumsatz auf der Straße, den sich der Wettbewerber holt. Rechts: Jeden Freitag sitzt Herr Hartwig 3 Stunden daran, Zahlen aus 7 Excel-Listen zusammenzukratzen – aufs Jahr gerechnet rund 150 Stunden. Zeit, die er nicht beim Kunden oder im Coaching seiner 2 neuen Vertriebler verbringen kann. Und das Bittere daran: Vor Herrn Weidner bleibt es trotzdem nur ein geratenes Bauchgefühl. Zeit: ca. 60 Sekunden.</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slide_1791835502774041000_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slide_1791835502774041000_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de"/>
              <a:t>Minute 3 bis 4: Kern des Pitches. Jetzt Blickkontakt halten. Genau die zwei stärksten Argumente präsentieren – nicht mehr: Erstens: Automatische Wiedervorlage – nach dem Import hat jede Anfrage innerhalb von Minuten einen Namen und einen Termin für den nächsten Schritt. Nach 48 Stunden ist jede Anfrage kontaktiert. Zweitens: Der Freitags-Forecast ist fertig, bevor Herr Hartwig ins Büro kommt, direkt aus den aktiven Deals. Und ganz entscheidend für seine Skepsis nach dem Salesforce-Flop 2023: Keine 30 Pflichtfelder, keine IT-Einführung über 8 Monate. Schlank und sofort nutzbar. Zeit: ca. 90 Sekunden.</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slide_1791835502774082000_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7" name="Google Shape;127;slide_1791835502774082000_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de"/>
              <a:t>Minute 4: Nicht alle Zahlen stur vorlesen, sondern die 3 Kernbotschaften betonen: 1. 66 B2B-Kunden, davon über ein Drittel (36 %) genau wie Weidner im Maschinenbau. Das System ist für Weidners Welt gebaut, nicht für Silicon-Valley-Startups. 2. NPS 34 bedeutet echte Weiterempfehlung und Begeisterung im Team. 3. 100 % DSGVO-konform mit europäischem Hosting nimmt IT- und Datenschutzbedenken sofort vom Tisch. Die Mini-Referenz zeigt: Ein Team gleicher Größe spart sofort wöchentlich Stunden und verliert keine Deals mehr. Zeit: ca. 45 Sekunden.</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slide_1791835502774123000_1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6" name="Google Shape;156;slide_1791835502774123000_1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de"/>
              <a:t>Minute 5: Der Abschluss. Beamer kann hier auf der Abschlussfolie stehen bleiben oder ausgeschaltet werden für vollen Blickkontakt. Die drei Schritte kurz zusammenfassen: 1. 30 Minuten Demo am Dienstag mit seiner echten Messe-Liste. 2. 14 Tage kostenloser Test für das ganze Team. 3. Faires Modell: 343 € im Monat, monatlich kündbar. Dann der Schlusssatz wörtlich, Blickkontakt, absolute Stille und auf Antwort warten: „Herr Hartwig, schicken Sie mir die Kontaktliste Ihrer letzten Messe, und ich zeige Ihnen am Dienstag in 30 Minuten, welche Anfragen heute noch offen wären und was LeadPilot daraus gemacht hätte. Passt Ihnen 10 Uhr?“ Zeit: ca. 45 Sekunden.</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10/16/26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10/16/26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10/16/26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Title and body">
    <p:bg>
      <p:bgPr>
        <a:solidFill>
          <a:srgbClr val="0B211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219200" y="1668662"/>
            <a:ext cx="15849600" cy="838200"/>
          </a:xfrm>
          <a:prstGeom prst="rect">
            <a:avLst/>
          </a:prstGeom>
          <a:noFill/>
          <a:ln/>
        </p:spPr>
        <p:txBody>
          <a:bodyPr wrap="square" lIns="0" tIns="0" rIns="0" bIns="0" rtlCol="0" anchor="t"/>
          <a:lstStyle>
            <a:lvl1pPr marL="0" indent="0" algn="l">
              <a:lnSpc>
                <a:spcPct val="115000"/>
              </a:lnSpc>
              <a:buNone/>
              <a:defRPr lang="en-US" sz="6000" dirty="0">
                <a:solidFill>
                  <a:srgbClr val="FFFFFF"/>
                </a:solidFill>
                <a:latin typeface="LeadPilot Grotesk" pitchFamily="34" charset="0"/>
                <a:ea typeface="LeadPilot Grotesk" pitchFamily="34" charset="-122"/>
                <a:cs typeface="LeadPilot Grotesk" pitchFamily="34" charset="-120"/>
              </a:defRPr>
            </a:lvl1pPr>
          </a:lstStyle>
          <a:p>
            <a:pPr marL="0" indent="0" algn="l">
              <a:lnSpc>
                <a:spcPct val="115000"/>
              </a:lnSpc>
              <a:buNone/>
            </a:pPr>
            <a:endParaRPr lang="en-US" sz="6000" dirty="0"/>
          </a:p>
        </p:txBody>
      </p:sp>
      <p:sp>
        <p:nvSpPr>
          <p:cNvPr id="3" name="Text Placeholder 2"/>
          <p:cNvSpPr>
            <a:spLocks noGrp="1"/>
          </p:cNvSpPr>
          <p:nvPr>
            <p:ph type="body" idx="101"/>
          </p:nvPr>
        </p:nvSpPr>
        <p:spPr>
          <a:xfrm>
            <a:off x="1219200" y="2964062"/>
            <a:ext cx="15849600" cy="6103739"/>
          </a:xfrm>
          <a:prstGeom prst="rect">
            <a:avLst/>
          </a:prstGeom>
          <a:noFill/>
          <a:ln/>
        </p:spPr>
        <p:txBody>
          <a:bodyPr wrap="square" lIns="0" tIns="0" rIns="0" bIns="0" rtlCol="0" anchor="t"/>
          <a:lstStyle>
            <a:lvl1pPr marL="0" indent="0" algn="l">
              <a:lnSpc>
                <a:spcPct val="140000"/>
              </a:lnSpc>
              <a:buNone/>
              <a:defRPr lang="en-US" sz="2400" dirty="0">
                <a:solidFill>
                  <a:srgbClr val="FFFFFF"/>
                </a:solidFill>
                <a:latin typeface="Inter" pitchFamily="34" charset="0"/>
                <a:ea typeface="Inter" pitchFamily="34" charset="-122"/>
                <a:cs typeface="Inter" pitchFamily="34" charset="-120"/>
              </a:defRPr>
            </a:lvl1pPr>
          </a:lstStyle>
          <a:p>
            <a:pPr marL="0" indent="0" algn="l">
              <a:lnSpc>
                <a:spcPct val="140000"/>
              </a:lnSpc>
              <a:buNone/>
            </a:pPr>
            <a:endParaRPr lang="en-US" sz="2400" dirty="0"/>
          </a:p>
        </p:txBody>
      </p:sp>
    </p:spTree>
    <p:extLst>
      <p:ext uri="{BB962C8B-B14F-4D97-AF65-F5344CB8AC3E}">
        <p14:creationId xmlns:p14="http://schemas.microsoft.com/office/powerpoint/2010/main" val="17796398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10/16/26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‹Nr.›</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5.svg"/></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9.xml"/><Relationship Id="rId1" Type="http://schemas.openxmlformats.org/officeDocument/2006/relationships/slideLayout" Target="../slideLayouts/slideLayout7.xml"/><Relationship Id="rId4" Type="http://schemas.openxmlformats.org/officeDocument/2006/relationships/image" Target="../media/image25.png"/></Relationships>
</file>

<file path=ppt/slides/_rels/slide4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3.xml"/><Relationship Id="rId1" Type="http://schemas.openxmlformats.org/officeDocument/2006/relationships/slideLayout" Target="../slideLayouts/slideLayout7.xml"/><Relationship Id="rId4" Type="http://schemas.openxmlformats.org/officeDocument/2006/relationships/image" Target="../media/image26.png"/></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6.xml"/><Relationship Id="rId1" Type="http://schemas.openxmlformats.org/officeDocument/2006/relationships/slideLayout" Target="../slideLayouts/slideLayout12.xml"/><Relationship Id="rId5" Type="http://schemas.openxmlformats.org/officeDocument/2006/relationships/image" Target="../media/image29.png"/><Relationship Id="rId4" Type="http://schemas.openxmlformats.org/officeDocument/2006/relationships/image" Target="../media/image28.png"/></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7.xml"/><Relationship Id="rId4" Type="http://schemas.openxmlformats.org/officeDocument/2006/relationships/image" Target="../media/image36.png"/></Relationships>
</file>

<file path=ppt/slides/_rels/slide61.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7.xml"/><Relationship Id="rId5" Type="http://schemas.openxmlformats.org/officeDocument/2006/relationships/image" Target="../media/image41.png"/><Relationship Id="rId4" Type="http://schemas.openxmlformats.org/officeDocument/2006/relationships/image" Target="../media/image40.png"/></Relationships>
</file>

<file path=ppt/slides/_rels/slide63.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Grafik 15">
            <a:extLst>
              <a:ext uri="{FF2B5EF4-FFF2-40B4-BE49-F238E27FC236}">
                <a16:creationId xmlns:a16="http://schemas.microsoft.com/office/drawing/2014/main" id="{4CEE630D-B22C-451B-A619-9C8E3C8A2BAB}"/>
              </a:ext>
            </a:extLst>
          </p:cNvPr>
          <p:cNvPicPr>
            <a:picLocks noChangeAspect="1"/>
          </p:cNvPicPr>
          <p:nvPr/>
        </p:nvPicPr>
        <p:blipFill>
          <a:blip r:embed="rId3"/>
          <a:srcRect t="27" b="27"/>
          <a:stretch>
            <a:fillRect/>
          </a:stretch>
        </p:blipFill>
        <p:spPr>
          <a:xfrm>
            <a:off x="0" y="0"/>
            <a:ext cx="18288000" cy="10287000"/>
          </a:xfrm>
          <a:prstGeom prst="rect">
            <a:avLst/>
          </a:prstGeom>
        </p:spPr>
      </p:pic>
      <p:sp>
        <p:nvSpPr>
          <p:cNvPr id="2" name="Rechteck 1">
            <a:extLst>
              <a:ext uri="{FF2B5EF4-FFF2-40B4-BE49-F238E27FC236}">
                <a16:creationId xmlns:a16="http://schemas.microsoft.com/office/drawing/2014/main" id="{4740FE4C-B97E-4EAC-B27D-54295BB9622A}"/>
              </a:ext>
            </a:extLst>
          </p:cNvPr>
          <p:cNvSpPr>
            <a:spLocks noGrp="1"/>
          </p:cNvSpPr>
          <p:nvPr/>
        </p:nvSpPr>
        <p:spPr>
          <a:xfrm>
            <a:off x="1" y="0"/>
            <a:ext cx="10215563" cy="10287000"/>
          </a:xfrm>
          <a:prstGeom prst="rect">
            <a:avLst/>
          </a:prstGeom>
          <a:solidFill>
            <a:srgbClr val="0B211F"/>
          </a:solidFill>
          <a:ln w="0">
            <a:noFill/>
          </a:ln>
        </p:spPr>
      </p:sp>
      <p:sp>
        <p:nvSpPr>
          <p:cNvPr id="3" name="Rechteck 2">
            <a:extLst>
              <a:ext uri="{FF2B5EF4-FFF2-40B4-BE49-F238E27FC236}">
                <a16:creationId xmlns:a16="http://schemas.microsoft.com/office/drawing/2014/main" id="{3E0D5730-326D-4C10-B5D1-E979BA2EBFDF}"/>
              </a:ext>
            </a:extLst>
          </p:cNvPr>
          <p:cNvSpPr>
            <a:spLocks noGrp="1"/>
          </p:cNvSpPr>
          <p:nvPr/>
        </p:nvSpPr>
        <p:spPr>
          <a:xfrm>
            <a:off x="10215563" y="0"/>
            <a:ext cx="214313" cy="10287000"/>
          </a:xfrm>
          <a:prstGeom prst="rect">
            <a:avLst/>
          </a:prstGeom>
          <a:solidFill>
            <a:srgbClr val="0B211F"/>
          </a:solidFill>
          <a:ln w="0">
            <a:noFill/>
          </a:ln>
        </p:spPr>
      </p:sp>
      <p:pic>
        <p:nvPicPr>
          <p:cNvPr id="4" name="Grafik 3">
            <a:extLst>
              <a:ext uri="{FF2B5EF4-FFF2-40B4-BE49-F238E27FC236}">
                <a16:creationId xmlns:a16="http://schemas.microsoft.com/office/drawing/2014/main" id="{8D3BADF7-2189-44C5-920B-4DC6111A8A91}"/>
              </a:ext>
            </a:extLst>
          </p:cNvPr>
          <p:cNvPicPr>
            <a:picLocks noChangeAspect="1"/>
          </p:cNvPicPr>
          <p:nvPr/>
        </p:nvPicPr>
        <p:blipFill>
          <a:blip r:embed="rId4"/>
          <a:stretch/>
        </p:blipFill>
        <p:spPr>
          <a:xfrm>
            <a:off x="914401" y="577319"/>
            <a:ext cx="2357438" cy="1059926"/>
          </a:xfrm>
          <a:prstGeom prst="rect">
            <a:avLst/>
          </a:prstGeom>
        </p:spPr>
      </p:pic>
      <p:sp>
        <p:nvSpPr>
          <p:cNvPr id="5" name="Rechteck 4">
            <a:extLst>
              <a:ext uri="{FF2B5EF4-FFF2-40B4-BE49-F238E27FC236}">
                <a16:creationId xmlns:a16="http://schemas.microsoft.com/office/drawing/2014/main" id="{10D2DA14-5719-4E9E-9FFE-565E6A53936A}"/>
              </a:ext>
            </a:extLst>
          </p:cNvPr>
          <p:cNvSpPr>
            <a:spLocks noGrp="1"/>
          </p:cNvSpPr>
          <p:nvPr/>
        </p:nvSpPr>
        <p:spPr>
          <a:xfrm>
            <a:off x="914400" y="2071688"/>
            <a:ext cx="9001125" cy="357188"/>
          </a:xfrm>
          <a:prstGeom prst="rect">
            <a:avLst/>
          </a:prstGeom>
          <a:noFill/>
          <a:ln w="0">
            <a:noFill/>
          </a:ln>
        </p:spPr>
        <p:txBody>
          <a:bodyPr anchor="ctr"/>
          <a:lstStyle>
            <a:defPPr>
              <a:defRPr sz="1050" b="1">
                <a:solidFill>
                  <a:srgbClr val="FF7A3D"/>
                </a:solidFill>
                <a:latin typeface="Inter"/>
                <a:ea typeface="Inter"/>
                <a:cs typeface="Inter"/>
              </a:defRPr>
            </a:defPPr>
          </a:lstStyle>
          <a:p>
            <a:pPr>
              <a:defRPr sz="1050" b="1">
                <a:solidFill>
                  <a:srgbClr val="FF7A3D"/>
                </a:solidFill>
                <a:latin typeface="Inter"/>
                <a:ea typeface="Inter"/>
                <a:cs typeface="Inter"/>
              </a:defRPr>
            </a:pPr>
            <a:r>
              <a:rPr sz="1575" b="1">
                <a:solidFill>
                  <a:srgbClr val="FF7A3D"/>
                </a:solidFill>
                <a:latin typeface="Inter"/>
                <a:ea typeface="Inter"/>
                <a:cs typeface="Inter"/>
              </a:rPr>
              <a:t>NEU GEDACHT FÜR JENS HARTWIG</a:t>
            </a:r>
          </a:p>
        </p:txBody>
      </p:sp>
      <p:sp>
        <p:nvSpPr>
          <p:cNvPr id="6" name="Rechteck 5">
            <a:extLst>
              <a:ext uri="{FF2B5EF4-FFF2-40B4-BE49-F238E27FC236}">
                <a16:creationId xmlns:a16="http://schemas.microsoft.com/office/drawing/2014/main" id="{290A7A17-7917-4CEA-8C7A-A566D69D574E}"/>
              </a:ext>
            </a:extLst>
          </p:cNvPr>
          <p:cNvSpPr>
            <a:spLocks noGrp="1"/>
          </p:cNvSpPr>
          <p:nvPr/>
        </p:nvSpPr>
        <p:spPr>
          <a:xfrm>
            <a:off x="914401" y="2814638"/>
            <a:ext cx="8929688" cy="2143125"/>
          </a:xfrm>
          <a:prstGeom prst="rect">
            <a:avLst/>
          </a:prstGeom>
          <a:noFill/>
          <a:ln w="0">
            <a:noFill/>
          </a:ln>
        </p:spPr>
        <p:txBody>
          <a:bodyPr anchor="ctr"/>
          <a:lstStyle>
            <a:defPPr>
              <a:defRPr sz="3675" b="1">
                <a:solidFill>
                  <a:srgbClr val="FFFFFF"/>
                </a:solidFill>
                <a:latin typeface="Space Grotesk"/>
                <a:ea typeface="Space Grotesk"/>
                <a:cs typeface="Space Grotesk"/>
              </a:defRPr>
            </a:defPPr>
          </a:lstStyle>
          <a:p>
            <a:pPr>
              <a:defRPr sz="3675" b="1">
                <a:solidFill>
                  <a:srgbClr val="FFFFFF"/>
                </a:solidFill>
                <a:latin typeface="Space Grotesk"/>
                <a:ea typeface="Space Grotesk"/>
                <a:cs typeface="Space Grotesk"/>
              </a:defRPr>
            </a:pPr>
            <a:r>
              <a:rPr sz="5513" b="1">
                <a:solidFill>
                  <a:srgbClr val="FFFFFF"/>
                </a:solidFill>
                <a:latin typeface="Space Grotesk"/>
                <a:ea typeface="Space Grotesk"/>
                <a:cs typeface="Space Grotesk"/>
              </a:rPr>
              <a:t>Messekontakte brauchen</a:t>
            </a:r>
          </a:p>
          <a:p>
            <a:pPr>
              <a:defRPr sz="3675" b="1">
                <a:solidFill>
                  <a:srgbClr val="FFFFFF"/>
                </a:solidFill>
                <a:latin typeface="Space Grotesk"/>
                <a:ea typeface="Space Grotesk"/>
                <a:cs typeface="Space Grotesk"/>
              </a:defRPr>
            </a:pPr>
            <a:r>
              <a:rPr sz="5513" b="1">
                <a:solidFill>
                  <a:srgbClr val="FFFFFF"/>
                </a:solidFill>
                <a:latin typeface="Space Grotesk"/>
                <a:ea typeface="Space Grotesk"/>
                <a:cs typeface="Space Grotesk"/>
              </a:rPr>
              <a:t>einen nächsten Schritt</a:t>
            </a:r>
          </a:p>
        </p:txBody>
      </p:sp>
      <p:sp>
        <p:nvSpPr>
          <p:cNvPr id="7" name="Rechteck 6">
            <a:extLst>
              <a:ext uri="{FF2B5EF4-FFF2-40B4-BE49-F238E27FC236}">
                <a16:creationId xmlns:a16="http://schemas.microsoft.com/office/drawing/2014/main" id="{FDDE85CD-06EE-4712-A1AF-C409D0E17F80}"/>
              </a:ext>
            </a:extLst>
          </p:cNvPr>
          <p:cNvSpPr>
            <a:spLocks noGrp="1"/>
          </p:cNvSpPr>
          <p:nvPr/>
        </p:nvSpPr>
        <p:spPr>
          <a:xfrm>
            <a:off x="914400" y="5329238"/>
            <a:ext cx="8572500" cy="742950"/>
          </a:xfrm>
          <a:prstGeom prst="rect">
            <a:avLst/>
          </a:prstGeom>
          <a:noFill/>
          <a:ln w="0">
            <a:noFill/>
          </a:ln>
        </p:spPr>
        <p:txBody>
          <a:bodyPr anchor="ctr"/>
          <a:lstStyle>
            <a:defPPr>
              <a:defRPr sz="2700" b="1">
                <a:solidFill>
                  <a:srgbClr val="00D9C6"/>
                </a:solidFill>
                <a:latin typeface="Space Grotesk"/>
                <a:ea typeface="Space Grotesk"/>
                <a:cs typeface="Space Grotesk"/>
              </a:defRPr>
            </a:defPPr>
          </a:lstStyle>
          <a:p>
            <a:pPr>
              <a:defRPr sz="2700" b="1">
                <a:solidFill>
                  <a:srgbClr val="00D9C6"/>
                </a:solidFill>
                <a:latin typeface="Space Grotesk"/>
                <a:ea typeface="Space Grotesk"/>
                <a:cs typeface="Space Grotesk"/>
              </a:defRPr>
            </a:pPr>
            <a:r>
              <a:rPr sz="4050" b="1">
                <a:solidFill>
                  <a:srgbClr val="00D9C6"/>
                </a:solidFill>
                <a:latin typeface="Space Grotesk"/>
                <a:ea typeface="Space Grotesk"/>
                <a:cs typeface="Space Grotesk"/>
              </a:rPr>
              <a:t>LeadPilot Expo</a:t>
            </a:r>
          </a:p>
        </p:txBody>
      </p:sp>
      <p:sp>
        <p:nvSpPr>
          <p:cNvPr id="8" name="Rechteck 7">
            <a:extLst>
              <a:ext uri="{FF2B5EF4-FFF2-40B4-BE49-F238E27FC236}">
                <a16:creationId xmlns:a16="http://schemas.microsoft.com/office/drawing/2014/main" id="{53A0D04C-E6E8-415F-9F8B-4A67D60F4A16}"/>
              </a:ext>
            </a:extLst>
          </p:cNvPr>
          <p:cNvSpPr>
            <a:spLocks noGrp="1"/>
          </p:cNvSpPr>
          <p:nvPr/>
        </p:nvSpPr>
        <p:spPr>
          <a:xfrm>
            <a:off x="914400" y="6215063"/>
            <a:ext cx="8572500" cy="957263"/>
          </a:xfrm>
          <a:prstGeom prst="rect">
            <a:avLst/>
          </a:prstGeom>
          <a:noFill/>
          <a:ln w="0">
            <a:noFill/>
          </a:ln>
        </p:spPr>
        <p:txBody>
          <a:bodyPr anchor="ctr"/>
          <a:lstStyle>
            <a:defPPr>
              <a:defRPr sz="1800" b="0">
                <a:solidFill>
                  <a:srgbClr val="B2CEC6"/>
                </a:solidFill>
                <a:latin typeface="Inter"/>
                <a:ea typeface="Inter"/>
                <a:cs typeface="Inter"/>
              </a:defRPr>
            </a:defPPr>
          </a:lstStyle>
          <a:p>
            <a:pPr>
              <a:defRPr sz="1800" b="0">
                <a:solidFill>
                  <a:srgbClr val="B2CEC6"/>
                </a:solidFill>
                <a:latin typeface="Inter"/>
                <a:ea typeface="Inter"/>
                <a:cs typeface="Inter"/>
              </a:defRPr>
            </a:pPr>
            <a:r>
              <a:rPr sz="2700">
                <a:solidFill>
                  <a:srgbClr val="B2CEC6"/>
                </a:solidFill>
                <a:latin typeface="Inter"/>
                <a:ea typeface="Inter"/>
                <a:cs typeface="Inter"/>
              </a:rPr>
              <a:t>Das geplante Messe-Modul Ihrer mobilen</a:t>
            </a:r>
          </a:p>
          <a:p>
            <a:pPr>
              <a:defRPr sz="1800" b="0">
                <a:solidFill>
                  <a:srgbClr val="B2CEC6"/>
                </a:solidFill>
                <a:latin typeface="Inter"/>
                <a:ea typeface="Inter"/>
                <a:cs typeface="Inter"/>
              </a:defRPr>
            </a:pPr>
            <a:r>
              <a:rPr sz="2700">
                <a:solidFill>
                  <a:srgbClr val="B2CEC6"/>
                </a:solidFill>
                <a:latin typeface="Inter"/>
                <a:ea typeface="Inter"/>
                <a:cs typeface="Inter"/>
              </a:rPr>
              <a:t>LeadPilot-CRM-Version</a:t>
            </a:r>
          </a:p>
        </p:txBody>
      </p:sp>
      <p:sp>
        <p:nvSpPr>
          <p:cNvPr id="9" name="Abgerundetes Rechteck 8">
            <a:extLst>
              <a:ext uri="{FF2B5EF4-FFF2-40B4-BE49-F238E27FC236}">
                <a16:creationId xmlns:a16="http://schemas.microsoft.com/office/drawing/2014/main" id="{CA632E51-733F-4DAA-AE91-49D692BDA456}"/>
              </a:ext>
            </a:extLst>
          </p:cNvPr>
          <p:cNvSpPr>
            <a:spLocks noGrp="1"/>
          </p:cNvSpPr>
          <p:nvPr/>
        </p:nvSpPr>
        <p:spPr>
          <a:xfrm>
            <a:off x="914400" y="7572375"/>
            <a:ext cx="8286750" cy="1457325"/>
          </a:xfrm>
          <a:prstGeom prst="roundRect">
            <a:avLst>
              <a:gd name="adj" fmla="val 7843"/>
            </a:avLst>
          </a:prstGeom>
          <a:solidFill>
            <a:srgbClr val="10302C"/>
          </a:solidFill>
          <a:ln w="0">
            <a:noFill/>
          </a:ln>
        </p:spPr>
      </p:sp>
      <p:sp>
        <p:nvSpPr>
          <p:cNvPr id="10" name="Rechteck 9">
            <a:extLst>
              <a:ext uri="{FF2B5EF4-FFF2-40B4-BE49-F238E27FC236}">
                <a16:creationId xmlns:a16="http://schemas.microsoft.com/office/drawing/2014/main" id="{AA221782-A9B6-4246-B425-3A93B9C2A8AB}"/>
              </a:ext>
            </a:extLst>
          </p:cNvPr>
          <p:cNvSpPr>
            <a:spLocks noGrp="1"/>
          </p:cNvSpPr>
          <p:nvPr/>
        </p:nvSpPr>
        <p:spPr>
          <a:xfrm>
            <a:off x="1185863" y="7758113"/>
            <a:ext cx="3500438" cy="700088"/>
          </a:xfrm>
          <a:prstGeom prst="rect">
            <a:avLst/>
          </a:prstGeom>
          <a:noFill/>
          <a:ln w="0">
            <a:noFill/>
          </a:ln>
        </p:spPr>
        <p:txBody>
          <a:bodyPr anchor="ctr"/>
          <a:lstStyle>
            <a:defPPr>
              <a:defRPr sz="2700" b="1">
                <a:solidFill>
                  <a:srgbClr val="FF7A3D"/>
                </a:solidFill>
                <a:latin typeface="Space Grotesk"/>
                <a:ea typeface="Space Grotesk"/>
                <a:cs typeface="Space Grotesk"/>
              </a:defRPr>
            </a:defPPr>
          </a:lstStyle>
          <a:p>
            <a:pPr>
              <a:defRPr sz="2700" b="1">
                <a:solidFill>
                  <a:srgbClr val="FF7A3D"/>
                </a:solidFill>
                <a:latin typeface="Space Grotesk"/>
                <a:ea typeface="Space Grotesk"/>
                <a:cs typeface="Space Grotesk"/>
              </a:defRPr>
            </a:pPr>
            <a:r>
              <a:rPr sz="4050" b="1">
                <a:solidFill>
                  <a:srgbClr val="FF7A3D"/>
                </a:solidFill>
                <a:latin typeface="Space Grotesk"/>
                <a:ea typeface="Space Grotesk"/>
                <a:cs typeface="Space Grotesk"/>
              </a:rPr>
              <a:t>150.000 €</a:t>
            </a:r>
          </a:p>
        </p:txBody>
      </p:sp>
      <p:sp>
        <p:nvSpPr>
          <p:cNvPr id="11" name="Rechteck 10">
            <a:extLst>
              <a:ext uri="{FF2B5EF4-FFF2-40B4-BE49-F238E27FC236}">
                <a16:creationId xmlns:a16="http://schemas.microsoft.com/office/drawing/2014/main" id="{EC6F6A0D-5AD5-4FC0-B00E-80F866183074}"/>
              </a:ext>
            </a:extLst>
          </p:cNvPr>
          <p:cNvSpPr>
            <a:spLocks noGrp="1"/>
          </p:cNvSpPr>
          <p:nvPr/>
        </p:nvSpPr>
        <p:spPr>
          <a:xfrm>
            <a:off x="1185863" y="8443913"/>
            <a:ext cx="7715250" cy="342900"/>
          </a:xfrm>
          <a:prstGeom prst="rect">
            <a:avLst/>
          </a:prstGeom>
          <a:noFill/>
          <a:ln w="0">
            <a:noFill/>
          </a:ln>
        </p:spPr>
        <p:txBody>
          <a:bodyPr anchor="ctr"/>
          <a:lstStyle>
            <a:defPPr>
              <a:defRPr sz="1275" b="0">
                <a:solidFill>
                  <a:srgbClr val="FFFFFF"/>
                </a:solidFill>
                <a:latin typeface="Inter"/>
                <a:ea typeface="Inter"/>
                <a:cs typeface="Inter"/>
              </a:defRPr>
            </a:defPPr>
          </a:lstStyle>
          <a:p>
            <a:pPr>
              <a:defRPr sz="1275" b="0">
                <a:solidFill>
                  <a:srgbClr val="FFFFFF"/>
                </a:solidFill>
                <a:latin typeface="Inter"/>
                <a:ea typeface="Inter"/>
                <a:cs typeface="Inter"/>
              </a:defRPr>
            </a:pPr>
            <a:r>
              <a:rPr sz="1913">
                <a:solidFill>
                  <a:srgbClr val="FFFFFF"/>
                </a:solidFill>
                <a:latin typeface="Inter"/>
                <a:ea typeface="Inter"/>
                <a:cs typeface="Inter"/>
              </a:rPr>
              <a:t>jährlicher Erstumsatz im Risiko*</a:t>
            </a:r>
          </a:p>
        </p:txBody>
      </p:sp>
      <p:sp>
        <p:nvSpPr>
          <p:cNvPr id="12" name="Rechteck 11">
            <a:extLst>
              <a:ext uri="{FF2B5EF4-FFF2-40B4-BE49-F238E27FC236}">
                <a16:creationId xmlns:a16="http://schemas.microsoft.com/office/drawing/2014/main" id="{0C951F82-FC3E-423F-A669-6AF0133DFCFA}"/>
              </a:ext>
            </a:extLst>
          </p:cNvPr>
          <p:cNvSpPr>
            <a:spLocks noGrp="1"/>
          </p:cNvSpPr>
          <p:nvPr/>
        </p:nvSpPr>
        <p:spPr>
          <a:xfrm>
            <a:off x="914400" y="9144000"/>
            <a:ext cx="9001125" cy="257175"/>
          </a:xfrm>
          <a:prstGeom prst="rect">
            <a:avLst/>
          </a:prstGeom>
          <a:noFill/>
          <a:ln w="0">
            <a:noFill/>
          </a:ln>
        </p:spPr>
        <p:txBody>
          <a:bodyPr anchor="ctr"/>
          <a:lstStyle>
            <a:defPPr>
              <a:defRPr sz="825" b="0">
                <a:solidFill>
                  <a:srgbClr val="B2CEC6"/>
                </a:solidFill>
                <a:latin typeface="Inter"/>
                <a:ea typeface="Inter"/>
                <a:cs typeface="Inter"/>
              </a:defRPr>
            </a:defPPr>
          </a:lstStyle>
          <a:p>
            <a:pPr>
              <a:defRPr sz="825" b="0">
                <a:solidFill>
                  <a:srgbClr val="B2CEC6"/>
                </a:solidFill>
                <a:latin typeface="Inter"/>
                <a:ea typeface="Inter"/>
                <a:cs typeface="Inter"/>
              </a:defRPr>
            </a:pPr>
            <a:r>
              <a:rPr sz="1238">
                <a:solidFill>
                  <a:srgbClr val="B2CEC6"/>
                </a:solidFill>
                <a:latin typeface="Inter"/>
                <a:ea typeface="Inter"/>
                <a:cs typeface="Inter"/>
              </a:rPr>
              <a:t>*Aus Hartwigs fiktivem Kundenszenario; keine Einspargarantie.</a:t>
            </a:r>
          </a:p>
        </p:txBody>
      </p:sp>
      <p:sp>
        <p:nvSpPr>
          <p:cNvPr id="13" name="Rechteck 12">
            <a:extLst>
              <a:ext uri="{FF2B5EF4-FFF2-40B4-BE49-F238E27FC236}">
                <a16:creationId xmlns:a16="http://schemas.microsoft.com/office/drawing/2014/main" id="{F0F2226C-554C-402A-BAEF-45563E87D2E6}"/>
              </a:ext>
            </a:extLst>
          </p:cNvPr>
          <p:cNvSpPr>
            <a:spLocks noGrp="1"/>
          </p:cNvSpPr>
          <p:nvPr/>
        </p:nvSpPr>
        <p:spPr>
          <a:xfrm>
            <a:off x="0" y="10172700"/>
            <a:ext cx="6096000" cy="114300"/>
          </a:xfrm>
          <a:prstGeom prst="rect">
            <a:avLst/>
          </a:prstGeom>
          <a:solidFill>
            <a:srgbClr val="00D9C6"/>
          </a:solidFill>
          <a:ln w="0">
            <a:noFill/>
          </a:ln>
        </p:spPr>
      </p:sp>
      <p:sp>
        <p:nvSpPr>
          <p:cNvPr id="14" name="Rechteck 13">
            <a:extLst>
              <a:ext uri="{FF2B5EF4-FFF2-40B4-BE49-F238E27FC236}">
                <a16:creationId xmlns:a16="http://schemas.microsoft.com/office/drawing/2014/main" id="{9869A485-3B7E-4F06-A89B-8098FF1A690A}"/>
              </a:ext>
            </a:extLst>
          </p:cNvPr>
          <p:cNvSpPr>
            <a:spLocks noGrp="1"/>
          </p:cNvSpPr>
          <p:nvPr/>
        </p:nvSpPr>
        <p:spPr>
          <a:xfrm>
            <a:off x="914400" y="9586913"/>
            <a:ext cx="12858750" cy="285750"/>
          </a:xfrm>
          <a:prstGeom prst="rect">
            <a:avLst/>
          </a:prstGeom>
          <a:noFill/>
          <a:ln w="0">
            <a:noFill/>
          </a:ln>
        </p:spPr>
        <p:txBody>
          <a:bodyPr anchor="ctr"/>
          <a:lstStyle>
            <a:defPPr>
              <a:defRPr sz="825" b="0">
                <a:solidFill>
                  <a:srgbClr val="B2CEC6"/>
                </a:solidFill>
                <a:latin typeface="JetBrains Mono"/>
                <a:ea typeface="JetBrains Mono"/>
                <a:cs typeface="JetBrains Mono"/>
              </a:defRPr>
            </a:defPPr>
          </a:lstStyle>
          <a:p>
            <a:pPr>
              <a:defRPr sz="825" b="0">
                <a:solidFill>
                  <a:srgbClr val="B2CEC6"/>
                </a:solidFill>
                <a:latin typeface="JetBrains Mono"/>
                <a:ea typeface="JetBrains Mono"/>
                <a:cs typeface="JetBrains Mono"/>
              </a:defRPr>
            </a:pPr>
            <a:r>
              <a:rPr sz="1238">
                <a:solidFill>
                  <a:srgbClr val="B2CEC6"/>
                </a:solidFill>
                <a:latin typeface="JetBrains Mono"/>
                <a:ea typeface="JetBrains Mono"/>
                <a:cs typeface="JetBrains Mono"/>
              </a:rPr>
              <a:t>LEADPILOT EXPO · FIKTIVES ZUKUNFTSKONZEPT</a:t>
            </a:r>
          </a:p>
        </p:txBody>
      </p:sp>
      <p:sp>
        <p:nvSpPr>
          <p:cNvPr id="15" name="Rechteck 14">
            <a:extLst>
              <a:ext uri="{FF2B5EF4-FFF2-40B4-BE49-F238E27FC236}">
                <a16:creationId xmlns:a16="http://schemas.microsoft.com/office/drawing/2014/main" id="{E37D51F9-0BE3-4955-AD5D-C53AAAC27FFD}"/>
              </a:ext>
            </a:extLst>
          </p:cNvPr>
          <p:cNvSpPr>
            <a:spLocks noGrp="1"/>
          </p:cNvSpPr>
          <p:nvPr/>
        </p:nvSpPr>
        <p:spPr>
          <a:xfrm>
            <a:off x="16430625" y="9572625"/>
            <a:ext cx="1000125" cy="314325"/>
          </a:xfrm>
          <a:prstGeom prst="rect">
            <a:avLst/>
          </a:prstGeom>
          <a:noFill/>
          <a:ln w="0">
            <a:noFill/>
          </a:ln>
        </p:spPr>
        <p:txBody>
          <a:bodyPr anchor="ctr"/>
          <a:lstStyle>
            <a:defPPr>
              <a:defRPr sz="975" b="0">
                <a:solidFill>
                  <a:srgbClr val="B2CEC6"/>
                </a:solidFill>
                <a:latin typeface="JetBrains Mono"/>
                <a:ea typeface="JetBrains Mono"/>
                <a:cs typeface="JetBrains Mono"/>
              </a:defRPr>
            </a:defPPr>
          </a:lstStyle>
          <a:p>
            <a:pPr>
              <a:defRPr sz="975" b="0">
                <a:solidFill>
                  <a:srgbClr val="B2CEC6"/>
                </a:solidFill>
                <a:latin typeface="JetBrains Mono"/>
                <a:ea typeface="JetBrains Mono"/>
                <a:cs typeface="JetBrains Mono"/>
              </a:defRPr>
            </a:pPr>
            <a:r>
              <a:rPr sz="1463">
                <a:solidFill>
                  <a:srgbClr val="B2CEC6"/>
                </a:solidFill>
                <a:latin typeface="JetBrains Mono"/>
                <a:ea typeface="JetBrains Mono"/>
                <a:cs typeface="JetBrains Mono"/>
              </a:rPr>
              <a:t>1 / 3</a:t>
            </a:r>
          </a:p>
        </p:txBody>
      </p:sp>
    </p:spTree>
    <p:extLst>
      <p:ext uri="{BB962C8B-B14F-4D97-AF65-F5344CB8AC3E}">
        <p14:creationId xmlns:p14="http://schemas.microsoft.com/office/powerpoint/2010/main" val="9996791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Grafik 20">
            <a:extLst>
              <a:ext uri="{FF2B5EF4-FFF2-40B4-BE49-F238E27FC236}">
                <a16:creationId xmlns:a16="http://schemas.microsoft.com/office/drawing/2014/main" id="{ECE3622C-F74E-4AD8-BA9D-26F05D5ABC24}"/>
              </a:ext>
            </a:extLst>
          </p:cNvPr>
          <p:cNvPicPr>
            <a:picLocks noChangeAspect="1"/>
          </p:cNvPicPr>
          <p:nvPr/>
        </p:nvPicPr>
        <p:blipFill>
          <a:blip r:embed="rId3"/>
          <a:stretch/>
        </p:blipFill>
        <p:spPr>
          <a:xfrm>
            <a:off x="914401" y="462851"/>
            <a:ext cx="1500188" cy="674498"/>
          </a:xfrm>
          <a:prstGeom prst="rect">
            <a:avLst/>
          </a:prstGeom>
        </p:spPr>
      </p:pic>
      <p:sp>
        <p:nvSpPr>
          <p:cNvPr id="2" name="Rechteck 1">
            <a:extLst>
              <a:ext uri="{FF2B5EF4-FFF2-40B4-BE49-F238E27FC236}">
                <a16:creationId xmlns:a16="http://schemas.microsoft.com/office/drawing/2014/main" id="{06676CAF-A60A-4F8F-9420-F7726B66266D}"/>
              </a:ext>
            </a:extLst>
          </p:cNvPr>
          <p:cNvSpPr>
            <a:spLocks noGrp="1"/>
          </p:cNvSpPr>
          <p:nvPr/>
        </p:nvSpPr>
        <p:spPr>
          <a:xfrm>
            <a:off x="914400" y="1571626"/>
            <a:ext cx="15716250" cy="328613"/>
          </a:xfrm>
          <a:prstGeom prst="rect">
            <a:avLst/>
          </a:prstGeom>
          <a:noFill/>
          <a:ln w="0">
            <a:noFill/>
          </a:ln>
        </p:spPr>
        <p:txBody>
          <a:bodyPr anchor="ctr"/>
          <a:lstStyle>
            <a:defPPr>
              <a:defRPr sz="975" b="1">
                <a:solidFill>
                  <a:srgbClr val="00796E"/>
                </a:solidFill>
                <a:latin typeface="Inter"/>
                <a:ea typeface="Inter"/>
                <a:cs typeface="Inter"/>
              </a:defRPr>
            </a:defPPr>
          </a:lstStyle>
          <a:p>
            <a:pPr>
              <a:defRPr sz="975" b="1">
                <a:solidFill>
                  <a:srgbClr val="00796E"/>
                </a:solidFill>
                <a:latin typeface="Inter"/>
                <a:ea typeface="Inter"/>
                <a:cs typeface="Inter"/>
              </a:defRPr>
            </a:pPr>
            <a:r>
              <a:rPr sz="1463" b="1">
                <a:solidFill>
                  <a:srgbClr val="00796E"/>
                </a:solidFill>
                <a:latin typeface="Inter"/>
                <a:ea typeface="Inter"/>
                <a:cs typeface="Inter"/>
              </a:rPr>
              <a:t>VOM MESSESTAND IN IHRE PIPELINE</a:t>
            </a:r>
          </a:p>
        </p:txBody>
      </p:sp>
      <p:sp>
        <p:nvSpPr>
          <p:cNvPr id="3" name="Rechteck 2">
            <a:extLst>
              <a:ext uri="{FF2B5EF4-FFF2-40B4-BE49-F238E27FC236}">
                <a16:creationId xmlns:a16="http://schemas.microsoft.com/office/drawing/2014/main" id="{915A4464-73B3-4A5B-95A9-1783015166A3}"/>
              </a:ext>
            </a:extLst>
          </p:cNvPr>
          <p:cNvSpPr>
            <a:spLocks noGrp="1"/>
          </p:cNvSpPr>
          <p:nvPr/>
        </p:nvSpPr>
        <p:spPr>
          <a:xfrm>
            <a:off x="914401" y="2185988"/>
            <a:ext cx="16359188" cy="957263"/>
          </a:xfrm>
          <a:prstGeom prst="rect">
            <a:avLst/>
          </a:prstGeom>
          <a:noFill/>
          <a:ln w="0">
            <a:noFill/>
          </a:ln>
        </p:spPr>
        <p:txBody>
          <a:bodyPr anchor="ctr"/>
          <a:lstStyle>
            <a:defPPr>
              <a:defRPr sz="3225" b="1">
                <a:solidFill>
                  <a:srgbClr val="0B211F"/>
                </a:solidFill>
                <a:latin typeface="Space Grotesk"/>
                <a:ea typeface="Space Grotesk"/>
                <a:cs typeface="Space Grotesk"/>
              </a:defRPr>
            </a:defPPr>
          </a:lstStyle>
          <a:p>
            <a:pPr>
              <a:defRPr sz="3225" b="1">
                <a:solidFill>
                  <a:srgbClr val="0B211F"/>
                </a:solidFill>
                <a:latin typeface="Space Grotesk"/>
                <a:ea typeface="Space Grotesk"/>
                <a:cs typeface="Space Grotesk"/>
              </a:defRPr>
            </a:pPr>
            <a:r>
              <a:rPr sz="4838" b="1">
                <a:solidFill>
                  <a:srgbClr val="0B211F"/>
                </a:solidFill>
                <a:latin typeface="Space Grotesk"/>
                <a:ea typeface="Space Grotesk"/>
                <a:cs typeface="Space Grotesk"/>
              </a:rPr>
              <a:t>Am Stand erfassen. Im CRM weiterarbeiten.</a:t>
            </a:r>
          </a:p>
        </p:txBody>
      </p:sp>
      <p:pic>
        <p:nvPicPr>
          <p:cNvPr id="4" name="Grafik 3">
            <a:extLst>
              <a:ext uri="{FF2B5EF4-FFF2-40B4-BE49-F238E27FC236}">
                <a16:creationId xmlns:a16="http://schemas.microsoft.com/office/drawing/2014/main" id="{BFD6E6F7-FAF2-4155-8A3E-CCA0FD14CD39}"/>
              </a:ext>
            </a:extLst>
          </p:cNvPr>
          <p:cNvPicPr>
            <a:picLocks noChangeAspect="1"/>
          </p:cNvPicPr>
          <p:nvPr/>
        </p:nvPicPr>
        <p:blipFill>
          <a:blip r:embed="rId4"/>
          <a:stretch/>
        </p:blipFill>
        <p:spPr>
          <a:xfrm>
            <a:off x="1414400" y="3429001"/>
            <a:ext cx="2857626" cy="5786438"/>
          </a:xfrm>
          <a:prstGeom prst="rect">
            <a:avLst/>
          </a:prstGeom>
        </p:spPr>
      </p:pic>
      <p:sp>
        <p:nvSpPr>
          <p:cNvPr id="5" name="Abgerundetes Rechteck 4">
            <a:extLst>
              <a:ext uri="{FF2B5EF4-FFF2-40B4-BE49-F238E27FC236}">
                <a16:creationId xmlns:a16="http://schemas.microsoft.com/office/drawing/2014/main" id="{D5F877A6-B39C-43D3-9D14-A262C64E3FBD}"/>
              </a:ext>
            </a:extLst>
          </p:cNvPr>
          <p:cNvSpPr>
            <a:spLocks noGrp="1"/>
          </p:cNvSpPr>
          <p:nvPr/>
        </p:nvSpPr>
        <p:spPr>
          <a:xfrm>
            <a:off x="5400675" y="3643313"/>
            <a:ext cx="11972925" cy="1600200"/>
          </a:xfrm>
          <a:prstGeom prst="roundRect">
            <a:avLst>
              <a:gd name="adj" fmla="val 7143"/>
            </a:avLst>
          </a:prstGeom>
          <a:solidFill>
            <a:srgbClr val="10302C"/>
          </a:solidFill>
          <a:ln w="0">
            <a:noFill/>
          </a:ln>
        </p:spPr>
      </p:sp>
      <p:sp>
        <p:nvSpPr>
          <p:cNvPr id="6" name="Rechteck 5">
            <a:extLst>
              <a:ext uri="{FF2B5EF4-FFF2-40B4-BE49-F238E27FC236}">
                <a16:creationId xmlns:a16="http://schemas.microsoft.com/office/drawing/2014/main" id="{696B1B95-C895-4A9D-A646-037DF1BB0DF8}"/>
              </a:ext>
            </a:extLst>
          </p:cNvPr>
          <p:cNvSpPr>
            <a:spLocks noGrp="1"/>
          </p:cNvSpPr>
          <p:nvPr/>
        </p:nvSpPr>
        <p:spPr>
          <a:xfrm>
            <a:off x="5743575" y="3914776"/>
            <a:ext cx="857250" cy="471488"/>
          </a:xfrm>
          <a:prstGeom prst="rect">
            <a:avLst/>
          </a:prstGeom>
          <a:noFill/>
          <a:ln w="0">
            <a:noFill/>
          </a:ln>
        </p:spPr>
        <p:txBody>
          <a:bodyPr anchor="ctr"/>
          <a:lstStyle>
            <a:defPPr>
              <a:defRPr sz="1875" b="1">
                <a:solidFill>
                  <a:srgbClr val="00D9C6"/>
                </a:solidFill>
                <a:latin typeface="JetBrains Mono"/>
                <a:ea typeface="JetBrains Mono"/>
                <a:cs typeface="JetBrains Mono"/>
              </a:defRPr>
            </a:defPPr>
          </a:lstStyle>
          <a:p>
            <a:pPr>
              <a:defRPr sz="1875" b="1">
                <a:solidFill>
                  <a:srgbClr val="00D9C6"/>
                </a:solidFill>
                <a:latin typeface="JetBrains Mono"/>
                <a:ea typeface="JetBrains Mono"/>
                <a:cs typeface="JetBrains Mono"/>
              </a:defRPr>
            </a:pPr>
            <a:r>
              <a:rPr sz="2813" b="1">
                <a:solidFill>
                  <a:srgbClr val="00D9C6"/>
                </a:solidFill>
                <a:latin typeface="JetBrains Mono"/>
                <a:ea typeface="JetBrains Mono"/>
                <a:cs typeface="JetBrains Mono"/>
              </a:rPr>
              <a:t>01</a:t>
            </a:r>
          </a:p>
        </p:txBody>
      </p:sp>
      <p:sp>
        <p:nvSpPr>
          <p:cNvPr id="7" name="Rechteck 6">
            <a:extLst>
              <a:ext uri="{FF2B5EF4-FFF2-40B4-BE49-F238E27FC236}">
                <a16:creationId xmlns:a16="http://schemas.microsoft.com/office/drawing/2014/main" id="{C3257F4C-C4D0-4FAA-9BE9-C5B18AB1B2FA}"/>
              </a:ext>
            </a:extLst>
          </p:cNvPr>
          <p:cNvSpPr>
            <a:spLocks noGrp="1"/>
          </p:cNvSpPr>
          <p:nvPr/>
        </p:nvSpPr>
        <p:spPr>
          <a:xfrm>
            <a:off x="6929438" y="3829051"/>
            <a:ext cx="10001250" cy="471488"/>
          </a:xfrm>
          <a:prstGeom prst="rect">
            <a:avLst/>
          </a:prstGeom>
          <a:noFill/>
          <a:ln w="0">
            <a:noFill/>
          </a:ln>
        </p:spPr>
        <p:txBody>
          <a:bodyPr anchor="ctr"/>
          <a:lstStyle>
            <a:defPPr>
              <a:defRPr sz="1800" b="1">
                <a:solidFill>
                  <a:srgbClr val="FFFFFF"/>
                </a:solidFill>
                <a:latin typeface="Space Grotesk"/>
                <a:ea typeface="Space Grotesk"/>
                <a:cs typeface="Space Grotesk"/>
              </a:defRPr>
            </a:defPPr>
          </a:lstStyle>
          <a:p>
            <a:pPr>
              <a:defRPr sz="1800" b="1">
                <a:solidFill>
                  <a:srgbClr val="FFFFFF"/>
                </a:solidFill>
                <a:latin typeface="Space Grotesk"/>
                <a:ea typeface="Space Grotesk"/>
                <a:cs typeface="Space Grotesk"/>
              </a:defRPr>
            </a:pPr>
            <a:r>
              <a:rPr sz="2700" b="1">
                <a:solidFill>
                  <a:srgbClr val="FFFFFF"/>
                </a:solidFill>
                <a:latin typeface="Space Grotesk"/>
                <a:ea typeface="Space Grotesk"/>
                <a:cs typeface="Space Grotesk"/>
              </a:rPr>
              <a:t>Kontakt erfassen</a:t>
            </a:r>
          </a:p>
        </p:txBody>
      </p:sp>
      <p:sp>
        <p:nvSpPr>
          <p:cNvPr id="8" name="Rechteck 7">
            <a:extLst>
              <a:ext uri="{FF2B5EF4-FFF2-40B4-BE49-F238E27FC236}">
                <a16:creationId xmlns:a16="http://schemas.microsoft.com/office/drawing/2014/main" id="{4A18FE30-57E9-4DCA-A875-3FBE828BF9E9}"/>
              </a:ext>
            </a:extLst>
          </p:cNvPr>
          <p:cNvSpPr>
            <a:spLocks noGrp="1"/>
          </p:cNvSpPr>
          <p:nvPr/>
        </p:nvSpPr>
        <p:spPr>
          <a:xfrm>
            <a:off x="6929438" y="4386263"/>
            <a:ext cx="10001250" cy="700088"/>
          </a:xfrm>
          <a:prstGeom prst="rect">
            <a:avLst/>
          </a:prstGeom>
          <a:noFill/>
          <a:ln w="0">
            <a:noFill/>
          </a:ln>
        </p:spPr>
        <p:txBody>
          <a:bodyPr anchor="ctr"/>
          <a:lstStyle>
            <a:defPPr>
              <a:defRPr sz="1350" b="0">
                <a:solidFill>
                  <a:srgbClr val="D1E5DE"/>
                </a:solidFill>
                <a:latin typeface="Inter"/>
                <a:ea typeface="Inter"/>
                <a:cs typeface="Inter"/>
              </a:defRPr>
            </a:defPPr>
          </a:lstStyle>
          <a:p>
            <a:pPr>
              <a:defRPr sz="1350" b="0">
                <a:solidFill>
                  <a:srgbClr val="D1E5DE"/>
                </a:solidFill>
                <a:latin typeface="Inter"/>
                <a:ea typeface="Inter"/>
                <a:cs typeface="Inter"/>
              </a:defRPr>
            </a:pPr>
            <a:r>
              <a:rPr sz="2025">
                <a:solidFill>
                  <a:srgbClr val="D1E5DE"/>
                </a:solidFill>
                <a:latin typeface="Inter"/>
                <a:ea typeface="Inter"/>
                <a:cs typeface="Inter"/>
              </a:rPr>
              <a:t>Visitenkarte scannen und Angaben prüfen.</a:t>
            </a:r>
          </a:p>
          <a:p>
            <a:pPr>
              <a:defRPr sz="1350" b="0">
                <a:solidFill>
                  <a:srgbClr val="D1E5DE"/>
                </a:solidFill>
                <a:latin typeface="Inter"/>
                <a:ea typeface="Inter"/>
                <a:cs typeface="Inter"/>
              </a:defRPr>
            </a:pPr>
            <a:r>
              <a:rPr sz="2025">
                <a:solidFill>
                  <a:srgbClr val="D1E5DE"/>
                </a:solidFill>
                <a:latin typeface="Inter"/>
                <a:ea typeface="Inter"/>
                <a:cs typeface="Inter"/>
              </a:rPr>
              <a:t>Kein späteres Abtippen aus dem Kartenstapel.</a:t>
            </a:r>
          </a:p>
        </p:txBody>
      </p:sp>
      <p:sp>
        <p:nvSpPr>
          <p:cNvPr id="9" name="Abgerundetes Rechteck 8">
            <a:extLst>
              <a:ext uri="{FF2B5EF4-FFF2-40B4-BE49-F238E27FC236}">
                <a16:creationId xmlns:a16="http://schemas.microsoft.com/office/drawing/2014/main" id="{AC488268-72D7-4C4F-AF5B-5CEBD2BEA074}"/>
              </a:ext>
            </a:extLst>
          </p:cNvPr>
          <p:cNvSpPr>
            <a:spLocks noGrp="1"/>
          </p:cNvSpPr>
          <p:nvPr/>
        </p:nvSpPr>
        <p:spPr>
          <a:xfrm>
            <a:off x="5400675" y="5443538"/>
            <a:ext cx="11972925" cy="1600200"/>
          </a:xfrm>
          <a:prstGeom prst="roundRect">
            <a:avLst>
              <a:gd name="adj" fmla="val 7143"/>
            </a:avLst>
          </a:prstGeom>
          <a:solidFill>
            <a:srgbClr val="10302C"/>
          </a:solidFill>
          <a:ln w="0">
            <a:noFill/>
          </a:ln>
        </p:spPr>
      </p:sp>
      <p:sp>
        <p:nvSpPr>
          <p:cNvPr id="10" name="Rechteck 9">
            <a:extLst>
              <a:ext uri="{FF2B5EF4-FFF2-40B4-BE49-F238E27FC236}">
                <a16:creationId xmlns:a16="http://schemas.microsoft.com/office/drawing/2014/main" id="{5CCB8158-B7F8-450D-B2DB-2B7FA41E0B17}"/>
              </a:ext>
            </a:extLst>
          </p:cNvPr>
          <p:cNvSpPr>
            <a:spLocks noGrp="1"/>
          </p:cNvSpPr>
          <p:nvPr/>
        </p:nvSpPr>
        <p:spPr>
          <a:xfrm>
            <a:off x="5743575" y="5715001"/>
            <a:ext cx="857250" cy="471488"/>
          </a:xfrm>
          <a:prstGeom prst="rect">
            <a:avLst/>
          </a:prstGeom>
          <a:noFill/>
          <a:ln w="0">
            <a:noFill/>
          </a:ln>
        </p:spPr>
        <p:txBody>
          <a:bodyPr anchor="ctr"/>
          <a:lstStyle>
            <a:defPPr>
              <a:defRPr sz="1875" b="1">
                <a:solidFill>
                  <a:srgbClr val="00D9C6"/>
                </a:solidFill>
                <a:latin typeface="JetBrains Mono"/>
                <a:ea typeface="JetBrains Mono"/>
                <a:cs typeface="JetBrains Mono"/>
              </a:defRPr>
            </a:defPPr>
          </a:lstStyle>
          <a:p>
            <a:pPr>
              <a:defRPr sz="1875" b="1">
                <a:solidFill>
                  <a:srgbClr val="00D9C6"/>
                </a:solidFill>
                <a:latin typeface="JetBrains Mono"/>
                <a:ea typeface="JetBrains Mono"/>
                <a:cs typeface="JetBrains Mono"/>
              </a:defRPr>
            </a:pPr>
            <a:r>
              <a:rPr sz="2813" b="1">
                <a:solidFill>
                  <a:srgbClr val="00D9C6"/>
                </a:solidFill>
                <a:latin typeface="JetBrains Mono"/>
                <a:ea typeface="JetBrains Mono"/>
                <a:cs typeface="JetBrains Mono"/>
              </a:rPr>
              <a:t>02</a:t>
            </a:r>
          </a:p>
        </p:txBody>
      </p:sp>
      <p:sp>
        <p:nvSpPr>
          <p:cNvPr id="11" name="Rechteck 10">
            <a:extLst>
              <a:ext uri="{FF2B5EF4-FFF2-40B4-BE49-F238E27FC236}">
                <a16:creationId xmlns:a16="http://schemas.microsoft.com/office/drawing/2014/main" id="{2E03F67E-C448-40E9-8B63-BDE51AF0F35D}"/>
              </a:ext>
            </a:extLst>
          </p:cNvPr>
          <p:cNvSpPr>
            <a:spLocks noGrp="1"/>
          </p:cNvSpPr>
          <p:nvPr/>
        </p:nvSpPr>
        <p:spPr>
          <a:xfrm>
            <a:off x="6929438" y="5629276"/>
            <a:ext cx="10001250" cy="471488"/>
          </a:xfrm>
          <a:prstGeom prst="rect">
            <a:avLst/>
          </a:prstGeom>
          <a:noFill/>
          <a:ln w="0">
            <a:noFill/>
          </a:ln>
        </p:spPr>
        <p:txBody>
          <a:bodyPr anchor="ctr"/>
          <a:lstStyle>
            <a:defPPr>
              <a:defRPr sz="1800" b="1">
                <a:solidFill>
                  <a:srgbClr val="FFFFFF"/>
                </a:solidFill>
                <a:latin typeface="Space Grotesk"/>
                <a:ea typeface="Space Grotesk"/>
                <a:cs typeface="Space Grotesk"/>
              </a:defRPr>
            </a:defPPr>
          </a:lstStyle>
          <a:p>
            <a:pPr>
              <a:defRPr sz="1800" b="1">
                <a:solidFill>
                  <a:srgbClr val="FFFFFF"/>
                </a:solidFill>
                <a:latin typeface="Space Grotesk"/>
                <a:ea typeface="Space Grotesk"/>
                <a:cs typeface="Space Grotesk"/>
              </a:defRPr>
            </a:pPr>
            <a:r>
              <a:rPr sz="2700" b="1">
                <a:solidFill>
                  <a:srgbClr val="FFFFFF"/>
                </a:solidFill>
                <a:latin typeface="Space Grotesk"/>
                <a:ea typeface="Space Grotesk"/>
                <a:cs typeface="Space Grotesk"/>
              </a:rPr>
              <a:t>Bedarf festhalten</a:t>
            </a:r>
          </a:p>
        </p:txBody>
      </p:sp>
      <p:sp>
        <p:nvSpPr>
          <p:cNvPr id="12" name="Rechteck 11">
            <a:extLst>
              <a:ext uri="{FF2B5EF4-FFF2-40B4-BE49-F238E27FC236}">
                <a16:creationId xmlns:a16="http://schemas.microsoft.com/office/drawing/2014/main" id="{40A7D135-F959-4CF1-B9F1-C8EB6E2874CE}"/>
              </a:ext>
            </a:extLst>
          </p:cNvPr>
          <p:cNvSpPr>
            <a:spLocks noGrp="1"/>
          </p:cNvSpPr>
          <p:nvPr/>
        </p:nvSpPr>
        <p:spPr>
          <a:xfrm>
            <a:off x="6929438" y="6186488"/>
            <a:ext cx="10001250" cy="700088"/>
          </a:xfrm>
          <a:prstGeom prst="rect">
            <a:avLst/>
          </a:prstGeom>
          <a:noFill/>
          <a:ln w="0">
            <a:noFill/>
          </a:ln>
        </p:spPr>
        <p:txBody>
          <a:bodyPr anchor="ctr"/>
          <a:lstStyle>
            <a:defPPr>
              <a:defRPr sz="1350" b="0">
                <a:solidFill>
                  <a:srgbClr val="D1E5DE"/>
                </a:solidFill>
                <a:latin typeface="Inter"/>
                <a:ea typeface="Inter"/>
                <a:cs typeface="Inter"/>
              </a:defRPr>
            </a:defPPr>
          </a:lstStyle>
          <a:p>
            <a:pPr>
              <a:defRPr sz="1350" b="0">
                <a:solidFill>
                  <a:srgbClr val="D1E5DE"/>
                </a:solidFill>
                <a:latin typeface="Inter"/>
                <a:ea typeface="Inter"/>
                <a:cs typeface="Inter"/>
              </a:defRPr>
            </a:pPr>
            <a:r>
              <a:rPr sz="2025">
                <a:solidFill>
                  <a:srgbClr val="D1E5DE"/>
                </a:solidFill>
                <a:latin typeface="Inter"/>
                <a:ea typeface="Inter"/>
                <a:cs typeface="Inter"/>
              </a:rPr>
              <a:t>Fragebogen, Ratings, Notizen, Fotos und Skizzen.</a:t>
            </a:r>
          </a:p>
          <a:p>
            <a:pPr>
              <a:defRPr sz="1350" b="0">
                <a:solidFill>
                  <a:srgbClr val="D1E5DE"/>
                </a:solidFill>
                <a:latin typeface="Inter"/>
                <a:ea typeface="Inter"/>
                <a:cs typeface="Inter"/>
              </a:defRPr>
            </a:pPr>
            <a:r>
              <a:rPr sz="2025">
                <a:solidFill>
                  <a:srgbClr val="D1E5DE"/>
                </a:solidFill>
                <a:latin typeface="Inter"/>
                <a:ea typeface="Inter"/>
                <a:cs typeface="Inter"/>
              </a:rPr>
              <a:t>Das technische Gespräch bleibt nachvollziehbar.</a:t>
            </a:r>
          </a:p>
        </p:txBody>
      </p:sp>
      <p:sp>
        <p:nvSpPr>
          <p:cNvPr id="13" name="Abgerundetes Rechteck 12">
            <a:extLst>
              <a:ext uri="{FF2B5EF4-FFF2-40B4-BE49-F238E27FC236}">
                <a16:creationId xmlns:a16="http://schemas.microsoft.com/office/drawing/2014/main" id="{48AE0046-3170-48A0-A52F-0BF44C769197}"/>
              </a:ext>
            </a:extLst>
          </p:cNvPr>
          <p:cNvSpPr>
            <a:spLocks noGrp="1"/>
          </p:cNvSpPr>
          <p:nvPr/>
        </p:nvSpPr>
        <p:spPr>
          <a:xfrm>
            <a:off x="5400675" y="7243763"/>
            <a:ext cx="11972925" cy="1600200"/>
          </a:xfrm>
          <a:prstGeom prst="roundRect">
            <a:avLst>
              <a:gd name="adj" fmla="val 7143"/>
            </a:avLst>
          </a:prstGeom>
          <a:solidFill>
            <a:srgbClr val="10302C"/>
          </a:solidFill>
          <a:ln w="0">
            <a:noFill/>
          </a:ln>
        </p:spPr>
      </p:sp>
      <p:sp>
        <p:nvSpPr>
          <p:cNvPr id="14" name="Rechteck 13">
            <a:extLst>
              <a:ext uri="{FF2B5EF4-FFF2-40B4-BE49-F238E27FC236}">
                <a16:creationId xmlns:a16="http://schemas.microsoft.com/office/drawing/2014/main" id="{24E75EC6-18D8-4CC5-BD44-D18407C795FA}"/>
              </a:ext>
            </a:extLst>
          </p:cNvPr>
          <p:cNvSpPr>
            <a:spLocks noGrp="1"/>
          </p:cNvSpPr>
          <p:nvPr/>
        </p:nvSpPr>
        <p:spPr>
          <a:xfrm>
            <a:off x="5743575" y="7515226"/>
            <a:ext cx="857250" cy="471488"/>
          </a:xfrm>
          <a:prstGeom prst="rect">
            <a:avLst/>
          </a:prstGeom>
          <a:noFill/>
          <a:ln w="0">
            <a:noFill/>
          </a:ln>
        </p:spPr>
        <p:txBody>
          <a:bodyPr anchor="ctr"/>
          <a:lstStyle>
            <a:defPPr>
              <a:defRPr sz="1875" b="1">
                <a:solidFill>
                  <a:srgbClr val="00D9C6"/>
                </a:solidFill>
                <a:latin typeface="JetBrains Mono"/>
                <a:ea typeface="JetBrains Mono"/>
                <a:cs typeface="JetBrains Mono"/>
              </a:defRPr>
            </a:defPPr>
          </a:lstStyle>
          <a:p>
            <a:pPr>
              <a:defRPr sz="1875" b="1">
                <a:solidFill>
                  <a:srgbClr val="00D9C6"/>
                </a:solidFill>
                <a:latin typeface="JetBrains Mono"/>
                <a:ea typeface="JetBrains Mono"/>
                <a:cs typeface="JetBrains Mono"/>
              </a:defRPr>
            </a:pPr>
            <a:r>
              <a:rPr sz="2813" b="1">
                <a:solidFill>
                  <a:srgbClr val="00D9C6"/>
                </a:solidFill>
                <a:latin typeface="JetBrains Mono"/>
                <a:ea typeface="JetBrains Mono"/>
                <a:cs typeface="JetBrains Mono"/>
              </a:rPr>
              <a:t>03</a:t>
            </a:r>
          </a:p>
        </p:txBody>
      </p:sp>
      <p:sp>
        <p:nvSpPr>
          <p:cNvPr id="15" name="Rechteck 14">
            <a:extLst>
              <a:ext uri="{FF2B5EF4-FFF2-40B4-BE49-F238E27FC236}">
                <a16:creationId xmlns:a16="http://schemas.microsoft.com/office/drawing/2014/main" id="{C2490C4D-1BC9-48D0-A180-1E2F95395102}"/>
              </a:ext>
            </a:extLst>
          </p:cNvPr>
          <p:cNvSpPr>
            <a:spLocks noGrp="1"/>
          </p:cNvSpPr>
          <p:nvPr/>
        </p:nvSpPr>
        <p:spPr>
          <a:xfrm>
            <a:off x="6929438" y="7429501"/>
            <a:ext cx="10001250" cy="471488"/>
          </a:xfrm>
          <a:prstGeom prst="rect">
            <a:avLst/>
          </a:prstGeom>
          <a:noFill/>
          <a:ln w="0">
            <a:noFill/>
          </a:ln>
        </p:spPr>
        <p:txBody>
          <a:bodyPr anchor="ctr"/>
          <a:lstStyle>
            <a:defPPr>
              <a:defRPr sz="1800" b="1">
                <a:solidFill>
                  <a:srgbClr val="FFFFFF"/>
                </a:solidFill>
                <a:latin typeface="Space Grotesk"/>
                <a:ea typeface="Space Grotesk"/>
                <a:cs typeface="Space Grotesk"/>
              </a:defRPr>
            </a:defPPr>
          </a:lstStyle>
          <a:p>
            <a:pPr>
              <a:defRPr sz="1800" b="1">
                <a:solidFill>
                  <a:srgbClr val="FFFFFF"/>
                </a:solidFill>
                <a:latin typeface="Space Grotesk"/>
                <a:ea typeface="Space Grotesk"/>
                <a:cs typeface="Space Grotesk"/>
              </a:defRPr>
            </a:pPr>
            <a:r>
              <a:rPr sz="2700" b="1">
                <a:solidFill>
                  <a:srgbClr val="FFFFFF"/>
                </a:solidFill>
                <a:latin typeface="Space Grotesk"/>
                <a:ea typeface="Space Grotesk"/>
                <a:cs typeface="Space Grotesk"/>
              </a:rPr>
              <a:t>Verbindlich nachfassen</a:t>
            </a:r>
          </a:p>
        </p:txBody>
      </p:sp>
      <p:sp>
        <p:nvSpPr>
          <p:cNvPr id="16" name="Rechteck 15">
            <a:extLst>
              <a:ext uri="{FF2B5EF4-FFF2-40B4-BE49-F238E27FC236}">
                <a16:creationId xmlns:a16="http://schemas.microsoft.com/office/drawing/2014/main" id="{26D8477B-BB7E-4E66-B9A3-370CC3C01340}"/>
              </a:ext>
            </a:extLst>
          </p:cNvPr>
          <p:cNvSpPr>
            <a:spLocks noGrp="1"/>
          </p:cNvSpPr>
          <p:nvPr/>
        </p:nvSpPr>
        <p:spPr>
          <a:xfrm>
            <a:off x="6929438" y="7986713"/>
            <a:ext cx="10001250" cy="700088"/>
          </a:xfrm>
          <a:prstGeom prst="rect">
            <a:avLst/>
          </a:prstGeom>
          <a:noFill/>
          <a:ln w="0">
            <a:noFill/>
          </a:ln>
        </p:spPr>
        <p:txBody>
          <a:bodyPr anchor="ctr"/>
          <a:lstStyle>
            <a:defPPr>
              <a:defRPr sz="1350" b="0">
                <a:solidFill>
                  <a:srgbClr val="D1E5DE"/>
                </a:solidFill>
                <a:latin typeface="Inter"/>
                <a:ea typeface="Inter"/>
                <a:cs typeface="Inter"/>
              </a:defRPr>
            </a:defPPr>
          </a:lstStyle>
          <a:p>
            <a:pPr>
              <a:defRPr sz="1350" b="0">
                <a:solidFill>
                  <a:srgbClr val="D1E5DE"/>
                </a:solidFill>
                <a:latin typeface="Inter"/>
                <a:ea typeface="Inter"/>
                <a:cs typeface="Inter"/>
              </a:defRPr>
            </a:pPr>
            <a:r>
              <a:rPr sz="2025">
                <a:solidFill>
                  <a:srgbClr val="D1E5DE"/>
                </a:solidFill>
                <a:latin typeface="Inter"/>
                <a:ea typeface="Inter"/>
                <a:cs typeface="Inter"/>
              </a:rPr>
              <a:t>Zuständige Person und Wiedervorlage im CRM.</a:t>
            </a:r>
          </a:p>
          <a:p>
            <a:pPr>
              <a:defRPr sz="1350" b="0">
                <a:solidFill>
                  <a:srgbClr val="D1E5DE"/>
                </a:solidFill>
                <a:latin typeface="Inter"/>
                <a:ea typeface="Inter"/>
                <a:cs typeface="Inter"/>
              </a:defRPr>
            </a:pPr>
            <a:r>
              <a:rPr sz="2025">
                <a:solidFill>
                  <a:srgbClr val="D1E5DE"/>
                </a:solidFill>
                <a:latin typeface="Inter"/>
                <a:ea typeface="Inter"/>
                <a:cs typeface="Inter"/>
              </a:rPr>
              <a:t>48 Stunden als vereinbartes Pilotziel.</a:t>
            </a:r>
          </a:p>
        </p:txBody>
      </p:sp>
      <p:sp>
        <p:nvSpPr>
          <p:cNvPr id="17" name="Rechteck 16">
            <a:extLst>
              <a:ext uri="{FF2B5EF4-FFF2-40B4-BE49-F238E27FC236}">
                <a16:creationId xmlns:a16="http://schemas.microsoft.com/office/drawing/2014/main" id="{A6E89451-5EB3-4B51-92E6-D4912A28FF9D}"/>
              </a:ext>
            </a:extLst>
          </p:cNvPr>
          <p:cNvSpPr>
            <a:spLocks noGrp="1"/>
          </p:cNvSpPr>
          <p:nvPr/>
        </p:nvSpPr>
        <p:spPr>
          <a:xfrm>
            <a:off x="5400675" y="9172575"/>
            <a:ext cx="11972925" cy="314325"/>
          </a:xfrm>
          <a:prstGeom prst="rect">
            <a:avLst/>
          </a:prstGeom>
          <a:noFill/>
          <a:ln w="0">
            <a:noFill/>
          </a:ln>
        </p:spPr>
        <p:txBody>
          <a:bodyPr anchor="ctr"/>
          <a:lstStyle>
            <a:defPPr>
              <a:defRPr sz="1050" b="0">
                <a:solidFill>
                  <a:srgbClr val="31564E"/>
                </a:solidFill>
                <a:latin typeface="Inter"/>
                <a:ea typeface="Inter"/>
                <a:cs typeface="Inter"/>
              </a:defRPr>
            </a:defPPr>
          </a:lstStyle>
          <a:p>
            <a:pPr>
              <a:defRPr sz="1050" b="0">
                <a:solidFill>
                  <a:srgbClr val="31564E"/>
                </a:solidFill>
                <a:latin typeface="Inter"/>
                <a:ea typeface="Inter"/>
                <a:cs typeface="Inter"/>
              </a:defRPr>
            </a:pPr>
            <a:r>
              <a:rPr sz="1575">
                <a:solidFill>
                  <a:srgbClr val="31564E"/>
                </a:solidFill>
                <a:latin typeface="Inter"/>
                <a:ea typeface="Inter"/>
                <a:cs typeface="Inter"/>
              </a:rPr>
              <a:t>Außerdem: Unterlagen präsentieren und versenden · Team-Erfassung · Exporte</a:t>
            </a:r>
          </a:p>
        </p:txBody>
      </p:sp>
      <p:sp>
        <p:nvSpPr>
          <p:cNvPr id="18" name="Rechteck 17">
            <a:extLst>
              <a:ext uri="{FF2B5EF4-FFF2-40B4-BE49-F238E27FC236}">
                <a16:creationId xmlns:a16="http://schemas.microsoft.com/office/drawing/2014/main" id="{8260B12F-118D-45D5-AB85-E65A1C61C3D5}"/>
              </a:ext>
            </a:extLst>
          </p:cNvPr>
          <p:cNvSpPr>
            <a:spLocks noGrp="1"/>
          </p:cNvSpPr>
          <p:nvPr/>
        </p:nvSpPr>
        <p:spPr>
          <a:xfrm>
            <a:off x="0" y="10172700"/>
            <a:ext cx="12192000" cy="114300"/>
          </a:xfrm>
          <a:prstGeom prst="rect">
            <a:avLst/>
          </a:prstGeom>
          <a:solidFill>
            <a:srgbClr val="00D9C6"/>
          </a:solidFill>
          <a:ln w="0">
            <a:noFill/>
          </a:ln>
        </p:spPr>
      </p:sp>
      <p:sp>
        <p:nvSpPr>
          <p:cNvPr id="19" name="Rechteck 18">
            <a:extLst>
              <a:ext uri="{FF2B5EF4-FFF2-40B4-BE49-F238E27FC236}">
                <a16:creationId xmlns:a16="http://schemas.microsoft.com/office/drawing/2014/main" id="{F7DDA2FE-B465-4262-BB8E-C8B59B33D62F}"/>
              </a:ext>
            </a:extLst>
          </p:cNvPr>
          <p:cNvSpPr>
            <a:spLocks noGrp="1"/>
          </p:cNvSpPr>
          <p:nvPr/>
        </p:nvSpPr>
        <p:spPr>
          <a:xfrm>
            <a:off x="914400" y="9586913"/>
            <a:ext cx="12858750" cy="285750"/>
          </a:xfrm>
          <a:prstGeom prst="rect">
            <a:avLst/>
          </a:prstGeom>
          <a:noFill/>
          <a:ln w="0">
            <a:noFill/>
          </a:ln>
        </p:spPr>
        <p:txBody>
          <a:bodyPr anchor="ctr"/>
          <a:lstStyle>
            <a:defPPr>
              <a:defRPr sz="825" b="0">
                <a:solidFill>
                  <a:srgbClr val="31564E"/>
                </a:solidFill>
                <a:latin typeface="JetBrains Mono"/>
                <a:ea typeface="JetBrains Mono"/>
                <a:cs typeface="JetBrains Mono"/>
              </a:defRPr>
            </a:defPPr>
          </a:lstStyle>
          <a:p>
            <a:pPr>
              <a:defRPr sz="825" b="0">
                <a:solidFill>
                  <a:srgbClr val="31564E"/>
                </a:solidFill>
                <a:latin typeface="JetBrains Mono"/>
                <a:ea typeface="JetBrains Mono"/>
                <a:cs typeface="JetBrains Mono"/>
              </a:defRPr>
            </a:pPr>
            <a:r>
              <a:rPr sz="1238">
                <a:solidFill>
                  <a:srgbClr val="31564E"/>
                </a:solidFill>
                <a:latin typeface="JetBrains Mono"/>
                <a:ea typeface="JetBrains Mono"/>
                <a:cs typeface="JetBrains Mono"/>
              </a:rPr>
              <a:t>LEADPILOT EXPO · FIKTIVES ZUKUNFTSKONZEPT</a:t>
            </a:r>
          </a:p>
        </p:txBody>
      </p:sp>
      <p:sp>
        <p:nvSpPr>
          <p:cNvPr id="20" name="Rechteck 19">
            <a:extLst>
              <a:ext uri="{FF2B5EF4-FFF2-40B4-BE49-F238E27FC236}">
                <a16:creationId xmlns:a16="http://schemas.microsoft.com/office/drawing/2014/main" id="{CEDCEB8D-044B-4810-9381-12F672C759B5}"/>
              </a:ext>
            </a:extLst>
          </p:cNvPr>
          <p:cNvSpPr>
            <a:spLocks noGrp="1"/>
          </p:cNvSpPr>
          <p:nvPr/>
        </p:nvSpPr>
        <p:spPr>
          <a:xfrm>
            <a:off x="16430625" y="9572625"/>
            <a:ext cx="1000125" cy="314325"/>
          </a:xfrm>
          <a:prstGeom prst="rect">
            <a:avLst/>
          </a:prstGeom>
          <a:noFill/>
          <a:ln w="0">
            <a:noFill/>
          </a:ln>
        </p:spPr>
        <p:txBody>
          <a:bodyPr anchor="ctr"/>
          <a:lstStyle>
            <a:defPPr>
              <a:defRPr sz="975" b="0">
                <a:solidFill>
                  <a:srgbClr val="31564E"/>
                </a:solidFill>
                <a:latin typeface="JetBrains Mono"/>
                <a:ea typeface="JetBrains Mono"/>
                <a:cs typeface="JetBrains Mono"/>
              </a:defRPr>
            </a:defPPr>
          </a:lstStyle>
          <a:p>
            <a:pPr>
              <a:defRPr sz="975" b="0">
                <a:solidFill>
                  <a:srgbClr val="31564E"/>
                </a:solidFill>
                <a:latin typeface="JetBrains Mono"/>
                <a:ea typeface="JetBrains Mono"/>
                <a:cs typeface="JetBrains Mono"/>
              </a:defRPr>
            </a:pPr>
            <a:r>
              <a:rPr sz="1463">
                <a:solidFill>
                  <a:srgbClr val="31564E"/>
                </a:solidFill>
                <a:latin typeface="JetBrains Mono"/>
                <a:ea typeface="JetBrains Mono"/>
                <a:cs typeface="JetBrains Mono"/>
              </a:rPr>
              <a:t>2 / 3</a:t>
            </a:r>
          </a:p>
        </p:txBody>
      </p:sp>
    </p:spTree>
    <p:extLst>
      <p:ext uri="{BB962C8B-B14F-4D97-AF65-F5344CB8AC3E}">
        <p14:creationId xmlns:p14="http://schemas.microsoft.com/office/powerpoint/2010/main" val="3291182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Grafik 16">
            <a:extLst>
              <a:ext uri="{FF2B5EF4-FFF2-40B4-BE49-F238E27FC236}">
                <a16:creationId xmlns:a16="http://schemas.microsoft.com/office/drawing/2014/main" id="{935A9CE6-7B10-4B63-94AE-1CE83F6B6B48}"/>
              </a:ext>
            </a:extLst>
          </p:cNvPr>
          <p:cNvPicPr>
            <a:picLocks noChangeAspect="1"/>
          </p:cNvPicPr>
          <p:nvPr/>
        </p:nvPicPr>
        <p:blipFill>
          <a:blip r:embed="rId3"/>
          <a:stretch/>
        </p:blipFill>
        <p:spPr>
          <a:xfrm>
            <a:off x="914401" y="462851"/>
            <a:ext cx="1500188" cy="674498"/>
          </a:xfrm>
          <a:prstGeom prst="rect">
            <a:avLst/>
          </a:prstGeom>
        </p:spPr>
      </p:pic>
      <p:sp>
        <p:nvSpPr>
          <p:cNvPr id="2" name="Rechteck 1">
            <a:extLst>
              <a:ext uri="{FF2B5EF4-FFF2-40B4-BE49-F238E27FC236}">
                <a16:creationId xmlns:a16="http://schemas.microsoft.com/office/drawing/2014/main" id="{072DB798-220F-4373-9092-32AB0B688658}"/>
              </a:ext>
            </a:extLst>
          </p:cNvPr>
          <p:cNvSpPr>
            <a:spLocks noGrp="1"/>
          </p:cNvSpPr>
          <p:nvPr/>
        </p:nvSpPr>
        <p:spPr>
          <a:xfrm>
            <a:off x="914400" y="1614488"/>
            <a:ext cx="15716250" cy="342900"/>
          </a:xfrm>
          <a:prstGeom prst="rect">
            <a:avLst/>
          </a:prstGeom>
          <a:noFill/>
          <a:ln w="0">
            <a:noFill/>
          </a:ln>
        </p:spPr>
        <p:txBody>
          <a:bodyPr anchor="ctr"/>
          <a:lstStyle>
            <a:defPPr>
              <a:defRPr sz="975" b="1">
                <a:solidFill>
                  <a:srgbClr val="00D9C6"/>
                </a:solidFill>
                <a:latin typeface="Inter"/>
                <a:ea typeface="Inter"/>
                <a:cs typeface="Inter"/>
              </a:defRPr>
            </a:defPPr>
          </a:lstStyle>
          <a:p>
            <a:pPr>
              <a:defRPr sz="975" b="1">
                <a:solidFill>
                  <a:srgbClr val="00D9C6"/>
                </a:solidFill>
                <a:latin typeface="Inter"/>
                <a:ea typeface="Inter"/>
                <a:cs typeface="Inter"/>
              </a:defRPr>
            </a:pPr>
            <a:r>
              <a:rPr sz="1463" b="1">
                <a:solidFill>
                  <a:srgbClr val="00D9C6"/>
                </a:solidFill>
                <a:latin typeface="Inter"/>
                <a:ea typeface="Inter"/>
                <a:cs typeface="Inter"/>
              </a:rPr>
              <a:t>IHR NÄCHSTER SCHRITT</a:t>
            </a:r>
          </a:p>
        </p:txBody>
      </p:sp>
      <p:sp>
        <p:nvSpPr>
          <p:cNvPr id="3" name="Rechteck 2">
            <a:extLst>
              <a:ext uri="{FF2B5EF4-FFF2-40B4-BE49-F238E27FC236}">
                <a16:creationId xmlns:a16="http://schemas.microsoft.com/office/drawing/2014/main" id="{1068A752-5842-45C2-8132-EF885A71770A}"/>
              </a:ext>
            </a:extLst>
          </p:cNvPr>
          <p:cNvSpPr>
            <a:spLocks noGrp="1"/>
          </p:cNvSpPr>
          <p:nvPr/>
        </p:nvSpPr>
        <p:spPr>
          <a:xfrm>
            <a:off x="914400" y="2243138"/>
            <a:ext cx="16287750" cy="928688"/>
          </a:xfrm>
          <a:prstGeom prst="rect">
            <a:avLst/>
          </a:prstGeom>
          <a:noFill/>
          <a:ln w="0">
            <a:noFill/>
          </a:ln>
        </p:spPr>
        <p:txBody>
          <a:bodyPr anchor="ctr"/>
          <a:lstStyle>
            <a:defPPr>
              <a:defRPr sz="3375" b="1">
                <a:solidFill>
                  <a:srgbClr val="FFFFFF"/>
                </a:solidFill>
                <a:latin typeface="Space Grotesk"/>
                <a:ea typeface="Space Grotesk"/>
                <a:cs typeface="Space Grotesk"/>
              </a:defRPr>
            </a:defPPr>
          </a:lstStyle>
          <a:p>
            <a:pPr>
              <a:defRPr sz="3375" b="1">
                <a:solidFill>
                  <a:srgbClr val="FFFFFF"/>
                </a:solidFill>
                <a:latin typeface="Space Grotesk"/>
                <a:ea typeface="Space Grotesk"/>
                <a:cs typeface="Space Grotesk"/>
              </a:defRPr>
            </a:pPr>
            <a:r>
              <a:rPr sz="5063" b="1">
                <a:solidFill>
                  <a:srgbClr val="FFFFFF"/>
                </a:solidFill>
                <a:latin typeface="Space Grotesk"/>
                <a:ea typeface="Space Grotesk"/>
                <a:cs typeface="Space Grotesk"/>
              </a:rPr>
              <a:t>Ein Messe-Pilot mit Ihrem Siebener-Team</a:t>
            </a:r>
          </a:p>
        </p:txBody>
      </p:sp>
      <p:sp>
        <p:nvSpPr>
          <p:cNvPr id="4" name="Abgerundetes Rechteck 3">
            <a:extLst>
              <a:ext uri="{FF2B5EF4-FFF2-40B4-BE49-F238E27FC236}">
                <a16:creationId xmlns:a16="http://schemas.microsoft.com/office/drawing/2014/main" id="{E3971D88-1B28-422A-BB3B-CB976A463904}"/>
              </a:ext>
            </a:extLst>
          </p:cNvPr>
          <p:cNvSpPr>
            <a:spLocks noGrp="1"/>
          </p:cNvSpPr>
          <p:nvPr/>
        </p:nvSpPr>
        <p:spPr>
          <a:xfrm>
            <a:off x="914400" y="3757613"/>
            <a:ext cx="7000875" cy="4643438"/>
          </a:xfrm>
          <a:prstGeom prst="roundRect">
            <a:avLst>
              <a:gd name="adj" fmla="val 2462"/>
            </a:avLst>
          </a:prstGeom>
          <a:solidFill>
            <a:srgbClr val="10302C"/>
          </a:solidFill>
          <a:ln w="0">
            <a:noFill/>
          </a:ln>
        </p:spPr>
      </p:sp>
      <p:sp>
        <p:nvSpPr>
          <p:cNvPr id="5" name="Rechteck 4">
            <a:extLst>
              <a:ext uri="{FF2B5EF4-FFF2-40B4-BE49-F238E27FC236}">
                <a16:creationId xmlns:a16="http://schemas.microsoft.com/office/drawing/2014/main" id="{8EB5D883-C228-4152-BB54-DEC458C16F5A}"/>
              </a:ext>
            </a:extLst>
          </p:cNvPr>
          <p:cNvSpPr>
            <a:spLocks noGrp="1"/>
          </p:cNvSpPr>
          <p:nvPr/>
        </p:nvSpPr>
        <p:spPr>
          <a:xfrm>
            <a:off x="1257300" y="4086225"/>
            <a:ext cx="6286500" cy="342900"/>
          </a:xfrm>
          <a:prstGeom prst="rect">
            <a:avLst/>
          </a:prstGeom>
          <a:noFill/>
          <a:ln w="0">
            <a:noFill/>
          </a:ln>
        </p:spPr>
        <p:txBody>
          <a:bodyPr anchor="ctr"/>
          <a:lstStyle>
            <a:defPPr>
              <a:defRPr sz="1050" b="0">
                <a:solidFill>
                  <a:srgbClr val="B2CEC6"/>
                </a:solidFill>
                <a:latin typeface="JetBrains Mono"/>
                <a:ea typeface="JetBrains Mono"/>
                <a:cs typeface="JetBrains Mono"/>
              </a:defRPr>
            </a:defPPr>
          </a:lstStyle>
          <a:p>
            <a:pPr>
              <a:defRPr sz="1050" b="0">
                <a:solidFill>
                  <a:srgbClr val="B2CEC6"/>
                </a:solidFill>
                <a:latin typeface="JetBrains Mono"/>
                <a:ea typeface="JetBrains Mono"/>
                <a:cs typeface="JetBrains Mono"/>
              </a:defRPr>
            </a:pPr>
            <a:r>
              <a:rPr sz="1575">
                <a:solidFill>
                  <a:srgbClr val="B2CEC6"/>
                </a:solidFill>
                <a:latin typeface="JetBrains Mono"/>
                <a:ea typeface="JetBrains Mono"/>
                <a:cs typeface="JetBrains Mono"/>
              </a:rPr>
              <a:t>GROWTH · 7 NUTZER</a:t>
            </a:r>
          </a:p>
        </p:txBody>
      </p:sp>
      <p:sp>
        <p:nvSpPr>
          <p:cNvPr id="6" name="Rechteck 5">
            <a:extLst>
              <a:ext uri="{FF2B5EF4-FFF2-40B4-BE49-F238E27FC236}">
                <a16:creationId xmlns:a16="http://schemas.microsoft.com/office/drawing/2014/main" id="{D156EE92-81CA-4790-95D1-5ACD7577C7C8}"/>
              </a:ext>
            </a:extLst>
          </p:cNvPr>
          <p:cNvSpPr>
            <a:spLocks noGrp="1"/>
          </p:cNvSpPr>
          <p:nvPr/>
        </p:nvSpPr>
        <p:spPr>
          <a:xfrm>
            <a:off x="1257300" y="4729163"/>
            <a:ext cx="6143625" cy="1314450"/>
          </a:xfrm>
          <a:prstGeom prst="rect">
            <a:avLst/>
          </a:prstGeom>
          <a:noFill/>
          <a:ln w="0">
            <a:noFill/>
          </a:ln>
        </p:spPr>
        <p:txBody>
          <a:bodyPr anchor="ctr"/>
          <a:lstStyle>
            <a:defPPr>
              <a:defRPr sz="5700" b="1">
                <a:solidFill>
                  <a:srgbClr val="FF7A3D"/>
                </a:solidFill>
                <a:latin typeface="Space Grotesk"/>
                <a:ea typeface="Space Grotesk"/>
                <a:cs typeface="Space Grotesk"/>
              </a:defRPr>
            </a:defPPr>
          </a:lstStyle>
          <a:p>
            <a:pPr>
              <a:defRPr sz="5700" b="1">
                <a:solidFill>
                  <a:srgbClr val="FF7A3D"/>
                </a:solidFill>
                <a:latin typeface="Space Grotesk"/>
                <a:ea typeface="Space Grotesk"/>
                <a:cs typeface="Space Grotesk"/>
              </a:defRPr>
            </a:pPr>
            <a:r>
              <a:rPr sz="8550" b="1">
                <a:solidFill>
                  <a:srgbClr val="FF7A3D"/>
                </a:solidFill>
                <a:latin typeface="Space Grotesk"/>
                <a:ea typeface="Space Grotesk"/>
                <a:cs typeface="Space Grotesk"/>
              </a:rPr>
              <a:t>623 €</a:t>
            </a:r>
          </a:p>
        </p:txBody>
      </p:sp>
      <p:sp>
        <p:nvSpPr>
          <p:cNvPr id="7" name="Rechteck 6">
            <a:extLst>
              <a:ext uri="{FF2B5EF4-FFF2-40B4-BE49-F238E27FC236}">
                <a16:creationId xmlns:a16="http://schemas.microsoft.com/office/drawing/2014/main" id="{401C4730-E8B3-4AA3-9AF9-979621CB3225}"/>
              </a:ext>
            </a:extLst>
          </p:cNvPr>
          <p:cNvSpPr>
            <a:spLocks noGrp="1"/>
          </p:cNvSpPr>
          <p:nvPr/>
        </p:nvSpPr>
        <p:spPr>
          <a:xfrm>
            <a:off x="1257300" y="6143625"/>
            <a:ext cx="6143625" cy="485775"/>
          </a:xfrm>
          <a:prstGeom prst="rect">
            <a:avLst/>
          </a:prstGeom>
          <a:noFill/>
          <a:ln w="0">
            <a:noFill/>
          </a:ln>
        </p:spPr>
        <p:txBody>
          <a:bodyPr anchor="ctr"/>
          <a:lstStyle>
            <a:defPPr>
              <a:defRPr sz="1875" b="0">
                <a:solidFill>
                  <a:srgbClr val="FFFFFF"/>
                </a:solidFill>
                <a:latin typeface="Inter"/>
                <a:ea typeface="Inter"/>
                <a:cs typeface="Inter"/>
              </a:defRPr>
            </a:defPPr>
          </a:lstStyle>
          <a:p>
            <a:pPr>
              <a:defRPr sz="1875" b="0">
                <a:solidFill>
                  <a:srgbClr val="FFFFFF"/>
                </a:solidFill>
                <a:latin typeface="Inter"/>
                <a:ea typeface="Inter"/>
                <a:cs typeface="Inter"/>
              </a:defRPr>
            </a:pPr>
            <a:r>
              <a:rPr sz="2813">
                <a:solidFill>
                  <a:srgbClr val="FFFFFF"/>
                </a:solidFill>
                <a:latin typeface="Inter"/>
                <a:ea typeface="Inter"/>
                <a:cs typeface="Inter"/>
              </a:rPr>
              <a:t>pro Monat · 7 × 89 €</a:t>
            </a:r>
          </a:p>
        </p:txBody>
      </p:sp>
      <p:sp>
        <p:nvSpPr>
          <p:cNvPr id="8" name="Rechteck 7">
            <a:extLst>
              <a:ext uri="{FF2B5EF4-FFF2-40B4-BE49-F238E27FC236}">
                <a16:creationId xmlns:a16="http://schemas.microsoft.com/office/drawing/2014/main" id="{74BFBE13-C2D5-4978-BF5F-6AF91C5CE3D5}"/>
              </a:ext>
            </a:extLst>
          </p:cNvPr>
          <p:cNvSpPr>
            <a:spLocks noGrp="1"/>
          </p:cNvSpPr>
          <p:nvPr/>
        </p:nvSpPr>
        <p:spPr>
          <a:xfrm>
            <a:off x="1257300" y="7029450"/>
            <a:ext cx="6143625" cy="885825"/>
          </a:xfrm>
          <a:prstGeom prst="rect">
            <a:avLst/>
          </a:prstGeom>
          <a:noFill/>
          <a:ln w="0">
            <a:noFill/>
          </a:ln>
        </p:spPr>
        <p:txBody>
          <a:bodyPr anchor="ctr"/>
          <a:lstStyle>
            <a:defPPr>
              <a:defRPr sz="1500" b="0">
                <a:solidFill>
                  <a:srgbClr val="B2CEC6"/>
                </a:solidFill>
                <a:latin typeface="Inter"/>
                <a:ea typeface="Inter"/>
                <a:cs typeface="Inter"/>
              </a:defRPr>
            </a:defPPr>
          </a:lstStyle>
          <a:p>
            <a:pPr>
              <a:defRPr sz="1500" b="0">
                <a:solidFill>
                  <a:srgbClr val="B2CEC6"/>
                </a:solidFill>
                <a:latin typeface="Inter"/>
                <a:ea typeface="Inter"/>
                <a:cs typeface="Inter"/>
              </a:defRPr>
            </a:pPr>
            <a:r>
              <a:rPr sz="2250">
                <a:solidFill>
                  <a:srgbClr val="B2CEC6"/>
                </a:solidFill>
                <a:latin typeface="Inter"/>
                <a:ea typeface="Inter"/>
                <a:cs typeface="Inter"/>
              </a:rPr>
              <a:t>Expo ohne separaten Modulaufschlag*</a:t>
            </a:r>
          </a:p>
          <a:p>
            <a:pPr>
              <a:defRPr sz="1500" b="0">
                <a:solidFill>
                  <a:srgbClr val="B2CEC6"/>
                </a:solidFill>
                <a:latin typeface="Inter"/>
                <a:ea typeface="Inter"/>
                <a:cs typeface="Inter"/>
              </a:defRPr>
            </a:pPr>
            <a:r>
              <a:rPr sz="2250">
                <a:solidFill>
                  <a:srgbClr val="B2CEC6"/>
                </a:solidFill>
                <a:latin typeface="Inter"/>
                <a:ea typeface="Inter"/>
                <a:cs typeface="Inter"/>
              </a:rPr>
              <a:t>14 Tage Test zum Pilotstart</a:t>
            </a:r>
          </a:p>
        </p:txBody>
      </p:sp>
      <p:sp>
        <p:nvSpPr>
          <p:cNvPr id="9" name="Rechteck 8">
            <a:extLst>
              <a:ext uri="{FF2B5EF4-FFF2-40B4-BE49-F238E27FC236}">
                <a16:creationId xmlns:a16="http://schemas.microsoft.com/office/drawing/2014/main" id="{38B1637F-7242-447B-AABD-431D486506AA}"/>
              </a:ext>
            </a:extLst>
          </p:cNvPr>
          <p:cNvSpPr>
            <a:spLocks noGrp="1"/>
          </p:cNvSpPr>
          <p:nvPr/>
        </p:nvSpPr>
        <p:spPr>
          <a:xfrm>
            <a:off x="8858250" y="3857626"/>
            <a:ext cx="8286750" cy="614363"/>
          </a:xfrm>
          <a:prstGeom prst="rect">
            <a:avLst/>
          </a:prstGeom>
          <a:noFill/>
          <a:ln w="0">
            <a:noFill/>
          </a:ln>
        </p:spPr>
        <p:txBody>
          <a:bodyPr anchor="ctr"/>
          <a:lstStyle>
            <a:defPPr>
              <a:defRPr sz="2250" b="1">
                <a:solidFill>
                  <a:srgbClr val="00D9C6"/>
                </a:solidFill>
                <a:latin typeface="Space Grotesk"/>
                <a:ea typeface="Space Grotesk"/>
                <a:cs typeface="Space Grotesk"/>
              </a:defRPr>
            </a:defPPr>
          </a:lstStyle>
          <a:p>
            <a:pPr>
              <a:defRPr sz="2250" b="1">
                <a:solidFill>
                  <a:srgbClr val="00D9C6"/>
                </a:solidFill>
                <a:latin typeface="Space Grotesk"/>
                <a:ea typeface="Space Grotesk"/>
                <a:cs typeface="Space Grotesk"/>
              </a:defRPr>
            </a:pPr>
            <a:r>
              <a:rPr sz="3375" b="1">
                <a:solidFill>
                  <a:srgbClr val="00D9C6"/>
                </a:solidFill>
                <a:latin typeface="Space Grotesk"/>
                <a:ea typeface="Space Grotesk"/>
                <a:cs typeface="Space Grotesk"/>
              </a:rPr>
              <a:t>Im Pilot gemeinsam messen</a:t>
            </a:r>
          </a:p>
        </p:txBody>
      </p:sp>
      <p:sp>
        <p:nvSpPr>
          <p:cNvPr id="10" name="Rechteck 9">
            <a:extLst>
              <a:ext uri="{FF2B5EF4-FFF2-40B4-BE49-F238E27FC236}">
                <a16:creationId xmlns:a16="http://schemas.microsoft.com/office/drawing/2014/main" id="{03C094F5-F97C-4256-90DA-3282D6FFCA84}"/>
              </a:ext>
            </a:extLst>
          </p:cNvPr>
          <p:cNvSpPr>
            <a:spLocks noGrp="1"/>
          </p:cNvSpPr>
          <p:nvPr/>
        </p:nvSpPr>
        <p:spPr>
          <a:xfrm>
            <a:off x="8858250" y="4829175"/>
            <a:ext cx="8286750" cy="914400"/>
          </a:xfrm>
          <a:prstGeom prst="rect">
            <a:avLst/>
          </a:prstGeom>
          <a:noFill/>
          <a:ln w="0">
            <a:noFill/>
          </a:ln>
        </p:spPr>
        <p:txBody>
          <a:bodyPr anchor="ctr"/>
          <a:lstStyle>
            <a:defPPr>
              <a:defRPr sz="1725" b="0">
                <a:solidFill>
                  <a:srgbClr val="FFFFFF"/>
                </a:solidFill>
                <a:latin typeface="Inter"/>
                <a:ea typeface="Inter"/>
                <a:cs typeface="Inter"/>
              </a:defRPr>
            </a:defPPr>
          </a:lstStyle>
          <a:p>
            <a:pPr>
              <a:defRPr sz="1725" b="0">
                <a:solidFill>
                  <a:srgbClr val="FFFFFF"/>
                </a:solidFill>
                <a:latin typeface="Inter"/>
                <a:ea typeface="Inter"/>
                <a:cs typeface="Inter"/>
              </a:defRPr>
            </a:pPr>
            <a:r>
              <a:rPr sz="2588">
                <a:solidFill>
                  <a:srgbClr val="FFFFFF"/>
                </a:solidFill>
                <a:latin typeface="Inter"/>
                <a:ea typeface="Inter"/>
                <a:cs typeface="Inter"/>
              </a:rPr>
              <a:t>01   Jeder gespeicherte Kontakt hat</a:t>
            </a:r>
          </a:p>
          <a:p>
            <a:pPr>
              <a:defRPr sz="1725" b="0">
                <a:solidFill>
                  <a:srgbClr val="FFFFFF"/>
                </a:solidFill>
                <a:latin typeface="Inter"/>
                <a:ea typeface="Inter"/>
                <a:cs typeface="Inter"/>
              </a:defRPr>
            </a:pPr>
            <a:r>
              <a:rPr sz="2588">
                <a:solidFill>
                  <a:srgbClr val="FFFFFF"/>
                </a:solidFill>
                <a:latin typeface="Inter"/>
                <a:ea typeface="Inter"/>
                <a:cs typeface="Inter"/>
              </a:rPr>
              <a:t>       eine Zuständigkeit und nächste Aufgabe</a:t>
            </a:r>
          </a:p>
        </p:txBody>
      </p:sp>
      <p:sp>
        <p:nvSpPr>
          <p:cNvPr id="11" name="Rechteck 10">
            <a:extLst>
              <a:ext uri="{FF2B5EF4-FFF2-40B4-BE49-F238E27FC236}">
                <a16:creationId xmlns:a16="http://schemas.microsoft.com/office/drawing/2014/main" id="{7C276676-8BA6-40FC-AD67-FBDF6DB50799}"/>
              </a:ext>
            </a:extLst>
          </p:cNvPr>
          <p:cNvSpPr>
            <a:spLocks noGrp="1"/>
          </p:cNvSpPr>
          <p:nvPr/>
        </p:nvSpPr>
        <p:spPr>
          <a:xfrm>
            <a:off x="8858250" y="6057900"/>
            <a:ext cx="8286750" cy="914400"/>
          </a:xfrm>
          <a:prstGeom prst="rect">
            <a:avLst/>
          </a:prstGeom>
          <a:noFill/>
          <a:ln w="0">
            <a:noFill/>
          </a:ln>
        </p:spPr>
        <p:txBody>
          <a:bodyPr anchor="ctr"/>
          <a:lstStyle>
            <a:defPPr>
              <a:defRPr sz="1725" b="0">
                <a:solidFill>
                  <a:srgbClr val="FFFFFF"/>
                </a:solidFill>
                <a:latin typeface="Inter"/>
                <a:ea typeface="Inter"/>
                <a:cs typeface="Inter"/>
              </a:defRPr>
            </a:defPPr>
          </a:lstStyle>
          <a:p>
            <a:pPr>
              <a:defRPr sz="1725" b="0">
                <a:solidFill>
                  <a:srgbClr val="FFFFFF"/>
                </a:solidFill>
                <a:latin typeface="Inter"/>
                <a:ea typeface="Inter"/>
                <a:cs typeface="Inter"/>
              </a:defRPr>
            </a:pPr>
            <a:r>
              <a:rPr sz="2588">
                <a:solidFill>
                  <a:srgbClr val="FFFFFF"/>
                </a:solidFill>
                <a:latin typeface="Inter"/>
                <a:ea typeface="Inter"/>
                <a:cs typeface="Inter"/>
              </a:rPr>
              <a:t>02   Erstaktionen innerhalb von 48 Stunden</a:t>
            </a:r>
          </a:p>
          <a:p>
            <a:pPr>
              <a:defRPr sz="1725" b="0">
                <a:solidFill>
                  <a:srgbClr val="FFFFFF"/>
                </a:solidFill>
                <a:latin typeface="Inter"/>
                <a:ea typeface="Inter"/>
                <a:cs typeface="Inter"/>
              </a:defRPr>
            </a:pPr>
            <a:r>
              <a:rPr sz="2588">
                <a:solidFill>
                  <a:srgbClr val="FFFFFF"/>
                </a:solidFill>
                <a:latin typeface="Inter"/>
                <a:ea typeface="Inter"/>
                <a:cs typeface="Inter"/>
              </a:rPr>
              <a:t>       nachvollziehbar auswerten</a:t>
            </a:r>
          </a:p>
        </p:txBody>
      </p:sp>
      <p:sp>
        <p:nvSpPr>
          <p:cNvPr id="12" name="Rechteck 11">
            <a:extLst>
              <a:ext uri="{FF2B5EF4-FFF2-40B4-BE49-F238E27FC236}">
                <a16:creationId xmlns:a16="http://schemas.microsoft.com/office/drawing/2014/main" id="{C361CBB3-27A3-4D4C-8B4C-BA342A6919CD}"/>
              </a:ext>
            </a:extLst>
          </p:cNvPr>
          <p:cNvSpPr>
            <a:spLocks noGrp="1"/>
          </p:cNvSpPr>
          <p:nvPr/>
        </p:nvSpPr>
        <p:spPr>
          <a:xfrm>
            <a:off x="8858250" y="7443788"/>
            <a:ext cx="8286750" cy="1014413"/>
          </a:xfrm>
          <a:prstGeom prst="rect">
            <a:avLst/>
          </a:prstGeom>
          <a:noFill/>
          <a:ln w="0">
            <a:noFill/>
          </a:ln>
        </p:spPr>
        <p:txBody>
          <a:bodyPr anchor="ctr"/>
          <a:lstStyle>
            <a:defPPr>
              <a:defRPr sz="1875" b="1">
                <a:solidFill>
                  <a:srgbClr val="FF7A3D"/>
                </a:solidFill>
                <a:latin typeface="Space Grotesk"/>
                <a:ea typeface="Space Grotesk"/>
                <a:cs typeface="Space Grotesk"/>
              </a:defRPr>
            </a:defPPr>
          </a:lstStyle>
          <a:p>
            <a:pPr>
              <a:defRPr sz="1875" b="1">
                <a:solidFill>
                  <a:srgbClr val="FF7A3D"/>
                </a:solidFill>
                <a:latin typeface="Space Grotesk"/>
                <a:ea typeface="Space Grotesk"/>
                <a:cs typeface="Space Grotesk"/>
              </a:defRPr>
            </a:pPr>
            <a:r>
              <a:rPr sz="2813" b="1">
                <a:solidFill>
                  <a:srgbClr val="FF7A3D"/>
                </a:solidFill>
                <a:latin typeface="Space Grotesk"/>
                <a:ea typeface="Space Grotesk"/>
                <a:cs typeface="Space Grotesk"/>
              </a:rPr>
              <a:t>30 Minuten: Messe, Fragebogen und</a:t>
            </a:r>
          </a:p>
          <a:p>
            <a:pPr>
              <a:defRPr sz="1875" b="1">
                <a:solidFill>
                  <a:srgbClr val="FF7A3D"/>
                </a:solidFill>
                <a:latin typeface="Space Grotesk"/>
                <a:ea typeface="Space Grotesk"/>
                <a:cs typeface="Space Grotesk"/>
              </a:defRPr>
            </a:pPr>
            <a:r>
              <a:rPr sz="2813" b="1">
                <a:solidFill>
                  <a:srgbClr val="FF7A3D"/>
                </a:solidFill>
                <a:latin typeface="Space Grotesk"/>
                <a:ea typeface="Space Grotesk"/>
                <a:cs typeface="Space Grotesk"/>
              </a:rPr>
              <a:t>Verantwortliche gemeinsam festlegen</a:t>
            </a:r>
          </a:p>
        </p:txBody>
      </p:sp>
      <p:sp>
        <p:nvSpPr>
          <p:cNvPr id="13" name="Rechteck 12">
            <a:extLst>
              <a:ext uri="{FF2B5EF4-FFF2-40B4-BE49-F238E27FC236}">
                <a16:creationId xmlns:a16="http://schemas.microsoft.com/office/drawing/2014/main" id="{2C3912A5-8EFB-4695-80EA-8A9C2A25CE48}"/>
              </a:ext>
            </a:extLst>
          </p:cNvPr>
          <p:cNvSpPr>
            <a:spLocks noGrp="1"/>
          </p:cNvSpPr>
          <p:nvPr/>
        </p:nvSpPr>
        <p:spPr>
          <a:xfrm>
            <a:off x="914400" y="8858250"/>
            <a:ext cx="16430625" cy="371475"/>
          </a:xfrm>
          <a:prstGeom prst="rect">
            <a:avLst/>
          </a:prstGeom>
          <a:noFill/>
          <a:ln w="0">
            <a:noFill/>
          </a:ln>
        </p:spPr>
        <p:txBody>
          <a:bodyPr anchor="ctr"/>
          <a:lstStyle>
            <a:defPPr>
              <a:defRPr sz="975" b="0">
                <a:solidFill>
                  <a:srgbClr val="B2CEC6"/>
                </a:solidFill>
                <a:latin typeface="Inter"/>
                <a:ea typeface="Inter"/>
                <a:cs typeface="Inter"/>
              </a:defRPr>
            </a:defPPr>
          </a:lstStyle>
          <a:p>
            <a:pPr>
              <a:defRPr sz="975" b="0">
                <a:solidFill>
                  <a:srgbClr val="B2CEC6"/>
                </a:solidFill>
                <a:latin typeface="Inter"/>
                <a:ea typeface="Inter"/>
                <a:cs typeface="Inter"/>
              </a:defRPr>
            </a:pPr>
            <a:r>
              <a:rPr sz="1463">
                <a:solidFill>
                  <a:srgbClr val="B2CEC6"/>
                </a:solidFill>
                <a:latin typeface="Inter"/>
                <a:ea typeface="Inter"/>
                <a:cs typeface="Inter"/>
              </a:rPr>
              <a:t>*Preisvorschlag · netto zzgl. USt. · einmaliges Setup nach Angebot · Einführung frühestens Q3 2027</a:t>
            </a:r>
          </a:p>
        </p:txBody>
      </p:sp>
      <p:sp>
        <p:nvSpPr>
          <p:cNvPr id="14" name="Rechteck 13">
            <a:extLst>
              <a:ext uri="{FF2B5EF4-FFF2-40B4-BE49-F238E27FC236}">
                <a16:creationId xmlns:a16="http://schemas.microsoft.com/office/drawing/2014/main" id="{DA245BE3-1CD7-454B-8107-8FF734EC28E1}"/>
              </a:ext>
            </a:extLst>
          </p:cNvPr>
          <p:cNvSpPr>
            <a:spLocks noGrp="1"/>
          </p:cNvSpPr>
          <p:nvPr/>
        </p:nvSpPr>
        <p:spPr>
          <a:xfrm>
            <a:off x="0" y="10172700"/>
            <a:ext cx="18288000" cy="114300"/>
          </a:xfrm>
          <a:prstGeom prst="rect">
            <a:avLst/>
          </a:prstGeom>
          <a:solidFill>
            <a:srgbClr val="00D9C6"/>
          </a:solidFill>
          <a:ln w="0">
            <a:noFill/>
          </a:ln>
        </p:spPr>
      </p:sp>
      <p:sp>
        <p:nvSpPr>
          <p:cNvPr id="15" name="Rechteck 14">
            <a:extLst>
              <a:ext uri="{FF2B5EF4-FFF2-40B4-BE49-F238E27FC236}">
                <a16:creationId xmlns:a16="http://schemas.microsoft.com/office/drawing/2014/main" id="{FB385C8D-BC2D-4210-A4E9-5CC26408E4EA}"/>
              </a:ext>
            </a:extLst>
          </p:cNvPr>
          <p:cNvSpPr>
            <a:spLocks noGrp="1"/>
          </p:cNvSpPr>
          <p:nvPr/>
        </p:nvSpPr>
        <p:spPr>
          <a:xfrm>
            <a:off x="914400" y="9586913"/>
            <a:ext cx="12858750" cy="285750"/>
          </a:xfrm>
          <a:prstGeom prst="rect">
            <a:avLst/>
          </a:prstGeom>
          <a:noFill/>
          <a:ln w="0">
            <a:noFill/>
          </a:ln>
        </p:spPr>
        <p:txBody>
          <a:bodyPr anchor="ctr"/>
          <a:lstStyle>
            <a:defPPr>
              <a:defRPr sz="825" b="0">
                <a:solidFill>
                  <a:srgbClr val="B2CEC6"/>
                </a:solidFill>
                <a:latin typeface="JetBrains Mono"/>
                <a:ea typeface="JetBrains Mono"/>
                <a:cs typeface="JetBrains Mono"/>
              </a:defRPr>
            </a:defPPr>
          </a:lstStyle>
          <a:p>
            <a:pPr>
              <a:defRPr sz="825" b="0">
                <a:solidFill>
                  <a:srgbClr val="B2CEC6"/>
                </a:solidFill>
                <a:latin typeface="JetBrains Mono"/>
                <a:ea typeface="JetBrains Mono"/>
                <a:cs typeface="JetBrains Mono"/>
              </a:defRPr>
            </a:pPr>
            <a:r>
              <a:rPr sz="1238">
                <a:solidFill>
                  <a:srgbClr val="B2CEC6"/>
                </a:solidFill>
                <a:latin typeface="JetBrains Mono"/>
                <a:ea typeface="JetBrains Mono"/>
                <a:cs typeface="JetBrains Mono"/>
              </a:rPr>
              <a:t>LEADPILOT EXPO · FIKTIVES ZUKUNFTSKONZEPT</a:t>
            </a:r>
          </a:p>
        </p:txBody>
      </p:sp>
      <p:sp>
        <p:nvSpPr>
          <p:cNvPr id="16" name="Rechteck 15">
            <a:extLst>
              <a:ext uri="{FF2B5EF4-FFF2-40B4-BE49-F238E27FC236}">
                <a16:creationId xmlns:a16="http://schemas.microsoft.com/office/drawing/2014/main" id="{32F33771-B421-43FA-862F-8BC9D06E2FE7}"/>
              </a:ext>
            </a:extLst>
          </p:cNvPr>
          <p:cNvSpPr>
            <a:spLocks noGrp="1"/>
          </p:cNvSpPr>
          <p:nvPr/>
        </p:nvSpPr>
        <p:spPr>
          <a:xfrm>
            <a:off x="16430625" y="9572625"/>
            <a:ext cx="1000125" cy="314325"/>
          </a:xfrm>
          <a:prstGeom prst="rect">
            <a:avLst/>
          </a:prstGeom>
          <a:noFill/>
          <a:ln w="0">
            <a:noFill/>
          </a:ln>
        </p:spPr>
        <p:txBody>
          <a:bodyPr anchor="ctr"/>
          <a:lstStyle>
            <a:defPPr>
              <a:defRPr sz="975" b="0">
                <a:solidFill>
                  <a:srgbClr val="B2CEC6"/>
                </a:solidFill>
                <a:latin typeface="JetBrains Mono"/>
                <a:ea typeface="JetBrains Mono"/>
                <a:cs typeface="JetBrains Mono"/>
              </a:defRPr>
            </a:defPPr>
          </a:lstStyle>
          <a:p>
            <a:pPr>
              <a:defRPr sz="975" b="0">
                <a:solidFill>
                  <a:srgbClr val="B2CEC6"/>
                </a:solidFill>
                <a:latin typeface="JetBrains Mono"/>
                <a:ea typeface="JetBrains Mono"/>
                <a:cs typeface="JetBrains Mono"/>
              </a:defRPr>
            </a:pPr>
            <a:r>
              <a:rPr sz="1463">
                <a:solidFill>
                  <a:srgbClr val="B2CEC6"/>
                </a:solidFill>
                <a:latin typeface="JetBrains Mono"/>
                <a:ea typeface="JetBrains Mono"/>
                <a:cs typeface="JetBrains Mono"/>
              </a:rPr>
              <a:t>3 / 3</a:t>
            </a:r>
          </a:p>
        </p:txBody>
      </p:sp>
    </p:spTree>
    <p:extLst>
      <p:ext uri="{BB962C8B-B14F-4D97-AF65-F5344CB8AC3E}">
        <p14:creationId xmlns:p14="http://schemas.microsoft.com/office/powerpoint/2010/main" val="9057490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1.png"/>
          <p:cNvPicPr>
            <a:picLocks noChangeAspect="1"/>
          </p:cNvPicPr>
          <p:nvPr/>
        </p:nvPicPr>
        <p:blipFill>
          <a:blip r:embed="rId2"/>
          <a:srcRect l="5231" t="24444"/>
          <a:stretch>
            <a:fillRect/>
          </a:stretch>
        </p:blipFill>
        <p:spPr>
          <a:xfrm>
            <a:off x="-31471" y="-133350"/>
            <a:ext cx="18350941" cy="10553700"/>
          </a:xfrm>
          <a:prstGeom prst="rect">
            <a:avLst/>
          </a:prstGeom>
        </p:spPr>
      </p:pic>
      <p:sp>
        <p:nvSpPr>
          <p:cNvPr id="4" name="TextBox 3"/>
          <p:cNvSpPr txBox="1"/>
          <p:nvPr/>
        </p:nvSpPr>
        <p:spPr>
          <a:xfrm>
            <a:off x="16213480" y="523228"/>
            <a:ext cx="929742" cy="230832"/>
          </a:xfrm>
          <a:prstGeom prst="rect">
            <a:avLst/>
          </a:prstGeom>
          <a:noFill/>
        </p:spPr>
        <p:txBody>
          <a:bodyPr wrap="none" lIns="0" tIns="0" rIns="0" bIns="0">
            <a:spAutoFit/>
          </a:bodyPr>
          <a:lstStyle/>
          <a:p>
            <a:r>
              <a:rPr lang="de-DE" sz="1500" b="0" i="0" dirty="0">
                <a:solidFill>
                  <a:srgbClr val="00D9C6"/>
                </a:solidFill>
                <a:latin typeface="Inter"/>
              </a:rPr>
              <a:t>16/10/2026</a:t>
            </a:r>
            <a:endParaRPr sz="1500" b="0" i="0" dirty="0">
              <a:solidFill>
                <a:srgbClr val="00D9C6"/>
              </a:solidFill>
              <a:latin typeface="Inter"/>
            </a:endParaRPr>
          </a:p>
        </p:txBody>
      </p:sp>
      <p:sp>
        <p:nvSpPr>
          <p:cNvPr id="5" name="TextBox 4"/>
          <p:cNvSpPr txBox="1"/>
          <p:nvPr/>
        </p:nvSpPr>
        <p:spPr>
          <a:xfrm>
            <a:off x="956556" y="5355431"/>
            <a:ext cx="3072957" cy="2423740"/>
          </a:xfrm>
          <a:prstGeom prst="rect">
            <a:avLst/>
          </a:prstGeom>
          <a:noFill/>
        </p:spPr>
        <p:txBody>
          <a:bodyPr wrap="none" lIns="0" tIns="0" rIns="0" bIns="0">
            <a:spAutoFit/>
          </a:bodyPr>
          <a:lstStyle/>
          <a:p>
            <a:r>
              <a:rPr lang="de-DE" sz="15750" b="0" i="0" dirty="0">
                <a:solidFill>
                  <a:srgbClr val="FFFFFF"/>
                </a:solidFill>
                <a:latin typeface="Type3 (47 0 R)"/>
              </a:rPr>
              <a:t>180</a:t>
            </a:r>
            <a:endParaRPr sz="15750" b="0" i="0" dirty="0">
              <a:solidFill>
                <a:srgbClr val="FFFFFF"/>
              </a:solidFill>
              <a:latin typeface="Type3 (47 0 R)"/>
            </a:endParaRPr>
          </a:p>
        </p:txBody>
      </p:sp>
      <p:sp>
        <p:nvSpPr>
          <p:cNvPr id="6" name="TextBox 5"/>
          <p:cNvSpPr txBox="1"/>
          <p:nvPr/>
        </p:nvSpPr>
        <p:spPr>
          <a:xfrm>
            <a:off x="956556" y="7355681"/>
            <a:ext cx="10102375" cy="2000250"/>
          </a:xfrm>
          <a:prstGeom prst="rect">
            <a:avLst/>
          </a:prstGeom>
          <a:noFill/>
        </p:spPr>
        <p:txBody>
          <a:bodyPr wrap="none" lIns="0" tIns="0" rIns="0" bIns="0">
            <a:spAutoFit/>
          </a:bodyPr>
          <a:lstStyle/>
          <a:p>
            <a:r>
              <a:rPr sz="15750" b="0" i="0" dirty="0" err="1">
                <a:solidFill>
                  <a:srgbClr val="FFFFFF"/>
                </a:solidFill>
                <a:latin typeface="Type3 (47 0 R)"/>
              </a:rPr>
              <a:t>ActionPlan</a:t>
            </a:r>
            <a:endParaRPr sz="15750" b="0" i="0" dirty="0">
              <a:solidFill>
                <a:srgbClr val="FFFFFF"/>
              </a:solidFill>
              <a:latin typeface="Type3 (47 0 R)"/>
            </a:endParaRPr>
          </a:p>
        </p:txBody>
      </p:sp>
      <p:pic>
        <p:nvPicPr>
          <p:cNvPr id="15" name="Grafik 14">
            <a:extLst>
              <a:ext uri="{FF2B5EF4-FFF2-40B4-BE49-F238E27FC236}">
                <a16:creationId xmlns:a16="http://schemas.microsoft.com/office/drawing/2014/main" id="{C9401E38-F4F3-C40F-540D-8E4769296E76}"/>
              </a:ext>
            </a:extLst>
          </p:cNvPr>
          <p:cNvPicPr>
            <a:picLocks noChangeAspect="1"/>
          </p:cNvPicPr>
          <p:nvPr/>
        </p:nvPicPr>
        <p:blipFill>
          <a:blip r:embed="rId3"/>
          <a:stretch>
            <a:fillRect/>
          </a:stretch>
        </p:blipFill>
        <p:spPr>
          <a:xfrm>
            <a:off x="6444713" y="523228"/>
            <a:ext cx="3533775" cy="1588017"/>
          </a:xfrm>
          <a:prstGeom prst="rect">
            <a:avLst/>
          </a:prstGeom>
        </p:spPr>
      </p:pic>
      <p:pic>
        <p:nvPicPr>
          <p:cNvPr id="17" name="Grafik 16">
            <a:extLst>
              <a:ext uri="{FF2B5EF4-FFF2-40B4-BE49-F238E27FC236}">
                <a16:creationId xmlns:a16="http://schemas.microsoft.com/office/drawing/2014/main" id="{513B7199-A1D7-96DF-37D4-19EBBF53AAF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56556" y="523228"/>
            <a:ext cx="4214725" cy="1317102"/>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2.png"/>
          <p:cNvPicPr>
            <a:picLocks noChangeAspect="1"/>
          </p:cNvPicPr>
          <p:nvPr/>
        </p:nvPicPr>
        <p:blipFill>
          <a:blip r:embed="rId2"/>
          <a:stretch>
            <a:fillRect/>
          </a:stretch>
        </p:blipFill>
        <p:spPr>
          <a:xfrm>
            <a:off x="0" y="0"/>
            <a:ext cx="18288000" cy="10287000"/>
          </a:xfrm>
          <a:prstGeom prst="rect">
            <a:avLst/>
          </a:prstGeom>
        </p:spPr>
      </p:pic>
      <p:sp>
        <p:nvSpPr>
          <p:cNvPr id="3" name="TextBox 2"/>
          <p:cNvSpPr txBox="1"/>
          <p:nvPr/>
        </p:nvSpPr>
        <p:spPr>
          <a:xfrm>
            <a:off x="1756549" y="3852150"/>
            <a:ext cx="4129817" cy="806918"/>
          </a:xfrm>
          <a:prstGeom prst="rect">
            <a:avLst/>
          </a:prstGeom>
          <a:noFill/>
        </p:spPr>
        <p:txBody>
          <a:bodyPr wrap="none" lIns="0" tIns="0" rIns="0" bIns="0">
            <a:spAutoFit/>
          </a:bodyPr>
          <a:lstStyle/>
          <a:p>
            <a:r>
              <a:rPr sz="5250" b="0" i="0">
                <a:solidFill>
                  <a:srgbClr val="00D9C6"/>
                </a:solidFill>
                <a:latin typeface="Inter"/>
              </a:rPr>
              <a:t>01.</a:t>
            </a:r>
            <a:r>
              <a:rPr sz="5250" b="0" i="0">
                <a:solidFill>
                  <a:srgbClr val="FFFFFF"/>
                </a:solidFill>
                <a:latin typeface="Inter"/>
              </a:rPr>
              <a:t>Overview</a:t>
            </a:r>
          </a:p>
        </p:txBody>
      </p:sp>
      <p:sp>
        <p:nvSpPr>
          <p:cNvPr id="4" name="TextBox 3"/>
          <p:cNvSpPr txBox="1"/>
          <p:nvPr/>
        </p:nvSpPr>
        <p:spPr>
          <a:xfrm>
            <a:off x="1756549" y="4957050"/>
            <a:ext cx="4603210" cy="806918"/>
          </a:xfrm>
          <a:prstGeom prst="rect">
            <a:avLst/>
          </a:prstGeom>
          <a:noFill/>
        </p:spPr>
        <p:txBody>
          <a:bodyPr wrap="none" lIns="0" tIns="0" rIns="0" bIns="0">
            <a:spAutoFit/>
          </a:bodyPr>
          <a:lstStyle/>
          <a:p>
            <a:r>
              <a:rPr sz="5250" b="0" i="0">
                <a:solidFill>
                  <a:srgbClr val="00D9C6"/>
                </a:solidFill>
                <a:latin typeface="Inter"/>
              </a:rPr>
              <a:t>02.</a:t>
            </a:r>
            <a:r>
              <a:rPr sz="5250" b="0" i="0">
                <a:solidFill>
                  <a:srgbClr val="FFFFFF"/>
                </a:solidFill>
                <a:latin typeface="Inter"/>
              </a:rPr>
              <a:t>Objectives</a:t>
            </a:r>
          </a:p>
        </p:txBody>
      </p:sp>
      <p:sp>
        <p:nvSpPr>
          <p:cNvPr id="5" name="TextBox 4"/>
          <p:cNvSpPr txBox="1"/>
          <p:nvPr/>
        </p:nvSpPr>
        <p:spPr>
          <a:xfrm>
            <a:off x="1756549" y="6052425"/>
            <a:ext cx="5403310" cy="806918"/>
          </a:xfrm>
          <a:prstGeom prst="rect">
            <a:avLst/>
          </a:prstGeom>
          <a:noFill/>
        </p:spPr>
        <p:txBody>
          <a:bodyPr wrap="none" lIns="0" tIns="0" rIns="0" bIns="0">
            <a:spAutoFit/>
          </a:bodyPr>
          <a:lstStyle/>
          <a:p>
            <a:r>
              <a:rPr sz="5250" b="0" i="0" dirty="0">
                <a:solidFill>
                  <a:srgbClr val="00D9C6"/>
                </a:solidFill>
                <a:latin typeface="Inter"/>
              </a:rPr>
              <a:t>03.</a:t>
            </a:r>
            <a:r>
              <a:rPr sz="5250" b="0" i="0" dirty="0">
                <a:solidFill>
                  <a:srgbClr val="FFFFFF"/>
                </a:solidFill>
                <a:latin typeface="Inter"/>
              </a:rPr>
              <a:t>Stakeholders</a:t>
            </a:r>
          </a:p>
        </p:txBody>
      </p:sp>
      <p:sp>
        <p:nvSpPr>
          <p:cNvPr id="6" name="TextBox 5"/>
          <p:cNvSpPr txBox="1"/>
          <p:nvPr/>
        </p:nvSpPr>
        <p:spPr>
          <a:xfrm>
            <a:off x="1756549" y="7157325"/>
            <a:ext cx="4679410" cy="806918"/>
          </a:xfrm>
          <a:prstGeom prst="rect">
            <a:avLst/>
          </a:prstGeom>
          <a:noFill/>
        </p:spPr>
        <p:txBody>
          <a:bodyPr wrap="none" lIns="0" tIns="0" rIns="0" bIns="0">
            <a:spAutoFit/>
          </a:bodyPr>
          <a:lstStyle/>
          <a:p>
            <a:r>
              <a:rPr sz="5250" b="0" i="0">
                <a:solidFill>
                  <a:srgbClr val="00D9C6"/>
                </a:solidFill>
                <a:latin typeface="Inter"/>
              </a:rPr>
              <a:t>04.</a:t>
            </a:r>
            <a:r>
              <a:rPr sz="5250" b="0" i="0">
                <a:solidFill>
                  <a:srgbClr val="FFFFFF"/>
                </a:solidFill>
                <a:latin typeface="Inter"/>
              </a:rPr>
              <a:t>Milestones</a:t>
            </a:r>
          </a:p>
        </p:txBody>
      </p:sp>
      <p:sp>
        <p:nvSpPr>
          <p:cNvPr id="7" name="TextBox 6"/>
          <p:cNvSpPr txBox="1"/>
          <p:nvPr/>
        </p:nvSpPr>
        <p:spPr>
          <a:xfrm>
            <a:off x="10091358" y="3845592"/>
            <a:ext cx="4231736" cy="806918"/>
          </a:xfrm>
          <a:prstGeom prst="rect">
            <a:avLst/>
          </a:prstGeom>
          <a:noFill/>
        </p:spPr>
        <p:txBody>
          <a:bodyPr wrap="none" lIns="0" tIns="0" rIns="0" bIns="0">
            <a:spAutoFit/>
          </a:bodyPr>
          <a:lstStyle/>
          <a:p>
            <a:r>
              <a:rPr sz="5250" b="0" i="0">
                <a:solidFill>
                  <a:srgbClr val="00D9C6"/>
                </a:solidFill>
                <a:latin typeface="Inter"/>
              </a:rPr>
              <a:t>05.</a:t>
            </a:r>
            <a:r>
              <a:rPr sz="5250" b="0" i="0">
                <a:solidFill>
                  <a:srgbClr val="FFFFFF"/>
                </a:solidFill>
                <a:latin typeface="Inter"/>
              </a:rPr>
              <a:t>Timelines</a:t>
            </a:r>
          </a:p>
        </p:txBody>
      </p:sp>
      <p:sp>
        <p:nvSpPr>
          <p:cNvPr id="8" name="TextBox 7"/>
          <p:cNvSpPr txBox="1"/>
          <p:nvPr/>
        </p:nvSpPr>
        <p:spPr>
          <a:xfrm>
            <a:off x="10091358" y="4950492"/>
            <a:ext cx="4631976" cy="806918"/>
          </a:xfrm>
          <a:prstGeom prst="rect">
            <a:avLst/>
          </a:prstGeom>
          <a:noFill/>
        </p:spPr>
        <p:txBody>
          <a:bodyPr wrap="none" lIns="0" tIns="0" rIns="0" bIns="0">
            <a:spAutoFit/>
          </a:bodyPr>
          <a:lstStyle/>
          <a:p>
            <a:r>
              <a:rPr sz="5250" b="0" i="0">
                <a:solidFill>
                  <a:srgbClr val="00D9C6"/>
                </a:solidFill>
                <a:latin typeface="Inter"/>
              </a:rPr>
              <a:t>06.</a:t>
            </a:r>
            <a:r>
              <a:rPr sz="5250" b="0" i="0">
                <a:solidFill>
                  <a:srgbClr val="FFFFFF"/>
                </a:solidFill>
                <a:latin typeface="Inter"/>
              </a:rPr>
              <a:t>Ownership</a:t>
            </a:r>
          </a:p>
        </p:txBody>
      </p:sp>
      <p:sp>
        <p:nvSpPr>
          <p:cNvPr id="9" name="TextBox 8"/>
          <p:cNvSpPr txBox="1"/>
          <p:nvPr/>
        </p:nvSpPr>
        <p:spPr>
          <a:xfrm>
            <a:off x="10091358" y="6045867"/>
            <a:ext cx="5525897" cy="806918"/>
          </a:xfrm>
          <a:prstGeom prst="rect">
            <a:avLst/>
          </a:prstGeom>
          <a:noFill/>
        </p:spPr>
        <p:txBody>
          <a:bodyPr wrap="none" lIns="0" tIns="0" rIns="0" bIns="0">
            <a:spAutoFit/>
          </a:bodyPr>
          <a:lstStyle/>
          <a:p>
            <a:r>
              <a:rPr sz="5250" b="0" i="0">
                <a:solidFill>
                  <a:srgbClr val="00D9C6"/>
                </a:solidFill>
                <a:latin typeface="Inter"/>
              </a:rPr>
              <a:t>07.</a:t>
            </a:r>
            <a:r>
              <a:rPr sz="5250" b="0" i="0">
                <a:solidFill>
                  <a:srgbClr val="FFFFFF"/>
                </a:solidFill>
                <a:latin typeface="Inter"/>
              </a:rPr>
              <a:t>Customer ROI</a:t>
            </a:r>
          </a:p>
        </p:txBody>
      </p:sp>
      <p:sp>
        <p:nvSpPr>
          <p:cNvPr id="10" name="TextBox 9"/>
          <p:cNvSpPr txBox="1"/>
          <p:nvPr/>
        </p:nvSpPr>
        <p:spPr>
          <a:xfrm>
            <a:off x="10091358" y="7150767"/>
            <a:ext cx="4555586" cy="806918"/>
          </a:xfrm>
          <a:prstGeom prst="rect">
            <a:avLst/>
          </a:prstGeom>
          <a:noFill/>
        </p:spPr>
        <p:txBody>
          <a:bodyPr wrap="none" lIns="0" tIns="0" rIns="0" bIns="0">
            <a:spAutoFit/>
          </a:bodyPr>
          <a:lstStyle/>
          <a:p>
            <a:r>
              <a:rPr sz="5250" b="0" i="0">
                <a:solidFill>
                  <a:srgbClr val="00D9C6"/>
                </a:solidFill>
                <a:latin typeface="Inter"/>
              </a:rPr>
              <a:t>08.</a:t>
            </a:r>
            <a:r>
              <a:rPr sz="5250" b="0" i="0">
                <a:solidFill>
                  <a:srgbClr val="FFFFFF"/>
                </a:solidFill>
                <a:latin typeface="Inter"/>
              </a:rPr>
              <a:t>Resources</a:t>
            </a:r>
          </a:p>
        </p:txBody>
      </p:sp>
      <p:sp>
        <p:nvSpPr>
          <p:cNvPr id="11" name="TextBox 10"/>
          <p:cNvSpPr txBox="1"/>
          <p:nvPr/>
        </p:nvSpPr>
        <p:spPr>
          <a:xfrm>
            <a:off x="952500" y="948928"/>
            <a:ext cx="968374" cy="230548"/>
          </a:xfrm>
          <a:prstGeom prst="rect">
            <a:avLst/>
          </a:prstGeom>
          <a:noFill/>
        </p:spPr>
        <p:txBody>
          <a:bodyPr wrap="none" lIns="0" tIns="0" rIns="0" bIns="0">
            <a:spAutoFit/>
          </a:bodyPr>
          <a:lstStyle/>
          <a:p>
            <a:r>
              <a:rPr sz="1500" b="0" i="0">
                <a:solidFill>
                  <a:srgbClr val="00D9C6"/>
                </a:solidFill>
                <a:latin typeface="Inter"/>
              </a:rPr>
              <a:t>AGENDA</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3.png"/>
          <p:cNvPicPr>
            <a:picLocks noChangeAspect="1"/>
          </p:cNvPicPr>
          <p:nvPr/>
        </p:nvPicPr>
        <p:blipFill>
          <a:blip r:embed="rId2"/>
          <a:stretch>
            <a:fillRect/>
          </a:stretch>
        </p:blipFill>
        <p:spPr>
          <a:xfrm>
            <a:off x="0" y="0"/>
            <a:ext cx="18288000" cy="10287000"/>
          </a:xfrm>
          <a:prstGeom prst="rect">
            <a:avLst/>
          </a:prstGeom>
        </p:spPr>
      </p:pic>
      <p:sp>
        <p:nvSpPr>
          <p:cNvPr id="3" name="TextBox 2"/>
          <p:cNvSpPr txBox="1"/>
          <p:nvPr/>
        </p:nvSpPr>
        <p:spPr>
          <a:xfrm>
            <a:off x="1756549" y="3852150"/>
            <a:ext cx="4653883" cy="806918"/>
          </a:xfrm>
          <a:prstGeom prst="rect">
            <a:avLst/>
          </a:prstGeom>
          <a:noFill/>
        </p:spPr>
        <p:txBody>
          <a:bodyPr wrap="none" lIns="0" tIns="0" rIns="0" bIns="0">
            <a:spAutoFit/>
          </a:bodyPr>
          <a:lstStyle/>
          <a:p>
            <a:r>
              <a:rPr sz="5250" b="0" i="0">
                <a:solidFill>
                  <a:srgbClr val="FFFFFF"/>
                </a:solidFill>
                <a:latin typeface="Inter"/>
              </a:rPr>
              <a:t>01.</a:t>
            </a:r>
            <a:r>
              <a:rPr sz="5250" b="0" i="0">
                <a:solidFill>
                  <a:srgbClr val="000000"/>
                </a:solidFill>
                <a:latin typeface="Inter"/>
              </a:rPr>
              <a:t>OVERVIEW</a:t>
            </a:r>
          </a:p>
        </p:txBody>
      </p:sp>
      <p:sp>
        <p:nvSpPr>
          <p:cNvPr id="4" name="TextBox 3"/>
          <p:cNvSpPr txBox="1"/>
          <p:nvPr/>
        </p:nvSpPr>
        <p:spPr>
          <a:xfrm>
            <a:off x="1756549" y="4957050"/>
            <a:ext cx="5327586" cy="806918"/>
          </a:xfrm>
          <a:prstGeom prst="rect">
            <a:avLst/>
          </a:prstGeom>
          <a:noFill/>
        </p:spPr>
        <p:txBody>
          <a:bodyPr wrap="none" lIns="0" tIns="0" rIns="0" bIns="0">
            <a:spAutoFit/>
          </a:bodyPr>
          <a:lstStyle/>
          <a:p>
            <a:r>
              <a:rPr sz="5250" b="0" i="0">
                <a:solidFill>
                  <a:srgbClr val="FFFFFF"/>
                </a:solidFill>
                <a:latin typeface="Inter"/>
              </a:rPr>
              <a:t>02.</a:t>
            </a:r>
            <a:r>
              <a:rPr sz="5250" b="0" i="0">
                <a:solidFill>
                  <a:srgbClr val="000000"/>
                </a:solidFill>
                <a:latin typeface="Inter"/>
              </a:rPr>
              <a:t>OBJECTIVES</a:t>
            </a:r>
          </a:p>
        </p:txBody>
      </p:sp>
      <p:sp>
        <p:nvSpPr>
          <p:cNvPr id="5" name="TextBox 4"/>
          <p:cNvSpPr txBox="1"/>
          <p:nvPr/>
        </p:nvSpPr>
        <p:spPr>
          <a:xfrm>
            <a:off x="1756549" y="6052425"/>
            <a:ext cx="6422961" cy="806918"/>
          </a:xfrm>
          <a:prstGeom prst="rect">
            <a:avLst/>
          </a:prstGeom>
          <a:noFill/>
        </p:spPr>
        <p:txBody>
          <a:bodyPr wrap="none" lIns="0" tIns="0" rIns="0" bIns="0">
            <a:spAutoFit/>
          </a:bodyPr>
          <a:lstStyle/>
          <a:p>
            <a:r>
              <a:rPr sz="5250" b="0" i="0">
                <a:solidFill>
                  <a:srgbClr val="FFFFFF"/>
                </a:solidFill>
                <a:latin typeface="Inter"/>
              </a:rPr>
              <a:t>03.</a:t>
            </a:r>
            <a:r>
              <a:rPr sz="5250" b="0" i="0">
                <a:solidFill>
                  <a:srgbClr val="000000"/>
                </a:solidFill>
                <a:latin typeface="Inter"/>
              </a:rPr>
              <a:t>STAKEHOLDERS</a:t>
            </a:r>
          </a:p>
        </p:txBody>
      </p:sp>
      <p:sp>
        <p:nvSpPr>
          <p:cNvPr id="6" name="TextBox 5"/>
          <p:cNvSpPr txBox="1"/>
          <p:nvPr/>
        </p:nvSpPr>
        <p:spPr>
          <a:xfrm>
            <a:off x="1756549" y="7157325"/>
            <a:ext cx="5470461" cy="806918"/>
          </a:xfrm>
          <a:prstGeom prst="rect">
            <a:avLst/>
          </a:prstGeom>
          <a:noFill/>
        </p:spPr>
        <p:txBody>
          <a:bodyPr wrap="none" lIns="0" tIns="0" rIns="0" bIns="0">
            <a:spAutoFit/>
          </a:bodyPr>
          <a:lstStyle/>
          <a:p>
            <a:r>
              <a:rPr sz="5250" b="0" i="0">
                <a:solidFill>
                  <a:srgbClr val="FFFFFF"/>
                </a:solidFill>
                <a:latin typeface="Inter"/>
              </a:rPr>
              <a:t>04.</a:t>
            </a:r>
            <a:r>
              <a:rPr sz="5250" b="0" i="0">
                <a:solidFill>
                  <a:srgbClr val="000000"/>
                </a:solidFill>
                <a:latin typeface="Inter"/>
              </a:rPr>
              <a:t>MILESTONES</a:t>
            </a:r>
          </a:p>
        </p:txBody>
      </p:sp>
      <p:sp>
        <p:nvSpPr>
          <p:cNvPr id="7" name="TextBox 6"/>
          <p:cNvSpPr txBox="1"/>
          <p:nvPr/>
        </p:nvSpPr>
        <p:spPr>
          <a:xfrm>
            <a:off x="10091358" y="3845592"/>
            <a:ext cx="4708462" cy="806918"/>
          </a:xfrm>
          <a:prstGeom prst="rect">
            <a:avLst/>
          </a:prstGeom>
          <a:noFill/>
        </p:spPr>
        <p:txBody>
          <a:bodyPr wrap="none" lIns="0" tIns="0" rIns="0" bIns="0">
            <a:spAutoFit/>
          </a:bodyPr>
          <a:lstStyle/>
          <a:p>
            <a:r>
              <a:rPr sz="5250" b="0" i="0">
                <a:solidFill>
                  <a:srgbClr val="FFFFFF"/>
                </a:solidFill>
                <a:latin typeface="Inter"/>
              </a:rPr>
              <a:t>05.</a:t>
            </a:r>
            <a:r>
              <a:rPr sz="5250" b="0" i="0">
                <a:solidFill>
                  <a:srgbClr val="000000"/>
                </a:solidFill>
                <a:latin typeface="Inter"/>
              </a:rPr>
              <a:t> TIMELINES</a:t>
            </a:r>
          </a:p>
        </p:txBody>
      </p:sp>
      <p:sp>
        <p:nvSpPr>
          <p:cNvPr id="8" name="TextBox 7"/>
          <p:cNvSpPr txBox="1"/>
          <p:nvPr/>
        </p:nvSpPr>
        <p:spPr>
          <a:xfrm>
            <a:off x="10091358" y="4950492"/>
            <a:ext cx="5220812" cy="806918"/>
          </a:xfrm>
          <a:prstGeom prst="rect">
            <a:avLst/>
          </a:prstGeom>
          <a:noFill/>
        </p:spPr>
        <p:txBody>
          <a:bodyPr wrap="none" lIns="0" tIns="0" rIns="0" bIns="0">
            <a:spAutoFit/>
          </a:bodyPr>
          <a:lstStyle/>
          <a:p>
            <a:r>
              <a:rPr sz="5250" b="0" i="0">
                <a:solidFill>
                  <a:srgbClr val="FFFFFF"/>
                </a:solidFill>
                <a:latin typeface="Inter"/>
              </a:rPr>
              <a:t>06.</a:t>
            </a:r>
            <a:r>
              <a:rPr sz="5250" b="0" i="0">
                <a:solidFill>
                  <a:srgbClr val="000000"/>
                </a:solidFill>
                <a:latin typeface="Inter"/>
              </a:rPr>
              <a:t> OWNERSHIP</a:t>
            </a:r>
          </a:p>
        </p:txBody>
      </p:sp>
      <p:sp>
        <p:nvSpPr>
          <p:cNvPr id="9" name="TextBox 8"/>
          <p:cNvSpPr txBox="1"/>
          <p:nvPr/>
        </p:nvSpPr>
        <p:spPr>
          <a:xfrm>
            <a:off x="10091358" y="6045867"/>
            <a:ext cx="6164072" cy="806918"/>
          </a:xfrm>
          <a:prstGeom prst="rect">
            <a:avLst/>
          </a:prstGeom>
          <a:noFill/>
        </p:spPr>
        <p:txBody>
          <a:bodyPr wrap="none" lIns="0" tIns="0" rIns="0" bIns="0">
            <a:spAutoFit/>
          </a:bodyPr>
          <a:lstStyle/>
          <a:p>
            <a:r>
              <a:rPr sz="5250" b="0" i="0">
                <a:solidFill>
                  <a:srgbClr val="FFFFFF"/>
                </a:solidFill>
                <a:latin typeface="Inter"/>
              </a:rPr>
              <a:t>07.</a:t>
            </a:r>
            <a:r>
              <a:rPr sz="5250" b="0" i="0">
                <a:solidFill>
                  <a:srgbClr val="000000"/>
                </a:solidFill>
                <a:latin typeface="Inter"/>
              </a:rPr>
              <a:t> CUSTOMER ROI</a:t>
            </a:r>
          </a:p>
        </p:txBody>
      </p:sp>
      <p:sp>
        <p:nvSpPr>
          <p:cNvPr id="10" name="TextBox 9"/>
          <p:cNvSpPr txBox="1"/>
          <p:nvPr/>
        </p:nvSpPr>
        <p:spPr>
          <a:xfrm>
            <a:off x="10091358" y="7150767"/>
            <a:ext cx="5232337" cy="806918"/>
          </a:xfrm>
          <a:prstGeom prst="rect">
            <a:avLst/>
          </a:prstGeom>
          <a:noFill/>
        </p:spPr>
        <p:txBody>
          <a:bodyPr wrap="none" lIns="0" tIns="0" rIns="0" bIns="0">
            <a:spAutoFit/>
          </a:bodyPr>
          <a:lstStyle/>
          <a:p>
            <a:r>
              <a:rPr sz="5250" b="0" i="0">
                <a:solidFill>
                  <a:srgbClr val="FFFFFF"/>
                </a:solidFill>
                <a:latin typeface="Inter"/>
              </a:rPr>
              <a:t>08.</a:t>
            </a:r>
            <a:r>
              <a:rPr sz="5250" b="0" i="0">
                <a:solidFill>
                  <a:srgbClr val="000000"/>
                </a:solidFill>
                <a:latin typeface="Inter"/>
              </a:rPr>
              <a:t> RESOURCES</a:t>
            </a:r>
          </a:p>
        </p:txBody>
      </p:sp>
      <p:sp>
        <p:nvSpPr>
          <p:cNvPr id="11" name="TextBox 10"/>
          <p:cNvSpPr txBox="1"/>
          <p:nvPr/>
        </p:nvSpPr>
        <p:spPr>
          <a:xfrm>
            <a:off x="952500" y="948928"/>
            <a:ext cx="968374" cy="230548"/>
          </a:xfrm>
          <a:prstGeom prst="rect">
            <a:avLst/>
          </a:prstGeom>
          <a:noFill/>
        </p:spPr>
        <p:txBody>
          <a:bodyPr wrap="none" lIns="0" tIns="0" rIns="0" bIns="0">
            <a:spAutoFit/>
          </a:bodyPr>
          <a:lstStyle/>
          <a:p>
            <a:r>
              <a:rPr sz="1500" b="0" i="0">
                <a:solidFill>
                  <a:srgbClr val="FFFFFF"/>
                </a:solidFill>
                <a:latin typeface="Inter"/>
              </a:rPr>
              <a:t>AGENDA</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5.png"/>
          <p:cNvPicPr>
            <a:picLocks noChangeAspect="1"/>
          </p:cNvPicPr>
          <p:nvPr/>
        </p:nvPicPr>
        <p:blipFill>
          <a:blip r:embed="rId2"/>
          <a:stretch>
            <a:fillRect/>
          </a:stretch>
        </p:blipFill>
        <p:spPr>
          <a:xfrm>
            <a:off x="0" y="0"/>
            <a:ext cx="18288000" cy="10287000"/>
          </a:xfrm>
          <a:prstGeom prst="rect">
            <a:avLst/>
          </a:prstGeom>
        </p:spPr>
      </p:pic>
      <p:sp>
        <p:nvSpPr>
          <p:cNvPr id="3" name="TextBox 2"/>
          <p:cNvSpPr txBox="1"/>
          <p:nvPr/>
        </p:nvSpPr>
        <p:spPr>
          <a:xfrm>
            <a:off x="952500" y="1628775"/>
            <a:ext cx="8473999" cy="368877"/>
          </a:xfrm>
          <a:prstGeom prst="rect">
            <a:avLst/>
          </a:prstGeom>
          <a:noFill/>
        </p:spPr>
        <p:txBody>
          <a:bodyPr wrap="none" lIns="0" tIns="0" rIns="0" bIns="0">
            <a:spAutoFit/>
          </a:bodyPr>
          <a:lstStyle/>
          <a:p>
            <a:r>
              <a:rPr sz="2400" b="0" i="0">
                <a:solidFill>
                  <a:srgbClr val="FFFFFF"/>
                </a:solidFill>
                <a:latin typeface="Inter"/>
              </a:rPr>
              <a:t>Give your customer a brief overview of the sales process, </a:t>
            </a:r>
          </a:p>
        </p:txBody>
      </p:sp>
      <p:sp>
        <p:nvSpPr>
          <p:cNvPr id="4" name="TextBox 3"/>
          <p:cNvSpPr txBox="1"/>
          <p:nvPr/>
        </p:nvSpPr>
        <p:spPr>
          <a:xfrm>
            <a:off x="952500" y="2133600"/>
            <a:ext cx="8254924" cy="368877"/>
          </a:xfrm>
          <a:prstGeom prst="rect">
            <a:avLst/>
          </a:prstGeom>
          <a:noFill/>
        </p:spPr>
        <p:txBody>
          <a:bodyPr wrap="none" lIns="0" tIns="0" rIns="0" bIns="0">
            <a:spAutoFit/>
          </a:bodyPr>
          <a:lstStyle/>
          <a:p>
            <a:r>
              <a:rPr sz="2400" b="0" i="0">
                <a:solidFill>
                  <a:srgbClr val="FFFFFF"/>
                </a:solidFill>
                <a:latin typeface="Inter"/>
              </a:rPr>
              <a:t>and introduce the mutual action plan that'll seal the deal. </a:t>
            </a:r>
          </a:p>
        </p:txBody>
      </p:sp>
      <p:sp>
        <p:nvSpPr>
          <p:cNvPr id="5" name="TextBox 4"/>
          <p:cNvSpPr txBox="1"/>
          <p:nvPr/>
        </p:nvSpPr>
        <p:spPr>
          <a:xfrm>
            <a:off x="952500" y="2638425"/>
            <a:ext cx="8693074" cy="368877"/>
          </a:xfrm>
          <a:prstGeom prst="rect">
            <a:avLst/>
          </a:prstGeom>
          <a:noFill/>
        </p:spPr>
        <p:txBody>
          <a:bodyPr wrap="none" lIns="0" tIns="0" rIns="0" bIns="0">
            <a:spAutoFit/>
          </a:bodyPr>
          <a:lstStyle/>
          <a:p>
            <a:r>
              <a:rPr sz="2400" b="0" i="0">
                <a:solidFill>
                  <a:srgbClr val="FFFFFF"/>
                </a:solidFill>
                <a:latin typeface="Inter"/>
              </a:rPr>
              <a:t>Summarize the who, what, and why — then break down the </a:t>
            </a:r>
          </a:p>
        </p:txBody>
      </p:sp>
      <p:sp>
        <p:nvSpPr>
          <p:cNvPr id="6" name="TextBox 5"/>
          <p:cNvSpPr txBox="1"/>
          <p:nvPr/>
        </p:nvSpPr>
        <p:spPr>
          <a:xfrm>
            <a:off x="952500" y="3133725"/>
            <a:ext cx="8759749" cy="368877"/>
          </a:xfrm>
          <a:prstGeom prst="rect">
            <a:avLst/>
          </a:prstGeom>
          <a:noFill/>
        </p:spPr>
        <p:txBody>
          <a:bodyPr wrap="none" lIns="0" tIns="0" rIns="0" bIns="0">
            <a:spAutoFit/>
          </a:bodyPr>
          <a:lstStyle/>
          <a:p>
            <a:r>
              <a:rPr sz="2400" b="0" i="0">
                <a:solidFill>
                  <a:srgbClr val="FFFFFF"/>
                </a:solidFill>
                <a:latin typeface="Inter"/>
              </a:rPr>
              <a:t>when. Be sure to update the project's status and next steps </a:t>
            </a:r>
          </a:p>
        </p:txBody>
      </p:sp>
      <p:sp>
        <p:nvSpPr>
          <p:cNvPr id="7" name="TextBox 6"/>
          <p:cNvSpPr txBox="1"/>
          <p:nvPr/>
        </p:nvSpPr>
        <p:spPr>
          <a:xfrm>
            <a:off x="952500" y="3638550"/>
            <a:ext cx="7424725" cy="368877"/>
          </a:xfrm>
          <a:prstGeom prst="rect">
            <a:avLst/>
          </a:prstGeom>
          <a:noFill/>
        </p:spPr>
        <p:txBody>
          <a:bodyPr wrap="none" lIns="0" tIns="0" rIns="0" bIns="0">
            <a:spAutoFit/>
          </a:bodyPr>
          <a:lstStyle/>
          <a:p>
            <a:r>
              <a:rPr sz="2400" b="0" i="0">
                <a:solidFill>
                  <a:srgbClr val="FFFFFF"/>
                </a:solidFill>
                <a:latin typeface="Inter"/>
              </a:rPr>
              <a:t>in real time as you make your way through the plan.</a:t>
            </a:r>
          </a:p>
        </p:txBody>
      </p:sp>
      <p:sp>
        <p:nvSpPr>
          <p:cNvPr id="8" name="TextBox 7"/>
          <p:cNvSpPr txBox="1"/>
          <p:nvPr/>
        </p:nvSpPr>
        <p:spPr>
          <a:xfrm>
            <a:off x="1282150" y="7566359"/>
            <a:ext cx="2915593" cy="230547"/>
          </a:xfrm>
          <a:prstGeom prst="rect">
            <a:avLst/>
          </a:prstGeom>
          <a:noFill/>
        </p:spPr>
        <p:txBody>
          <a:bodyPr wrap="none" lIns="0" tIns="0" rIns="0" bIns="0">
            <a:spAutoFit/>
          </a:bodyPr>
          <a:lstStyle/>
          <a:p>
            <a:r>
              <a:rPr sz="1500" b="0" i="0">
                <a:solidFill>
                  <a:srgbClr val="00D9C6"/>
                </a:solidFill>
                <a:latin typeface="Inter"/>
              </a:rPr>
              <a:t>L AUNCH DATE: JULY 2032​</a:t>
            </a:r>
          </a:p>
        </p:txBody>
      </p:sp>
      <p:sp>
        <p:nvSpPr>
          <p:cNvPr id="9" name="TextBox 8"/>
          <p:cNvSpPr txBox="1"/>
          <p:nvPr/>
        </p:nvSpPr>
        <p:spPr>
          <a:xfrm>
            <a:off x="1282150" y="8327472"/>
            <a:ext cx="4258499" cy="230547"/>
          </a:xfrm>
          <a:prstGeom prst="rect">
            <a:avLst/>
          </a:prstGeom>
          <a:noFill/>
        </p:spPr>
        <p:txBody>
          <a:bodyPr wrap="none" lIns="0" tIns="0" rIns="0" bIns="0">
            <a:spAutoFit/>
          </a:bodyPr>
          <a:lstStyle/>
          <a:p>
            <a:r>
              <a:rPr sz="1500" b="0" i="0" dirty="0">
                <a:solidFill>
                  <a:srgbClr val="00D9C6"/>
                </a:solidFill>
                <a:latin typeface="Inter"/>
              </a:rPr>
              <a:t>CURRENT STATUS: PROOF OF CONCEPT </a:t>
            </a:r>
          </a:p>
        </p:txBody>
      </p:sp>
      <p:sp>
        <p:nvSpPr>
          <p:cNvPr id="10" name="TextBox 9"/>
          <p:cNvSpPr txBox="1"/>
          <p:nvPr/>
        </p:nvSpPr>
        <p:spPr>
          <a:xfrm>
            <a:off x="1282150" y="9088586"/>
            <a:ext cx="3321239" cy="230547"/>
          </a:xfrm>
          <a:prstGeom prst="rect">
            <a:avLst/>
          </a:prstGeom>
          <a:noFill/>
        </p:spPr>
        <p:txBody>
          <a:bodyPr wrap="none" lIns="0" tIns="0" rIns="0" bIns="0">
            <a:spAutoFit/>
          </a:bodyPr>
          <a:lstStyle/>
          <a:p>
            <a:r>
              <a:rPr sz="1500" b="0" i="0">
                <a:solidFill>
                  <a:srgbClr val="00D9C6"/>
                </a:solidFill>
                <a:latin typeface="Inter"/>
              </a:rPr>
              <a:t>NEXT STEP: SECURITY REVIEW​</a:t>
            </a:r>
          </a:p>
        </p:txBody>
      </p:sp>
      <p:sp>
        <p:nvSpPr>
          <p:cNvPr id="11" name="TextBox 10"/>
          <p:cNvSpPr txBox="1"/>
          <p:nvPr/>
        </p:nvSpPr>
        <p:spPr>
          <a:xfrm>
            <a:off x="952500" y="948928"/>
            <a:ext cx="1190878" cy="230548"/>
          </a:xfrm>
          <a:prstGeom prst="rect">
            <a:avLst/>
          </a:prstGeom>
          <a:noFill/>
        </p:spPr>
        <p:txBody>
          <a:bodyPr wrap="none" lIns="0" tIns="0" rIns="0" bIns="0">
            <a:spAutoFit/>
          </a:bodyPr>
          <a:lstStyle/>
          <a:p>
            <a:r>
              <a:rPr sz="1500" b="0" i="0">
                <a:solidFill>
                  <a:srgbClr val="FFFFFF"/>
                </a:solidFill>
                <a:latin typeface="Inter"/>
              </a:rPr>
              <a:t>OVERVIEW</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6.png"/>
          <p:cNvPicPr>
            <a:picLocks noChangeAspect="1"/>
          </p:cNvPicPr>
          <p:nvPr/>
        </p:nvPicPr>
        <p:blipFill>
          <a:blip r:embed="rId2"/>
          <a:stretch>
            <a:fillRect/>
          </a:stretch>
        </p:blipFill>
        <p:spPr>
          <a:xfrm>
            <a:off x="0" y="0"/>
            <a:ext cx="18288000" cy="10287000"/>
          </a:xfrm>
          <a:prstGeom prst="rect">
            <a:avLst/>
          </a:prstGeom>
        </p:spPr>
      </p:pic>
      <p:sp>
        <p:nvSpPr>
          <p:cNvPr id="3" name="TextBox 2"/>
          <p:cNvSpPr txBox="1"/>
          <p:nvPr/>
        </p:nvSpPr>
        <p:spPr>
          <a:xfrm>
            <a:off x="955275" y="1669256"/>
            <a:ext cx="15374936" cy="490061"/>
          </a:xfrm>
          <a:prstGeom prst="rect">
            <a:avLst/>
          </a:prstGeom>
          <a:noFill/>
        </p:spPr>
        <p:txBody>
          <a:bodyPr wrap="none" lIns="0" tIns="0" rIns="0" bIns="0">
            <a:spAutoFit/>
          </a:bodyPr>
          <a:lstStyle/>
          <a:p>
            <a:r>
              <a:rPr sz="3750" b="0" i="0">
                <a:solidFill>
                  <a:srgbClr val="FFFFFF"/>
                </a:solidFill>
                <a:latin typeface="Type3 (66 0 R)"/>
              </a:rPr>
              <a:t>Clearl</a:t>
            </a:r>
            <a:r>
              <a:rPr sz="3750" b="0" i="0">
                <a:solidFill>
                  <a:srgbClr val="FFFFFF"/>
                </a:solidFill>
                <a:latin typeface="Type3 (46 0 R)"/>
              </a:rPr>
              <a:t>y </a:t>
            </a:r>
            <a:r>
              <a:rPr sz="3750" b="0" i="0">
                <a:solidFill>
                  <a:srgbClr val="FFFFFF"/>
                </a:solidFill>
                <a:latin typeface="Type3 (66 0 R)"/>
              </a:rPr>
              <a:t>spello</a:t>
            </a:r>
            <a:r>
              <a:rPr sz="3750" b="0" i="0">
                <a:solidFill>
                  <a:srgbClr val="FFFFFF"/>
                </a:solidFill>
                <a:latin typeface="Type3 (46 0 R)"/>
              </a:rPr>
              <a:t>u</a:t>
            </a:r>
            <a:r>
              <a:rPr sz="3750" b="0" i="0">
                <a:solidFill>
                  <a:srgbClr val="FFFFFF"/>
                </a:solidFill>
                <a:latin typeface="Type3 (66 0 R)"/>
              </a:rPr>
              <a:t>tthe</a:t>
            </a:r>
            <a:r>
              <a:rPr sz="3750" b="0" i="0">
                <a:solidFill>
                  <a:srgbClr val="FFFFFF"/>
                </a:solidFill>
                <a:latin typeface="Type3 (46 0 R)"/>
              </a:rPr>
              <a:t> v</a:t>
            </a:r>
            <a:r>
              <a:rPr sz="3750" b="0" i="0">
                <a:solidFill>
                  <a:srgbClr val="FFFFFF"/>
                </a:solidFill>
                <a:latin typeface="Type3 (66 0 R)"/>
              </a:rPr>
              <a:t>al</a:t>
            </a:r>
            <a:r>
              <a:rPr sz="3750" b="0" i="0">
                <a:solidFill>
                  <a:srgbClr val="FFFFFF"/>
                </a:solidFill>
                <a:latin typeface="Type3 (46 0 R)"/>
              </a:rPr>
              <a:t>u</a:t>
            </a:r>
            <a:r>
              <a:rPr sz="3750" b="0" i="0">
                <a:solidFill>
                  <a:srgbClr val="FFFFFF"/>
                </a:solidFill>
                <a:latin typeface="Type3 (66 0 R)"/>
              </a:rPr>
              <a:t>e</a:t>
            </a:r>
            <a:r>
              <a:rPr sz="3750" b="0" i="0">
                <a:solidFill>
                  <a:srgbClr val="FFFFFF"/>
                </a:solidFill>
                <a:latin typeface="Type3 (46 0 R)"/>
              </a:rPr>
              <a:t> y</a:t>
            </a:r>
            <a:r>
              <a:rPr sz="3750" b="0" i="0">
                <a:solidFill>
                  <a:srgbClr val="FFFFFF"/>
                </a:solidFill>
                <a:latin typeface="Type3 (66 0 R)"/>
              </a:rPr>
              <a:t>o</a:t>
            </a:r>
            <a:r>
              <a:rPr sz="3750" b="0" i="0">
                <a:solidFill>
                  <a:srgbClr val="FFFFFF"/>
                </a:solidFill>
                <a:latin typeface="Type3 (46 0 R)"/>
              </a:rPr>
              <a:t>u</a:t>
            </a:r>
            <a:r>
              <a:rPr sz="3750" b="0" i="0">
                <a:solidFill>
                  <a:srgbClr val="FFFFFF"/>
                </a:solidFill>
                <a:latin typeface="Type3 (66 0 R)"/>
              </a:rPr>
              <a:t>rc</a:t>
            </a:r>
            <a:r>
              <a:rPr sz="3750" b="0" i="0">
                <a:solidFill>
                  <a:srgbClr val="FFFFFF"/>
                </a:solidFill>
                <a:latin typeface="Type3 (46 0 R)"/>
              </a:rPr>
              <a:t>u</a:t>
            </a:r>
            <a:r>
              <a:rPr sz="3750" b="0" i="0">
                <a:solidFill>
                  <a:srgbClr val="FFFFFF"/>
                </a:solidFill>
                <a:latin typeface="Type3 (66 0 R)"/>
              </a:rPr>
              <a:t>stomers</a:t>
            </a:r>
            <a:r>
              <a:rPr sz="3750" b="0" i="0">
                <a:solidFill>
                  <a:srgbClr val="FFFFFF"/>
                </a:solidFill>
                <a:latin typeface="Type3 (46 0 R)"/>
              </a:rPr>
              <a:t> w</a:t>
            </a:r>
            <a:r>
              <a:rPr sz="3750" b="0" i="0">
                <a:solidFill>
                  <a:srgbClr val="FFFFFF"/>
                </a:solidFill>
                <a:latin typeface="Type3 (66 0 R)"/>
              </a:rPr>
              <a:t>illgetfrom</a:t>
            </a:r>
            <a:r>
              <a:rPr sz="3750" b="0" i="0">
                <a:solidFill>
                  <a:srgbClr val="FFFFFF"/>
                </a:solidFill>
                <a:latin typeface="Type3 (46 0 R)"/>
              </a:rPr>
              <a:t> w</a:t>
            </a:r>
            <a:r>
              <a:rPr sz="3750" b="0" i="0">
                <a:solidFill>
                  <a:srgbClr val="FFFFFF"/>
                </a:solidFill>
                <a:latin typeface="Type3 (66 0 R)"/>
              </a:rPr>
              <a:t>orking</a:t>
            </a:r>
            <a:r>
              <a:rPr sz="3750" b="0" i="0">
                <a:solidFill>
                  <a:srgbClr val="FFFFFF"/>
                </a:solidFill>
                <a:latin typeface="Type3 (46 0 R)"/>
              </a:rPr>
              <a:t> w</a:t>
            </a:r>
            <a:r>
              <a:rPr sz="3750" b="0" i="0">
                <a:solidFill>
                  <a:srgbClr val="FFFFFF"/>
                </a:solidFill>
                <a:latin typeface="Type3 (66 0 R)"/>
              </a:rPr>
              <a:t>ith</a:t>
            </a:r>
          </a:p>
        </p:txBody>
      </p:sp>
      <p:sp>
        <p:nvSpPr>
          <p:cNvPr id="4" name="TextBox 3"/>
          <p:cNvSpPr txBox="1"/>
          <p:nvPr/>
        </p:nvSpPr>
        <p:spPr>
          <a:xfrm>
            <a:off x="955275" y="2288381"/>
            <a:ext cx="15541624" cy="490061"/>
          </a:xfrm>
          <a:prstGeom prst="rect">
            <a:avLst/>
          </a:prstGeom>
          <a:noFill/>
        </p:spPr>
        <p:txBody>
          <a:bodyPr wrap="none" lIns="0" tIns="0" rIns="0" bIns="0">
            <a:spAutoFit/>
          </a:bodyPr>
          <a:lstStyle/>
          <a:p>
            <a:r>
              <a:rPr sz="3750" b="0" i="0">
                <a:solidFill>
                  <a:srgbClr val="FFFFFF"/>
                </a:solidFill>
                <a:latin typeface="Type3 (46 0 R)"/>
              </a:rPr>
              <a:t>y</a:t>
            </a:r>
            <a:r>
              <a:rPr sz="3750" b="0" i="0">
                <a:solidFill>
                  <a:srgbClr val="FFFFFF"/>
                </a:solidFill>
                <a:latin typeface="Type3 (66 0 R)"/>
              </a:rPr>
              <a:t>o</a:t>
            </a:r>
            <a:r>
              <a:rPr sz="3750" b="0" i="0">
                <a:solidFill>
                  <a:srgbClr val="FFFFFF"/>
                </a:solidFill>
                <a:latin typeface="Type3 (46 0 R)"/>
              </a:rPr>
              <a:t>u</a:t>
            </a:r>
            <a:r>
              <a:rPr sz="3750" b="0" i="0">
                <a:solidFill>
                  <a:srgbClr val="FFFFFF"/>
                </a:solidFill>
                <a:latin typeface="Type3 (66 0 R)"/>
              </a:rPr>
              <a:t>rcompan</a:t>
            </a:r>
            <a:r>
              <a:rPr sz="3750" b="0" i="0">
                <a:solidFill>
                  <a:srgbClr val="FFFFFF"/>
                </a:solidFill>
                <a:latin typeface="Type3 (46 0 R)"/>
              </a:rPr>
              <a:t>y. </a:t>
            </a:r>
            <a:r>
              <a:rPr sz="3750" b="0" i="0">
                <a:solidFill>
                  <a:srgbClr val="FFFFFF"/>
                </a:solidFill>
                <a:latin typeface="Type3 (66 0 R)"/>
              </a:rPr>
              <a:t>Incl</a:t>
            </a:r>
            <a:r>
              <a:rPr sz="3750" b="0" i="0">
                <a:solidFill>
                  <a:srgbClr val="FFFFFF"/>
                </a:solidFill>
                <a:latin typeface="Type3 (46 0 R)"/>
              </a:rPr>
              <a:t>u</a:t>
            </a:r>
            <a:r>
              <a:rPr sz="3750" b="0" i="0">
                <a:solidFill>
                  <a:srgbClr val="FFFFFF"/>
                </a:solidFill>
                <a:latin typeface="Type3 (66 0 R)"/>
              </a:rPr>
              <a:t>derele</a:t>
            </a:r>
            <a:r>
              <a:rPr sz="3750" b="0" i="0">
                <a:solidFill>
                  <a:srgbClr val="FFFFFF"/>
                </a:solidFill>
                <a:latin typeface="Type3 (46 0 R)"/>
              </a:rPr>
              <a:t>v</a:t>
            </a:r>
            <a:r>
              <a:rPr sz="3750" b="0" i="0">
                <a:solidFill>
                  <a:srgbClr val="FFFFFF"/>
                </a:solidFill>
                <a:latin typeface="Type3 (66 0 R)"/>
              </a:rPr>
              <a:t>antstats</a:t>
            </a:r>
            <a:r>
              <a:rPr sz="3750" b="0" i="0">
                <a:solidFill>
                  <a:srgbClr val="FFFFFF"/>
                </a:solidFill>
                <a:latin typeface="Type3 (46 0 R)"/>
              </a:rPr>
              <a:t>, </a:t>
            </a:r>
            <a:r>
              <a:rPr sz="3750" b="0" i="0">
                <a:solidFill>
                  <a:srgbClr val="FFFFFF"/>
                </a:solidFill>
                <a:latin typeface="Type3 (66 0 R)"/>
              </a:rPr>
              <a:t>andhighlightspecificbenefits</a:t>
            </a:r>
            <a:r>
              <a:rPr sz="3750" b="0" i="0">
                <a:solidFill>
                  <a:srgbClr val="FFFFFF"/>
                </a:solidFill>
                <a:latin typeface="Type3 (46 0 R)"/>
              </a:rPr>
              <a:t>. </a:t>
            </a:r>
          </a:p>
        </p:txBody>
      </p:sp>
      <p:sp>
        <p:nvSpPr>
          <p:cNvPr id="5" name="TextBox 4"/>
          <p:cNvSpPr txBox="1"/>
          <p:nvPr/>
        </p:nvSpPr>
        <p:spPr>
          <a:xfrm>
            <a:off x="955275" y="2907506"/>
            <a:ext cx="11096307" cy="490061"/>
          </a:xfrm>
          <a:prstGeom prst="rect">
            <a:avLst/>
          </a:prstGeom>
          <a:noFill/>
        </p:spPr>
        <p:txBody>
          <a:bodyPr wrap="none" lIns="0" tIns="0" rIns="0" bIns="0">
            <a:spAutoFit/>
          </a:bodyPr>
          <a:lstStyle/>
          <a:p>
            <a:r>
              <a:rPr sz="3750" b="0" i="0">
                <a:solidFill>
                  <a:srgbClr val="FFFFFF"/>
                </a:solidFill>
                <a:latin typeface="Type3 (66 0 R)"/>
              </a:rPr>
              <a:t>Keepitshortands</a:t>
            </a:r>
            <a:r>
              <a:rPr sz="3750" b="0" i="0">
                <a:solidFill>
                  <a:srgbClr val="FFFFFF"/>
                </a:solidFill>
                <a:latin typeface="Type3 (46 0 R)"/>
              </a:rPr>
              <a:t>w</a:t>
            </a:r>
            <a:r>
              <a:rPr sz="3750" b="0" i="0">
                <a:solidFill>
                  <a:srgbClr val="FFFFFF"/>
                </a:solidFill>
                <a:latin typeface="Type3 (66 0 R)"/>
              </a:rPr>
              <a:t>eet</a:t>
            </a:r>
            <a:r>
              <a:rPr sz="3750" b="0" i="0">
                <a:solidFill>
                  <a:srgbClr val="FFFFFF"/>
                </a:solidFill>
                <a:latin typeface="Type3 (46 0 R)"/>
              </a:rPr>
              <a:t>. </a:t>
            </a:r>
            <a:r>
              <a:rPr sz="3750" b="0" i="0">
                <a:solidFill>
                  <a:srgbClr val="FFFFFF"/>
                </a:solidFill>
                <a:latin typeface="Type3 (66 0 R)"/>
              </a:rPr>
              <a:t>ThinkTL</a:t>
            </a:r>
            <a:r>
              <a:rPr sz="3750" b="0" i="0">
                <a:solidFill>
                  <a:srgbClr val="FFFFFF"/>
                </a:solidFill>
                <a:latin typeface="Type3 (46 0 R)"/>
              </a:rPr>
              <a:t>;</a:t>
            </a:r>
            <a:r>
              <a:rPr sz="3750" b="0" i="0">
                <a:solidFill>
                  <a:srgbClr val="FFFFFF"/>
                </a:solidFill>
                <a:latin typeface="Type3 (66 0 R)"/>
              </a:rPr>
              <a:t>DR</a:t>
            </a:r>
            <a:r>
              <a:rPr sz="3750" b="0" i="0">
                <a:solidFill>
                  <a:srgbClr val="FFFFFF"/>
                </a:solidFill>
                <a:latin typeface="Type3 (46 0 R)"/>
              </a:rPr>
              <a:t> — </a:t>
            </a:r>
            <a:r>
              <a:rPr sz="3750" b="0" i="0">
                <a:solidFill>
                  <a:srgbClr val="FFFFFF"/>
                </a:solidFill>
                <a:latin typeface="Type3 (66 0 R)"/>
              </a:rPr>
              <a:t>nottome</a:t>
            </a:r>
            <a:r>
              <a:rPr sz="3750" b="0" i="0">
                <a:solidFill>
                  <a:srgbClr val="FFFFFF"/>
                </a:solidFill>
                <a:latin typeface="Type3 (46 0 R)"/>
              </a:rPr>
              <a:t>.</a:t>
            </a:r>
          </a:p>
        </p:txBody>
      </p:sp>
      <p:sp>
        <p:nvSpPr>
          <p:cNvPr id="6" name="TextBox 5"/>
          <p:cNvSpPr txBox="1"/>
          <p:nvPr/>
        </p:nvSpPr>
        <p:spPr>
          <a:xfrm>
            <a:off x="3237686" y="6730724"/>
            <a:ext cx="863600" cy="843855"/>
          </a:xfrm>
          <a:prstGeom prst="rect">
            <a:avLst/>
          </a:prstGeom>
          <a:noFill/>
        </p:spPr>
        <p:txBody>
          <a:bodyPr wrap="none" lIns="0" tIns="0" rIns="0" bIns="0">
            <a:spAutoFit/>
          </a:bodyPr>
          <a:lstStyle/>
          <a:p>
            <a:r>
              <a:rPr sz="6000" b="1" i="0">
                <a:solidFill>
                  <a:srgbClr val="0B211F"/>
                </a:solidFill>
                <a:latin typeface="LiberationSerif"/>
              </a:rPr>
              <a:t>12</a:t>
            </a:r>
          </a:p>
        </p:txBody>
      </p:sp>
      <p:sp>
        <p:nvSpPr>
          <p:cNvPr id="7" name="TextBox 6"/>
          <p:cNvSpPr txBox="1"/>
          <p:nvPr/>
        </p:nvSpPr>
        <p:spPr>
          <a:xfrm>
            <a:off x="1889899" y="7600252"/>
            <a:ext cx="3566033" cy="368877"/>
          </a:xfrm>
          <a:prstGeom prst="rect">
            <a:avLst/>
          </a:prstGeom>
          <a:noFill/>
        </p:spPr>
        <p:txBody>
          <a:bodyPr wrap="none" lIns="0" tIns="0" rIns="0" bIns="0">
            <a:spAutoFit/>
          </a:bodyPr>
          <a:lstStyle/>
          <a:p>
            <a:r>
              <a:rPr sz="2400" b="0" i="0">
                <a:solidFill>
                  <a:srgbClr val="0B211F"/>
                </a:solidFill>
                <a:latin typeface="Inter"/>
              </a:rPr>
              <a:t>weeks until full adoption</a:t>
            </a:r>
          </a:p>
        </p:txBody>
      </p:sp>
      <p:sp>
        <p:nvSpPr>
          <p:cNvPr id="8" name="TextBox 7"/>
          <p:cNvSpPr txBox="1"/>
          <p:nvPr/>
        </p:nvSpPr>
        <p:spPr>
          <a:xfrm>
            <a:off x="8378099" y="6546869"/>
            <a:ext cx="1625600" cy="843855"/>
          </a:xfrm>
          <a:prstGeom prst="rect">
            <a:avLst/>
          </a:prstGeom>
          <a:noFill/>
        </p:spPr>
        <p:txBody>
          <a:bodyPr wrap="none" lIns="0" tIns="0" rIns="0" bIns="0">
            <a:spAutoFit/>
          </a:bodyPr>
          <a:lstStyle/>
          <a:p>
            <a:r>
              <a:rPr sz="6000" b="1" i="0">
                <a:solidFill>
                  <a:srgbClr val="0B211F"/>
                </a:solidFill>
                <a:latin typeface="LiberationSerif"/>
              </a:rPr>
              <a:t>35%</a:t>
            </a:r>
          </a:p>
        </p:txBody>
      </p:sp>
      <p:sp>
        <p:nvSpPr>
          <p:cNvPr id="9" name="TextBox 8"/>
          <p:cNvSpPr txBox="1"/>
          <p:nvPr/>
        </p:nvSpPr>
        <p:spPr>
          <a:xfrm>
            <a:off x="7587524" y="7416397"/>
            <a:ext cx="3206674" cy="368877"/>
          </a:xfrm>
          <a:prstGeom prst="rect">
            <a:avLst/>
          </a:prstGeom>
          <a:noFill/>
        </p:spPr>
        <p:txBody>
          <a:bodyPr wrap="none" lIns="0" tIns="0" rIns="0" bIns="0">
            <a:spAutoFit/>
          </a:bodyPr>
          <a:lstStyle/>
          <a:p>
            <a:r>
              <a:rPr sz="2400" b="0" i="0">
                <a:solidFill>
                  <a:srgbClr val="0B211F"/>
                </a:solidFill>
                <a:latin typeface="Inter"/>
              </a:rPr>
              <a:t>projected increase in </a:t>
            </a:r>
          </a:p>
        </p:txBody>
      </p:sp>
      <p:sp>
        <p:nvSpPr>
          <p:cNvPr id="10" name="TextBox 9"/>
          <p:cNvSpPr txBox="1"/>
          <p:nvPr/>
        </p:nvSpPr>
        <p:spPr>
          <a:xfrm>
            <a:off x="8278086" y="7778347"/>
            <a:ext cx="1823948" cy="368877"/>
          </a:xfrm>
          <a:prstGeom prst="rect">
            <a:avLst/>
          </a:prstGeom>
          <a:noFill/>
        </p:spPr>
        <p:txBody>
          <a:bodyPr wrap="none" lIns="0" tIns="0" rIns="0" bIns="0">
            <a:spAutoFit/>
          </a:bodyPr>
          <a:lstStyle/>
          <a:p>
            <a:r>
              <a:rPr sz="2400" b="0" i="0">
                <a:solidFill>
                  <a:srgbClr val="0B211F"/>
                </a:solidFill>
                <a:latin typeface="Inter"/>
              </a:rPr>
              <a:t>productivity</a:t>
            </a:r>
          </a:p>
        </p:txBody>
      </p:sp>
      <p:sp>
        <p:nvSpPr>
          <p:cNvPr id="11" name="TextBox 10"/>
          <p:cNvSpPr txBox="1"/>
          <p:nvPr/>
        </p:nvSpPr>
        <p:spPr>
          <a:xfrm>
            <a:off x="13905988" y="6547598"/>
            <a:ext cx="1625600" cy="843855"/>
          </a:xfrm>
          <a:prstGeom prst="rect">
            <a:avLst/>
          </a:prstGeom>
          <a:noFill/>
        </p:spPr>
        <p:txBody>
          <a:bodyPr wrap="none" lIns="0" tIns="0" rIns="0" bIns="0">
            <a:spAutoFit/>
          </a:bodyPr>
          <a:lstStyle/>
          <a:p>
            <a:r>
              <a:rPr sz="6000" b="1" i="0">
                <a:solidFill>
                  <a:srgbClr val="0B211F"/>
                </a:solidFill>
                <a:latin typeface="LiberationSerif"/>
              </a:rPr>
              <a:t>60%</a:t>
            </a:r>
          </a:p>
        </p:txBody>
      </p:sp>
      <p:sp>
        <p:nvSpPr>
          <p:cNvPr id="12" name="TextBox 11"/>
          <p:cNvSpPr txBox="1"/>
          <p:nvPr/>
        </p:nvSpPr>
        <p:spPr>
          <a:xfrm>
            <a:off x="13053500" y="7417127"/>
            <a:ext cx="3330499" cy="368877"/>
          </a:xfrm>
          <a:prstGeom prst="rect">
            <a:avLst/>
          </a:prstGeom>
          <a:noFill/>
        </p:spPr>
        <p:txBody>
          <a:bodyPr wrap="none" lIns="0" tIns="0" rIns="0" bIns="0">
            <a:spAutoFit/>
          </a:bodyPr>
          <a:lstStyle/>
          <a:p>
            <a:r>
              <a:rPr sz="2400" b="0" i="0">
                <a:solidFill>
                  <a:srgbClr val="0B211F"/>
                </a:solidFill>
                <a:latin typeface="Inter"/>
              </a:rPr>
              <a:t>projected decrease in </a:t>
            </a:r>
          </a:p>
        </p:txBody>
      </p:sp>
      <p:sp>
        <p:nvSpPr>
          <p:cNvPr id="13" name="TextBox 12"/>
          <p:cNvSpPr txBox="1"/>
          <p:nvPr/>
        </p:nvSpPr>
        <p:spPr>
          <a:xfrm>
            <a:off x="13720250" y="7779077"/>
            <a:ext cx="1993721" cy="368877"/>
          </a:xfrm>
          <a:prstGeom prst="rect">
            <a:avLst/>
          </a:prstGeom>
          <a:noFill/>
        </p:spPr>
        <p:txBody>
          <a:bodyPr wrap="none" lIns="0" tIns="0" rIns="0" bIns="0">
            <a:spAutoFit/>
          </a:bodyPr>
          <a:lstStyle/>
          <a:p>
            <a:r>
              <a:rPr sz="2400" b="0" i="0">
                <a:solidFill>
                  <a:srgbClr val="0B211F"/>
                </a:solidFill>
                <a:latin typeface="Inter"/>
              </a:rPr>
              <a:t>manual effort</a:t>
            </a:r>
          </a:p>
        </p:txBody>
      </p:sp>
      <p:sp>
        <p:nvSpPr>
          <p:cNvPr id="14" name="TextBox 13"/>
          <p:cNvSpPr txBox="1"/>
          <p:nvPr/>
        </p:nvSpPr>
        <p:spPr>
          <a:xfrm>
            <a:off x="952500" y="948928"/>
            <a:ext cx="1410905" cy="230548"/>
          </a:xfrm>
          <a:prstGeom prst="rect">
            <a:avLst/>
          </a:prstGeom>
          <a:noFill/>
        </p:spPr>
        <p:txBody>
          <a:bodyPr wrap="none" lIns="0" tIns="0" rIns="0" bIns="0">
            <a:spAutoFit/>
          </a:bodyPr>
          <a:lstStyle/>
          <a:p>
            <a:r>
              <a:rPr sz="1500" b="0" i="0">
                <a:solidFill>
                  <a:srgbClr val="00D9C6"/>
                </a:solidFill>
                <a:latin typeface="Inter"/>
              </a:rPr>
              <a:t>OBJECTIVES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7.png"/>
          <p:cNvPicPr>
            <a:picLocks noChangeAspect="1"/>
          </p:cNvPicPr>
          <p:nvPr/>
        </p:nvPicPr>
        <p:blipFill>
          <a:blip r:embed="rId2"/>
          <a:stretch>
            <a:fillRect/>
          </a:stretch>
        </p:blipFill>
        <p:spPr>
          <a:xfrm>
            <a:off x="0" y="0"/>
            <a:ext cx="18288000" cy="10287000"/>
          </a:xfrm>
          <a:prstGeom prst="rect">
            <a:avLst/>
          </a:prstGeom>
        </p:spPr>
      </p:pic>
      <p:sp>
        <p:nvSpPr>
          <p:cNvPr id="3" name="TextBox 2"/>
          <p:cNvSpPr txBox="1"/>
          <p:nvPr/>
        </p:nvSpPr>
        <p:spPr>
          <a:xfrm>
            <a:off x="950975" y="1562100"/>
            <a:ext cx="15957684" cy="368877"/>
          </a:xfrm>
          <a:prstGeom prst="rect">
            <a:avLst/>
          </a:prstGeom>
          <a:noFill/>
        </p:spPr>
        <p:txBody>
          <a:bodyPr wrap="none" lIns="0" tIns="0" rIns="0" bIns="0">
            <a:spAutoFit/>
          </a:bodyPr>
          <a:lstStyle/>
          <a:p>
            <a:r>
              <a:rPr sz="2400" b="0" i="0">
                <a:solidFill>
                  <a:srgbClr val="FFFFFF"/>
                </a:solidFill>
                <a:latin typeface="Inter"/>
              </a:rPr>
              <a:t>As a sales rep, you'll probably interact with just one or two stakeholders on the customer side. But to effectively </a:t>
            </a:r>
          </a:p>
        </p:txBody>
      </p:sp>
      <p:sp>
        <p:nvSpPr>
          <p:cNvPr id="4" name="TextBox 3"/>
          <p:cNvSpPr txBox="1"/>
          <p:nvPr/>
        </p:nvSpPr>
        <p:spPr>
          <a:xfrm>
            <a:off x="950975" y="1924050"/>
            <a:ext cx="15957303" cy="368877"/>
          </a:xfrm>
          <a:prstGeom prst="rect">
            <a:avLst/>
          </a:prstGeom>
          <a:noFill/>
        </p:spPr>
        <p:txBody>
          <a:bodyPr wrap="none" lIns="0" tIns="0" rIns="0" bIns="0">
            <a:spAutoFit/>
          </a:bodyPr>
          <a:lstStyle/>
          <a:p>
            <a:r>
              <a:rPr sz="2400" b="0" i="0">
                <a:solidFill>
                  <a:srgbClr val="FFFFFF"/>
                </a:solidFill>
                <a:latin typeface="Inter"/>
              </a:rPr>
              <a:t>implement your plan, you’ll need buy-in from the whole team. Set up a space for virtual introductions so you can </a:t>
            </a:r>
          </a:p>
        </p:txBody>
      </p:sp>
      <p:sp>
        <p:nvSpPr>
          <p:cNvPr id="5" name="TextBox 4"/>
          <p:cNvSpPr txBox="1"/>
          <p:nvPr/>
        </p:nvSpPr>
        <p:spPr>
          <a:xfrm>
            <a:off x="950975" y="2295525"/>
            <a:ext cx="10801761" cy="368877"/>
          </a:xfrm>
          <a:prstGeom prst="rect">
            <a:avLst/>
          </a:prstGeom>
          <a:noFill/>
        </p:spPr>
        <p:txBody>
          <a:bodyPr wrap="none" lIns="0" tIns="0" rIns="0" bIns="0">
            <a:spAutoFit/>
          </a:bodyPr>
          <a:lstStyle/>
          <a:p>
            <a:r>
              <a:rPr sz="2400" b="0" i="0">
                <a:solidFill>
                  <a:srgbClr val="FFFFFF"/>
                </a:solidFill>
                <a:latin typeface="Inter"/>
              </a:rPr>
              <a:t>understand your audience better and tailor your sales strategy accordingly.</a:t>
            </a:r>
          </a:p>
        </p:txBody>
      </p:sp>
      <p:sp>
        <p:nvSpPr>
          <p:cNvPr id="6" name="TextBox 5"/>
          <p:cNvSpPr txBox="1"/>
          <p:nvPr/>
        </p:nvSpPr>
        <p:spPr>
          <a:xfrm>
            <a:off x="7317112" y="6186964"/>
            <a:ext cx="1172400" cy="230548"/>
          </a:xfrm>
          <a:prstGeom prst="rect">
            <a:avLst/>
          </a:prstGeom>
          <a:noFill/>
        </p:spPr>
        <p:txBody>
          <a:bodyPr wrap="none" lIns="0" tIns="0" rIns="0" bIns="0">
            <a:spAutoFit/>
          </a:bodyPr>
          <a:lstStyle/>
          <a:p>
            <a:r>
              <a:rPr sz="1500" b="0" i="0">
                <a:solidFill>
                  <a:srgbClr val="00D9C6"/>
                </a:solidFill>
                <a:latin typeface="Inter"/>
              </a:rPr>
              <a:t>ACCOUNT </a:t>
            </a:r>
          </a:p>
        </p:txBody>
      </p:sp>
      <p:sp>
        <p:nvSpPr>
          <p:cNvPr id="7" name="TextBox 6"/>
          <p:cNvSpPr txBox="1"/>
          <p:nvPr/>
        </p:nvSpPr>
        <p:spPr>
          <a:xfrm>
            <a:off x="7286602" y="6425089"/>
            <a:ext cx="1235646" cy="230547"/>
          </a:xfrm>
          <a:prstGeom prst="rect">
            <a:avLst/>
          </a:prstGeom>
          <a:noFill/>
        </p:spPr>
        <p:txBody>
          <a:bodyPr wrap="none" lIns="0" tIns="0" rIns="0" bIns="0">
            <a:spAutoFit/>
          </a:bodyPr>
          <a:lstStyle/>
          <a:p>
            <a:r>
              <a:rPr sz="1500" b="0" i="0">
                <a:solidFill>
                  <a:srgbClr val="00D9C6"/>
                </a:solidFill>
                <a:latin typeface="Inter"/>
              </a:rPr>
              <a:t>EXECUTIVE</a:t>
            </a:r>
          </a:p>
        </p:txBody>
      </p:sp>
      <p:sp>
        <p:nvSpPr>
          <p:cNvPr id="8" name="TextBox 7"/>
          <p:cNvSpPr txBox="1"/>
          <p:nvPr/>
        </p:nvSpPr>
        <p:spPr>
          <a:xfrm>
            <a:off x="10152846" y="6187484"/>
            <a:ext cx="1300035" cy="230548"/>
          </a:xfrm>
          <a:prstGeom prst="rect">
            <a:avLst/>
          </a:prstGeom>
          <a:noFill/>
        </p:spPr>
        <p:txBody>
          <a:bodyPr wrap="none" lIns="0" tIns="0" rIns="0" bIns="0">
            <a:spAutoFit/>
          </a:bodyPr>
          <a:lstStyle/>
          <a:p>
            <a:r>
              <a:rPr sz="1500" b="0" i="0">
                <a:solidFill>
                  <a:srgbClr val="00D9C6"/>
                </a:solidFill>
                <a:latin typeface="Inter"/>
              </a:rPr>
              <a:t>CUSTOMER </a:t>
            </a:r>
          </a:p>
        </p:txBody>
      </p:sp>
      <p:sp>
        <p:nvSpPr>
          <p:cNvPr id="9" name="TextBox 8"/>
          <p:cNvSpPr txBox="1"/>
          <p:nvPr/>
        </p:nvSpPr>
        <p:spPr>
          <a:xfrm>
            <a:off x="10245268" y="6425609"/>
            <a:ext cx="1115250" cy="230547"/>
          </a:xfrm>
          <a:prstGeom prst="rect">
            <a:avLst/>
          </a:prstGeom>
          <a:noFill/>
        </p:spPr>
        <p:txBody>
          <a:bodyPr wrap="none" lIns="0" tIns="0" rIns="0" bIns="0">
            <a:spAutoFit/>
          </a:bodyPr>
          <a:lstStyle/>
          <a:p>
            <a:r>
              <a:rPr sz="1500" b="0" i="0">
                <a:solidFill>
                  <a:srgbClr val="00D9C6"/>
                </a:solidFill>
                <a:latin typeface="Inter"/>
              </a:rPr>
              <a:t>SUCCESS </a:t>
            </a:r>
          </a:p>
        </p:txBody>
      </p:sp>
      <p:sp>
        <p:nvSpPr>
          <p:cNvPr id="10" name="TextBox 9"/>
          <p:cNvSpPr txBox="1"/>
          <p:nvPr/>
        </p:nvSpPr>
        <p:spPr>
          <a:xfrm>
            <a:off x="10256728" y="6663734"/>
            <a:ext cx="1101915" cy="230547"/>
          </a:xfrm>
          <a:prstGeom prst="rect">
            <a:avLst/>
          </a:prstGeom>
          <a:noFill/>
        </p:spPr>
        <p:txBody>
          <a:bodyPr wrap="none" lIns="0" tIns="0" rIns="0" bIns="0">
            <a:spAutoFit/>
          </a:bodyPr>
          <a:lstStyle/>
          <a:p>
            <a:r>
              <a:rPr sz="1500" b="0" i="0">
                <a:solidFill>
                  <a:srgbClr val="00D9C6"/>
                </a:solidFill>
                <a:latin typeface="Inter"/>
              </a:rPr>
              <a:t>MANAGER</a:t>
            </a:r>
          </a:p>
        </p:txBody>
      </p:sp>
      <p:sp>
        <p:nvSpPr>
          <p:cNvPr id="11" name="TextBox 10"/>
          <p:cNvSpPr txBox="1"/>
          <p:nvPr/>
        </p:nvSpPr>
        <p:spPr>
          <a:xfrm>
            <a:off x="12934029" y="6186964"/>
            <a:ext cx="1465768" cy="230548"/>
          </a:xfrm>
          <a:prstGeom prst="rect">
            <a:avLst/>
          </a:prstGeom>
          <a:noFill/>
        </p:spPr>
        <p:txBody>
          <a:bodyPr wrap="none" lIns="0" tIns="0" rIns="0" bIns="0">
            <a:spAutoFit/>
          </a:bodyPr>
          <a:lstStyle/>
          <a:p>
            <a:r>
              <a:rPr sz="1500" b="0" i="0">
                <a:solidFill>
                  <a:srgbClr val="00D9C6"/>
                </a:solidFill>
                <a:latin typeface="Inter"/>
              </a:rPr>
              <a:t>COMMUNITY </a:t>
            </a:r>
          </a:p>
        </p:txBody>
      </p:sp>
      <p:sp>
        <p:nvSpPr>
          <p:cNvPr id="12" name="TextBox 11"/>
          <p:cNvSpPr txBox="1"/>
          <p:nvPr/>
        </p:nvSpPr>
        <p:spPr>
          <a:xfrm>
            <a:off x="13149234" y="6425089"/>
            <a:ext cx="1035431" cy="230547"/>
          </a:xfrm>
          <a:prstGeom prst="rect">
            <a:avLst/>
          </a:prstGeom>
          <a:noFill/>
        </p:spPr>
        <p:txBody>
          <a:bodyPr wrap="none" lIns="0" tIns="0" rIns="0" bIns="0">
            <a:spAutoFit/>
          </a:bodyPr>
          <a:lstStyle/>
          <a:p>
            <a:r>
              <a:rPr sz="1500" b="0" i="0">
                <a:solidFill>
                  <a:srgbClr val="00D9C6"/>
                </a:solidFill>
                <a:latin typeface="Inter"/>
              </a:rPr>
              <a:t>SUPPORT</a:t>
            </a:r>
          </a:p>
        </p:txBody>
      </p:sp>
      <p:sp>
        <p:nvSpPr>
          <p:cNvPr id="13" name="TextBox 12"/>
          <p:cNvSpPr txBox="1"/>
          <p:nvPr/>
        </p:nvSpPr>
        <p:spPr>
          <a:xfrm>
            <a:off x="7302698" y="5899359"/>
            <a:ext cx="1205165" cy="230548"/>
          </a:xfrm>
          <a:prstGeom prst="rect">
            <a:avLst/>
          </a:prstGeom>
          <a:noFill/>
        </p:spPr>
        <p:txBody>
          <a:bodyPr wrap="none" lIns="0" tIns="0" rIns="0" bIns="0">
            <a:spAutoFit/>
          </a:bodyPr>
          <a:lstStyle/>
          <a:p>
            <a:r>
              <a:rPr sz="1500" b="0" i="0">
                <a:solidFill>
                  <a:srgbClr val="00D9C6"/>
                </a:solidFill>
                <a:latin typeface="Inter"/>
              </a:rPr>
              <a:t>SORAYA S.</a:t>
            </a:r>
          </a:p>
        </p:txBody>
      </p:sp>
      <p:sp>
        <p:nvSpPr>
          <p:cNvPr id="14" name="TextBox 13"/>
          <p:cNvSpPr txBox="1"/>
          <p:nvPr/>
        </p:nvSpPr>
        <p:spPr>
          <a:xfrm>
            <a:off x="10356666" y="5899359"/>
            <a:ext cx="902271" cy="230548"/>
          </a:xfrm>
          <a:prstGeom prst="rect">
            <a:avLst/>
          </a:prstGeom>
          <a:noFill/>
        </p:spPr>
        <p:txBody>
          <a:bodyPr wrap="none" lIns="0" tIns="0" rIns="0" bIns="0">
            <a:spAutoFit/>
          </a:bodyPr>
          <a:lstStyle/>
          <a:p>
            <a:r>
              <a:rPr sz="1500" b="0" i="0">
                <a:solidFill>
                  <a:srgbClr val="00D9C6"/>
                </a:solidFill>
                <a:latin typeface="Inter"/>
              </a:rPr>
              <a:t>SAMI S.</a:t>
            </a:r>
          </a:p>
        </p:txBody>
      </p:sp>
      <p:sp>
        <p:nvSpPr>
          <p:cNvPr id="15" name="TextBox 14"/>
          <p:cNvSpPr txBox="1"/>
          <p:nvPr/>
        </p:nvSpPr>
        <p:spPr>
          <a:xfrm>
            <a:off x="13123561" y="5899359"/>
            <a:ext cx="1096581" cy="230548"/>
          </a:xfrm>
          <a:prstGeom prst="rect">
            <a:avLst/>
          </a:prstGeom>
          <a:noFill/>
        </p:spPr>
        <p:txBody>
          <a:bodyPr wrap="none" lIns="0" tIns="0" rIns="0" bIns="0">
            <a:spAutoFit/>
          </a:bodyPr>
          <a:lstStyle/>
          <a:p>
            <a:r>
              <a:rPr sz="1500" b="0" i="0">
                <a:solidFill>
                  <a:srgbClr val="00D9C6"/>
                </a:solidFill>
                <a:latin typeface="Inter"/>
              </a:rPr>
              <a:t>SUSAN S.</a:t>
            </a:r>
          </a:p>
        </p:txBody>
      </p:sp>
      <p:sp>
        <p:nvSpPr>
          <p:cNvPr id="16" name="TextBox 15"/>
          <p:cNvSpPr txBox="1"/>
          <p:nvPr/>
        </p:nvSpPr>
        <p:spPr>
          <a:xfrm>
            <a:off x="15586980" y="6190527"/>
            <a:ext cx="1304035" cy="230548"/>
          </a:xfrm>
          <a:prstGeom prst="rect">
            <a:avLst/>
          </a:prstGeom>
          <a:noFill/>
        </p:spPr>
        <p:txBody>
          <a:bodyPr wrap="none" lIns="0" tIns="0" rIns="0" bIns="0">
            <a:spAutoFit/>
          </a:bodyPr>
          <a:lstStyle/>
          <a:p>
            <a:r>
              <a:rPr sz="1500" b="0" i="0">
                <a:solidFill>
                  <a:srgbClr val="00D9C6"/>
                </a:solidFill>
                <a:latin typeface="Inter"/>
              </a:rPr>
              <a:t>IT SUPPORT</a:t>
            </a:r>
          </a:p>
        </p:txBody>
      </p:sp>
      <p:sp>
        <p:nvSpPr>
          <p:cNvPr id="17" name="TextBox 16"/>
          <p:cNvSpPr txBox="1"/>
          <p:nvPr/>
        </p:nvSpPr>
        <p:spPr>
          <a:xfrm>
            <a:off x="15650753" y="5902922"/>
            <a:ext cx="1186115" cy="230548"/>
          </a:xfrm>
          <a:prstGeom prst="rect">
            <a:avLst/>
          </a:prstGeom>
          <a:noFill/>
        </p:spPr>
        <p:txBody>
          <a:bodyPr wrap="none" lIns="0" tIns="0" rIns="0" bIns="0">
            <a:spAutoFit/>
          </a:bodyPr>
          <a:lstStyle/>
          <a:p>
            <a:r>
              <a:rPr sz="1500" b="0" i="0">
                <a:solidFill>
                  <a:srgbClr val="00D9C6"/>
                </a:solidFill>
                <a:latin typeface="Inter"/>
              </a:rPr>
              <a:t>SHERYL S.</a:t>
            </a:r>
          </a:p>
        </p:txBody>
      </p:sp>
      <p:sp>
        <p:nvSpPr>
          <p:cNvPr id="18" name="TextBox 17"/>
          <p:cNvSpPr txBox="1"/>
          <p:nvPr/>
        </p:nvSpPr>
        <p:spPr>
          <a:xfrm>
            <a:off x="953370" y="4863399"/>
            <a:ext cx="1266983" cy="490061"/>
          </a:xfrm>
          <a:prstGeom prst="rect">
            <a:avLst/>
          </a:prstGeom>
          <a:noFill/>
        </p:spPr>
        <p:txBody>
          <a:bodyPr wrap="none" lIns="0" tIns="0" rIns="0" bIns="0">
            <a:spAutoFit/>
          </a:bodyPr>
          <a:lstStyle/>
          <a:p>
            <a:r>
              <a:rPr sz="3750" b="0" i="0">
                <a:solidFill>
                  <a:srgbClr val="FFFFFF"/>
                </a:solidFill>
                <a:latin typeface="Type3 (66 0 R)"/>
              </a:rPr>
              <a:t>Sales</a:t>
            </a:r>
          </a:p>
        </p:txBody>
      </p:sp>
      <p:sp>
        <p:nvSpPr>
          <p:cNvPr id="19" name="TextBox 18"/>
          <p:cNvSpPr txBox="1"/>
          <p:nvPr/>
        </p:nvSpPr>
        <p:spPr>
          <a:xfrm>
            <a:off x="7042822" y="8949373"/>
            <a:ext cx="1721040" cy="230547"/>
          </a:xfrm>
          <a:prstGeom prst="rect">
            <a:avLst/>
          </a:prstGeom>
          <a:noFill/>
        </p:spPr>
        <p:txBody>
          <a:bodyPr wrap="none" lIns="0" tIns="0" rIns="0" bIns="0">
            <a:spAutoFit/>
          </a:bodyPr>
          <a:lstStyle/>
          <a:p>
            <a:r>
              <a:rPr sz="1500" b="0" i="0">
                <a:solidFill>
                  <a:srgbClr val="00D9C6"/>
                </a:solidFill>
                <a:latin typeface="Inter"/>
              </a:rPr>
              <a:t>PROCUREMENT </a:t>
            </a:r>
          </a:p>
        </p:txBody>
      </p:sp>
      <p:sp>
        <p:nvSpPr>
          <p:cNvPr id="20" name="TextBox 19"/>
          <p:cNvSpPr txBox="1"/>
          <p:nvPr/>
        </p:nvSpPr>
        <p:spPr>
          <a:xfrm>
            <a:off x="7357147" y="9187498"/>
            <a:ext cx="1101915" cy="230547"/>
          </a:xfrm>
          <a:prstGeom prst="rect">
            <a:avLst/>
          </a:prstGeom>
          <a:noFill/>
        </p:spPr>
        <p:txBody>
          <a:bodyPr wrap="none" lIns="0" tIns="0" rIns="0" bIns="0">
            <a:spAutoFit/>
          </a:bodyPr>
          <a:lstStyle/>
          <a:p>
            <a:r>
              <a:rPr sz="1500" b="0" i="0">
                <a:solidFill>
                  <a:srgbClr val="00D9C6"/>
                </a:solidFill>
                <a:latin typeface="Inter"/>
              </a:rPr>
              <a:t>MANAGER</a:t>
            </a:r>
          </a:p>
        </p:txBody>
      </p:sp>
      <p:sp>
        <p:nvSpPr>
          <p:cNvPr id="21" name="TextBox 20"/>
          <p:cNvSpPr txBox="1"/>
          <p:nvPr/>
        </p:nvSpPr>
        <p:spPr>
          <a:xfrm>
            <a:off x="10550068" y="8949373"/>
            <a:ext cx="520127" cy="230547"/>
          </a:xfrm>
          <a:prstGeom prst="rect">
            <a:avLst/>
          </a:prstGeom>
          <a:noFill/>
        </p:spPr>
        <p:txBody>
          <a:bodyPr wrap="none" lIns="0" tIns="0" rIns="0" bIns="0">
            <a:spAutoFit/>
          </a:bodyPr>
          <a:lstStyle/>
          <a:p>
            <a:r>
              <a:rPr sz="1500" b="0" i="0">
                <a:solidFill>
                  <a:srgbClr val="00D9C6"/>
                </a:solidFill>
                <a:latin typeface="Inter"/>
              </a:rPr>
              <a:t>CFO</a:t>
            </a:r>
          </a:p>
        </p:txBody>
      </p:sp>
      <p:sp>
        <p:nvSpPr>
          <p:cNvPr id="22" name="TextBox 21"/>
          <p:cNvSpPr txBox="1"/>
          <p:nvPr/>
        </p:nvSpPr>
        <p:spPr>
          <a:xfrm>
            <a:off x="12775825" y="8949373"/>
            <a:ext cx="1788094" cy="230547"/>
          </a:xfrm>
          <a:prstGeom prst="rect">
            <a:avLst/>
          </a:prstGeom>
          <a:noFill/>
        </p:spPr>
        <p:txBody>
          <a:bodyPr wrap="none" lIns="0" tIns="0" rIns="0" bIns="0">
            <a:spAutoFit/>
          </a:bodyPr>
          <a:lstStyle/>
          <a:p>
            <a:r>
              <a:rPr sz="1500" b="0" i="0">
                <a:solidFill>
                  <a:srgbClr val="00D9C6"/>
                </a:solidFill>
                <a:latin typeface="Inter"/>
              </a:rPr>
              <a:t>LEGAL COUNSEL</a:t>
            </a:r>
          </a:p>
        </p:txBody>
      </p:sp>
      <p:sp>
        <p:nvSpPr>
          <p:cNvPr id="23" name="TextBox 22"/>
          <p:cNvSpPr txBox="1"/>
          <p:nvPr/>
        </p:nvSpPr>
        <p:spPr>
          <a:xfrm>
            <a:off x="7360049" y="8661768"/>
            <a:ext cx="1096581" cy="230547"/>
          </a:xfrm>
          <a:prstGeom prst="rect">
            <a:avLst/>
          </a:prstGeom>
          <a:noFill/>
        </p:spPr>
        <p:txBody>
          <a:bodyPr wrap="none" lIns="0" tIns="0" rIns="0" bIns="0">
            <a:spAutoFit/>
          </a:bodyPr>
          <a:lstStyle/>
          <a:p>
            <a:r>
              <a:rPr sz="1500" b="0" i="0">
                <a:solidFill>
                  <a:srgbClr val="00D9C6"/>
                </a:solidFill>
                <a:latin typeface="Inter"/>
              </a:rPr>
              <a:t>CARL A C.</a:t>
            </a:r>
          </a:p>
        </p:txBody>
      </p:sp>
      <p:sp>
        <p:nvSpPr>
          <p:cNvPr id="24" name="TextBox 23"/>
          <p:cNvSpPr txBox="1"/>
          <p:nvPr/>
        </p:nvSpPr>
        <p:spPr>
          <a:xfrm>
            <a:off x="10020463" y="8661768"/>
            <a:ext cx="1574735" cy="230547"/>
          </a:xfrm>
          <a:prstGeom prst="rect">
            <a:avLst/>
          </a:prstGeom>
          <a:noFill/>
        </p:spPr>
        <p:txBody>
          <a:bodyPr wrap="none" lIns="0" tIns="0" rIns="0" bIns="0">
            <a:spAutoFit/>
          </a:bodyPr>
          <a:lstStyle/>
          <a:p>
            <a:r>
              <a:rPr sz="1500" b="0" i="0">
                <a:solidFill>
                  <a:srgbClr val="00D9C6"/>
                </a:solidFill>
                <a:latin typeface="Inter"/>
              </a:rPr>
              <a:t>CHADWICK C.</a:t>
            </a:r>
          </a:p>
        </p:txBody>
      </p:sp>
      <p:sp>
        <p:nvSpPr>
          <p:cNvPr id="25" name="TextBox 24"/>
          <p:cNvSpPr txBox="1"/>
          <p:nvPr/>
        </p:nvSpPr>
        <p:spPr>
          <a:xfrm>
            <a:off x="12995867" y="8661768"/>
            <a:ext cx="1351851" cy="230547"/>
          </a:xfrm>
          <a:prstGeom prst="rect">
            <a:avLst/>
          </a:prstGeom>
          <a:noFill/>
        </p:spPr>
        <p:txBody>
          <a:bodyPr wrap="none" lIns="0" tIns="0" rIns="0" bIns="0">
            <a:spAutoFit/>
          </a:bodyPr>
          <a:lstStyle/>
          <a:p>
            <a:r>
              <a:rPr sz="1500" b="0" i="0">
                <a:solidFill>
                  <a:srgbClr val="00D9C6"/>
                </a:solidFill>
                <a:latin typeface="Inter"/>
              </a:rPr>
              <a:t>CORINNE C.</a:t>
            </a:r>
          </a:p>
        </p:txBody>
      </p:sp>
      <p:sp>
        <p:nvSpPr>
          <p:cNvPr id="26" name="TextBox 25"/>
          <p:cNvSpPr txBox="1"/>
          <p:nvPr/>
        </p:nvSpPr>
        <p:spPr>
          <a:xfrm>
            <a:off x="15690713" y="8952934"/>
            <a:ext cx="1105724" cy="230547"/>
          </a:xfrm>
          <a:prstGeom prst="rect">
            <a:avLst/>
          </a:prstGeom>
          <a:noFill/>
        </p:spPr>
        <p:txBody>
          <a:bodyPr wrap="none" lIns="0" tIns="0" rIns="0" bIns="0">
            <a:spAutoFit/>
          </a:bodyPr>
          <a:lstStyle/>
          <a:p>
            <a:r>
              <a:rPr sz="1500" b="0" i="0">
                <a:solidFill>
                  <a:srgbClr val="00D9C6"/>
                </a:solidFill>
                <a:latin typeface="Inter"/>
              </a:rPr>
              <a:t>INVESTOR</a:t>
            </a:r>
          </a:p>
        </p:txBody>
      </p:sp>
      <p:sp>
        <p:nvSpPr>
          <p:cNvPr id="27" name="TextBox 26"/>
          <p:cNvSpPr txBox="1"/>
          <p:nvPr/>
        </p:nvSpPr>
        <p:spPr>
          <a:xfrm>
            <a:off x="15690787" y="8665331"/>
            <a:ext cx="1106106" cy="230547"/>
          </a:xfrm>
          <a:prstGeom prst="rect">
            <a:avLst/>
          </a:prstGeom>
          <a:noFill/>
        </p:spPr>
        <p:txBody>
          <a:bodyPr wrap="none" lIns="0" tIns="0" rIns="0" bIns="0">
            <a:spAutoFit/>
          </a:bodyPr>
          <a:lstStyle/>
          <a:p>
            <a:r>
              <a:rPr sz="1500" b="0" i="0">
                <a:solidFill>
                  <a:srgbClr val="00D9C6"/>
                </a:solidFill>
                <a:latin typeface="Inter"/>
              </a:rPr>
              <a:t>CHIMA C.</a:t>
            </a:r>
          </a:p>
        </p:txBody>
      </p:sp>
      <p:sp>
        <p:nvSpPr>
          <p:cNvPr id="28" name="TextBox 27"/>
          <p:cNvSpPr txBox="1"/>
          <p:nvPr/>
        </p:nvSpPr>
        <p:spPr>
          <a:xfrm>
            <a:off x="953350" y="7435091"/>
            <a:ext cx="2219007" cy="490061"/>
          </a:xfrm>
          <a:prstGeom prst="rect">
            <a:avLst/>
          </a:prstGeom>
          <a:noFill/>
        </p:spPr>
        <p:txBody>
          <a:bodyPr wrap="none" lIns="0" tIns="0" rIns="0" bIns="0">
            <a:spAutoFit/>
          </a:bodyPr>
          <a:lstStyle/>
          <a:p>
            <a:r>
              <a:rPr sz="3750" b="0" i="0">
                <a:solidFill>
                  <a:srgbClr val="FFFFFF"/>
                </a:solidFill>
                <a:latin typeface="Type3 (66 0 R)"/>
              </a:rPr>
              <a:t>C</a:t>
            </a:r>
            <a:r>
              <a:rPr sz="3750" b="0" i="0">
                <a:solidFill>
                  <a:srgbClr val="FFFFFF"/>
                </a:solidFill>
                <a:latin typeface="Type3 (46 0 R)"/>
              </a:rPr>
              <a:t>u</a:t>
            </a:r>
            <a:r>
              <a:rPr sz="3750" b="0" i="0">
                <a:solidFill>
                  <a:srgbClr val="FFFFFF"/>
                </a:solidFill>
                <a:latin typeface="Type3 (66 0 R)"/>
              </a:rPr>
              <a:t>stomer</a:t>
            </a:r>
          </a:p>
        </p:txBody>
      </p:sp>
      <p:sp>
        <p:nvSpPr>
          <p:cNvPr id="29" name="TextBox 28"/>
          <p:cNvSpPr txBox="1"/>
          <p:nvPr/>
        </p:nvSpPr>
        <p:spPr>
          <a:xfrm>
            <a:off x="952500" y="948928"/>
            <a:ext cx="1770951" cy="230548"/>
          </a:xfrm>
          <a:prstGeom prst="rect">
            <a:avLst/>
          </a:prstGeom>
          <a:noFill/>
        </p:spPr>
        <p:txBody>
          <a:bodyPr wrap="none" lIns="0" tIns="0" rIns="0" bIns="0">
            <a:spAutoFit/>
          </a:bodyPr>
          <a:lstStyle/>
          <a:p>
            <a:r>
              <a:rPr sz="1500" b="0" i="0">
                <a:solidFill>
                  <a:srgbClr val="00D9C6"/>
                </a:solidFill>
                <a:latin typeface="Inter"/>
              </a:rPr>
              <a:t>STAKEHOLDERS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8.png"/>
          <p:cNvPicPr>
            <a:picLocks noChangeAspect="1"/>
          </p:cNvPicPr>
          <p:nvPr/>
        </p:nvPicPr>
        <p:blipFill>
          <a:blip r:embed="rId2"/>
          <a:stretch>
            <a:fillRect/>
          </a:stretch>
        </p:blipFill>
        <p:spPr>
          <a:xfrm>
            <a:off x="0" y="0"/>
            <a:ext cx="18288000" cy="10287000"/>
          </a:xfrm>
          <a:prstGeom prst="rect">
            <a:avLst/>
          </a:prstGeom>
        </p:spPr>
      </p:pic>
      <p:sp>
        <p:nvSpPr>
          <p:cNvPr id="3" name="TextBox 2"/>
          <p:cNvSpPr txBox="1"/>
          <p:nvPr/>
        </p:nvSpPr>
        <p:spPr>
          <a:xfrm>
            <a:off x="950975" y="1562100"/>
            <a:ext cx="15957684" cy="368877"/>
          </a:xfrm>
          <a:prstGeom prst="rect">
            <a:avLst/>
          </a:prstGeom>
          <a:noFill/>
        </p:spPr>
        <p:txBody>
          <a:bodyPr wrap="none" lIns="0" tIns="0" rIns="0" bIns="0">
            <a:spAutoFit/>
          </a:bodyPr>
          <a:lstStyle/>
          <a:p>
            <a:r>
              <a:rPr sz="2400" b="0" i="0">
                <a:solidFill>
                  <a:srgbClr val="111B18"/>
                </a:solidFill>
                <a:latin typeface="Inter"/>
              </a:rPr>
              <a:t>As a sales rep, you'll probably interact with just one or two stakeholders on the customer side. But to effectively </a:t>
            </a:r>
          </a:p>
        </p:txBody>
      </p:sp>
      <p:sp>
        <p:nvSpPr>
          <p:cNvPr id="4" name="TextBox 3"/>
          <p:cNvSpPr txBox="1"/>
          <p:nvPr/>
        </p:nvSpPr>
        <p:spPr>
          <a:xfrm>
            <a:off x="950975" y="1924050"/>
            <a:ext cx="15957303" cy="368877"/>
          </a:xfrm>
          <a:prstGeom prst="rect">
            <a:avLst/>
          </a:prstGeom>
          <a:noFill/>
        </p:spPr>
        <p:txBody>
          <a:bodyPr wrap="none" lIns="0" tIns="0" rIns="0" bIns="0">
            <a:spAutoFit/>
          </a:bodyPr>
          <a:lstStyle/>
          <a:p>
            <a:r>
              <a:rPr sz="2400" b="0" i="0">
                <a:solidFill>
                  <a:srgbClr val="111B18"/>
                </a:solidFill>
                <a:latin typeface="Inter"/>
              </a:rPr>
              <a:t>implement your plan, you’ll need buy-in from the whole team. Set up a space for virtual introductions so you can </a:t>
            </a:r>
          </a:p>
        </p:txBody>
      </p:sp>
      <p:sp>
        <p:nvSpPr>
          <p:cNvPr id="5" name="TextBox 4"/>
          <p:cNvSpPr txBox="1"/>
          <p:nvPr/>
        </p:nvSpPr>
        <p:spPr>
          <a:xfrm>
            <a:off x="950975" y="2295525"/>
            <a:ext cx="10801761" cy="368877"/>
          </a:xfrm>
          <a:prstGeom prst="rect">
            <a:avLst/>
          </a:prstGeom>
          <a:noFill/>
        </p:spPr>
        <p:txBody>
          <a:bodyPr wrap="none" lIns="0" tIns="0" rIns="0" bIns="0">
            <a:spAutoFit/>
          </a:bodyPr>
          <a:lstStyle/>
          <a:p>
            <a:r>
              <a:rPr sz="2400" b="0" i="0">
                <a:solidFill>
                  <a:srgbClr val="111B18"/>
                </a:solidFill>
                <a:latin typeface="Inter"/>
              </a:rPr>
              <a:t>understand your audience better and tailor your sales strategy accordingly.</a:t>
            </a:r>
          </a:p>
        </p:txBody>
      </p:sp>
      <p:sp>
        <p:nvSpPr>
          <p:cNvPr id="6" name="TextBox 5"/>
          <p:cNvSpPr txBox="1"/>
          <p:nvPr/>
        </p:nvSpPr>
        <p:spPr>
          <a:xfrm>
            <a:off x="7317112" y="6186964"/>
            <a:ext cx="1172400" cy="230548"/>
          </a:xfrm>
          <a:prstGeom prst="rect">
            <a:avLst/>
          </a:prstGeom>
          <a:noFill/>
        </p:spPr>
        <p:txBody>
          <a:bodyPr wrap="none" lIns="0" tIns="0" rIns="0" bIns="0">
            <a:spAutoFit/>
          </a:bodyPr>
          <a:lstStyle/>
          <a:p>
            <a:r>
              <a:rPr sz="1500" b="0" i="0">
                <a:solidFill>
                  <a:srgbClr val="00D9C6"/>
                </a:solidFill>
                <a:latin typeface="Inter"/>
              </a:rPr>
              <a:t>ACCOUNT </a:t>
            </a:r>
          </a:p>
        </p:txBody>
      </p:sp>
      <p:sp>
        <p:nvSpPr>
          <p:cNvPr id="7" name="TextBox 6"/>
          <p:cNvSpPr txBox="1"/>
          <p:nvPr/>
        </p:nvSpPr>
        <p:spPr>
          <a:xfrm>
            <a:off x="7286602" y="6425089"/>
            <a:ext cx="1235646" cy="230547"/>
          </a:xfrm>
          <a:prstGeom prst="rect">
            <a:avLst/>
          </a:prstGeom>
          <a:noFill/>
        </p:spPr>
        <p:txBody>
          <a:bodyPr wrap="none" lIns="0" tIns="0" rIns="0" bIns="0">
            <a:spAutoFit/>
          </a:bodyPr>
          <a:lstStyle/>
          <a:p>
            <a:r>
              <a:rPr sz="1500" b="0" i="0">
                <a:solidFill>
                  <a:srgbClr val="00D9C6"/>
                </a:solidFill>
                <a:latin typeface="Inter"/>
              </a:rPr>
              <a:t>EXECUTIVE</a:t>
            </a:r>
          </a:p>
        </p:txBody>
      </p:sp>
      <p:sp>
        <p:nvSpPr>
          <p:cNvPr id="8" name="TextBox 7"/>
          <p:cNvSpPr txBox="1"/>
          <p:nvPr/>
        </p:nvSpPr>
        <p:spPr>
          <a:xfrm>
            <a:off x="10152846" y="6187484"/>
            <a:ext cx="1300035" cy="230548"/>
          </a:xfrm>
          <a:prstGeom prst="rect">
            <a:avLst/>
          </a:prstGeom>
          <a:noFill/>
        </p:spPr>
        <p:txBody>
          <a:bodyPr wrap="none" lIns="0" tIns="0" rIns="0" bIns="0">
            <a:spAutoFit/>
          </a:bodyPr>
          <a:lstStyle/>
          <a:p>
            <a:r>
              <a:rPr sz="1500" b="0" i="0">
                <a:solidFill>
                  <a:srgbClr val="00D9C6"/>
                </a:solidFill>
                <a:latin typeface="Inter"/>
              </a:rPr>
              <a:t>CUSTOMER </a:t>
            </a:r>
          </a:p>
        </p:txBody>
      </p:sp>
      <p:sp>
        <p:nvSpPr>
          <p:cNvPr id="9" name="TextBox 8"/>
          <p:cNvSpPr txBox="1"/>
          <p:nvPr/>
        </p:nvSpPr>
        <p:spPr>
          <a:xfrm>
            <a:off x="10245268" y="6425609"/>
            <a:ext cx="1115250" cy="230547"/>
          </a:xfrm>
          <a:prstGeom prst="rect">
            <a:avLst/>
          </a:prstGeom>
          <a:noFill/>
        </p:spPr>
        <p:txBody>
          <a:bodyPr wrap="none" lIns="0" tIns="0" rIns="0" bIns="0">
            <a:spAutoFit/>
          </a:bodyPr>
          <a:lstStyle/>
          <a:p>
            <a:r>
              <a:rPr sz="1500" b="0" i="0">
                <a:solidFill>
                  <a:srgbClr val="00D9C6"/>
                </a:solidFill>
                <a:latin typeface="Inter"/>
              </a:rPr>
              <a:t>SUCCESS </a:t>
            </a:r>
          </a:p>
        </p:txBody>
      </p:sp>
      <p:sp>
        <p:nvSpPr>
          <p:cNvPr id="10" name="TextBox 9"/>
          <p:cNvSpPr txBox="1"/>
          <p:nvPr/>
        </p:nvSpPr>
        <p:spPr>
          <a:xfrm>
            <a:off x="10256728" y="6663734"/>
            <a:ext cx="1101915" cy="230547"/>
          </a:xfrm>
          <a:prstGeom prst="rect">
            <a:avLst/>
          </a:prstGeom>
          <a:noFill/>
        </p:spPr>
        <p:txBody>
          <a:bodyPr wrap="none" lIns="0" tIns="0" rIns="0" bIns="0">
            <a:spAutoFit/>
          </a:bodyPr>
          <a:lstStyle/>
          <a:p>
            <a:r>
              <a:rPr sz="1500" b="0" i="0">
                <a:solidFill>
                  <a:srgbClr val="00D9C6"/>
                </a:solidFill>
                <a:latin typeface="Inter"/>
              </a:rPr>
              <a:t>MANAGER</a:t>
            </a:r>
          </a:p>
        </p:txBody>
      </p:sp>
      <p:sp>
        <p:nvSpPr>
          <p:cNvPr id="11" name="TextBox 10"/>
          <p:cNvSpPr txBox="1"/>
          <p:nvPr/>
        </p:nvSpPr>
        <p:spPr>
          <a:xfrm>
            <a:off x="12934029" y="6186964"/>
            <a:ext cx="1465768" cy="230548"/>
          </a:xfrm>
          <a:prstGeom prst="rect">
            <a:avLst/>
          </a:prstGeom>
          <a:noFill/>
        </p:spPr>
        <p:txBody>
          <a:bodyPr wrap="none" lIns="0" tIns="0" rIns="0" bIns="0">
            <a:spAutoFit/>
          </a:bodyPr>
          <a:lstStyle/>
          <a:p>
            <a:r>
              <a:rPr sz="1500" b="0" i="0">
                <a:solidFill>
                  <a:srgbClr val="00D9C6"/>
                </a:solidFill>
                <a:latin typeface="Inter"/>
              </a:rPr>
              <a:t>COMMUNITY </a:t>
            </a:r>
          </a:p>
        </p:txBody>
      </p:sp>
      <p:sp>
        <p:nvSpPr>
          <p:cNvPr id="12" name="TextBox 11"/>
          <p:cNvSpPr txBox="1"/>
          <p:nvPr/>
        </p:nvSpPr>
        <p:spPr>
          <a:xfrm>
            <a:off x="13149234" y="6425089"/>
            <a:ext cx="1035431" cy="230547"/>
          </a:xfrm>
          <a:prstGeom prst="rect">
            <a:avLst/>
          </a:prstGeom>
          <a:noFill/>
        </p:spPr>
        <p:txBody>
          <a:bodyPr wrap="none" lIns="0" tIns="0" rIns="0" bIns="0">
            <a:spAutoFit/>
          </a:bodyPr>
          <a:lstStyle/>
          <a:p>
            <a:r>
              <a:rPr sz="1500" b="0" i="0">
                <a:solidFill>
                  <a:srgbClr val="00D9C6"/>
                </a:solidFill>
                <a:latin typeface="Inter"/>
              </a:rPr>
              <a:t>SUPPORT</a:t>
            </a:r>
          </a:p>
        </p:txBody>
      </p:sp>
      <p:sp>
        <p:nvSpPr>
          <p:cNvPr id="13" name="TextBox 12"/>
          <p:cNvSpPr txBox="1"/>
          <p:nvPr/>
        </p:nvSpPr>
        <p:spPr>
          <a:xfrm>
            <a:off x="7302698" y="5899359"/>
            <a:ext cx="1205165" cy="230548"/>
          </a:xfrm>
          <a:prstGeom prst="rect">
            <a:avLst/>
          </a:prstGeom>
          <a:noFill/>
        </p:spPr>
        <p:txBody>
          <a:bodyPr wrap="none" lIns="0" tIns="0" rIns="0" bIns="0">
            <a:spAutoFit/>
          </a:bodyPr>
          <a:lstStyle/>
          <a:p>
            <a:r>
              <a:rPr sz="1500" b="0" i="0">
                <a:solidFill>
                  <a:srgbClr val="00D9C6"/>
                </a:solidFill>
                <a:latin typeface="Inter"/>
              </a:rPr>
              <a:t>SORAYA S.</a:t>
            </a:r>
          </a:p>
        </p:txBody>
      </p:sp>
      <p:sp>
        <p:nvSpPr>
          <p:cNvPr id="14" name="TextBox 13"/>
          <p:cNvSpPr txBox="1"/>
          <p:nvPr/>
        </p:nvSpPr>
        <p:spPr>
          <a:xfrm>
            <a:off x="10356666" y="5899359"/>
            <a:ext cx="902271" cy="230548"/>
          </a:xfrm>
          <a:prstGeom prst="rect">
            <a:avLst/>
          </a:prstGeom>
          <a:noFill/>
        </p:spPr>
        <p:txBody>
          <a:bodyPr wrap="none" lIns="0" tIns="0" rIns="0" bIns="0">
            <a:spAutoFit/>
          </a:bodyPr>
          <a:lstStyle/>
          <a:p>
            <a:r>
              <a:rPr sz="1500" b="0" i="0">
                <a:solidFill>
                  <a:srgbClr val="00D9C6"/>
                </a:solidFill>
                <a:latin typeface="Inter"/>
              </a:rPr>
              <a:t>SAMI S.</a:t>
            </a:r>
          </a:p>
        </p:txBody>
      </p:sp>
      <p:sp>
        <p:nvSpPr>
          <p:cNvPr id="15" name="TextBox 14"/>
          <p:cNvSpPr txBox="1"/>
          <p:nvPr/>
        </p:nvSpPr>
        <p:spPr>
          <a:xfrm>
            <a:off x="13123561" y="5899359"/>
            <a:ext cx="1096581" cy="230548"/>
          </a:xfrm>
          <a:prstGeom prst="rect">
            <a:avLst/>
          </a:prstGeom>
          <a:noFill/>
        </p:spPr>
        <p:txBody>
          <a:bodyPr wrap="none" lIns="0" tIns="0" rIns="0" bIns="0">
            <a:spAutoFit/>
          </a:bodyPr>
          <a:lstStyle/>
          <a:p>
            <a:r>
              <a:rPr sz="1500" b="0" i="0">
                <a:solidFill>
                  <a:srgbClr val="00D9C6"/>
                </a:solidFill>
                <a:latin typeface="Inter"/>
              </a:rPr>
              <a:t>SUSAN S.</a:t>
            </a:r>
          </a:p>
        </p:txBody>
      </p:sp>
      <p:sp>
        <p:nvSpPr>
          <p:cNvPr id="16" name="TextBox 15"/>
          <p:cNvSpPr txBox="1"/>
          <p:nvPr/>
        </p:nvSpPr>
        <p:spPr>
          <a:xfrm>
            <a:off x="15586980" y="6190527"/>
            <a:ext cx="1304035" cy="230548"/>
          </a:xfrm>
          <a:prstGeom prst="rect">
            <a:avLst/>
          </a:prstGeom>
          <a:noFill/>
        </p:spPr>
        <p:txBody>
          <a:bodyPr wrap="none" lIns="0" tIns="0" rIns="0" bIns="0">
            <a:spAutoFit/>
          </a:bodyPr>
          <a:lstStyle/>
          <a:p>
            <a:r>
              <a:rPr sz="1500" b="0" i="0">
                <a:solidFill>
                  <a:srgbClr val="00D9C6"/>
                </a:solidFill>
                <a:latin typeface="Inter"/>
              </a:rPr>
              <a:t>IT SUPPORT</a:t>
            </a:r>
          </a:p>
        </p:txBody>
      </p:sp>
      <p:sp>
        <p:nvSpPr>
          <p:cNvPr id="17" name="TextBox 16"/>
          <p:cNvSpPr txBox="1"/>
          <p:nvPr/>
        </p:nvSpPr>
        <p:spPr>
          <a:xfrm>
            <a:off x="15650753" y="5902922"/>
            <a:ext cx="1186115" cy="230548"/>
          </a:xfrm>
          <a:prstGeom prst="rect">
            <a:avLst/>
          </a:prstGeom>
          <a:noFill/>
        </p:spPr>
        <p:txBody>
          <a:bodyPr wrap="none" lIns="0" tIns="0" rIns="0" bIns="0">
            <a:spAutoFit/>
          </a:bodyPr>
          <a:lstStyle/>
          <a:p>
            <a:r>
              <a:rPr sz="1500" b="0" i="0">
                <a:solidFill>
                  <a:srgbClr val="00D9C6"/>
                </a:solidFill>
                <a:latin typeface="Inter"/>
              </a:rPr>
              <a:t>SHERYL S.</a:t>
            </a:r>
          </a:p>
        </p:txBody>
      </p:sp>
      <p:sp>
        <p:nvSpPr>
          <p:cNvPr id="18" name="TextBox 17"/>
          <p:cNvSpPr txBox="1"/>
          <p:nvPr/>
        </p:nvSpPr>
        <p:spPr>
          <a:xfrm>
            <a:off x="953370" y="4863399"/>
            <a:ext cx="1266983" cy="490061"/>
          </a:xfrm>
          <a:prstGeom prst="rect">
            <a:avLst/>
          </a:prstGeom>
          <a:noFill/>
        </p:spPr>
        <p:txBody>
          <a:bodyPr wrap="none" lIns="0" tIns="0" rIns="0" bIns="0">
            <a:spAutoFit/>
          </a:bodyPr>
          <a:lstStyle/>
          <a:p>
            <a:r>
              <a:rPr sz="3750" b="0" i="0">
                <a:solidFill>
                  <a:srgbClr val="FFFFFF"/>
                </a:solidFill>
                <a:latin typeface="Type3 (66 0 R)"/>
              </a:rPr>
              <a:t>Sales</a:t>
            </a:r>
          </a:p>
        </p:txBody>
      </p:sp>
      <p:sp>
        <p:nvSpPr>
          <p:cNvPr id="19" name="TextBox 18"/>
          <p:cNvSpPr txBox="1"/>
          <p:nvPr/>
        </p:nvSpPr>
        <p:spPr>
          <a:xfrm>
            <a:off x="7042822" y="8949373"/>
            <a:ext cx="1721040" cy="230547"/>
          </a:xfrm>
          <a:prstGeom prst="rect">
            <a:avLst/>
          </a:prstGeom>
          <a:noFill/>
        </p:spPr>
        <p:txBody>
          <a:bodyPr wrap="none" lIns="0" tIns="0" rIns="0" bIns="0">
            <a:spAutoFit/>
          </a:bodyPr>
          <a:lstStyle/>
          <a:p>
            <a:r>
              <a:rPr sz="1500" b="0" i="0">
                <a:solidFill>
                  <a:srgbClr val="00D9C6"/>
                </a:solidFill>
                <a:latin typeface="Inter"/>
              </a:rPr>
              <a:t>PROCUREMENT </a:t>
            </a:r>
          </a:p>
        </p:txBody>
      </p:sp>
      <p:sp>
        <p:nvSpPr>
          <p:cNvPr id="20" name="TextBox 19"/>
          <p:cNvSpPr txBox="1"/>
          <p:nvPr/>
        </p:nvSpPr>
        <p:spPr>
          <a:xfrm>
            <a:off x="7357147" y="9187498"/>
            <a:ext cx="1101915" cy="230547"/>
          </a:xfrm>
          <a:prstGeom prst="rect">
            <a:avLst/>
          </a:prstGeom>
          <a:noFill/>
        </p:spPr>
        <p:txBody>
          <a:bodyPr wrap="none" lIns="0" tIns="0" rIns="0" bIns="0">
            <a:spAutoFit/>
          </a:bodyPr>
          <a:lstStyle/>
          <a:p>
            <a:r>
              <a:rPr sz="1500" b="0" i="0">
                <a:solidFill>
                  <a:srgbClr val="00D9C6"/>
                </a:solidFill>
                <a:latin typeface="Inter"/>
              </a:rPr>
              <a:t>MANAGER</a:t>
            </a:r>
          </a:p>
        </p:txBody>
      </p:sp>
      <p:sp>
        <p:nvSpPr>
          <p:cNvPr id="21" name="TextBox 20"/>
          <p:cNvSpPr txBox="1"/>
          <p:nvPr/>
        </p:nvSpPr>
        <p:spPr>
          <a:xfrm>
            <a:off x="10550068" y="8949373"/>
            <a:ext cx="520127" cy="230547"/>
          </a:xfrm>
          <a:prstGeom prst="rect">
            <a:avLst/>
          </a:prstGeom>
          <a:noFill/>
        </p:spPr>
        <p:txBody>
          <a:bodyPr wrap="none" lIns="0" tIns="0" rIns="0" bIns="0">
            <a:spAutoFit/>
          </a:bodyPr>
          <a:lstStyle/>
          <a:p>
            <a:r>
              <a:rPr sz="1500" b="0" i="0">
                <a:solidFill>
                  <a:srgbClr val="00D9C6"/>
                </a:solidFill>
                <a:latin typeface="Inter"/>
              </a:rPr>
              <a:t>CFO</a:t>
            </a:r>
          </a:p>
        </p:txBody>
      </p:sp>
      <p:sp>
        <p:nvSpPr>
          <p:cNvPr id="22" name="TextBox 21"/>
          <p:cNvSpPr txBox="1"/>
          <p:nvPr/>
        </p:nvSpPr>
        <p:spPr>
          <a:xfrm>
            <a:off x="12775825" y="8949373"/>
            <a:ext cx="1788094" cy="230547"/>
          </a:xfrm>
          <a:prstGeom prst="rect">
            <a:avLst/>
          </a:prstGeom>
          <a:noFill/>
        </p:spPr>
        <p:txBody>
          <a:bodyPr wrap="none" lIns="0" tIns="0" rIns="0" bIns="0">
            <a:spAutoFit/>
          </a:bodyPr>
          <a:lstStyle/>
          <a:p>
            <a:r>
              <a:rPr sz="1500" b="0" i="0">
                <a:solidFill>
                  <a:srgbClr val="00D9C6"/>
                </a:solidFill>
                <a:latin typeface="Inter"/>
              </a:rPr>
              <a:t>LEGAL COUNSEL</a:t>
            </a:r>
          </a:p>
        </p:txBody>
      </p:sp>
      <p:sp>
        <p:nvSpPr>
          <p:cNvPr id="23" name="TextBox 22"/>
          <p:cNvSpPr txBox="1"/>
          <p:nvPr/>
        </p:nvSpPr>
        <p:spPr>
          <a:xfrm>
            <a:off x="7360049" y="8661768"/>
            <a:ext cx="1096581" cy="230547"/>
          </a:xfrm>
          <a:prstGeom prst="rect">
            <a:avLst/>
          </a:prstGeom>
          <a:noFill/>
        </p:spPr>
        <p:txBody>
          <a:bodyPr wrap="none" lIns="0" tIns="0" rIns="0" bIns="0">
            <a:spAutoFit/>
          </a:bodyPr>
          <a:lstStyle/>
          <a:p>
            <a:r>
              <a:rPr sz="1500" b="0" i="0">
                <a:solidFill>
                  <a:srgbClr val="00D9C6"/>
                </a:solidFill>
                <a:latin typeface="Inter"/>
              </a:rPr>
              <a:t>CARL A C.</a:t>
            </a:r>
          </a:p>
        </p:txBody>
      </p:sp>
      <p:sp>
        <p:nvSpPr>
          <p:cNvPr id="24" name="TextBox 23"/>
          <p:cNvSpPr txBox="1"/>
          <p:nvPr/>
        </p:nvSpPr>
        <p:spPr>
          <a:xfrm>
            <a:off x="10020463" y="8661768"/>
            <a:ext cx="1574735" cy="230547"/>
          </a:xfrm>
          <a:prstGeom prst="rect">
            <a:avLst/>
          </a:prstGeom>
          <a:noFill/>
        </p:spPr>
        <p:txBody>
          <a:bodyPr wrap="none" lIns="0" tIns="0" rIns="0" bIns="0">
            <a:spAutoFit/>
          </a:bodyPr>
          <a:lstStyle/>
          <a:p>
            <a:r>
              <a:rPr sz="1500" b="0" i="0">
                <a:solidFill>
                  <a:srgbClr val="00D9C6"/>
                </a:solidFill>
                <a:latin typeface="Inter"/>
              </a:rPr>
              <a:t>CHADWICK C.</a:t>
            </a:r>
          </a:p>
        </p:txBody>
      </p:sp>
      <p:sp>
        <p:nvSpPr>
          <p:cNvPr id="25" name="TextBox 24"/>
          <p:cNvSpPr txBox="1"/>
          <p:nvPr/>
        </p:nvSpPr>
        <p:spPr>
          <a:xfrm>
            <a:off x="12995867" y="8661768"/>
            <a:ext cx="1351851" cy="230547"/>
          </a:xfrm>
          <a:prstGeom prst="rect">
            <a:avLst/>
          </a:prstGeom>
          <a:noFill/>
        </p:spPr>
        <p:txBody>
          <a:bodyPr wrap="none" lIns="0" tIns="0" rIns="0" bIns="0">
            <a:spAutoFit/>
          </a:bodyPr>
          <a:lstStyle/>
          <a:p>
            <a:r>
              <a:rPr sz="1500" b="0" i="0">
                <a:solidFill>
                  <a:srgbClr val="00D9C6"/>
                </a:solidFill>
                <a:latin typeface="Inter"/>
              </a:rPr>
              <a:t>CORINNE C.</a:t>
            </a:r>
          </a:p>
        </p:txBody>
      </p:sp>
      <p:sp>
        <p:nvSpPr>
          <p:cNvPr id="26" name="TextBox 25"/>
          <p:cNvSpPr txBox="1"/>
          <p:nvPr/>
        </p:nvSpPr>
        <p:spPr>
          <a:xfrm>
            <a:off x="15690713" y="8952934"/>
            <a:ext cx="1105724" cy="230547"/>
          </a:xfrm>
          <a:prstGeom prst="rect">
            <a:avLst/>
          </a:prstGeom>
          <a:noFill/>
        </p:spPr>
        <p:txBody>
          <a:bodyPr wrap="none" lIns="0" tIns="0" rIns="0" bIns="0">
            <a:spAutoFit/>
          </a:bodyPr>
          <a:lstStyle/>
          <a:p>
            <a:r>
              <a:rPr sz="1500" b="0" i="0">
                <a:solidFill>
                  <a:srgbClr val="00D9C6"/>
                </a:solidFill>
                <a:latin typeface="Inter"/>
              </a:rPr>
              <a:t>INVESTOR</a:t>
            </a:r>
          </a:p>
        </p:txBody>
      </p:sp>
      <p:sp>
        <p:nvSpPr>
          <p:cNvPr id="27" name="TextBox 26"/>
          <p:cNvSpPr txBox="1"/>
          <p:nvPr/>
        </p:nvSpPr>
        <p:spPr>
          <a:xfrm>
            <a:off x="15690787" y="8665331"/>
            <a:ext cx="1106106" cy="230547"/>
          </a:xfrm>
          <a:prstGeom prst="rect">
            <a:avLst/>
          </a:prstGeom>
          <a:noFill/>
        </p:spPr>
        <p:txBody>
          <a:bodyPr wrap="none" lIns="0" tIns="0" rIns="0" bIns="0">
            <a:spAutoFit/>
          </a:bodyPr>
          <a:lstStyle/>
          <a:p>
            <a:r>
              <a:rPr sz="1500" b="0" i="0">
                <a:solidFill>
                  <a:srgbClr val="00D9C6"/>
                </a:solidFill>
                <a:latin typeface="Inter"/>
              </a:rPr>
              <a:t>CHIMA C.</a:t>
            </a:r>
          </a:p>
        </p:txBody>
      </p:sp>
      <p:sp>
        <p:nvSpPr>
          <p:cNvPr id="28" name="TextBox 27"/>
          <p:cNvSpPr txBox="1"/>
          <p:nvPr/>
        </p:nvSpPr>
        <p:spPr>
          <a:xfrm>
            <a:off x="953350" y="7435091"/>
            <a:ext cx="2219007" cy="490061"/>
          </a:xfrm>
          <a:prstGeom prst="rect">
            <a:avLst/>
          </a:prstGeom>
          <a:noFill/>
        </p:spPr>
        <p:txBody>
          <a:bodyPr wrap="none" lIns="0" tIns="0" rIns="0" bIns="0">
            <a:spAutoFit/>
          </a:bodyPr>
          <a:lstStyle/>
          <a:p>
            <a:r>
              <a:rPr sz="3750" b="0" i="0">
                <a:solidFill>
                  <a:srgbClr val="FFFFFF"/>
                </a:solidFill>
                <a:latin typeface="Type3 (66 0 R)"/>
              </a:rPr>
              <a:t>C</a:t>
            </a:r>
            <a:r>
              <a:rPr sz="3750" b="0" i="0">
                <a:solidFill>
                  <a:srgbClr val="FFFFFF"/>
                </a:solidFill>
                <a:latin typeface="Type3 (46 0 R)"/>
              </a:rPr>
              <a:t>u</a:t>
            </a:r>
            <a:r>
              <a:rPr sz="3750" b="0" i="0">
                <a:solidFill>
                  <a:srgbClr val="FFFFFF"/>
                </a:solidFill>
                <a:latin typeface="Type3 (66 0 R)"/>
              </a:rPr>
              <a:t>stomer</a:t>
            </a:r>
          </a:p>
        </p:txBody>
      </p:sp>
      <p:sp>
        <p:nvSpPr>
          <p:cNvPr id="29" name="TextBox 28"/>
          <p:cNvSpPr txBox="1"/>
          <p:nvPr/>
        </p:nvSpPr>
        <p:spPr>
          <a:xfrm>
            <a:off x="952500" y="948928"/>
            <a:ext cx="1770951" cy="230548"/>
          </a:xfrm>
          <a:prstGeom prst="rect">
            <a:avLst/>
          </a:prstGeom>
          <a:noFill/>
        </p:spPr>
        <p:txBody>
          <a:bodyPr wrap="none" lIns="0" tIns="0" rIns="0" bIns="0">
            <a:spAutoFit/>
          </a:bodyPr>
          <a:lstStyle/>
          <a:p>
            <a:r>
              <a:rPr sz="1500" b="0" i="0">
                <a:solidFill>
                  <a:srgbClr val="000000"/>
                </a:solidFill>
                <a:latin typeface="Inter"/>
              </a:rPr>
              <a:t>STAKEHOLDERS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9.png"/>
          <p:cNvPicPr>
            <a:picLocks noChangeAspect="1"/>
          </p:cNvPicPr>
          <p:nvPr/>
        </p:nvPicPr>
        <p:blipFill>
          <a:blip r:embed="rId2"/>
          <a:stretch>
            <a:fillRect/>
          </a:stretch>
        </p:blipFill>
        <p:spPr>
          <a:xfrm>
            <a:off x="0" y="0"/>
            <a:ext cx="18288000" cy="10287000"/>
          </a:xfrm>
          <a:prstGeom prst="rect">
            <a:avLst/>
          </a:prstGeom>
        </p:spPr>
      </p:pic>
      <p:sp>
        <p:nvSpPr>
          <p:cNvPr id="3" name="TextBox 2"/>
          <p:cNvSpPr txBox="1"/>
          <p:nvPr/>
        </p:nvSpPr>
        <p:spPr>
          <a:xfrm>
            <a:off x="1090917" y="4026991"/>
            <a:ext cx="1434623" cy="288185"/>
          </a:xfrm>
          <a:prstGeom prst="rect">
            <a:avLst/>
          </a:prstGeom>
          <a:noFill/>
        </p:spPr>
        <p:txBody>
          <a:bodyPr wrap="none" lIns="0" tIns="0" rIns="0" bIns="0">
            <a:spAutoFit/>
          </a:bodyPr>
          <a:lstStyle/>
          <a:p>
            <a:r>
              <a:rPr sz="1900" b="1" i="0">
                <a:solidFill>
                  <a:srgbClr val="0B211F"/>
                </a:solidFill>
                <a:latin typeface="Inter"/>
              </a:rPr>
              <a:t>Deliverable</a:t>
            </a:r>
          </a:p>
        </p:txBody>
      </p:sp>
      <p:sp>
        <p:nvSpPr>
          <p:cNvPr id="4" name="TextBox 3"/>
          <p:cNvSpPr txBox="1"/>
          <p:nvPr/>
        </p:nvSpPr>
        <p:spPr>
          <a:xfrm>
            <a:off x="6545914" y="4026991"/>
            <a:ext cx="1349850" cy="288185"/>
          </a:xfrm>
          <a:prstGeom prst="rect">
            <a:avLst/>
          </a:prstGeom>
          <a:noFill/>
        </p:spPr>
        <p:txBody>
          <a:bodyPr wrap="none" lIns="0" tIns="0" rIns="0" bIns="0">
            <a:spAutoFit/>
          </a:bodyPr>
          <a:lstStyle/>
          <a:p>
            <a:r>
              <a:rPr sz="1900" b="1" i="0">
                <a:solidFill>
                  <a:srgbClr val="0B211F"/>
                </a:solidFill>
                <a:latin typeface="Inter"/>
              </a:rPr>
              <a:t>Resources</a:t>
            </a:r>
          </a:p>
        </p:txBody>
      </p:sp>
      <p:sp>
        <p:nvSpPr>
          <p:cNvPr id="5" name="TextBox 4"/>
          <p:cNvSpPr txBox="1"/>
          <p:nvPr/>
        </p:nvSpPr>
        <p:spPr>
          <a:xfrm>
            <a:off x="12000911" y="4026991"/>
            <a:ext cx="2550001" cy="288185"/>
          </a:xfrm>
          <a:prstGeom prst="rect">
            <a:avLst/>
          </a:prstGeom>
          <a:noFill/>
        </p:spPr>
        <p:txBody>
          <a:bodyPr wrap="none" lIns="0" tIns="0" rIns="0" bIns="0">
            <a:spAutoFit/>
          </a:bodyPr>
          <a:lstStyle/>
          <a:p>
            <a:r>
              <a:rPr sz="1900" b="1" i="0">
                <a:solidFill>
                  <a:srgbClr val="0B211F"/>
                </a:solidFill>
                <a:latin typeface="Inter"/>
              </a:rPr>
              <a:t>Evaluation measures</a:t>
            </a:r>
          </a:p>
        </p:txBody>
      </p:sp>
      <p:sp>
        <p:nvSpPr>
          <p:cNvPr id="6" name="TextBox 5"/>
          <p:cNvSpPr txBox="1"/>
          <p:nvPr/>
        </p:nvSpPr>
        <p:spPr>
          <a:xfrm>
            <a:off x="1090917" y="4760416"/>
            <a:ext cx="1662985" cy="288185"/>
          </a:xfrm>
          <a:prstGeom prst="rect">
            <a:avLst/>
          </a:prstGeom>
          <a:noFill/>
        </p:spPr>
        <p:txBody>
          <a:bodyPr wrap="none" lIns="0" tIns="0" rIns="0" bIns="0">
            <a:spAutoFit/>
          </a:bodyPr>
          <a:lstStyle/>
          <a:p>
            <a:r>
              <a:rPr sz="1900" b="0" i="0">
                <a:solidFill>
                  <a:srgbClr val="FFFFFF"/>
                </a:solidFill>
                <a:latin typeface="Inter"/>
              </a:rPr>
              <a:t>Product demo</a:t>
            </a:r>
          </a:p>
        </p:txBody>
      </p:sp>
      <p:sp>
        <p:nvSpPr>
          <p:cNvPr id="7" name="TextBox 6"/>
          <p:cNvSpPr txBox="1"/>
          <p:nvPr/>
        </p:nvSpPr>
        <p:spPr>
          <a:xfrm>
            <a:off x="6545914" y="4760416"/>
            <a:ext cx="3521789" cy="288185"/>
          </a:xfrm>
          <a:prstGeom prst="rect">
            <a:avLst/>
          </a:prstGeom>
          <a:noFill/>
        </p:spPr>
        <p:txBody>
          <a:bodyPr wrap="none" lIns="0" tIns="0" rIns="0" bIns="0">
            <a:spAutoFit/>
          </a:bodyPr>
          <a:lstStyle/>
          <a:p>
            <a:r>
              <a:rPr sz="1900" b="0" i="0">
                <a:solidFill>
                  <a:srgbClr val="FFFFFF"/>
                </a:solidFill>
                <a:latin typeface="Inter"/>
              </a:rPr>
              <a:t>Meetings/stakeholder trainings</a:t>
            </a:r>
          </a:p>
        </p:txBody>
      </p:sp>
      <p:sp>
        <p:nvSpPr>
          <p:cNvPr id="8" name="TextBox 7"/>
          <p:cNvSpPr txBox="1"/>
          <p:nvPr/>
        </p:nvSpPr>
        <p:spPr>
          <a:xfrm>
            <a:off x="12000911" y="4760416"/>
            <a:ext cx="4063286" cy="288185"/>
          </a:xfrm>
          <a:prstGeom prst="rect">
            <a:avLst/>
          </a:prstGeom>
          <a:noFill/>
        </p:spPr>
        <p:txBody>
          <a:bodyPr wrap="none" lIns="0" tIns="0" rIns="0" bIns="0">
            <a:spAutoFit/>
          </a:bodyPr>
          <a:lstStyle/>
          <a:p>
            <a:r>
              <a:rPr sz="1900" b="0" i="0">
                <a:solidFill>
                  <a:srgbClr val="FFFFFF"/>
                </a:solidFill>
                <a:latin typeface="Inter"/>
              </a:rPr>
              <a:t>% of key stakeholders viewed demo</a:t>
            </a:r>
          </a:p>
        </p:txBody>
      </p:sp>
      <p:sp>
        <p:nvSpPr>
          <p:cNvPr id="9" name="TextBox 8"/>
          <p:cNvSpPr txBox="1"/>
          <p:nvPr/>
        </p:nvSpPr>
        <p:spPr>
          <a:xfrm>
            <a:off x="1090917" y="5550991"/>
            <a:ext cx="4236164" cy="288185"/>
          </a:xfrm>
          <a:prstGeom prst="rect">
            <a:avLst/>
          </a:prstGeom>
          <a:noFill/>
        </p:spPr>
        <p:txBody>
          <a:bodyPr wrap="none" lIns="0" tIns="0" rIns="0" bIns="0">
            <a:spAutoFit/>
          </a:bodyPr>
          <a:lstStyle/>
          <a:p>
            <a:r>
              <a:rPr sz="1900" b="0" i="0">
                <a:solidFill>
                  <a:srgbClr val="FFFFFF"/>
                </a:solidFill>
                <a:latin typeface="Inter"/>
              </a:rPr>
              <a:t>Security review and technical checks</a:t>
            </a:r>
          </a:p>
        </p:txBody>
      </p:sp>
      <p:sp>
        <p:nvSpPr>
          <p:cNvPr id="10" name="TextBox 9"/>
          <p:cNvSpPr txBox="1"/>
          <p:nvPr/>
        </p:nvSpPr>
        <p:spPr>
          <a:xfrm>
            <a:off x="6545914" y="5550991"/>
            <a:ext cx="1145063" cy="288185"/>
          </a:xfrm>
          <a:prstGeom prst="rect">
            <a:avLst/>
          </a:prstGeom>
          <a:noFill/>
        </p:spPr>
        <p:txBody>
          <a:bodyPr wrap="none" lIns="0" tIns="0" rIns="0" bIns="0">
            <a:spAutoFit/>
          </a:bodyPr>
          <a:lstStyle/>
          <a:p>
            <a:r>
              <a:rPr sz="1900" b="0" i="0">
                <a:solidFill>
                  <a:srgbClr val="FFFFFF"/>
                </a:solidFill>
                <a:latin typeface="Inter"/>
              </a:rPr>
              <a:t>Resource</a:t>
            </a:r>
          </a:p>
        </p:txBody>
      </p:sp>
      <p:sp>
        <p:nvSpPr>
          <p:cNvPr id="11" name="TextBox 10"/>
          <p:cNvSpPr txBox="1"/>
          <p:nvPr/>
        </p:nvSpPr>
        <p:spPr>
          <a:xfrm>
            <a:off x="12000911" y="5550991"/>
            <a:ext cx="2288064" cy="288185"/>
          </a:xfrm>
          <a:prstGeom prst="rect">
            <a:avLst/>
          </a:prstGeom>
          <a:noFill/>
        </p:spPr>
        <p:txBody>
          <a:bodyPr wrap="none" lIns="0" tIns="0" rIns="0" bIns="0">
            <a:spAutoFit/>
          </a:bodyPr>
          <a:lstStyle/>
          <a:p>
            <a:r>
              <a:rPr sz="1900" b="0" i="0">
                <a:solidFill>
                  <a:srgbClr val="FFFFFF"/>
                </a:solidFill>
                <a:latin typeface="Inter"/>
              </a:rPr>
              <a:t>Evaluation measure</a:t>
            </a:r>
          </a:p>
        </p:txBody>
      </p:sp>
      <p:sp>
        <p:nvSpPr>
          <p:cNvPr id="12" name="TextBox 11"/>
          <p:cNvSpPr txBox="1"/>
          <p:nvPr/>
        </p:nvSpPr>
        <p:spPr>
          <a:xfrm>
            <a:off x="1090917" y="6370141"/>
            <a:ext cx="1644888" cy="288185"/>
          </a:xfrm>
          <a:prstGeom prst="rect">
            <a:avLst/>
          </a:prstGeom>
          <a:noFill/>
        </p:spPr>
        <p:txBody>
          <a:bodyPr wrap="none" lIns="0" tIns="0" rIns="0" bIns="0">
            <a:spAutoFit/>
          </a:bodyPr>
          <a:lstStyle/>
          <a:p>
            <a:r>
              <a:rPr sz="1900" b="0" i="0">
                <a:solidFill>
                  <a:srgbClr val="FFFFFF"/>
                </a:solidFill>
                <a:latin typeface="Inter"/>
              </a:rPr>
              <a:t>Legal sign-off</a:t>
            </a:r>
          </a:p>
        </p:txBody>
      </p:sp>
      <p:sp>
        <p:nvSpPr>
          <p:cNvPr id="13" name="TextBox 12"/>
          <p:cNvSpPr txBox="1"/>
          <p:nvPr/>
        </p:nvSpPr>
        <p:spPr>
          <a:xfrm>
            <a:off x="6545914" y="6370141"/>
            <a:ext cx="1145063" cy="288185"/>
          </a:xfrm>
          <a:prstGeom prst="rect">
            <a:avLst/>
          </a:prstGeom>
          <a:noFill/>
        </p:spPr>
        <p:txBody>
          <a:bodyPr wrap="none" lIns="0" tIns="0" rIns="0" bIns="0">
            <a:spAutoFit/>
          </a:bodyPr>
          <a:lstStyle/>
          <a:p>
            <a:r>
              <a:rPr sz="1900" b="0" i="0">
                <a:solidFill>
                  <a:srgbClr val="FFFFFF"/>
                </a:solidFill>
                <a:latin typeface="Inter"/>
              </a:rPr>
              <a:t>Resource</a:t>
            </a:r>
          </a:p>
        </p:txBody>
      </p:sp>
      <p:sp>
        <p:nvSpPr>
          <p:cNvPr id="14" name="TextBox 13"/>
          <p:cNvSpPr txBox="1"/>
          <p:nvPr/>
        </p:nvSpPr>
        <p:spPr>
          <a:xfrm>
            <a:off x="12000911" y="6370141"/>
            <a:ext cx="2288064" cy="288185"/>
          </a:xfrm>
          <a:prstGeom prst="rect">
            <a:avLst/>
          </a:prstGeom>
          <a:noFill/>
        </p:spPr>
        <p:txBody>
          <a:bodyPr wrap="none" lIns="0" tIns="0" rIns="0" bIns="0">
            <a:spAutoFit/>
          </a:bodyPr>
          <a:lstStyle/>
          <a:p>
            <a:r>
              <a:rPr sz="1900" b="0" i="0">
                <a:solidFill>
                  <a:srgbClr val="FFFFFF"/>
                </a:solidFill>
                <a:latin typeface="Inter"/>
              </a:rPr>
              <a:t>Evaluation measure</a:t>
            </a:r>
          </a:p>
        </p:txBody>
      </p:sp>
      <p:sp>
        <p:nvSpPr>
          <p:cNvPr id="15" name="TextBox 14"/>
          <p:cNvSpPr txBox="1"/>
          <p:nvPr/>
        </p:nvSpPr>
        <p:spPr>
          <a:xfrm>
            <a:off x="1090917" y="7170241"/>
            <a:ext cx="2121138" cy="288185"/>
          </a:xfrm>
          <a:prstGeom prst="rect">
            <a:avLst/>
          </a:prstGeom>
          <a:noFill/>
        </p:spPr>
        <p:txBody>
          <a:bodyPr wrap="none" lIns="0" tIns="0" rIns="0" bIns="0">
            <a:spAutoFit/>
          </a:bodyPr>
          <a:lstStyle/>
          <a:p>
            <a:r>
              <a:rPr sz="1900" b="0" i="0">
                <a:solidFill>
                  <a:srgbClr val="FFFFFF"/>
                </a:solidFill>
                <a:latin typeface="Inter"/>
              </a:rPr>
              <a:t>Executive sign-off</a:t>
            </a:r>
          </a:p>
        </p:txBody>
      </p:sp>
      <p:sp>
        <p:nvSpPr>
          <p:cNvPr id="16" name="TextBox 15"/>
          <p:cNvSpPr txBox="1"/>
          <p:nvPr/>
        </p:nvSpPr>
        <p:spPr>
          <a:xfrm>
            <a:off x="6545914" y="7170241"/>
            <a:ext cx="1145063" cy="288185"/>
          </a:xfrm>
          <a:prstGeom prst="rect">
            <a:avLst/>
          </a:prstGeom>
          <a:noFill/>
        </p:spPr>
        <p:txBody>
          <a:bodyPr wrap="none" lIns="0" tIns="0" rIns="0" bIns="0">
            <a:spAutoFit/>
          </a:bodyPr>
          <a:lstStyle/>
          <a:p>
            <a:r>
              <a:rPr sz="1900" b="0" i="0">
                <a:solidFill>
                  <a:srgbClr val="FFFFFF"/>
                </a:solidFill>
                <a:latin typeface="Inter"/>
              </a:rPr>
              <a:t>Resource</a:t>
            </a:r>
          </a:p>
        </p:txBody>
      </p:sp>
      <p:sp>
        <p:nvSpPr>
          <p:cNvPr id="17" name="TextBox 16"/>
          <p:cNvSpPr txBox="1"/>
          <p:nvPr/>
        </p:nvSpPr>
        <p:spPr>
          <a:xfrm>
            <a:off x="12000911" y="7170241"/>
            <a:ext cx="2288064" cy="288185"/>
          </a:xfrm>
          <a:prstGeom prst="rect">
            <a:avLst/>
          </a:prstGeom>
          <a:noFill/>
        </p:spPr>
        <p:txBody>
          <a:bodyPr wrap="none" lIns="0" tIns="0" rIns="0" bIns="0">
            <a:spAutoFit/>
          </a:bodyPr>
          <a:lstStyle/>
          <a:p>
            <a:r>
              <a:rPr sz="1900" b="0" i="0">
                <a:solidFill>
                  <a:srgbClr val="FFFFFF"/>
                </a:solidFill>
                <a:latin typeface="Inter"/>
              </a:rPr>
              <a:t>Evaluation measure</a:t>
            </a:r>
          </a:p>
        </p:txBody>
      </p:sp>
      <p:sp>
        <p:nvSpPr>
          <p:cNvPr id="18" name="TextBox 17"/>
          <p:cNvSpPr txBox="1"/>
          <p:nvPr/>
        </p:nvSpPr>
        <p:spPr>
          <a:xfrm>
            <a:off x="1090917" y="7970341"/>
            <a:ext cx="3547506" cy="288185"/>
          </a:xfrm>
          <a:prstGeom prst="rect">
            <a:avLst/>
          </a:prstGeom>
          <a:noFill/>
        </p:spPr>
        <p:txBody>
          <a:bodyPr wrap="none" lIns="0" tIns="0" rIns="0" bIns="0">
            <a:spAutoFit/>
          </a:bodyPr>
          <a:lstStyle/>
          <a:p>
            <a:r>
              <a:rPr sz="1900" b="0" i="0">
                <a:solidFill>
                  <a:srgbClr val="FFFFFF"/>
                </a:solidFill>
                <a:latin typeface="Inter"/>
              </a:rPr>
              <a:t>Company-wide product launch</a:t>
            </a:r>
          </a:p>
        </p:txBody>
      </p:sp>
      <p:sp>
        <p:nvSpPr>
          <p:cNvPr id="19" name="TextBox 18"/>
          <p:cNvSpPr txBox="1"/>
          <p:nvPr/>
        </p:nvSpPr>
        <p:spPr>
          <a:xfrm>
            <a:off x="6545914" y="7970341"/>
            <a:ext cx="1145063" cy="288185"/>
          </a:xfrm>
          <a:prstGeom prst="rect">
            <a:avLst/>
          </a:prstGeom>
          <a:noFill/>
        </p:spPr>
        <p:txBody>
          <a:bodyPr wrap="none" lIns="0" tIns="0" rIns="0" bIns="0">
            <a:spAutoFit/>
          </a:bodyPr>
          <a:lstStyle/>
          <a:p>
            <a:r>
              <a:rPr sz="1900" b="0" i="0">
                <a:solidFill>
                  <a:srgbClr val="FFFFFF"/>
                </a:solidFill>
                <a:latin typeface="Inter"/>
              </a:rPr>
              <a:t>Resource</a:t>
            </a:r>
          </a:p>
        </p:txBody>
      </p:sp>
      <p:sp>
        <p:nvSpPr>
          <p:cNvPr id="20" name="TextBox 19"/>
          <p:cNvSpPr txBox="1"/>
          <p:nvPr/>
        </p:nvSpPr>
        <p:spPr>
          <a:xfrm>
            <a:off x="12000911" y="7970341"/>
            <a:ext cx="2288064" cy="288185"/>
          </a:xfrm>
          <a:prstGeom prst="rect">
            <a:avLst/>
          </a:prstGeom>
          <a:noFill/>
        </p:spPr>
        <p:txBody>
          <a:bodyPr wrap="none" lIns="0" tIns="0" rIns="0" bIns="0">
            <a:spAutoFit/>
          </a:bodyPr>
          <a:lstStyle/>
          <a:p>
            <a:r>
              <a:rPr sz="1900" b="0" i="0">
                <a:solidFill>
                  <a:srgbClr val="FFFFFF"/>
                </a:solidFill>
                <a:latin typeface="Inter"/>
              </a:rPr>
              <a:t>Evaluation measure</a:t>
            </a:r>
          </a:p>
        </p:txBody>
      </p:sp>
      <p:sp>
        <p:nvSpPr>
          <p:cNvPr id="21" name="TextBox 20"/>
          <p:cNvSpPr txBox="1"/>
          <p:nvPr/>
        </p:nvSpPr>
        <p:spPr>
          <a:xfrm>
            <a:off x="1090917" y="8779966"/>
            <a:ext cx="3945889" cy="288185"/>
          </a:xfrm>
          <a:prstGeom prst="rect">
            <a:avLst/>
          </a:prstGeom>
          <a:noFill/>
        </p:spPr>
        <p:txBody>
          <a:bodyPr wrap="none" lIns="0" tIns="0" rIns="0" bIns="0">
            <a:spAutoFit/>
          </a:bodyPr>
          <a:lstStyle/>
          <a:p>
            <a:r>
              <a:rPr sz="1900" b="0" i="0">
                <a:solidFill>
                  <a:srgbClr val="FFFFFF"/>
                </a:solidFill>
                <a:latin typeface="Inter"/>
              </a:rPr>
              <a:t>Tracking to measure customer ROI</a:t>
            </a:r>
          </a:p>
        </p:txBody>
      </p:sp>
      <p:sp>
        <p:nvSpPr>
          <p:cNvPr id="22" name="TextBox 21"/>
          <p:cNvSpPr txBox="1"/>
          <p:nvPr/>
        </p:nvSpPr>
        <p:spPr>
          <a:xfrm>
            <a:off x="6545914" y="8779966"/>
            <a:ext cx="1145063" cy="288185"/>
          </a:xfrm>
          <a:prstGeom prst="rect">
            <a:avLst/>
          </a:prstGeom>
          <a:noFill/>
        </p:spPr>
        <p:txBody>
          <a:bodyPr wrap="none" lIns="0" tIns="0" rIns="0" bIns="0">
            <a:spAutoFit/>
          </a:bodyPr>
          <a:lstStyle/>
          <a:p>
            <a:r>
              <a:rPr sz="1900" b="0" i="0">
                <a:solidFill>
                  <a:srgbClr val="FFFFFF"/>
                </a:solidFill>
                <a:latin typeface="Inter"/>
              </a:rPr>
              <a:t>Resource</a:t>
            </a:r>
          </a:p>
        </p:txBody>
      </p:sp>
      <p:sp>
        <p:nvSpPr>
          <p:cNvPr id="23" name="TextBox 22"/>
          <p:cNvSpPr txBox="1"/>
          <p:nvPr/>
        </p:nvSpPr>
        <p:spPr>
          <a:xfrm>
            <a:off x="12000911" y="8779966"/>
            <a:ext cx="2288064" cy="288185"/>
          </a:xfrm>
          <a:prstGeom prst="rect">
            <a:avLst/>
          </a:prstGeom>
          <a:noFill/>
        </p:spPr>
        <p:txBody>
          <a:bodyPr wrap="none" lIns="0" tIns="0" rIns="0" bIns="0">
            <a:spAutoFit/>
          </a:bodyPr>
          <a:lstStyle/>
          <a:p>
            <a:r>
              <a:rPr sz="1900" b="0" i="0">
                <a:solidFill>
                  <a:srgbClr val="FFFFFF"/>
                </a:solidFill>
                <a:latin typeface="Inter"/>
              </a:rPr>
              <a:t>Evaluation measure</a:t>
            </a:r>
          </a:p>
        </p:txBody>
      </p:sp>
      <p:sp>
        <p:nvSpPr>
          <p:cNvPr id="24" name="TextBox 23"/>
          <p:cNvSpPr txBox="1"/>
          <p:nvPr/>
        </p:nvSpPr>
        <p:spPr>
          <a:xfrm>
            <a:off x="950975" y="1562100"/>
            <a:ext cx="15960649" cy="368877"/>
          </a:xfrm>
          <a:prstGeom prst="rect">
            <a:avLst/>
          </a:prstGeom>
          <a:noFill/>
        </p:spPr>
        <p:txBody>
          <a:bodyPr wrap="none" lIns="0" tIns="0" rIns="0" bIns="0">
            <a:spAutoFit/>
          </a:bodyPr>
          <a:lstStyle/>
          <a:p>
            <a:r>
              <a:rPr sz="2400" b="0" i="0">
                <a:solidFill>
                  <a:srgbClr val="FFFFFF"/>
                </a:solidFill>
                <a:latin typeface="Inter"/>
              </a:rPr>
              <a:t>This section is all about the deliverables that'll coax stakeholders through the sales process. Break the journey </a:t>
            </a:r>
          </a:p>
        </p:txBody>
      </p:sp>
      <p:sp>
        <p:nvSpPr>
          <p:cNvPr id="25" name="TextBox 24"/>
          <p:cNvSpPr txBox="1"/>
          <p:nvPr/>
        </p:nvSpPr>
        <p:spPr>
          <a:xfrm>
            <a:off x="950975" y="1924050"/>
            <a:ext cx="16074949" cy="368877"/>
          </a:xfrm>
          <a:prstGeom prst="rect">
            <a:avLst/>
          </a:prstGeom>
          <a:noFill/>
        </p:spPr>
        <p:txBody>
          <a:bodyPr wrap="none" lIns="0" tIns="0" rIns="0" bIns="0">
            <a:spAutoFit/>
          </a:bodyPr>
          <a:lstStyle/>
          <a:p>
            <a:r>
              <a:rPr sz="2400" b="0" i="0">
                <a:solidFill>
                  <a:srgbClr val="FFFFFF"/>
                </a:solidFill>
                <a:latin typeface="Inter"/>
              </a:rPr>
              <a:t>down into six to eight high-level steps. You don't want to overwhelm your customer (and you can always add in </a:t>
            </a:r>
          </a:p>
        </p:txBody>
      </p:sp>
      <p:sp>
        <p:nvSpPr>
          <p:cNvPr id="26" name="TextBox 25"/>
          <p:cNvSpPr txBox="1"/>
          <p:nvPr/>
        </p:nvSpPr>
        <p:spPr>
          <a:xfrm>
            <a:off x="950975" y="2295525"/>
            <a:ext cx="14566036" cy="368877"/>
          </a:xfrm>
          <a:prstGeom prst="rect">
            <a:avLst/>
          </a:prstGeom>
          <a:noFill/>
        </p:spPr>
        <p:txBody>
          <a:bodyPr wrap="none" lIns="0" tIns="0" rIns="0" bIns="0">
            <a:spAutoFit/>
          </a:bodyPr>
          <a:lstStyle/>
          <a:p>
            <a:r>
              <a:rPr sz="2400" b="0" i="0">
                <a:solidFill>
                  <a:srgbClr val="FFFFFF"/>
                </a:solidFill>
                <a:latin typeface="Inter"/>
              </a:rPr>
              <a:t>sub-steps later). Include the resources needed to complete the tasks and ways to evaluate progress.</a:t>
            </a:r>
          </a:p>
        </p:txBody>
      </p:sp>
      <p:sp>
        <p:nvSpPr>
          <p:cNvPr id="27" name="TextBox 26"/>
          <p:cNvSpPr txBox="1"/>
          <p:nvPr/>
        </p:nvSpPr>
        <p:spPr>
          <a:xfrm>
            <a:off x="952500" y="948928"/>
            <a:ext cx="1458530" cy="230548"/>
          </a:xfrm>
          <a:prstGeom prst="rect">
            <a:avLst/>
          </a:prstGeom>
          <a:noFill/>
        </p:spPr>
        <p:txBody>
          <a:bodyPr wrap="none" lIns="0" tIns="0" rIns="0" bIns="0">
            <a:spAutoFit/>
          </a:bodyPr>
          <a:lstStyle/>
          <a:p>
            <a:r>
              <a:rPr sz="1500" b="0" i="0">
                <a:solidFill>
                  <a:srgbClr val="00D9C6"/>
                </a:solidFill>
                <a:latin typeface="Inter"/>
              </a:rPr>
              <a:t>MILESTONES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10.png"/>
          <p:cNvPicPr>
            <a:picLocks noChangeAspect="1"/>
          </p:cNvPicPr>
          <p:nvPr/>
        </p:nvPicPr>
        <p:blipFill>
          <a:blip r:embed="rId2"/>
          <a:stretch>
            <a:fillRect/>
          </a:stretch>
        </p:blipFill>
        <p:spPr>
          <a:xfrm>
            <a:off x="0" y="0"/>
            <a:ext cx="18288000" cy="10287000"/>
          </a:xfrm>
          <a:prstGeom prst="rect">
            <a:avLst/>
          </a:prstGeom>
        </p:spPr>
      </p:pic>
      <p:sp>
        <p:nvSpPr>
          <p:cNvPr id="3" name="TextBox 2"/>
          <p:cNvSpPr txBox="1"/>
          <p:nvPr/>
        </p:nvSpPr>
        <p:spPr>
          <a:xfrm>
            <a:off x="8379586" y="4946885"/>
            <a:ext cx="1796287" cy="230548"/>
          </a:xfrm>
          <a:prstGeom prst="rect">
            <a:avLst/>
          </a:prstGeom>
          <a:noFill/>
        </p:spPr>
        <p:txBody>
          <a:bodyPr wrap="none" lIns="0" tIns="0" rIns="0" bIns="0">
            <a:spAutoFit/>
          </a:bodyPr>
          <a:lstStyle/>
          <a:p>
            <a:r>
              <a:rPr sz="1500" b="0" i="0">
                <a:solidFill>
                  <a:srgbClr val="00D9C6"/>
                </a:solidFill>
                <a:latin typeface="Inter"/>
              </a:rPr>
              <a:t>LEGAL SIGN-OFF</a:t>
            </a:r>
          </a:p>
        </p:txBody>
      </p:sp>
      <p:sp>
        <p:nvSpPr>
          <p:cNvPr id="4" name="TextBox 3"/>
          <p:cNvSpPr txBox="1"/>
          <p:nvPr/>
        </p:nvSpPr>
        <p:spPr>
          <a:xfrm>
            <a:off x="3688433" y="4946885"/>
            <a:ext cx="1764093" cy="230548"/>
          </a:xfrm>
          <a:prstGeom prst="rect">
            <a:avLst/>
          </a:prstGeom>
          <a:noFill/>
        </p:spPr>
        <p:txBody>
          <a:bodyPr wrap="none" lIns="0" tIns="0" rIns="0" bIns="0">
            <a:spAutoFit/>
          </a:bodyPr>
          <a:lstStyle/>
          <a:p>
            <a:r>
              <a:rPr sz="1500" b="0" i="0">
                <a:solidFill>
                  <a:srgbClr val="00D9C6"/>
                </a:solidFill>
                <a:latin typeface="Inter"/>
              </a:rPr>
              <a:t>PRODUCT DEMO</a:t>
            </a:r>
          </a:p>
        </p:txBody>
      </p:sp>
      <p:sp>
        <p:nvSpPr>
          <p:cNvPr id="5" name="TextBox 4"/>
          <p:cNvSpPr txBox="1"/>
          <p:nvPr/>
        </p:nvSpPr>
        <p:spPr>
          <a:xfrm>
            <a:off x="12987991" y="4946885"/>
            <a:ext cx="2025457" cy="230548"/>
          </a:xfrm>
          <a:prstGeom prst="rect">
            <a:avLst/>
          </a:prstGeom>
          <a:noFill/>
        </p:spPr>
        <p:txBody>
          <a:bodyPr wrap="none" lIns="0" tIns="0" rIns="0" bIns="0">
            <a:spAutoFit/>
          </a:bodyPr>
          <a:lstStyle/>
          <a:p>
            <a:r>
              <a:rPr sz="1500" b="0" i="0">
                <a:solidFill>
                  <a:srgbClr val="00D9C6"/>
                </a:solidFill>
                <a:latin typeface="Inter"/>
              </a:rPr>
              <a:t>PRODUCT LAUNCH</a:t>
            </a:r>
          </a:p>
        </p:txBody>
      </p:sp>
      <p:sp>
        <p:nvSpPr>
          <p:cNvPr id="6" name="TextBox 5"/>
          <p:cNvSpPr txBox="1"/>
          <p:nvPr/>
        </p:nvSpPr>
        <p:spPr>
          <a:xfrm>
            <a:off x="4178077" y="4536918"/>
            <a:ext cx="783971" cy="368877"/>
          </a:xfrm>
          <a:prstGeom prst="rect">
            <a:avLst/>
          </a:prstGeom>
          <a:noFill/>
        </p:spPr>
        <p:txBody>
          <a:bodyPr wrap="none" lIns="0" tIns="0" rIns="0" bIns="0">
            <a:spAutoFit/>
          </a:bodyPr>
          <a:lstStyle/>
          <a:p>
            <a:r>
              <a:rPr sz="2400" b="0" i="0">
                <a:solidFill>
                  <a:srgbClr val="FFFFFF"/>
                </a:solidFill>
                <a:latin typeface="Inter"/>
              </a:rPr>
              <a:t>MAR</a:t>
            </a:r>
          </a:p>
        </p:txBody>
      </p:sp>
      <p:sp>
        <p:nvSpPr>
          <p:cNvPr id="7" name="TextBox 6"/>
          <p:cNvSpPr txBox="1"/>
          <p:nvPr/>
        </p:nvSpPr>
        <p:spPr>
          <a:xfrm>
            <a:off x="8896913" y="4536918"/>
            <a:ext cx="777113" cy="368877"/>
          </a:xfrm>
          <a:prstGeom prst="rect">
            <a:avLst/>
          </a:prstGeom>
          <a:noFill/>
        </p:spPr>
        <p:txBody>
          <a:bodyPr wrap="none" lIns="0" tIns="0" rIns="0" bIns="0">
            <a:spAutoFit/>
          </a:bodyPr>
          <a:lstStyle/>
          <a:p>
            <a:r>
              <a:rPr sz="2400" b="0" i="0">
                <a:solidFill>
                  <a:srgbClr val="FFFFFF"/>
                </a:solidFill>
                <a:latin typeface="Inter"/>
              </a:rPr>
              <a:t>MAY</a:t>
            </a:r>
          </a:p>
        </p:txBody>
      </p:sp>
      <p:sp>
        <p:nvSpPr>
          <p:cNvPr id="8" name="TextBox 7"/>
          <p:cNvSpPr txBox="1"/>
          <p:nvPr/>
        </p:nvSpPr>
        <p:spPr>
          <a:xfrm>
            <a:off x="13672005" y="4536918"/>
            <a:ext cx="673557" cy="368877"/>
          </a:xfrm>
          <a:prstGeom prst="rect">
            <a:avLst/>
          </a:prstGeom>
          <a:noFill/>
        </p:spPr>
        <p:txBody>
          <a:bodyPr wrap="none" lIns="0" tIns="0" rIns="0" bIns="0">
            <a:spAutoFit/>
          </a:bodyPr>
          <a:lstStyle/>
          <a:p>
            <a:r>
              <a:rPr sz="2400" b="0" i="0">
                <a:solidFill>
                  <a:srgbClr val="FFFFFF"/>
                </a:solidFill>
                <a:latin typeface="Inter"/>
              </a:rPr>
              <a:t>JUL</a:t>
            </a:r>
          </a:p>
        </p:txBody>
      </p:sp>
      <p:sp>
        <p:nvSpPr>
          <p:cNvPr id="9" name="TextBox 8"/>
          <p:cNvSpPr txBox="1"/>
          <p:nvPr/>
        </p:nvSpPr>
        <p:spPr>
          <a:xfrm>
            <a:off x="1276121" y="3474126"/>
            <a:ext cx="2305493" cy="230548"/>
          </a:xfrm>
          <a:prstGeom prst="rect">
            <a:avLst/>
          </a:prstGeom>
          <a:noFill/>
        </p:spPr>
        <p:txBody>
          <a:bodyPr wrap="none" lIns="0" tIns="0" rIns="0" bIns="0">
            <a:spAutoFit/>
          </a:bodyPr>
          <a:lstStyle/>
          <a:p>
            <a:r>
              <a:rPr sz="1500" b="0" i="0">
                <a:solidFill>
                  <a:srgbClr val="00D9C6"/>
                </a:solidFill>
                <a:latin typeface="Inter"/>
              </a:rPr>
              <a:t>DISCOVERY SESSIONS</a:t>
            </a:r>
          </a:p>
        </p:txBody>
      </p:sp>
      <p:sp>
        <p:nvSpPr>
          <p:cNvPr id="10" name="TextBox 9"/>
          <p:cNvSpPr txBox="1"/>
          <p:nvPr/>
        </p:nvSpPr>
        <p:spPr>
          <a:xfrm>
            <a:off x="2053450" y="3061558"/>
            <a:ext cx="763397" cy="368877"/>
          </a:xfrm>
          <a:prstGeom prst="rect">
            <a:avLst/>
          </a:prstGeom>
          <a:noFill/>
        </p:spPr>
        <p:txBody>
          <a:bodyPr wrap="none" lIns="0" tIns="0" rIns="0" bIns="0">
            <a:spAutoFit/>
          </a:bodyPr>
          <a:lstStyle/>
          <a:p>
            <a:r>
              <a:rPr sz="2400" b="0" i="0">
                <a:solidFill>
                  <a:srgbClr val="FFFFFF"/>
                </a:solidFill>
                <a:latin typeface="Inter"/>
              </a:rPr>
              <a:t>FEB </a:t>
            </a:r>
          </a:p>
        </p:txBody>
      </p:sp>
      <p:sp>
        <p:nvSpPr>
          <p:cNvPr id="11" name="TextBox 10"/>
          <p:cNvSpPr txBox="1"/>
          <p:nvPr/>
        </p:nvSpPr>
        <p:spPr>
          <a:xfrm>
            <a:off x="5881058" y="3474126"/>
            <a:ext cx="1951354" cy="230548"/>
          </a:xfrm>
          <a:prstGeom prst="rect">
            <a:avLst/>
          </a:prstGeom>
          <a:noFill/>
        </p:spPr>
        <p:txBody>
          <a:bodyPr wrap="none" lIns="0" tIns="0" rIns="0" bIns="0">
            <a:spAutoFit/>
          </a:bodyPr>
          <a:lstStyle/>
          <a:p>
            <a:r>
              <a:rPr sz="1500" b="0" i="0">
                <a:solidFill>
                  <a:srgbClr val="00D9C6"/>
                </a:solidFill>
                <a:latin typeface="Inter"/>
              </a:rPr>
              <a:t>SECURITY REVIEW</a:t>
            </a:r>
          </a:p>
        </p:txBody>
      </p:sp>
      <p:sp>
        <p:nvSpPr>
          <p:cNvPr id="12" name="TextBox 11"/>
          <p:cNvSpPr txBox="1"/>
          <p:nvPr/>
        </p:nvSpPr>
        <p:spPr>
          <a:xfrm>
            <a:off x="6471533" y="3061558"/>
            <a:ext cx="791971" cy="368877"/>
          </a:xfrm>
          <a:prstGeom prst="rect">
            <a:avLst/>
          </a:prstGeom>
          <a:noFill/>
        </p:spPr>
        <p:txBody>
          <a:bodyPr wrap="none" lIns="0" tIns="0" rIns="0" bIns="0">
            <a:spAutoFit/>
          </a:bodyPr>
          <a:lstStyle/>
          <a:p>
            <a:r>
              <a:rPr sz="2400" b="0" i="0">
                <a:solidFill>
                  <a:srgbClr val="FFFFFF"/>
                </a:solidFill>
                <a:latin typeface="Inter"/>
              </a:rPr>
              <a:t>APR </a:t>
            </a:r>
          </a:p>
        </p:txBody>
      </p:sp>
      <p:sp>
        <p:nvSpPr>
          <p:cNvPr id="13" name="TextBox 12"/>
          <p:cNvSpPr txBox="1"/>
          <p:nvPr/>
        </p:nvSpPr>
        <p:spPr>
          <a:xfrm>
            <a:off x="10421215" y="3474126"/>
            <a:ext cx="2297301" cy="230548"/>
          </a:xfrm>
          <a:prstGeom prst="rect">
            <a:avLst/>
          </a:prstGeom>
          <a:noFill/>
        </p:spPr>
        <p:txBody>
          <a:bodyPr wrap="none" lIns="0" tIns="0" rIns="0" bIns="0">
            <a:spAutoFit/>
          </a:bodyPr>
          <a:lstStyle/>
          <a:p>
            <a:r>
              <a:rPr sz="1500" b="0" i="0">
                <a:solidFill>
                  <a:srgbClr val="00D9C6"/>
                </a:solidFill>
                <a:latin typeface="Inter"/>
              </a:rPr>
              <a:t>EXECUTIVE SIGN-OFF</a:t>
            </a:r>
          </a:p>
        </p:txBody>
      </p:sp>
      <p:sp>
        <p:nvSpPr>
          <p:cNvPr id="14" name="TextBox 13"/>
          <p:cNvSpPr txBox="1"/>
          <p:nvPr/>
        </p:nvSpPr>
        <p:spPr>
          <a:xfrm>
            <a:off x="11174658" y="3061558"/>
            <a:ext cx="811021" cy="368877"/>
          </a:xfrm>
          <a:prstGeom prst="rect">
            <a:avLst/>
          </a:prstGeom>
          <a:noFill/>
        </p:spPr>
        <p:txBody>
          <a:bodyPr wrap="none" lIns="0" tIns="0" rIns="0" bIns="0">
            <a:spAutoFit/>
          </a:bodyPr>
          <a:lstStyle/>
          <a:p>
            <a:r>
              <a:rPr sz="2400" b="0" i="0">
                <a:solidFill>
                  <a:srgbClr val="FFFFFF"/>
                </a:solidFill>
                <a:latin typeface="Inter"/>
              </a:rPr>
              <a:t>JUN </a:t>
            </a:r>
          </a:p>
        </p:txBody>
      </p:sp>
      <p:sp>
        <p:nvSpPr>
          <p:cNvPr id="15" name="TextBox 14"/>
          <p:cNvSpPr txBox="1"/>
          <p:nvPr/>
        </p:nvSpPr>
        <p:spPr>
          <a:xfrm>
            <a:off x="15416539" y="3474126"/>
            <a:ext cx="1640839" cy="230548"/>
          </a:xfrm>
          <a:prstGeom prst="rect">
            <a:avLst/>
          </a:prstGeom>
          <a:noFill/>
        </p:spPr>
        <p:txBody>
          <a:bodyPr wrap="none" lIns="0" tIns="0" rIns="0" bIns="0">
            <a:spAutoFit/>
          </a:bodyPr>
          <a:lstStyle/>
          <a:p>
            <a:r>
              <a:rPr sz="1500" b="0" i="0">
                <a:solidFill>
                  <a:srgbClr val="00D9C6"/>
                </a:solidFill>
                <a:latin typeface="Inter"/>
              </a:rPr>
              <a:t>CUSTOMER ROI</a:t>
            </a:r>
          </a:p>
        </p:txBody>
      </p:sp>
      <p:sp>
        <p:nvSpPr>
          <p:cNvPr id="16" name="TextBox 15"/>
          <p:cNvSpPr txBox="1"/>
          <p:nvPr/>
        </p:nvSpPr>
        <p:spPr>
          <a:xfrm>
            <a:off x="15858559" y="3061558"/>
            <a:ext cx="768044" cy="368877"/>
          </a:xfrm>
          <a:prstGeom prst="rect">
            <a:avLst/>
          </a:prstGeom>
          <a:noFill/>
        </p:spPr>
        <p:txBody>
          <a:bodyPr wrap="none" lIns="0" tIns="0" rIns="0" bIns="0">
            <a:spAutoFit/>
          </a:bodyPr>
          <a:lstStyle/>
          <a:p>
            <a:r>
              <a:rPr sz="2400" b="0" i="0">
                <a:solidFill>
                  <a:srgbClr val="FFFFFF"/>
                </a:solidFill>
                <a:latin typeface="Inter"/>
              </a:rPr>
              <a:t>AUG</a:t>
            </a:r>
          </a:p>
        </p:txBody>
      </p:sp>
      <p:sp>
        <p:nvSpPr>
          <p:cNvPr id="17" name="TextBox 16"/>
          <p:cNvSpPr txBox="1"/>
          <p:nvPr/>
        </p:nvSpPr>
        <p:spPr>
          <a:xfrm>
            <a:off x="952804" y="7867650"/>
            <a:ext cx="16189249" cy="368877"/>
          </a:xfrm>
          <a:prstGeom prst="rect">
            <a:avLst/>
          </a:prstGeom>
          <a:noFill/>
        </p:spPr>
        <p:txBody>
          <a:bodyPr wrap="none" lIns="0" tIns="0" rIns="0" bIns="0">
            <a:spAutoFit/>
          </a:bodyPr>
          <a:lstStyle/>
          <a:p>
            <a:r>
              <a:rPr sz="2400" b="0" i="0">
                <a:solidFill>
                  <a:srgbClr val="FFFFFF"/>
                </a:solidFill>
                <a:latin typeface="Inter"/>
              </a:rPr>
              <a:t>Put your milestones on a timeline to track progress, course-correct if needed, and give everyone an overview of </a:t>
            </a:r>
          </a:p>
        </p:txBody>
      </p:sp>
      <p:sp>
        <p:nvSpPr>
          <p:cNvPr id="18" name="TextBox 17"/>
          <p:cNvSpPr txBox="1"/>
          <p:nvPr/>
        </p:nvSpPr>
        <p:spPr>
          <a:xfrm>
            <a:off x="952804" y="8267700"/>
            <a:ext cx="16227349" cy="368877"/>
          </a:xfrm>
          <a:prstGeom prst="rect">
            <a:avLst/>
          </a:prstGeom>
          <a:noFill/>
        </p:spPr>
        <p:txBody>
          <a:bodyPr wrap="none" lIns="0" tIns="0" rIns="0" bIns="0">
            <a:spAutoFit/>
          </a:bodyPr>
          <a:lstStyle/>
          <a:p>
            <a:r>
              <a:rPr sz="2400" b="0" i="0">
                <a:solidFill>
                  <a:srgbClr val="FFFFFF"/>
                </a:solidFill>
                <a:latin typeface="Inter"/>
              </a:rPr>
              <a:t>what's ahead. Start the timeline with an actionable step you can take immediately, and continue through signing </a:t>
            </a:r>
          </a:p>
        </p:txBody>
      </p:sp>
      <p:sp>
        <p:nvSpPr>
          <p:cNvPr id="19" name="TextBox 18"/>
          <p:cNvSpPr txBox="1"/>
          <p:nvPr/>
        </p:nvSpPr>
        <p:spPr>
          <a:xfrm>
            <a:off x="952804" y="8658225"/>
            <a:ext cx="16046374" cy="368877"/>
          </a:xfrm>
          <a:prstGeom prst="rect">
            <a:avLst/>
          </a:prstGeom>
          <a:noFill/>
        </p:spPr>
        <p:txBody>
          <a:bodyPr wrap="none" lIns="0" tIns="0" rIns="0" bIns="0">
            <a:spAutoFit/>
          </a:bodyPr>
          <a:lstStyle/>
          <a:p>
            <a:r>
              <a:rPr sz="2400" b="0" i="0">
                <a:solidFill>
                  <a:srgbClr val="FFFFFF"/>
                </a:solidFill>
                <a:latin typeface="Inter"/>
              </a:rPr>
              <a:t>the contract. End with the customer's ROI to boost momentum and reframe the contract as just another step in </a:t>
            </a:r>
          </a:p>
        </p:txBody>
      </p:sp>
      <p:sp>
        <p:nvSpPr>
          <p:cNvPr id="20" name="TextBox 19"/>
          <p:cNvSpPr txBox="1"/>
          <p:nvPr/>
        </p:nvSpPr>
        <p:spPr>
          <a:xfrm>
            <a:off x="952804" y="9058275"/>
            <a:ext cx="3812311" cy="368877"/>
          </a:xfrm>
          <a:prstGeom prst="rect">
            <a:avLst/>
          </a:prstGeom>
          <a:noFill/>
        </p:spPr>
        <p:txBody>
          <a:bodyPr wrap="none" lIns="0" tIns="0" rIns="0" bIns="0">
            <a:spAutoFit/>
          </a:bodyPr>
          <a:lstStyle/>
          <a:p>
            <a:r>
              <a:rPr sz="2400" b="0" i="0">
                <a:solidFill>
                  <a:srgbClr val="FFFFFF"/>
                </a:solidFill>
                <a:latin typeface="Inter"/>
              </a:rPr>
              <a:t>achieving their objectives.</a:t>
            </a:r>
          </a:p>
        </p:txBody>
      </p:sp>
      <p:sp>
        <p:nvSpPr>
          <p:cNvPr id="21" name="TextBox 20"/>
          <p:cNvSpPr txBox="1"/>
          <p:nvPr/>
        </p:nvSpPr>
        <p:spPr>
          <a:xfrm>
            <a:off x="952500" y="948928"/>
            <a:ext cx="1109916" cy="230548"/>
          </a:xfrm>
          <a:prstGeom prst="rect">
            <a:avLst/>
          </a:prstGeom>
          <a:noFill/>
        </p:spPr>
        <p:txBody>
          <a:bodyPr wrap="none" lIns="0" tIns="0" rIns="0" bIns="0">
            <a:spAutoFit/>
          </a:bodyPr>
          <a:lstStyle/>
          <a:p>
            <a:r>
              <a:rPr sz="1500" b="0" i="0">
                <a:solidFill>
                  <a:srgbClr val="00D9C6"/>
                </a:solidFill>
                <a:latin typeface="Inter"/>
              </a:rPr>
              <a:t>TIMELINE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11.png"/>
          <p:cNvPicPr>
            <a:picLocks noChangeAspect="1"/>
          </p:cNvPicPr>
          <p:nvPr/>
        </p:nvPicPr>
        <p:blipFill>
          <a:blip r:embed="rId2"/>
          <a:stretch>
            <a:fillRect/>
          </a:stretch>
        </p:blipFill>
        <p:spPr>
          <a:xfrm>
            <a:off x="0" y="0"/>
            <a:ext cx="18288000" cy="10287000"/>
          </a:xfrm>
          <a:prstGeom prst="rect">
            <a:avLst/>
          </a:prstGeom>
        </p:spPr>
      </p:pic>
      <p:sp>
        <p:nvSpPr>
          <p:cNvPr id="3" name="TextBox 2"/>
          <p:cNvSpPr txBox="1"/>
          <p:nvPr/>
        </p:nvSpPr>
        <p:spPr>
          <a:xfrm>
            <a:off x="8531986" y="4946885"/>
            <a:ext cx="1494345" cy="230548"/>
          </a:xfrm>
          <a:prstGeom prst="rect">
            <a:avLst/>
          </a:prstGeom>
          <a:noFill/>
        </p:spPr>
        <p:txBody>
          <a:bodyPr wrap="none" lIns="0" tIns="0" rIns="0" bIns="0">
            <a:spAutoFit/>
          </a:bodyPr>
          <a:lstStyle/>
          <a:p>
            <a:r>
              <a:rPr sz="1500" b="0" i="0">
                <a:solidFill>
                  <a:srgbClr val="000000"/>
                </a:solidFill>
                <a:latin typeface="Inter"/>
              </a:rPr>
              <a:t>Legal sign-off</a:t>
            </a:r>
          </a:p>
        </p:txBody>
      </p:sp>
      <p:sp>
        <p:nvSpPr>
          <p:cNvPr id="4" name="TextBox 3"/>
          <p:cNvSpPr txBox="1"/>
          <p:nvPr/>
        </p:nvSpPr>
        <p:spPr>
          <a:xfrm>
            <a:off x="3826545" y="4946885"/>
            <a:ext cx="1484820" cy="230548"/>
          </a:xfrm>
          <a:prstGeom prst="rect">
            <a:avLst/>
          </a:prstGeom>
          <a:noFill/>
        </p:spPr>
        <p:txBody>
          <a:bodyPr wrap="none" lIns="0" tIns="0" rIns="0" bIns="0">
            <a:spAutoFit/>
          </a:bodyPr>
          <a:lstStyle/>
          <a:p>
            <a:r>
              <a:rPr sz="1500" b="0" i="0">
                <a:solidFill>
                  <a:srgbClr val="000000"/>
                </a:solidFill>
                <a:latin typeface="Inter"/>
              </a:rPr>
              <a:t>Product demo</a:t>
            </a:r>
          </a:p>
        </p:txBody>
      </p:sp>
      <p:sp>
        <p:nvSpPr>
          <p:cNvPr id="5" name="TextBox 4"/>
          <p:cNvSpPr txBox="1"/>
          <p:nvPr/>
        </p:nvSpPr>
        <p:spPr>
          <a:xfrm>
            <a:off x="13192779" y="4946885"/>
            <a:ext cx="1614740" cy="230548"/>
          </a:xfrm>
          <a:prstGeom prst="rect">
            <a:avLst/>
          </a:prstGeom>
          <a:noFill/>
        </p:spPr>
        <p:txBody>
          <a:bodyPr wrap="none" lIns="0" tIns="0" rIns="0" bIns="0">
            <a:spAutoFit/>
          </a:bodyPr>
          <a:lstStyle/>
          <a:p>
            <a:r>
              <a:rPr sz="1500" b="0" i="0">
                <a:solidFill>
                  <a:srgbClr val="000000"/>
                </a:solidFill>
                <a:latin typeface="Inter"/>
              </a:rPr>
              <a:t>Product launch</a:t>
            </a:r>
          </a:p>
        </p:txBody>
      </p:sp>
      <p:sp>
        <p:nvSpPr>
          <p:cNvPr id="6" name="TextBox 5"/>
          <p:cNvSpPr txBox="1"/>
          <p:nvPr/>
        </p:nvSpPr>
        <p:spPr>
          <a:xfrm>
            <a:off x="4178077" y="4489293"/>
            <a:ext cx="783971" cy="368877"/>
          </a:xfrm>
          <a:prstGeom prst="rect">
            <a:avLst/>
          </a:prstGeom>
          <a:noFill/>
        </p:spPr>
        <p:txBody>
          <a:bodyPr wrap="none" lIns="0" tIns="0" rIns="0" bIns="0">
            <a:spAutoFit/>
          </a:bodyPr>
          <a:lstStyle/>
          <a:p>
            <a:r>
              <a:rPr sz="2400" b="0" i="0">
                <a:solidFill>
                  <a:srgbClr val="000000"/>
                </a:solidFill>
                <a:latin typeface="Inter"/>
              </a:rPr>
              <a:t>MAR</a:t>
            </a:r>
          </a:p>
        </p:txBody>
      </p:sp>
      <p:sp>
        <p:nvSpPr>
          <p:cNvPr id="7" name="TextBox 6"/>
          <p:cNvSpPr txBox="1"/>
          <p:nvPr/>
        </p:nvSpPr>
        <p:spPr>
          <a:xfrm>
            <a:off x="8896913" y="4489293"/>
            <a:ext cx="777113" cy="368877"/>
          </a:xfrm>
          <a:prstGeom prst="rect">
            <a:avLst/>
          </a:prstGeom>
          <a:noFill/>
        </p:spPr>
        <p:txBody>
          <a:bodyPr wrap="none" lIns="0" tIns="0" rIns="0" bIns="0">
            <a:spAutoFit/>
          </a:bodyPr>
          <a:lstStyle/>
          <a:p>
            <a:r>
              <a:rPr sz="2400" b="0" i="0">
                <a:solidFill>
                  <a:srgbClr val="000000"/>
                </a:solidFill>
                <a:latin typeface="Inter"/>
              </a:rPr>
              <a:t>MAY</a:t>
            </a:r>
          </a:p>
        </p:txBody>
      </p:sp>
      <p:sp>
        <p:nvSpPr>
          <p:cNvPr id="8" name="TextBox 7"/>
          <p:cNvSpPr txBox="1"/>
          <p:nvPr/>
        </p:nvSpPr>
        <p:spPr>
          <a:xfrm>
            <a:off x="13672005" y="4489293"/>
            <a:ext cx="673557" cy="368877"/>
          </a:xfrm>
          <a:prstGeom prst="rect">
            <a:avLst/>
          </a:prstGeom>
          <a:noFill/>
        </p:spPr>
        <p:txBody>
          <a:bodyPr wrap="none" lIns="0" tIns="0" rIns="0" bIns="0">
            <a:spAutoFit/>
          </a:bodyPr>
          <a:lstStyle/>
          <a:p>
            <a:r>
              <a:rPr sz="2400" b="0" i="0">
                <a:solidFill>
                  <a:srgbClr val="000000"/>
                </a:solidFill>
                <a:latin typeface="Inter"/>
              </a:rPr>
              <a:t>JUL</a:t>
            </a:r>
          </a:p>
        </p:txBody>
      </p:sp>
      <p:sp>
        <p:nvSpPr>
          <p:cNvPr id="9" name="TextBox 8"/>
          <p:cNvSpPr txBox="1"/>
          <p:nvPr/>
        </p:nvSpPr>
        <p:spPr>
          <a:xfrm>
            <a:off x="1433283" y="3474126"/>
            <a:ext cx="1988120" cy="230548"/>
          </a:xfrm>
          <a:prstGeom prst="rect">
            <a:avLst/>
          </a:prstGeom>
          <a:noFill/>
        </p:spPr>
        <p:txBody>
          <a:bodyPr wrap="none" lIns="0" tIns="0" rIns="0" bIns="0">
            <a:spAutoFit/>
          </a:bodyPr>
          <a:lstStyle/>
          <a:p>
            <a:r>
              <a:rPr sz="1500" b="0" i="0">
                <a:solidFill>
                  <a:srgbClr val="000000"/>
                </a:solidFill>
                <a:latin typeface="Inter"/>
              </a:rPr>
              <a:t>Discovery sessions</a:t>
            </a:r>
          </a:p>
        </p:txBody>
      </p:sp>
      <p:sp>
        <p:nvSpPr>
          <p:cNvPr id="10" name="TextBox 9"/>
          <p:cNvSpPr txBox="1"/>
          <p:nvPr/>
        </p:nvSpPr>
        <p:spPr>
          <a:xfrm>
            <a:off x="2053450" y="3013933"/>
            <a:ext cx="763397" cy="368877"/>
          </a:xfrm>
          <a:prstGeom prst="rect">
            <a:avLst/>
          </a:prstGeom>
          <a:noFill/>
        </p:spPr>
        <p:txBody>
          <a:bodyPr wrap="none" lIns="0" tIns="0" rIns="0" bIns="0">
            <a:spAutoFit/>
          </a:bodyPr>
          <a:lstStyle/>
          <a:p>
            <a:r>
              <a:rPr sz="2400" b="0" i="0">
                <a:solidFill>
                  <a:srgbClr val="000000"/>
                </a:solidFill>
                <a:latin typeface="Inter"/>
              </a:rPr>
              <a:t>FEB </a:t>
            </a:r>
          </a:p>
        </p:txBody>
      </p:sp>
      <p:sp>
        <p:nvSpPr>
          <p:cNvPr id="11" name="TextBox 10"/>
          <p:cNvSpPr txBox="1"/>
          <p:nvPr/>
        </p:nvSpPr>
        <p:spPr>
          <a:xfrm>
            <a:off x="6042983" y="3474126"/>
            <a:ext cx="1632267" cy="230548"/>
          </a:xfrm>
          <a:prstGeom prst="rect">
            <a:avLst/>
          </a:prstGeom>
          <a:noFill/>
        </p:spPr>
        <p:txBody>
          <a:bodyPr wrap="none" lIns="0" tIns="0" rIns="0" bIns="0">
            <a:spAutoFit/>
          </a:bodyPr>
          <a:lstStyle/>
          <a:p>
            <a:r>
              <a:rPr sz="1500" b="0" i="0">
                <a:solidFill>
                  <a:srgbClr val="000000"/>
                </a:solidFill>
                <a:latin typeface="Inter"/>
              </a:rPr>
              <a:t>Security review</a:t>
            </a:r>
          </a:p>
        </p:txBody>
      </p:sp>
      <p:sp>
        <p:nvSpPr>
          <p:cNvPr id="12" name="TextBox 11"/>
          <p:cNvSpPr txBox="1"/>
          <p:nvPr/>
        </p:nvSpPr>
        <p:spPr>
          <a:xfrm>
            <a:off x="6471533" y="3013933"/>
            <a:ext cx="791971" cy="368877"/>
          </a:xfrm>
          <a:prstGeom prst="rect">
            <a:avLst/>
          </a:prstGeom>
          <a:noFill/>
        </p:spPr>
        <p:txBody>
          <a:bodyPr wrap="none" lIns="0" tIns="0" rIns="0" bIns="0">
            <a:spAutoFit/>
          </a:bodyPr>
          <a:lstStyle/>
          <a:p>
            <a:r>
              <a:rPr sz="2400" b="0" i="0">
                <a:solidFill>
                  <a:srgbClr val="000000"/>
                </a:solidFill>
                <a:latin typeface="Inter"/>
              </a:rPr>
              <a:t>APR </a:t>
            </a:r>
          </a:p>
        </p:txBody>
      </p:sp>
      <p:sp>
        <p:nvSpPr>
          <p:cNvPr id="13" name="TextBox 12"/>
          <p:cNvSpPr txBox="1"/>
          <p:nvPr/>
        </p:nvSpPr>
        <p:spPr>
          <a:xfrm>
            <a:off x="10606953" y="3474126"/>
            <a:ext cx="1928684" cy="230548"/>
          </a:xfrm>
          <a:prstGeom prst="rect">
            <a:avLst/>
          </a:prstGeom>
          <a:noFill/>
        </p:spPr>
        <p:txBody>
          <a:bodyPr wrap="none" lIns="0" tIns="0" rIns="0" bIns="0">
            <a:spAutoFit/>
          </a:bodyPr>
          <a:lstStyle/>
          <a:p>
            <a:r>
              <a:rPr sz="1500" b="0" i="0">
                <a:solidFill>
                  <a:srgbClr val="000000"/>
                </a:solidFill>
                <a:latin typeface="Inter"/>
              </a:rPr>
              <a:t>Executive sign-off</a:t>
            </a:r>
          </a:p>
        </p:txBody>
      </p:sp>
      <p:sp>
        <p:nvSpPr>
          <p:cNvPr id="14" name="TextBox 13"/>
          <p:cNvSpPr txBox="1"/>
          <p:nvPr/>
        </p:nvSpPr>
        <p:spPr>
          <a:xfrm>
            <a:off x="11174658" y="3013933"/>
            <a:ext cx="811021" cy="368877"/>
          </a:xfrm>
          <a:prstGeom prst="rect">
            <a:avLst/>
          </a:prstGeom>
          <a:noFill/>
        </p:spPr>
        <p:txBody>
          <a:bodyPr wrap="none" lIns="0" tIns="0" rIns="0" bIns="0">
            <a:spAutoFit/>
          </a:bodyPr>
          <a:lstStyle/>
          <a:p>
            <a:r>
              <a:rPr sz="2400" b="0" i="0">
                <a:solidFill>
                  <a:srgbClr val="000000"/>
                </a:solidFill>
                <a:latin typeface="Inter"/>
              </a:rPr>
              <a:t>JUN </a:t>
            </a:r>
          </a:p>
        </p:txBody>
      </p:sp>
      <p:sp>
        <p:nvSpPr>
          <p:cNvPr id="15" name="TextBox 14"/>
          <p:cNvSpPr txBox="1"/>
          <p:nvPr/>
        </p:nvSpPr>
        <p:spPr>
          <a:xfrm>
            <a:off x="15511789" y="3474126"/>
            <a:ext cx="1450339" cy="230548"/>
          </a:xfrm>
          <a:prstGeom prst="rect">
            <a:avLst/>
          </a:prstGeom>
          <a:noFill/>
        </p:spPr>
        <p:txBody>
          <a:bodyPr wrap="none" lIns="0" tIns="0" rIns="0" bIns="0">
            <a:spAutoFit/>
          </a:bodyPr>
          <a:lstStyle/>
          <a:p>
            <a:r>
              <a:rPr sz="1500" b="0" i="0">
                <a:solidFill>
                  <a:srgbClr val="000000"/>
                </a:solidFill>
                <a:latin typeface="Inter"/>
              </a:rPr>
              <a:t>Customer ROI</a:t>
            </a:r>
          </a:p>
        </p:txBody>
      </p:sp>
      <p:sp>
        <p:nvSpPr>
          <p:cNvPr id="16" name="TextBox 15"/>
          <p:cNvSpPr txBox="1"/>
          <p:nvPr/>
        </p:nvSpPr>
        <p:spPr>
          <a:xfrm>
            <a:off x="15858559" y="3013933"/>
            <a:ext cx="768044" cy="368877"/>
          </a:xfrm>
          <a:prstGeom prst="rect">
            <a:avLst/>
          </a:prstGeom>
          <a:noFill/>
        </p:spPr>
        <p:txBody>
          <a:bodyPr wrap="none" lIns="0" tIns="0" rIns="0" bIns="0">
            <a:spAutoFit/>
          </a:bodyPr>
          <a:lstStyle/>
          <a:p>
            <a:r>
              <a:rPr sz="2400" b="0" i="0">
                <a:solidFill>
                  <a:srgbClr val="000000"/>
                </a:solidFill>
                <a:latin typeface="Inter"/>
              </a:rPr>
              <a:t>AUG</a:t>
            </a:r>
          </a:p>
        </p:txBody>
      </p:sp>
      <p:sp>
        <p:nvSpPr>
          <p:cNvPr id="17" name="TextBox 16"/>
          <p:cNvSpPr txBox="1"/>
          <p:nvPr/>
        </p:nvSpPr>
        <p:spPr>
          <a:xfrm>
            <a:off x="952804" y="7867650"/>
            <a:ext cx="16189249" cy="368877"/>
          </a:xfrm>
          <a:prstGeom prst="rect">
            <a:avLst/>
          </a:prstGeom>
          <a:noFill/>
        </p:spPr>
        <p:txBody>
          <a:bodyPr wrap="none" lIns="0" tIns="0" rIns="0" bIns="0">
            <a:spAutoFit/>
          </a:bodyPr>
          <a:lstStyle/>
          <a:p>
            <a:r>
              <a:rPr sz="2400" b="0" i="0">
                <a:solidFill>
                  <a:srgbClr val="FFFFFF"/>
                </a:solidFill>
                <a:latin typeface="Inter"/>
              </a:rPr>
              <a:t>Put your milestones on a timeline to track progress, course-correct if needed, and give everyone an overview of </a:t>
            </a:r>
          </a:p>
        </p:txBody>
      </p:sp>
      <p:sp>
        <p:nvSpPr>
          <p:cNvPr id="18" name="TextBox 17"/>
          <p:cNvSpPr txBox="1"/>
          <p:nvPr/>
        </p:nvSpPr>
        <p:spPr>
          <a:xfrm>
            <a:off x="952804" y="8267700"/>
            <a:ext cx="16227349" cy="368877"/>
          </a:xfrm>
          <a:prstGeom prst="rect">
            <a:avLst/>
          </a:prstGeom>
          <a:noFill/>
        </p:spPr>
        <p:txBody>
          <a:bodyPr wrap="none" lIns="0" tIns="0" rIns="0" bIns="0">
            <a:spAutoFit/>
          </a:bodyPr>
          <a:lstStyle/>
          <a:p>
            <a:r>
              <a:rPr sz="2400" b="0" i="0">
                <a:solidFill>
                  <a:srgbClr val="FFFFFF"/>
                </a:solidFill>
                <a:latin typeface="Inter"/>
              </a:rPr>
              <a:t>what's ahead. Start the timeline with an actionable step you can take immediately, and continue through signing </a:t>
            </a:r>
          </a:p>
        </p:txBody>
      </p:sp>
      <p:sp>
        <p:nvSpPr>
          <p:cNvPr id="19" name="TextBox 18"/>
          <p:cNvSpPr txBox="1"/>
          <p:nvPr/>
        </p:nvSpPr>
        <p:spPr>
          <a:xfrm>
            <a:off x="952804" y="8658225"/>
            <a:ext cx="16046374" cy="368877"/>
          </a:xfrm>
          <a:prstGeom prst="rect">
            <a:avLst/>
          </a:prstGeom>
          <a:noFill/>
        </p:spPr>
        <p:txBody>
          <a:bodyPr wrap="none" lIns="0" tIns="0" rIns="0" bIns="0">
            <a:spAutoFit/>
          </a:bodyPr>
          <a:lstStyle/>
          <a:p>
            <a:r>
              <a:rPr sz="2400" b="0" i="0">
                <a:solidFill>
                  <a:srgbClr val="FFFFFF"/>
                </a:solidFill>
                <a:latin typeface="Inter"/>
              </a:rPr>
              <a:t>the contract. End with the customer's ROI to boost momentum and reframe the contract as just another step in </a:t>
            </a:r>
          </a:p>
        </p:txBody>
      </p:sp>
      <p:sp>
        <p:nvSpPr>
          <p:cNvPr id="20" name="TextBox 19"/>
          <p:cNvSpPr txBox="1"/>
          <p:nvPr/>
        </p:nvSpPr>
        <p:spPr>
          <a:xfrm>
            <a:off x="952804" y="9058275"/>
            <a:ext cx="3812311" cy="368877"/>
          </a:xfrm>
          <a:prstGeom prst="rect">
            <a:avLst/>
          </a:prstGeom>
          <a:noFill/>
        </p:spPr>
        <p:txBody>
          <a:bodyPr wrap="none" lIns="0" tIns="0" rIns="0" bIns="0">
            <a:spAutoFit/>
          </a:bodyPr>
          <a:lstStyle/>
          <a:p>
            <a:r>
              <a:rPr sz="2400" b="0" i="0">
                <a:solidFill>
                  <a:srgbClr val="FFFFFF"/>
                </a:solidFill>
                <a:latin typeface="Inter"/>
              </a:rPr>
              <a:t>achieving their objectives.</a:t>
            </a:r>
          </a:p>
        </p:txBody>
      </p:sp>
      <p:sp>
        <p:nvSpPr>
          <p:cNvPr id="21" name="TextBox 20"/>
          <p:cNvSpPr txBox="1"/>
          <p:nvPr/>
        </p:nvSpPr>
        <p:spPr>
          <a:xfrm>
            <a:off x="952500" y="948928"/>
            <a:ext cx="1109916" cy="230548"/>
          </a:xfrm>
          <a:prstGeom prst="rect">
            <a:avLst/>
          </a:prstGeom>
          <a:noFill/>
        </p:spPr>
        <p:txBody>
          <a:bodyPr wrap="none" lIns="0" tIns="0" rIns="0" bIns="0">
            <a:spAutoFit/>
          </a:bodyPr>
          <a:lstStyle/>
          <a:p>
            <a:r>
              <a:rPr sz="1500" b="0" i="0">
                <a:solidFill>
                  <a:srgbClr val="000000"/>
                </a:solidFill>
                <a:latin typeface="Inter"/>
              </a:rPr>
              <a:t>TIMELINE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12.png"/>
          <p:cNvPicPr>
            <a:picLocks noChangeAspect="1"/>
          </p:cNvPicPr>
          <p:nvPr/>
        </p:nvPicPr>
        <p:blipFill>
          <a:blip r:embed="rId2"/>
          <a:stretch>
            <a:fillRect/>
          </a:stretch>
        </p:blipFill>
        <p:spPr>
          <a:xfrm>
            <a:off x="0" y="0"/>
            <a:ext cx="18288000" cy="10287000"/>
          </a:xfrm>
          <a:prstGeom prst="rect">
            <a:avLst/>
          </a:prstGeom>
        </p:spPr>
      </p:pic>
      <p:sp>
        <p:nvSpPr>
          <p:cNvPr id="3" name="TextBox 2"/>
          <p:cNvSpPr txBox="1"/>
          <p:nvPr/>
        </p:nvSpPr>
        <p:spPr>
          <a:xfrm>
            <a:off x="1090917" y="3788866"/>
            <a:ext cx="1263173" cy="288185"/>
          </a:xfrm>
          <a:prstGeom prst="rect">
            <a:avLst/>
          </a:prstGeom>
          <a:noFill/>
        </p:spPr>
        <p:txBody>
          <a:bodyPr wrap="none" lIns="0" tIns="0" rIns="0" bIns="0">
            <a:spAutoFit/>
          </a:bodyPr>
          <a:lstStyle/>
          <a:p>
            <a:r>
              <a:rPr sz="1900" b="1" i="0">
                <a:solidFill>
                  <a:srgbClr val="0B211F"/>
                </a:solidFill>
                <a:latin typeface="Inter"/>
              </a:rPr>
              <a:t>Milestone</a:t>
            </a:r>
          </a:p>
        </p:txBody>
      </p:sp>
      <p:sp>
        <p:nvSpPr>
          <p:cNvPr id="4" name="TextBox 3"/>
          <p:cNvSpPr txBox="1"/>
          <p:nvPr/>
        </p:nvSpPr>
        <p:spPr>
          <a:xfrm>
            <a:off x="4363647" y="3788866"/>
            <a:ext cx="1742043" cy="288185"/>
          </a:xfrm>
          <a:prstGeom prst="rect">
            <a:avLst/>
          </a:prstGeom>
          <a:noFill/>
        </p:spPr>
        <p:txBody>
          <a:bodyPr wrap="none" lIns="0" tIns="0" rIns="0" bIns="0">
            <a:spAutoFit/>
          </a:bodyPr>
          <a:lstStyle/>
          <a:p>
            <a:r>
              <a:rPr sz="1900" b="1" i="0">
                <a:solidFill>
                  <a:srgbClr val="0B211F"/>
                </a:solidFill>
                <a:latin typeface="Inter"/>
              </a:rPr>
              <a:t>Owner (sales)</a:t>
            </a:r>
          </a:p>
        </p:txBody>
      </p:sp>
      <p:sp>
        <p:nvSpPr>
          <p:cNvPr id="5" name="TextBox 4"/>
          <p:cNvSpPr txBox="1"/>
          <p:nvPr/>
        </p:nvSpPr>
        <p:spPr>
          <a:xfrm>
            <a:off x="7636378" y="3788866"/>
            <a:ext cx="2265918" cy="288185"/>
          </a:xfrm>
          <a:prstGeom prst="rect">
            <a:avLst/>
          </a:prstGeom>
          <a:noFill/>
        </p:spPr>
        <p:txBody>
          <a:bodyPr wrap="none" lIns="0" tIns="0" rIns="0" bIns="0">
            <a:spAutoFit/>
          </a:bodyPr>
          <a:lstStyle/>
          <a:p>
            <a:r>
              <a:rPr sz="1900" b="1" i="0">
                <a:solidFill>
                  <a:srgbClr val="0B211F"/>
                </a:solidFill>
                <a:latin typeface="Inter"/>
              </a:rPr>
              <a:t>Owner (customer)</a:t>
            </a:r>
          </a:p>
        </p:txBody>
      </p:sp>
      <p:sp>
        <p:nvSpPr>
          <p:cNvPr id="6" name="TextBox 5"/>
          <p:cNvSpPr txBox="1"/>
          <p:nvPr/>
        </p:nvSpPr>
        <p:spPr>
          <a:xfrm>
            <a:off x="10909108" y="3788866"/>
            <a:ext cx="1148874" cy="288185"/>
          </a:xfrm>
          <a:prstGeom prst="rect">
            <a:avLst/>
          </a:prstGeom>
          <a:noFill/>
        </p:spPr>
        <p:txBody>
          <a:bodyPr wrap="none" lIns="0" tIns="0" rIns="0" bIns="0">
            <a:spAutoFit/>
          </a:bodyPr>
          <a:lstStyle/>
          <a:p>
            <a:r>
              <a:rPr sz="1900" b="1" i="0">
                <a:solidFill>
                  <a:srgbClr val="0B211F"/>
                </a:solidFill>
                <a:latin typeface="Inter"/>
              </a:rPr>
              <a:t>Due date</a:t>
            </a:r>
          </a:p>
        </p:txBody>
      </p:sp>
      <p:sp>
        <p:nvSpPr>
          <p:cNvPr id="7" name="TextBox 6"/>
          <p:cNvSpPr txBox="1"/>
          <p:nvPr/>
        </p:nvSpPr>
        <p:spPr>
          <a:xfrm>
            <a:off x="14181839" y="3788866"/>
            <a:ext cx="873600" cy="288185"/>
          </a:xfrm>
          <a:prstGeom prst="rect">
            <a:avLst/>
          </a:prstGeom>
          <a:noFill/>
        </p:spPr>
        <p:txBody>
          <a:bodyPr wrap="none" lIns="0" tIns="0" rIns="0" bIns="0">
            <a:spAutoFit/>
          </a:bodyPr>
          <a:lstStyle/>
          <a:p>
            <a:r>
              <a:rPr sz="1900" b="1" i="0">
                <a:solidFill>
                  <a:srgbClr val="0B211F"/>
                </a:solidFill>
                <a:latin typeface="Inter"/>
              </a:rPr>
              <a:t>Status</a:t>
            </a:r>
          </a:p>
        </p:txBody>
      </p:sp>
      <p:sp>
        <p:nvSpPr>
          <p:cNvPr id="8" name="TextBox 7"/>
          <p:cNvSpPr txBox="1"/>
          <p:nvPr/>
        </p:nvSpPr>
        <p:spPr>
          <a:xfrm>
            <a:off x="1090917" y="4608016"/>
            <a:ext cx="2454989" cy="288185"/>
          </a:xfrm>
          <a:prstGeom prst="rect">
            <a:avLst/>
          </a:prstGeom>
          <a:noFill/>
        </p:spPr>
        <p:txBody>
          <a:bodyPr wrap="none" lIns="0" tIns="0" rIns="0" bIns="0">
            <a:spAutoFit/>
          </a:bodyPr>
          <a:lstStyle/>
          <a:p>
            <a:r>
              <a:rPr sz="1900" b="0" i="0">
                <a:solidFill>
                  <a:srgbClr val="FFFFFF"/>
                </a:solidFill>
                <a:latin typeface="Inter"/>
              </a:rPr>
              <a:t>1: Discovery sessions</a:t>
            </a:r>
          </a:p>
        </p:txBody>
      </p:sp>
      <p:sp>
        <p:nvSpPr>
          <p:cNvPr id="9" name="TextBox 8"/>
          <p:cNvSpPr txBox="1"/>
          <p:nvPr/>
        </p:nvSpPr>
        <p:spPr>
          <a:xfrm>
            <a:off x="4363647" y="4608016"/>
            <a:ext cx="2051605" cy="288185"/>
          </a:xfrm>
          <a:prstGeom prst="rect">
            <a:avLst/>
          </a:prstGeom>
          <a:noFill/>
        </p:spPr>
        <p:txBody>
          <a:bodyPr wrap="none" lIns="0" tIns="0" rIns="0" bIns="0">
            <a:spAutoFit/>
          </a:bodyPr>
          <a:lstStyle/>
          <a:p>
            <a:r>
              <a:rPr sz="1900" b="0" i="0">
                <a:solidFill>
                  <a:srgbClr val="FFFFFF"/>
                </a:solidFill>
                <a:latin typeface="Inter"/>
              </a:rPr>
              <a:t>name@sales.com</a:t>
            </a:r>
          </a:p>
        </p:txBody>
      </p:sp>
      <p:sp>
        <p:nvSpPr>
          <p:cNvPr id="10" name="TextBox 9"/>
          <p:cNvSpPr txBox="1"/>
          <p:nvPr/>
        </p:nvSpPr>
        <p:spPr>
          <a:xfrm>
            <a:off x="7636378" y="4608016"/>
            <a:ext cx="2508805" cy="288185"/>
          </a:xfrm>
          <a:prstGeom prst="rect">
            <a:avLst/>
          </a:prstGeom>
          <a:noFill/>
        </p:spPr>
        <p:txBody>
          <a:bodyPr wrap="none" lIns="0" tIns="0" rIns="0" bIns="0">
            <a:spAutoFit/>
          </a:bodyPr>
          <a:lstStyle/>
          <a:p>
            <a:r>
              <a:rPr sz="1900" b="0" i="0">
                <a:solidFill>
                  <a:srgbClr val="FFFFFF"/>
                </a:solidFill>
                <a:latin typeface="Inter"/>
              </a:rPr>
              <a:t>name@customer.com</a:t>
            </a:r>
          </a:p>
        </p:txBody>
      </p:sp>
      <p:sp>
        <p:nvSpPr>
          <p:cNvPr id="11" name="TextBox 10"/>
          <p:cNvSpPr txBox="1"/>
          <p:nvPr/>
        </p:nvSpPr>
        <p:spPr>
          <a:xfrm>
            <a:off x="10909108" y="4608016"/>
            <a:ext cx="1064815" cy="288185"/>
          </a:xfrm>
          <a:prstGeom prst="rect">
            <a:avLst/>
          </a:prstGeom>
          <a:noFill/>
        </p:spPr>
        <p:txBody>
          <a:bodyPr wrap="none" lIns="0" tIns="0" rIns="0" bIns="0">
            <a:spAutoFit/>
          </a:bodyPr>
          <a:lstStyle/>
          <a:p>
            <a:r>
              <a:rPr sz="1900" b="0" i="0">
                <a:solidFill>
                  <a:srgbClr val="FFFFFF"/>
                </a:solidFill>
                <a:latin typeface="Inter"/>
              </a:rPr>
              <a:t>1/1/2032</a:t>
            </a:r>
          </a:p>
        </p:txBody>
      </p:sp>
      <p:sp>
        <p:nvSpPr>
          <p:cNvPr id="12" name="TextBox 11"/>
          <p:cNvSpPr txBox="1"/>
          <p:nvPr/>
        </p:nvSpPr>
        <p:spPr>
          <a:xfrm>
            <a:off x="14181839" y="4608016"/>
            <a:ext cx="1173638" cy="288185"/>
          </a:xfrm>
          <a:prstGeom prst="rect">
            <a:avLst/>
          </a:prstGeom>
          <a:noFill/>
        </p:spPr>
        <p:txBody>
          <a:bodyPr wrap="none" lIns="0" tIns="0" rIns="0" bIns="0">
            <a:spAutoFit/>
          </a:bodyPr>
          <a:lstStyle/>
          <a:p>
            <a:r>
              <a:rPr sz="1900" b="0" i="0">
                <a:solidFill>
                  <a:srgbClr val="FFFFFF"/>
                </a:solidFill>
                <a:latin typeface="Inter"/>
              </a:rPr>
              <a:t>Complete</a:t>
            </a:r>
          </a:p>
        </p:txBody>
      </p:sp>
      <p:sp>
        <p:nvSpPr>
          <p:cNvPr id="13" name="TextBox 12"/>
          <p:cNvSpPr txBox="1"/>
          <p:nvPr/>
        </p:nvSpPr>
        <p:spPr>
          <a:xfrm>
            <a:off x="1090917" y="5436691"/>
            <a:ext cx="2145188" cy="288185"/>
          </a:xfrm>
          <a:prstGeom prst="rect">
            <a:avLst/>
          </a:prstGeom>
          <a:noFill/>
        </p:spPr>
        <p:txBody>
          <a:bodyPr wrap="none" lIns="0" tIns="0" rIns="0" bIns="0">
            <a:spAutoFit/>
          </a:bodyPr>
          <a:lstStyle/>
          <a:p>
            <a:r>
              <a:rPr sz="1900" b="0" i="0">
                <a:solidFill>
                  <a:srgbClr val="FFFFFF"/>
                </a:solidFill>
                <a:latin typeface="Inter"/>
              </a:rPr>
              <a:t>1.1: Business value</a:t>
            </a:r>
          </a:p>
        </p:txBody>
      </p:sp>
      <p:sp>
        <p:nvSpPr>
          <p:cNvPr id="14" name="TextBox 13"/>
          <p:cNvSpPr txBox="1"/>
          <p:nvPr/>
        </p:nvSpPr>
        <p:spPr>
          <a:xfrm>
            <a:off x="4363647" y="5436691"/>
            <a:ext cx="2051605" cy="288185"/>
          </a:xfrm>
          <a:prstGeom prst="rect">
            <a:avLst/>
          </a:prstGeom>
          <a:noFill/>
        </p:spPr>
        <p:txBody>
          <a:bodyPr wrap="none" lIns="0" tIns="0" rIns="0" bIns="0">
            <a:spAutoFit/>
          </a:bodyPr>
          <a:lstStyle/>
          <a:p>
            <a:r>
              <a:rPr sz="1900" b="0" i="0">
                <a:solidFill>
                  <a:srgbClr val="FFFFFF"/>
                </a:solidFill>
                <a:latin typeface="Inter"/>
              </a:rPr>
              <a:t>name@sales.com</a:t>
            </a:r>
          </a:p>
        </p:txBody>
      </p:sp>
      <p:sp>
        <p:nvSpPr>
          <p:cNvPr id="15" name="TextBox 14"/>
          <p:cNvSpPr txBox="1"/>
          <p:nvPr/>
        </p:nvSpPr>
        <p:spPr>
          <a:xfrm>
            <a:off x="7636378" y="5436691"/>
            <a:ext cx="2508805" cy="288185"/>
          </a:xfrm>
          <a:prstGeom prst="rect">
            <a:avLst/>
          </a:prstGeom>
          <a:noFill/>
        </p:spPr>
        <p:txBody>
          <a:bodyPr wrap="none" lIns="0" tIns="0" rIns="0" bIns="0">
            <a:spAutoFit/>
          </a:bodyPr>
          <a:lstStyle/>
          <a:p>
            <a:r>
              <a:rPr sz="1900" b="0" i="0">
                <a:solidFill>
                  <a:srgbClr val="FFFFFF"/>
                </a:solidFill>
                <a:latin typeface="Inter"/>
              </a:rPr>
              <a:t>name@customer.com</a:t>
            </a:r>
          </a:p>
        </p:txBody>
      </p:sp>
      <p:sp>
        <p:nvSpPr>
          <p:cNvPr id="16" name="TextBox 15"/>
          <p:cNvSpPr txBox="1"/>
          <p:nvPr/>
        </p:nvSpPr>
        <p:spPr>
          <a:xfrm>
            <a:off x="10909108" y="5436691"/>
            <a:ext cx="1102915" cy="288185"/>
          </a:xfrm>
          <a:prstGeom prst="rect">
            <a:avLst/>
          </a:prstGeom>
          <a:noFill/>
        </p:spPr>
        <p:txBody>
          <a:bodyPr wrap="none" lIns="0" tIns="0" rIns="0" bIns="0">
            <a:spAutoFit/>
          </a:bodyPr>
          <a:lstStyle/>
          <a:p>
            <a:r>
              <a:rPr sz="1900" b="0" i="0">
                <a:solidFill>
                  <a:srgbClr val="FFFFFF"/>
                </a:solidFill>
                <a:latin typeface="Inter"/>
              </a:rPr>
              <a:t>1/2/2032</a:t>
            </a:r>
          </a:p>
        </p:txBody>
      </p:sp>
      <p:sp>
        <p:nvSpPr>
          <p:cNvPr id="17" name="TextBox 16"/>
          <p:cNvSpPr txBox="1"/>
          <p:nvPr/>
        </p:nvSpPr>
        <p:spPr>
          <a:xfrm>
            <a:off x="14181839" y="5436691"/>
            <a:ext cx="1173638" cy="288185"/>
          </a:xfrm>
          <a:prstGeom prst="rect">
            <a:avLst/>
          </a:prstGeom>
          <a:noFill/>
        </p:spPr>
        <p:txBody>
          <a:bodyPr wrap="none" lIns="0" tIns="0" rIns="0" bIns="0">
            <a:spAutoFit/>
          </a:bodyPr>
          <a:lstStyle/>
          <a:p>
            <a:r>
              <a:rPr sz="1900" b="0" i="0">
                <a:solidFill>
                  <a:srgbClr val="FFFFFF"/>
                </a:solidFill>
                <a:latin typeface="Inter"/>
              </a:rPr>
              <a:t>Complete</a:t>
            </a:r>
          </a:p>
        </p:txBody>
      </p:sp>
      <p:sp>
        <p:nvSpPr>
          <p:cNvPr id="18" name="TextBox 17"/>
          <p:cNvSpPr txBox="1"/>
          <p:nvPr/>
        </p:nvSpPr>
        <p:spPr>
          <a:xfrm>
            <a:off x="1090917" y="6265366"/>
            <a:ext cx="1978739" cy="288185"/>
          </a:xfrm>
          <a:prstGeom prst="rect">
            <a:avLst/>
          </a:prstGeom>
          <a:noFill/>
        </p:spPr>
        <p:txBody>
          <a:bodyPr wrap="none" lIns="0" tIns="0" rIns="0" bIns="0">
            <a:spAutoFit/>
          </a:bodyPr>
          <a:lstStyle/>
          <a:p>
            <a:r>
              <a:rPr sz="1900" b="0" i="0">
                <a:solidFill>
                  <a:srgbClr val="FFFFFF"/>
                </a:solidFill>
                <a:latin typeface="Inter"/>
              </a:rPr>
              <a:t>1.2: Buying steps</a:t>
            </a:r>
          </a:p>
        </p:txBody>
      </p:sp>
      <p:sp>
        <p:nvSpPr>
          <p:cNvPr id="19" name="TextBox 18"/>
          <p:cNvSpPr txBox="1"/>
          <p:nvPr/>
        </p:nvSpPr>
        <p:spPr>
          <a:xfrm>
            <a:off x="4363647" y="6265366"/>
            <a:ext cx="2051605" cy="288185"/>
          </a:xfrm>
          <a:prstGeom prst="rect">
            <a:avLst/>
          </a:prstGeom>
          <a:noFill/>
        </p:spPr>
        <p:txBody>
          <a:bodyPr wrap="none" lIns="0" tIns="0" rIns="0" bIns="0">
            <a:spAutoFit/>
          </a:bodyPr>
          <a:lstStyle/>
          <a:p>
            <a:r>
              <a:rPr sz="1900" b="0" i="0">
                <a:solidFill>
                  <a:srgbClr val="FFFFFF"/>
                </a:solidFill>
                <a:latin typeface="Inter"/>
              </a:rPr>
              <a:t>name@sales.com</a:t>
            </a:r>
          </a:p>
        </p:txBody>
      </p:sp>
      <p:sp>
        <p:nvSpPr>
          <p:cNvPr id="20" name="TextBox 19"/>
          <p:cNvSpPr txBox="1"/>
          <p:nvPr/>
        </p:nvSpPr>
        <p:spPr>
          <a:xfrm>
            <a:off x="7636378" y="6265366"/>
            <a:ext cx="2508805" cy="288185"/>
          </a:xfrm>
          <a:prstGeom prst="rect">
            <a:avLst/>
          </a:prstGeom>
          <a:noFill/>
        </p:spPr>
        <p:txBody>
          <a:bodyPr wrap="none" lIns="0" tIns="0" rIns="0" bIns="0">
            <a:spAutoFit/>
          </a:bodyPr>
          <a:lstStyle/>
          <a:p>
            <a:r>
              <a:rPr sz="1900" b="0" i="0">
                <a:solidFill>
                  <a:srgbClr val="FFFFFF"/>
                </a:solidFill>
                <a:latin typeface="Inter"/>
              </a:rPr>
              <a:t>name@customer.com</a:t>
            </a:r>
          </a:p>
        </p:txBody>
      </p:sp>
      <p:sp>
        <p:nvSpPr>
          <p:cNvPr id="21" name="TextBox 20"/>
          <p:cNvSpPr txBox="1"/>
          <p:nvPr/>
        </p:nvSpPr>
        <p:spPr>
          <a:xfrm>
            <a:off x="10909108" y="6265366"/>
            <a:ext cx="1112440" cy="288185"/>
          </a:xfrm>
          <a:prstGeom prst="rect">
            <a:avLst/>
          </a:prstGeom>
          <a:noFill/>
        </p:spPr>
        <p:txBody>
          <a:bodyPr wrap="none" lIns="0" tIns="0" rIns="0" bIns="0">
            <a:spAutoFit/>
          </a:bodyPr>
          <a:lstStyle/>
          <a:p>
            <a:r>
              <a:rPr sz="1900" b="0" i="0">
                <a:solidFill>
                  <a:srgbClr val="FFFFFF"/>
                </a:solidFill>
                <a:latin typeface="Inter"/>
              </a:rPr>
              <a:t>1/3/2032</a:t>
            </a:r>
          </a:p>
        </p:txBody>
      </p:sp>
      <p:sp>
        <p:nvSpPr>
          <p:cNvPr id="22" name="TextBox 21"/>
          <p:cNvSpPr txBox="1"/>
          <p:nvPr/>
        </p:nvSpPr>
        <p:spPr>
          <a:xfrm>
            <a:off x="14181839" y="6265366"/>
            <a:ext cx="1173638" cy="288185"/>
          </a:xfrm>
          <a:prstGeom prst="rect">
            <a:avLst/>
          </a:prstGeom>
          <a:noFill/>
        </p:spPr>
        <p:txBody>
          <a:bodyPr wrap="none" lIns="0" tIns="0" rIns="0" bIns="0">
            <a:spAutoFit/>
          </a:bodyPr>
          <a:lstStyle/>
          <a:p>
            <a:r>
              <a:rPr sz="1900" b="0" i="0">
                <a:solidFill>
                  <a:srgbClr val="FFFFFF"/>
                </a:solidFill>
                <a:latin typeface="Inter"/>
              </a:rPr>
              <a:t>Complete</a:t>
            </a:r>
          </a:p>
        </p:txBody>
      </p:sp>
      <p:sp>
        <p:nvSpPr>
          <p:cNvPr id="23" name="TextBox 22"/>
          <p:cNvSpPr txBox="1"/>
          <p:nvPr/>
        </p:nvSpPr>
        <p:spPr>
          <a:xfrm>
            <a:off x="1090917" y="7094041"/>
            <a:ext cx="1796097" cy="288185"/>
          </a:xfrm>
          <a:prstGeom prst="rect">
            <a:avLst/>
          </a:prstGeom>
          <a:noFill/>
        </p:spPr>
        <p:txBody>
          <a:bodyPr wrap="none" lIns="0" tIns="0" rIns="0" bIns="0">
            <a:spAutoFit/>
          </a:bodyPr>
          <a:lstStyle/>
          <a:p>
            <a:r>
              <a:rPr sz="1900" b="0" i="0">
                <a:solidFill>
                  <a:srgbClr val="FFFFFF"/>
                </a:solidFill>
                <a:latin typeface="Inter"/>
              </a:rPr>
              <a:t>1.3: Sign MNDA</a:t>
            </a:r>
          </a:p>
        </p:txBody>
      </p:sp>
      <p:sp>
        <p:nvSpPr>
          <p:cNvPr id="24" name="TextBox 23"/>
          <p:cNvSpPr txBox="1"/>
          <p:nvPr/>
        </p:nvSpPr>
        <p:spPr>
          <a:xfrm>
            <a:off x="4363647" y="7094041"/>
            <a:ext cx="2051605" cy="288185"/>
          </a:xfrm>
          <a:prstGeom prst="rect">
            <a:avLst/>
          </a:prstGeom>
          <a:noFill/>
        </p:spPr>
        <p:txBody>
          <a:bodyPr wrap="none" lIns="0" tIns="0" rIns="0" bIns="0">
            <a:spAutoFit/>
          </a:bodyPr>
          <a:lstStyle/>
          <a:p>
            <a:r>
              <a:rPr sz="1900" b="0" i="0">
                <a:solidFill>
                  <a:srgbClr val="FFFFFF"/>
                </a:solidFill>
                <a:latin typeface="Inter"/>
              </a:rPr>
              <a:t>name@sales.com</a:t>
            </a:r>
          </a:p>
        </p:txBody>
      </p:sp>
      <p:sp>
        <p:nvSpPr>
          <p:cNvPr id="25" name="TextBox 24"/>
          <p:cNvSpPr txBox="1"/>
          <p:nvPr/>
        </p:nvSpPr>
        <p:spPr>
          <a:xfrm>
            <a:off x="7636378" y="7094041"/>
            <a:ext cx="2508805" cy="288185"/>
          </a:xfrm>
          <a:prstGeom prst="rect">
            <a:avLst/>
          </a:prstGeom>
          <a:noFill/>
        </p:spPr>
        <p:txBody>
          <a:bodyPr wrap="none" lIns="0" tIns="0" rIns="0" bIns="0">
            <a:spAutoFit/>
          </a:bodyPr>
          <a:lstStyle/>
          <a:p>
            <a:r>
              <a:rPr sz="1900" b="0" i="0">
                <a:solidFill>
                  <a:srgbClr val="FFFFFF"/>
                </a:solidFill>
                <a:latin typeface="Inter"/>
              </a:rPr>
              <a:t>name@customer.com</a:t>
            </a:r>
          </a:p>
        </p:txBody>
      </p:sp>
      <p:sp>
        <p:nvSpPr>
          <p:cNvPr id="26" name="TextBox 25"/>
          <p:cNvSpPr txBox="1"/>
          <p:nvPr/>
        </p:nvSpPr>
        <p:spPr>
          <a:xfrm>
            <a:off x="10909108" y="7094041"/>
            <a:ext cx="1102915" cy="288185"/>
          </a:xfrm>
          <a:prstGeom prst="rect">
            <a:avLst/>
          </a:prstGeom>
          <a:noFill/>
        </p:spPr>
        <p:txBody>
          <a:bodyPr wrap="none" lIns="0" tIns="0" rIns="0" bIns="0">
            <a:spAutoFit/>
          </a:bodyPr>
          <a:lstStyle/>
          <a:p>
            <a:r>
              <a:rPr sz="1900" b="0" i="0">
                <a:solidFill>
                  <a:srgbClr val="FFFFFF"/>
                </a:solidFill>
                <a:latin typeface="Inter"/>
              </a:rPr>
              <a:t>1/4/2032</a:t>
            </a:r>
          </a:p>
        </p:txBody>
      </p:sp>
      <p:sp>
        <p:nvSpPr>
          <p:cNvPr id="27" name="TextBox 26"/>
          <p:cNvSpPr txBox="1"/>
          <p:nvPr/>
        </p:nvSpPr>
        <p:spPr>
          <a:xfrm>
            <a:off x="14181839" y="7094041"/>
            <a:ext cx="1173638" cy="288185"/>
          </a:xfrm>
          <a:prstGeom prst="rect">
            <a:avLst/>
          </a:prstGeom>
          <a:noFill/>
        </p:spPr>
        <p:txBody>
          <a:bodyPr wrap="none" lIns="0" tIns="0" rIns="0" bIns="0">
            <a:spAutoFit/>
          </a:bodyPr>
          <a:lstStyle/>
          <a:p>
            <a:r>
              <a:rPr sz="1900" b="0" i="0">
                <a:solidFill>
                  <a:srgbClr val="FFFFFF"/>
                </a:solidFill>
                <a:latin typeface="Inter"/>
              </a:rPr>
              <a:t>Complete</a:t>
            </a:r>
          </a:p>
        </p:txBody>
      </p:sp>
      <p:sp>
        <p:nvSpPr>
          <p:cNvPr id="28" name="TextBox 27"/>
          <p:cNvSpPr txBox="1"/>
          <p:nvPr/>
        </p:nvSpPr>
        <p:spPr>
          <a:xfrm>
            <a:off x="1090917" y="7932241"/>
            <a:ext cx="2086133" cy="288185"/>
          </a:xfrm>
          <a:prstGeom prst="rect">
            <a:avLst/>
          </a:prstGeom>
          <a:noFill/>
        </p:spPr>
        <p:txBody>
          <a:bodyPr wrap="none" lIns="0" tIns="0" rIns="0" bIns="0">
            <a:spAutoFit/>
          </a:bodyPr>
          <a:lstStyle/>
          <a:p>
            <a:r>
              <a:rPr sz="1900" b="1" i="0">
                <a:solidFill>
                  <a:srgbClr val="00D9C6"/>
                </a:solidFill>
                <a:latin typeface="Inter"/>
              </a:rPr>
              <a:t>2:  Product demo</a:t>
            </a:r>
          </a:p>
        </p:txBody>
      </p:sp>
      <p:sp>
        <p:nvSpPr>
          <p:cNvPr id="29" name="TextBox 28"/>
          <p:cNvSpPr txBox="1"/>
          <p:nvPr/>
        </p:nvSpPr>
        <p:spPr>
          <a:xfrm>
            <a:off x="4363647" y="7932241"/>
            <a:ext cx="2051605" cy="288185"/>
          </a:xfrm>
          <a:prstGeom prst="rect">
            <a:avLst/>
          </a:prstGeom>
          <a:noFill/>
        </p:spPr>
        <p:txBody>
          <a:bodyPr wrap="none" lIns="0" tIns="0" rIns="0" bIns="0">
            <a:spAutoFit/>
          </a:bodyPr>
          <a:lstStyle/>
          <a:p>
            <a:r>
              <a:rPr sz="1900" b="0" i="0">
                <a:solidFill>
                  <a:srgbClr val="FFFFFF"/>
                </a:solidFill>
                <a:latin typeface="Inter"/>
              </a:rPr>
              <a:t>name@sales.com</a:t>
            </a:r>
          </a:p>
        </p:txBody>
      </p:sp>
      <p:sp>
        <p:nvSpPr>
          <p:cNvPr id="30" name="TextBox 29"/>
          <p:cNvSpPr txBox="1"/>
          <p:nvPr/>
        </p:nvSpPr>
        <p:spPr>
          <a:xfrm>
            <a:off x="7636378" y="7932241"/>
            <a:ext cx="2508805" cy="288185"/>
          </a:xfrm>
          <a:prstGeom prst="rect">
            <a:avLst/>
          </a:prstGeom>
          <a:noFill/>
        </p:spPr>
        <p:txBody>
          <a:bodyPr wrap="none" lIns="0" tIns="0" rIns="0" bIns="0">
            <a:spAutoFit/>
          </a:bodyPr>
          <a:lstStyle/>
          <a:p>
            <a:r>
              <a:rPr sz="1900" b="0" i="0">
                <a:solidFill>
                  <a:srgbClr val="FFFFFF"/>
                </a:solidFill>
                <a:latin typeface="Inter"/>
              </a:rPr>
              <a:t>name@customer.com</a:t>
            </a:r>
          </a:p>
        </p:txBody>
      </p:sp>
      <p:sp>
        <p:nvSpPr>
          <p:cNvPr id="31" name="TextBox 30"/>
          <p:cNvSpPr txBox="1"/>
          <p:nvPr/>
        </p:nvSpPr>
        <p:spPr>
          <a:xfrm>
            <a:off x="10909108" y="7932241"/>
            <a:ext cx="1102915" cy="288185"/>
          </a:xfrm>
          <a:prstGeom prst="rect">
            <a:avLst/>
          </a:prstGeom>
          <a:noFill/>
        </p:spPr>
        <p:txBody>
          <a:bodyPr wrap="none" lIns="0" tIns="0" rIns="0" bIns="0">
            <a:spAutoFit/>
          </a:bodyPr>
          <a:lstStyle/>
          <a:p>
            <a:r>
              <a:rPr sz="1900" b="0" i="0">
                <a:solidFill>
                  <a:srgbClr val="FFFFFF"/>
                </a:solidFill>
                <a:latin typeface="Inter"/>
              </a:rPr>
              <a:t>1/5/2032</a:t>
            </a:r>
          </a:p>
        </p:txBody>
      </p:sp>
      <p:sp>
        <p:nvSpPr>
          <p:cNvPr id="32" name="TextBox 31"/>
          <p:cNvSpPr txBox="1"/>
          <p:nvPr/>
        </p:nvSpPr>
        <p:spPr>
          <a:xfrm>
            <a:off x="14181839" y="7932241"/>
            <a:ext cx="1027667" cy="288185"/>
          </a:xfrm>
          <a:prstGeom prst="rect">
            <a:avLst/>
          </a:prstGeom>
          <a:noFill/>
        </p:spPr>
        <p:txBody>
          <a:bodyPr wrap="none" lIns="0" tIns="0" rIns="0" bIns="0">
            <a:spAutoFit/>
          </a:bodyPr>
          <a:lstStyle/>
          <a:p>
            <a:r>
              <a:rPr sz="1900" b="0" i="0">
                <a:solidFill>
                  <a:srgbClr val="FFFFFF"/>
                </a:solidFill>
                <a:latin typeface="Inter"/>
              </a:rPr>
              <a:t>Ongoing</a:t>
            </a:r>
          </a:p>
        </p:txBody>
      </p:sp>
      <p:sp>
        <p:nvSpPr>
          <p:cNvPr id="33" name="TextBox 32"/>
          <p:cNvSpPr txBox="1"/>
          <p:nvPr/>
        </p:nvSpPr>
        <p:spPr>
          <a:xfrm>
            <a:off x="1090917" y="8760916"/>
            <a:ext cx="2095420" cy="288185"/>
          </a:xfrm>
          <a:prstGeom prst="rect">
            <a:avLst/>
          </a:prstGeom>
          <a:noFill/>
        </p:spPr>
        <p:txBody>
          <a:bodyPr wrap="none" lIns="0" tIns="0" rIns="0" bIns="0">
            <a:spAutoFit/>
          </a:bodyPr>
          <a:lstStyle/>
          <a:p>
            <a:r>
              <a:rPr sz="1900" b="0" i="0">
                <a:solidFill>
                  <a:srgbClr val="FFFFFF"/>
                </a:solidFill>
                <a:latin typeface="Inter"/>
              </a:rPr>
              <a:t>3: Security review</a:t>
            </a:r>
          </a:p>
        </p:txBody>
      </p:sp>
      <p:sp>
        <p:nvSpPr>
          <p:cNvPr id="34" name="TextBox 33"/>
          <p:cNvSpPr txBox="1"/>
          <p:nvPr/>
        </p:nvSpPr>
        <p:spPr>
          <a:xfrm>
            <a:off x="4363647" y="8760916"/>
            <a:ext cx="2051605" cy="288185"/>
          </a:xfrm>
          <a:prstGeom prst="rect">
            <a:avLst/>
          </a:prstGeom>
          <a:noFill/>
        </p:spPr>
        <p:txBody>
          <a:bodyPr wrap="none" lIns="0" tIns="0" rIns="0" bIns="0">
            <a:spAutoFit/>
          </a:bodyPr>
          <a:lstStyle/>
          <a:p>
            <a:r>
              <a:rPr sz="1900" b="0" i="0">
                <a:solidFill>
                  <a:srgbClr val="FFFFFF"/>
                </a:solidFill>
                <a:latin typeface="Inter"/>
              </a:rPr>
              <a:t>name@sales.com</a:t>
            </a:r>
          </a:p>
        </p:txBody>
      </p:sp>
      <p:sp>
        <p:nvSpPr>
          <p:cNvPr id="35" name="TextBox 34"/>
          <p:cNvSpPr txBox="1"/>
          <p:nvPr/>
        </p:nvSpPr>
        <p:spPr>
          <a:xfrm>
            <a:off x="7636378" y="8760916"/>
            <a:ext cx="2508805" cy="288185"/>
          </a:xfrm>
          <a:prstGeom prst="rect">
            <a:avLst/>
          </a:prstGeom>
          <a:noFill/>
        </p:spPr>
        <p:txBody>
          <a:bodyPr wrap="none" lIns="0" tIns="0" rIns="0" bIns="0">
            <a:spAutoFit/>
          </a:bodyPr>
          <a:lstStyle/>
          <a:p>
            <a:r>
              <a:rPr sz="1900" b="0" i="0">
                <a:solidFill>
                  <a:srgbClr val="FFFFFF"/>
                </a:solidFill>
                <a:latin typeface="Inter"/>
              </a:rPr>
              <a:t>name@customer.com</a:t>
            </a:r>
          </a:p>
        </p:txBody>
      </p:sp>
      <p:sp>
        <p:nvSpPr>
          <p:cNvPr id="36" name="TextBox 35"/>
          <p:cNvSpPr txBox="1"/>
          <p:nvPr/>
        </p:nvSpPr>
        <p:spPr>
          <a:xfrm>
            <a:off x="10909108" y="8760916"/>
            <a:ext cx="1112440" cy="288185"/>
          </a:xfrm>
          <a:prstGeom prst="rect">
            <a:avLst/>
          </a:prstGeom>
          <a:noFill/>
        </p:spPr>
        <p:txBody>
          <a:bodyPr wrap="none" lIns="0" tIns="0" rIns="0" bIns="0">
            <a:spAutoFit/>
          </a:bodyPr>
          <a:lstStyle/>
          <a:p>
            <a:r>
              <a:rPr sz="1900" b="0" i="0">
                <a:solidFill>
                  <a:srgbClr val="FFFFFF"/>
                </a:solidFill>
                <a:latin typeface="Inter"/>
              </a:rPr>
              <a:t>1/6/2032</a:t>
            </a:r>
          </a:p>
        </p:txBody>
      </p:sp>
      <p:sp>
        <p:nvSpPr>
          <p:cNvPr id="37" name="TextBox 36"/>
          <p:cNvSpPr txBox="1"/>
          <p:nvPr/>
        </p:nvSpPr>
        <p:spPr>
          <a:xfrm>
            <a:off x="14181839" y="8760916"/>
            <a:ext cx="1335563" cy="288185"/>
          </a:xfrm>
          <a:prstGeom prst="rect">
            <a:avLst/>
          </a:prstGeom>
          <a:noFill/>
        </p:spPr>
        <p:txBody>
          <a:bodyPr wrap="none" lIns="0" tIns="0" rIns="0" bIns="0">
            <a:spAutoFit/>
          </a:bodyPr>
          <a:lstStyle/>
          <a:p>
            <a:r>
              <a:rPr sz="1900" b="0" i="0">
                <a:solidFill>
                  <a:srgbClr val="FFFFFF"/>
                </a:solidFill>
                <a:latin typeface="Inter"/>
              </a:rPr>
              <a:t>Incomplete</a:t>
            </a:r>
          </a:p>
        </p:txBody>
      </p:sp>
      <p:sp>
        <p:nvSpPr>
          <p:cNvPr id="38" name="TextBox 37"/>
          <p:cNvSpPr txBox="1"/>
          <p:nvPr/>
        </p:nvSpPr>
        <p:spPr>
          <a:xfrm>
            <a:off x="952804" y="1628775"/>
            <a:ext cx="16294024" cy="368877"/>
          </a:xfrm>
          <a:prstGeom prst="rect">
            <a:avLst/>
          </a:prstGeom>
          <a:noFill/>
        </p:spPr>
        <p:txBody>
          <a:bodyPr wrap="none" lIns="0" tIns="0" rIns="0" bIns="0">
            <a:spAutoFit/>
          </a:bodyPr>
          <a:lstStyle/>
          <a:p>
            <a:r>
              <a:rPr sz="2400" b="0" i="0">
                <a:solidFill>
                  <a:srgbClr val="FFFFFF"/>
                </a:solidFill>
                <a:latin typeface="Inter"/>
              </a:rPr>
              <a:t>List your key milestones and sub-steps here, or link to a spreadsheet that contains more granular details. Assign </a:t>
            </a:r>
          </a:p>
        </p:txBody>
      </p:sp>
      <p:sp>
        <p:nvSpPr>
          <p:cNvPr id="39" name="TextBox 38"/>
          <p:cNvSpPr txBox="1"/>
          <p:nvPr/>
        </p:nvSpPr>
        <p:spPr>
          <a:xfrm>
            <a:off x="952804" y="2133600"/>
            <a:ext cx="16179724" cy="368877"/>
          </a:xfrm>
          <a:prstGeom prst="rect">
            <a:avLst/>
          </a:prstGeom>
          <a:noFill/>
        </p:spPr>
        <p:txBody>
          <a:bodyPr wrap="none" lIns="0" tIns="0" rIns="0" bIns="0">
            <a:spAutoFit/>
          </a:bodyPr>
          <a:lstStyle/>
          <a:p>
            <a:r>
              <a:rPr sz="2400" b="0" i="0">
                <a:solidFill>
                  <a:srgbClr val="FFFFFF"/>
                </a:solidFill>
                <a:latin typeface="Inter"/>
              </a:rPr>
              <a:t>two specific owners — one from the sales team and one from the customer team — to boost accountability and </a:t>
            </a:r>
          </a:p>
        </p:txBody>
      </p:sp>
      <p:sp>
        <p:nvSpPr>
          <p:cNvPr id="40" name="TextBox 39"/>
          <p:cNvSpPr txBox="1"/>
          <p:nvPr/>
        </p:nvSpPr>
        <p:spPr>
          <a:xfrm>
            <a:off x="952804" y="2638425"/>
            <a:ext cx="16341649" cy="368877"/>
          </a:xfrm>
          <a:prstGeom prst="rect">
            <a:avLst/>
          </a:prstGeom>
          <a:noFill/>
        </p:spPr>
        <p:txBody>
          <a:bodyPr wrap="none" lIns="0" tIns="0" rIns="0" bIns="0">
            <a:spAutoFit/>
          </a:bodyPr>
          <a:lstStyle/>
          <a:p>
            <a:r>
              <a:rPr sz="2400" b="0" i="0">
                <a:solidFill>
                  <a:srgbClr val="FFFFFF"/>
                </a:solidFill>
                <a:latin typeface="Inter"/>
              </a:rPr>
              <a:t>make it easy to transfer the responsibility if new members come on board. Remember, mutual action is the name </a:t>
            </a:r>
          </a:p>
        </p:txBody>
      </p:sp>
      <p:sp>
        <p:nvSpPr>
          <p:cNvPr id="41" name="TextBox 40"/>
          <p:cNvSpPr txBox="1"/>
          <p:nvPr/>
        </p:nvSpPr>
        <p:spPr>
          <a:xfrm>
            <a:off x="952804" y="3133725"/>
            <a:ext cx="1909749" cy="368877"/>
          </a:xfrm>
          <a:prstGeom prst="rect">
            <a:avLst/>
          </a:prstGeom>
          <a:noFill/>
        </p:spPr>
        <p:txBody>
          <a:bodyPr wrap="none" lIns="0" tIns="0" rIns="0" bIns="0">
            <a:spAutoFit/>
          </a:bodyPr>
          <a:lstStyle/>
          <a:p>
            <a:r>
              <a:rPr sz="2400" b="0" i="0">
                <a:solidFill>
                  <a:srgbClr val="FFFFFF"/>
                </a:solidFill>
                <a:latin typeface="Inter"/>
              </a:rPr>
              <a:t>of the game.</a:t>
            </a:r>
          </a:p>
        </p:txBody>
      </p:sp>
      <p:sp>
        <p:nvSpPr>
          <p:cNvPr id="42" name="TextBox 41"/>
          <p:cNvSpPr txBox="1"/>
          <p:nvPr/>
        </p:nvSpPr>
        <p:spPr>
          <a:xfrm>
            <a:off x="952500" y="948928"/>
            <a:ext cx="1387284" cy="230548"/>
          </a:xfrm>
          <a:prstGeom prst="rect">
            <a:avLst/>
          </a:prstGeom>
          <a:noFill/>
        </p:spPr>
        <p:txBody>
          <a:bodyPr wrap="none" lIns="0" tIns="0" rIns="0" bIns="0">
            <a:spAutoFit/>
          </a:bodyPr>
          <a:lstStyle/>
          <a:p>
            <a:r>
              <a:rPr sz="1500" b="0" i="0">
                <a:solidFill>
                  <a:srgbClr val="00D9C6"/>
                </a:solidFill>
                <a:latin typeface="Inter"/>
              </a:rPr>
              <a:t>OWNERSHIP</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13.png"/>
          <p:cNvPicPr>
            <a:picLocks noChangeAspect="1"/>
          </p:cNvPicPr>
          <p:nvPr/>
        </p:nvPicPr>
        <p:blipFill>
          <a:blip r:embed="rId2"/>
          <a:stretch>
            <a:fillRect/>
          </a:stretch>
        </p:blipFill>
        <p:spPr>
          <a:xfrm>
            <a:off x="0" y="0"/>
            <a:ext cx="18288000" cy="10287000"/>
          </a:xfrm>
          <a:prstGeom prst="rect">
            <a:avLst/>
          </a:prstGeom>
        </p:spPr>
      </p:pic>
      <p:sp>
        <p:nvSpPr>
          <p:cNvPr id="3" name="TextBox 2"/>
          <p:cNvSpPr txBox="1"/>
          <p:nvPr/>
        </p:nvSpPr>
        <p:spPr>
          <a:xfrm>
            <a:off x="4000598" y="6195646"/>
            <a:ext cx="292040" cy="368762"/>
          </a:xfrm>
          <a:prstGeom prst="rect">
            <a:avLst/>
          </a:prstGeom>
          <a:noFill/>
        </p:spPr>
        <p:txBody>
          <a:bodyPr wrap="none" lIns="0" tIns="0" rIns="0" bIns="0">
            <a:spAutoFit/>
          </a:bodyPr>
          <a:lstStyle/>
          <a:p>
            <a:r>
              <a:rPr sz="2400" b="0" i="0">
                <a:solidFill>
                  <a:srgbClr val="FFFFFF"/>
                </a:solidFill>
                <a:latin typeface="Inter"/>
              </a:rPr>
              <a:t>0</a:t>
            </a:r>
          </a:p>
        </p:txBody>
      </p:sp>
      <p:sp>
        <p:nvSpPr>
          <p:cNvPr id="4" name="TextBox 3"/>
          <p:cNvSpPr txBox="1"/>
          <p:nvPr/>
        </p:nvSpPr>
        <p:spPr>
          <a:xfrm>
            <a:off x="4010123" y="5051645"/>
            <a:ext cx="285946" cy="368761"/>
          </a:xfrm>
          <a:prstGeom prst="rect">
            <a:avLst/>
          </a:prstGeom>
          <a:noFill/>
        </p:spPr>
        <p:txBody>
          <a:bodyPr wrap="none" lIns="0" tIns="0" rIns="0" bIns="0">
            <a:spAutoFit/>
          </a:bodyPr>
          <a:lstStyle/>
          <a:p>
            <a:r>
              <a:rPr sz="2400" b="0" i="0">
                <a:solidFill>
                  <a:srgbClr val="FFFFFF"/>
                </a:solidFill>
                <a:latin typeface="Inter"/>
              </a:rPr>
              <a:t>2</a:t>
            </a:r>
          </a:p>
        </p:txBody>
      </p:sp>
      <p:sp>
        <p:nvSpPr>
          <p:cNvPr id="5" name="TextBox 4"/>
          <p:cNvSpPr txBox="1"/>
          <p:nvPr/>
        </p:nvSpPr>
        <p:spPr>
          <a:xfrm>
            <a:off x="3991073" y="3907644"/>
            <a:ext cx="297220" cy="368761"/>
          </a:xfrm>
          <a:prstGeom prst="rect">
            <a:avLst/>
          </a:prstGeom>
          <a:noFill/>
        </p:spPr>
        <p:txBody>
          <a:bodyPr wrap="none" lIns="0" tIns="0" rIns="0" bIns="0">
            <a:spAutoFit/>
          </a:bodyPr>
          <a:lstStyle/>
          <a:p>
            <a:r>
              <a:rPr sz="2400" b="0" i="0">
                <a:solidFill>
                  <a:srgbClr val="FFFFFF"/>
                </a:solidFill>
                <a:latin typeface="Inter"/>
              </a:rPr>
              <a:t>4</a:t>
            </a:r>
          </a:p>
        </p:txBody>
      </p:sp>
      <p:sp>
        <p:nvSpPr>
          <p:cNvPr id="6" name="TextBox 5"/>
          <p:cNvSpPr txBox="1"/>
          <p:nvPr/>
        </p:nvSpPr>
        <p:spPr>
          <a:xfrm>
            <a:off x="4000598" y="2763644"/>
            <a:ext cx="291735" cy="368761"/>
          </a:xfrm>
          <a:prstGeom prst="rect">
            <a:avLst/>
          </a:prstGeom>
          <a:noFill/>
        </p:spPr>
        <p:txBody>
          <a:bodyPr wrap="none" lIns="0" tIns="0" rIns="0" bIns="0">
            <a:spAutoFit/>
          </a:bodyPr>
          <a:lstStyle/>
          <a:p>
            <a:r>
              <a:rPr sz="2400" b="0" i="0">
                <a:solidFill>
                  <a:srgbClr val="FFFFFF"/>
                </a:solidFill>
                <a:latin typeface="Inter"/>
              </a:rPr>
              <a:t>6</a:t>
            </a:r>
          </a:p>
        </p:txBody>
      </p:sp>
      <p:sp>
        <p:nvSpPr>
          <p:cNvPr id="7" name="TextBox 6"/>
          <p:cNvSpPr txBox="1"/>
          <p:nvPr/>
        </p:nvSpPr>
        <p:spPr>
          <a:xfrm>
            <a:off x="4000598" y="1619642"/>
            <a:ext cx="289298" cy="368761"/>
          </a:xfrm>
          <a:prstGeom prst="rect">
            <a:avLst/>
          </a:prstGeom>
          <a:noFill/>
        </p:spPr>
        <p:txBody>
          <a:bodyPr wrap="none" lIns="0" tIns="0" rIns="0" bIns="0">
            <a:spAutoFit/>
          </a:bodyPr>
          <a:lstStyle/>
          <a:p>
            <a:r>
              <a:rPr sz="2400" b="0" i="0">
                <a:solidFill>
                  <a:srgbClr val="FFFFFF"/>
                </a:solidFill>
                <a:latin typeface="Inter"/>
              </a:rPr>
              <a:t>8</a:t>
            </a:r>
          </a:p>
        </p:txBody>
      </p:sp>
      <p:sp>
        <p:nvSpPr>
          <p:cNvPr id="8" name="TextBox 7"/>
          <p:cNvSpPr txBox="1"/>
          <p:nvPr/>
        </p:nvSpPr>
        <p:spPr>
          <a:xfrm>
            <a:off x="5381696" y="6516891"/>
            <a:ext cx="481107" cy="368761"/>
          </a:xfrm>
          <a:prstGeom prst="rect">
            <a:avLst/>
          </a:prstGeom>
          <a:noFill/>
        </p:spPr>
        <p:txBody>
          <a:bodyPr wrap="none" lIns="0" tIns="0" rIns="0" bIns="0">
            <a:spAutoFit/>
          </a:bodyPr>
          <a:lstStyle/>
          <a:p>
            <a:r>
              <a:rPr sz="2400" b="0" i="0">
                <a:solidFill>
                  <a:srgbClr val="FFFFFF"/>
                </a:solidFill>
                <a:latin typeface="Inter"/>
              </a:rPr>
              <a:t>Q1</a:t>
            </a:r>
          </a:p>
        </p:txBody>
      </p:sp>
      <p:sp>
        <p:nvSpPr>
          <p:cNvPr id="9" name="TextBox 8"/>
          <p:cNvSpPr txBox="1"/>
          <p:nvPr/>
        </p:nvSpPr>
        <p:spPr>
          <a:xfrm>
            <a:off x="7743848" y="6516891"/>
            <a:ext cx="524071" cy="368761"/>
          </a:xfrm>
          <a:prstGeom prst="rect">
            <a:avLst/>
          </a:prstGeom>
          <a:noFill/>
        </p:spPr>
        <p:txBody>
          <a:bodyPr wrap="none" lIns="0" tIns="0" rIns="0" bIns="0">
            <a:spAutoFit/>
          </a:bodyPr>
          <a:lstStyle/>
          <a:p>
            <a:r>
              <a:rPr sz="2400" b="0" i="0">
                <a:solidFill>
                  <a:srgbClr val="FFFFFF"/>
                </a:solidFill>
                <a:latin typeface="Inter"/>
              </a:rPr>
              <a:t>Q2</a:t>
            </a:r>
          </a:p>
        </p:txBody>
      </p:sp>
      <p:sp>
        <p:nvSpPr>
          <p:cNvPr id="10" name="TextBox 9"/>
          <p:cNvSpPr txBox="1"/>
          <p:nvPr/>
        </p:nvSpPr>
        <p:spPr>
          <a:xfrm>
            <a:off x="10120288" y="6516891"/>
            <a:ext cx="533517" cy="368761"/>
          </a:xfrm>
          <a:prstGeom prst="rect">
            <a:avLst/>
          </a:prstGeom>
          <a:noFill/>
        </p:spPr>
        <p:txBody>
          <a:bodyPr wrap="none" lIns="0" tIns="0" rIns="0" bIns="0">
            <a:spAutoFit/>
          </a:bodyPr>
          <a:lstStyle/>
          <a:p>
            <a:r>
              <a:rPr sz="2400" b="0" i="0">
                <a:solidFill>
                  <a:srgbClr val="FFFFFF"/>
                </a:solidFill>
                <a:latin typeface="Inter"/>
              </a:rPr>
              <a:t>Q3</a:t>
            </a:r>
          </a:p>
        </p:txBody>
      </p:sp>
      <p:sp>
        <p:nvSpPr>
          <p:cNvPr id="11" name="TextBox 10"/>
          <p:cNvSpPr txBox="1"/>
          <p:nvPr/>
        </p:nvSpPr>
        <p:spPr>
          <a:xfrm>
            <a:off x="12496727" y="6516891"/>
            <a:ext cx="535345" cy="368761"/>
          </a:xfrm>
          <a:prstGeom prst="rect">
            <a:avLst/>
          </a:prstGeom>
          <a:noFill/>
        </p:spPr>
        <p:txBody>
          <a:bodyPr wrap="none" lIns="0" tIns="0" rIns="0" bIns="0">
            <a:spAutoFit/>
          </a:bodyPr>
          <a:lstStyle/>
          <a:p>
            <a:r>
              <a:rPr sz="2400" b="0" i="0">
                <a:solidFill>
                  <a:srgbClr val="FFFFFF"/>
                </a:solidFill>
                <a:latin typeface="Inter"/>
              </a:rPr>
              <a:t>Q4</a:t>
            </a:r>
          </a:p>
        </p:txBody>
      </p:sp>
      <p:sp>
        <p:nvSpPr>
          <p:cNvPr id="12" name="TextBox 11"/>
          <p:cNvSpPr txBox="1"/>
          <p:nvPr/>
        </p:nvSpPr>
        <p:spPr>
          <a:xfrm>
            <a:off x="7516266" y="1335405"/>
            <a:ext cx="870610" cy="368877"/>
          </a:xfrm>
          <a:prstGeom prst="rect">
            <a:avLst/>
          </a:prstGeom>
          <a:noFill/>
        </p:spPr>
        <p:txBody>
          <a:bodyPr wrap="none" lIns="0" tIns="0" rIns="0" bIns="0">
            <a:spAutoFit/>
          </a:bodyPr>
          <a:lstStyle/>
          <a:p>
            <a:r>
              <a:rPr sz="2400" b="0" i="0">
                <a:solidFill>
                  <a:srgbClr val="FFFFFF"/>
                </a:solidFill>
                <a:latin typeface="Inter"/>
              </a:rPr>
              <a:t>Sales</a:t>
            </a:r>
          </a:p>
        </p:txBody>
      </p:sp>
      <p:sp>
        <p:nvSpPr>
          <p:cNvPr id="13" name="TextBox 12"/>
          <p:cNvSpPr txBox="1"/>
          <p:nvPr/>
        </p:nvSpPr>
        <p:spPr>
          <a:xfrm>
            <a:off x="8836223" y="1335405"/>
            <a:ext cx="869772" cy="368877"/>
          </a:xfrm>
          <a:prstGeom prst="rect">
            <a:avLst/>
          </a:prstGeom>
          <a:noFill/>
        </p:spPr>
        <p:txBody>
          <a:bodyPr wrap="none" lIns="0" tIns="0" rIns="0" bIns="0">
            <a:spAutoFit/>
          </a:bodyPr>
          <a:lstStyle/>
          <a:p>
            <a:r>
              <a:rPr sz="2400" b="0" i="0">
                <a:solidFill>
                  <a:srgbClr val="FFFFFF"/>
                </a:solidFill>
                <a:latin typeface="Inter"/>
              </a:rPr>
              <a:t>Profit</a:t>
            </a:r>
          </a:p>
        </p:txBody>
      </p:sp>
      <p:sp>
        <p:nvSpPr>
          <p:cNvPr id="14" name="TextBox 13"/>
          <p:cNvSpPr txBox="1"/>
          <p:nvPr/>
        </p:nvSpPr>
        <p:spPr>
          <a:xfrm>
            <a:off x="10156180" y="1335405"/>
            <a:ext cx="774522" cy="368877"/>
          </a:xfrm>
          <a:prstGeom prst="rect">
            <a:avLst/>
          </a:prstGeom>
          <a:noFill/>
        </p:spPr>
        <p:txBody>
          <a:bodyPr wrap="none" lIns="0" tIns="0" rIns="0" bIns="0">
            <a:spAutoFit/>
          </a:bodyPr>
          <a:lstStyle/>
          <a:p>
            <a:r>
              <a:rPr sz="2400" b="0" i="0">
                <a:solidFill>
                  <a:srgbClr val="FFFFFF"/>
                </a:solidFill>
                <a:latin typeface="Inter"/>
              </a:rPr>
              <a:t>Cost</a:t>
            </a:r>
          </a:p>
        </p:txBody>
      </p:sp>
      <p:sp>
        <p:nvSpPr>
          <p:cNvPr id="15" name="TextBox 14"/>
          <p:cNvSpPr txBox="1"/>
          <p:nvPr/>
        </p:nvSpPr>
        <p:spPr>
          <a:xfrm>
            <a:off x="12858750" y="3295650"/>
            <a:ext cx="1344117" cy="368877"/>
          </a:xfrm>
          <a:prstGeom prst="rect">
            <a:avLst/>
          </a:prstGeom>
          <a:noFill/>
        </p:spPr>
        <p:txBody>
          <a:bodyPr wrap="none" lIns="0" tIns="0" rIns="0" bIns="0">
            <a:spAutoFit/>
          </a:bodyPr>
          <a:lstStyle/>
          <a:p>
            <a:r>
              <a:rPr sz="2400" b="0" i="0">
                <a:solidFill>
                  <a:srgbClr val="FFFFFF"/>
                </a:solidFill>
                <a:latin typeface="Inter"/>
              </a:rPr>
              <a:t>20% ROI</a:t>
            </a:r>
          </a:p>
        </p:txBody>
      </p:sp>
      <p:sp>
        <p:nvSpPr>
          <p:cNvPr id="16" name="TextBox 15"/>
          <p:cNvSpPr txBox="1"/>
          <p:nvPr/>
        </p:nvSpPr>
        <p:spPr>
          <a:xfrm>
            <a:off x="2752725" y="3724275"/>
            <a:ext cx="1203147" cy="368877"/>
          </a:xfrm>
          <a:prstGeom prst="rect">
            <a:avLst/>
          </a:prstGeom>
          <a:noFill/>
        </p:spPr>
        <p:txBody>
          <a:bodyPr wrap="none" lIns="0" tIns="0" rIns="0" bIns="0">
            <a:spAutoFit/>
          </a:bodyPr>
          <a:lstStyle/>
          <a:p>
            <a:r>
              <a:rPr sz="2400" b="0" i="0">
                <a:solidFill>
                  <a:srgbClr val="FFFFFF"/>
                </a:solidFill>
                <a:latin typeface="Inter"/>
              </a:rPr>
              <a:t>Amount</a:t>
            </a:r>
          </a:p>
        </p:txBody>
      </p:sp>
      <p:sp>
        <p:nvSpPr>
          <p:cNvPr id="17" name="TextBox 16"/>
          <p:cNvSpPr txBox="1"/>
          <p:nvPr/>
        </p:nvSpPr>
        <p:spPr>
          <a:xfrm>
            <a:off x="1981200" y="4229100"/>
            <a:ext cx="1983587" cy="368877"/>
          </a:xfrm>
          <a:prstGeom prst="rect">
            <a:avLst/>
          </a:prstGeom>
          <a:noFill/>
        </p:spPr>
        <p:txBody>
          <a:bodyPr wrap="none" lIns="0" tIns="0" rIns="0" bIns="0">
            <a:spAutoFit/>
          </a:bodyPr>
          <a:lstStyle/>
          <a:p>
            <a:r>
              <a:rPr sz="2400" b="0" i="0">
                <a:solidFill>
                  <a:srgbClr val="FFFFFF"/>
                </a:solidFill>
                <a:latin typeface="Inter"/>
              </a:rPr>
              <a:t>(in $ millions)</a:t>
            </a:r>
          </a:p>
        </p:txBody>
      </p:sp>
      <p:sp>
        <p:nvSpPr>
          <p:cNvPr id="18" name="TextBox 17"/>
          <p:cNvSpPr txBox="1"/>
          <p:nvPr/>
        </p:nvSpPr>
        <p:spPr>
          <a:xfrm>
            <a:off x="952500" y="948928"/>
            <a:ext cx="1699894" cy="230548"/>
          </a:xfrm>
          <a:prstGeom prst="rect">
            <a:avLst/>
          </a:prstGeom>
          <a:noFill/>
        </p:spPr>
        <p:txBody>
          <a:bodyPr wrap="none" lIns="0" tIns="0" rIns="0" bIns="0">
            <a:spAutoFit/>
          </a:bodyPr>
          <a:lstStyle/>
          <a:p>
            <a:r>
              <a:rPr sz="1500" b="0" i="0">
                <a:solidFill>
                  <a:srgbClr val="00D9C6"/>
                </a:solidFill>
                <a:latin typeface="Inter"/>
              </a:rPr>
              <a:t>CUSTOMER ROI</a:t>
            </a:r>
          </a:p>
        </p:txBody>
      </p:sp>
      <p:sp>
        <p:nvSpPr>
          <p:cNvPr id="19" name="TextBox 18"/>
          <p:cNvSpPr txBox="1"/>
          <p:nvPr/>
        </p:nvSpPr>
        <p:spPr>
          <a:xfrm>
            <a:off x="948392" y="7980817"/>
            <a:ext cx="15112924" cy="368877"/>
          </a:xfrm>
          <a:prstGeom prst="rect">
            <a:avLst/>
          </a:prstGeom>
          <a:noFill/>
        </p:spPr>
        <p:txBody>
          <a:bodyPr wrap="none" lIns="0" tIns="0" rIns="0" bIns="0">
            <a:spAutoFit/>
          </a:bodyPr>
          <a:lstStyle/>
          <a:p>
            <a:r>
              <a:rPr sz="2400" b="0" i="0">
                <a:solidFill>
                  <a:srgbClr val="FFFFFF"/>
                </a:solidFill>
                <a:latin typeface="Inter"/>
              </a:rPr>
              <a:t>This is a final summary of why your customer should be excited to collaborate on the mutual action plan. </a:t>
            </a:r>
          </a:p>
        </p:txBody>
      </p:sp>
      <p:sp>
        <p:nvSpPr>
          <p:cNvPr id="20" name="TextBox 19"/>
          <p:cNvSpPr txBox="1"/>
          <p:nvPr/>
        </p:nvSpPr>
        <p:spPr>
          <a:xfrm>
            <a:off x="948392" y="8485642"/>
            <a:ext cx="16360699" cy="368877"/>
          </a:xfrm>
          <a:prstGeom prst="rect">
            <a:avLst/>
          </a:prstGeom>
          <a:noFill/>
        </p:spPr>
        <p:txBody>
          <a:bodyPr wrap="none" lIns="0" tIns="0" rIns="0" bIns="0">
            <a:spAutoFit/>
          </a:bodyPr>
          <a:lstStyle/>
          <a:p>
            <a:r>
              <a:rPr sz="2400" b="0" i="0">
                <a:solidFill>
                  <a:srgbClr val="FFFFFF"/>
                </a:solidFill>
                <a:latin typeface="Inter"/>
              </a:rPr>
              <a:t>Reiterate the plan's objectives — why this is such a big deal — and estimate when the customer will see a return </a:t>
            </a:r>
          </a:p>
        </p:txBody>
      </p:sp>
      <p:sp>
        <p:nvSpPr>
          <p:cNvPr id="21" name="TextBox 20"/>
          <p:cNvSpPr txBox="1"/>
          <p:nvPr/>
        </p:nvSpPr>
        <p:spPr>
          <a:xfrm>
            <a:off x="948392" y="8990467"/>
            <a:ext cx="3025698" cy="368877"/>
          </a:xfrm>
          <a:prstGeom prst="rect">
            <a:avLst/>
          </a:prstGeom>
          <a:noFill/>
        </p:spPr>
        <p:txBody>
          <a:bodyPr wrap="none" lIns="0" tIns="0" rIns="0" bIns="0">
            <a:spAutoFit/>
          </a:bodyPr>
          <a:lstStyle/>
          <a:p>
            <a:r>
              <a:rPr sz="2400" b="0" i="0">
                <a:solidFill>
                  <a:srgbClr val="FFFFFF"/>
                </a:solidFill>
                <a:latin typeface="Inter"/>
              </a:rPr>
              <a:t>on their investment. </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14.png"/>
          <p:cNvPicPr>
            <a:picLocks noChangeAspect="1"/>
          </p:cNvPicPr>
          <p:nvPr/>
        </p:nvPicPr>
        <p:blipFill>
          <a:blip r:embed="rId2"/>
          <a:stretch>
            <a:fillRect/>
          </a:stretch>
        </p:blipFill>
        <p:spPr>
          <a:xfrm>
            <a:off x="0" y="0"/>
            <a:ext cx="18288000" cy="10287000"/>
          </a:xfrm>
          <a:prstGeom prst="rect">
            <a:avLst/>
          </a:prstGeom>
        </p:spPr>
      </p:pic>
      <p:sp>
        <p:nvSpPr>
          <p:cNvPr id="3" name="TextBox 2"/>
          <p:cNvSpPr txBox="1"/>
          <p:nvPr/>
        </p:nvSpPr>
        <p:spPr>
          <a:xfrm>
            <a:off x="4000598" y="6195646"/>
            <a:ext cx="292040" cy="368762"/>
          </a:xfrm>
          <a:prstGeom prst="rect">
            <a:avLst/>
          </a:prstGeom>
          <a:noFill/>
        </p:spPr>
        <p:txBody>
          <a:bodyPr wrap="none" lIns="0" tIns="0" rIns="0" bIns="0">
            <a:spAutoFit/>
          </a:bodyPr>
          <a:lstStyle/>
          <a:p>
            <a:r>
              <a:rPr sz="2400" b="0" i="0">
                <a:solidFill>
                  <a:srgbClr val="000000"/>
                </a:solidFill>
                <a:latin typeface="Inter"/>
              </a:rPr>
              <a:t>0</a:t>
            </a:r>
          </a:p>
        </p:txBody>
      </p:sp>
      <p:sp>
        <p:nvSpPr>
          <p:cNvPr id="4" name="TextBox 3"/>
          <p:cNvSpPr txBox="1"/>
          <p:nvPr/>
        </p:nvSpPr>
        <p:spPr>
          <a:xfrm>
            <a:off x="4010123" y="5051645"/>
            <a:ext cx="285946" cy="368761"/>
          </a:xfrm>
          <a:prstGeom prst="rect">
            <a:avLst/>
          </a:prstGeom>
          <a:noFill/>
        </p:spPr>
        <p:txBody>
          <a:bodyPr wrap="none" lIns="0" tIns="0" rIns="0" bIns="0">
            <a:spAutoFit/>
          </a:bodyPr>
          <a:lstStyle/>
          <a:p>
            <a:r>
              <a:rPr sz="2400" b="0" i="0">
                <a:solidFill>
                  <a:srgbClr val="000000"/>
                </a:solidFill>
                <a:latin typeface="Inter"/>
              </a:rPr>
              <a:t>2</a:t>
            </a:r>
          </a:p>
        </p:txBody>
      </p:sp>
      <p:sp>
        <p:nvSpPr>
          <p:cNvPr id="5" name="TextBox 4"/>
          <p:cNvSpPr txBox="1"/>
          <p:nvPr/>
        </p:nvSpPr>
        <p:spPr>
          <a:xfrm>
            <a:off x="3991073" y="3907644"/>
            <a:ext cx="297220" cy="368761"/>
          </a:xfrm>
          <a:prstGeom prst="rect">
            <a:avLst/>
          </a:prstGeom>
          <a:noFill/>
        </p:spPr>
        <p:txBody>
          <a:bodyPr wrap="none" lIns="0" tIns="0" rIns="0" bIns="0">
            <a:spAutoFit/>
          </a:bodyPr>
          <a:lstStyle/>
          <a:p>
            <a:r>
              <a:rPr sz="2400" b="0" i="0">
                <a:solidFill>
                  <a:srgbClr val="000000"/>
                </a:solidFill>
                <a:latin typeface="Inter"/>
              </a:rPr>
              <a:t>4</a:t>
            </a:r>
          </a:p>
        </p:txBody>
      </p:sp>
      <p:sp>
        <p:nvSpPr>
          <p:cNvPr id="6" name="TextBox 5"/>
          <p:cNvSpPr txBox="1"/>
          <p:nvPr/>
        </p:nvSpPr>
        <p:spPr>
          <a:xfrm>
            <a:off x="4000598" y="2763644"/>
            <a:ext cx="291735" cy="368761"/>
          </a:xfrm>
          <a:prstGeom prst="rect">
            <a:avLst/>
          </a:prstGeom>
          <a:noFill/>
        </p:spPr>
        <p:txBody>
          <a:bodyPr wrap="none" lIns="0" tIns="0" rIns="0" bIns="0">
            <a:spAutoFit/>
          </a:bodyPr>
          <a:lstStyle/>
          <a:p>
            <a:r>
              <a:rPr sz="2400" b="0" i="0">
                <a:solidFill>
                  <a:srgbClr val="000000"/>
                </a:solidFill>
                <a:latin typeface="Inter"/>
              </a:rPr>
              <a:t>6</a:t>
            </a:r>
          </a:p>
        </p:txBody>
      </p:sp>
      <p:sp>
        <p:nvSpPr>
          <p:cNvPr id="7" name="TextBox 6"/>
          <p:cNvSpPr txBox="1"/>
          <p:nvPr/>
        </p:nvSpPr>
        <p:spPr>
          <a:xfrm>
            <a:off x="4000598" y="1619642"/>
            <a:ext cx="289298" cy="368761"/>
          </a:xfrm>
          <a:prstGeom prst="rect">
            <a:avLst/>
          </a:prstGeom>
          <a:noFill/>
        </p:spPr>
        <p:txBody>
          <a:bodyPr wrap="none" lIns="0" tIns="0" rIns="0" bIns="0">
            <a:spAutoFit/>
          </a:bodyPr>
          <a:lstStyle/>
          <a:p>
            <a:r>
              <a:rPr sz="2400" b="0" i="0">
                <a:solidFill>
                  <a:srgbClr val="000000"/>
                </a:solidFill>
                <a:latin typeface="Inter"/>
              </a:rPr>
              <a:t>8</a:t>
            </a:r>
          </a:p>
        </p:txBody>
      </p:sp>
      <p:sp>
        <p:nvSpPr>
          <p:cNvPr id="8" name="TextBox 7"/>
          <p:cNvSpPr txBox="1"/>
          <p:nvPr/>
        </p:nvSpPr>
        <p:spPr>
          <a:xfrm>
            <a:off x="5381696" y="6516891"/>
            <a:ext cx="481107" cy="368761"/>
          </a:xfrm>
          <a:prstGeom prst="rect">
            <a:avLst/>
          </a:prstGeom>
          <a:noFill/>
        </p:spPr>
        <p:txBody>
          <a:bodyPr wrap="none" lIns="0" tIns="0" rIns="0" bIns="0">
            <a:spAutoFit/>
          </a:bodyPr>
          <a:lstStyle/>
          <a:p>
            <a:r>
              <a:rPr sz="2400" b="0" i="0">
                <a:solidFill>
                  <a:srgbClr val="000000"/>
                </a:solidFill>
                <a:latin typeface="Inter"/>
              </a:rPr>
              <a:t>Q1</a:t>
            </a:r>
          </a:p>
        </p:txBody>
      </p:sp>
      <p:sp>
        <p:nvSpPr>
          <p:cNvPr id="9" name="TextBox 8"/>
          <p:cNvSpPr txBox="1"/>
          <p:nvPr/>
        </p:nvSpPr>
        <p:spPr>
          <a:xfrm>
            <a:off x="7743848" y="6516891"/>
            <a:ext cx="524071" cy="368761"/>
          </a:xfrm>
          <a:prstGeom prst="rect">
            <a:avLst/>
          </a:prstGeom>
          <a:noFill/>
        </p:spPr>
        <p:txBody>
          <a:bodyPr wrap="none" lIns="0" tIns="0" rIns="0" bIns="0">
            <a:spAutoFit/>
          </a:bodyPr>
          <a:lstStyle/>
          <a:p>
            <a:r>
              <a:rPr sz="2400" b="0" i="0">
                <a:solidFill>
                  <a:srgbClr val="000000"/>
                </a:solidFill>
                <a:latin typeface="Inter"/>
              </a:rPr>
              <a:t>Q2</a:t>
            </a:r>
          </a:p>
        </p:txBody>
      </p:sp>
      <p:sp>
        <p:nvSpPr>
          <p:cNvPr id="10" name="TextBox 9"/>
          <p:cNvSpPr txBox="1"/>
          <p:nvPr/>
        </p:nvSpPr>
        <p:spPr>
          <a:xfrm>
            <a:off x="10120288" y="6516891"/>
            <a:ext cx="533517" cy="368761"/>
          </a:xfrm>
          <a:prstGeom prst="rect">
            <a:avLst/>
          </a:prstGeom>
          <a:noFill/>
        </p:spPr>
        <p:txBody>
          <a:bodyPr wrap="none" lIns="0" tIns="0" rIns="0" bIns="0">
            <a:spAutoFit/>
          </a:bodyPr>
          <a:lstStyle/>
          <a:p>
            <a:r>
              <a:rPr sz="2400" b="0" i="0">
                <a:solidFill>
                  <a:srgbClr val="000000"/>
                </a:solidFill>
                <a:latin typeface="Inter"/>
              </a:rPr>
              <a:t>Q3</a:t>
            </a:r>
          </a:p>
        </p:txBody>
      </p:sp>
      <p:sp>
        <p:nvSpPr>
          <p:cNvPr id="11" name="TextBox 10"/>
          <p:cNvSpPr txBox="1"/>
          <p:nvPr/>
        </p:nvSpPr>
        <p:spPr>
          <a:xfrm>
            <a:off x="12496727" y="6516891"/>
            <a:ext cx="535345" cy="368761"/>
          </a:xfrm>
          <a:prstGeom prst="rect">
            <a:avLst/>
          </a:prstGeom>
          <a:noFill/>
        </p:spPr>
        <p:txBody>
          <a:bodyPr wrap="none" lIns="0" tIns="0" rIns="0" bIns="0">
            <a:spAutoFit/>
          </a:bodyPr>
          <a:lstStyle/>
          <a:p>
            <a:r>
              <a:rPr sz="2400" b="0" i="0">
                <a:solidFill>
                  <a:srgbClr val="000000"/>
                </a:solidFill>
                <a:latin typeface="Inter"/>
              </a:rPr>
              <a:t>Q4</a:t>
            </a:r>
          </a:p>
        </p:txBody>
      </p:sp>
      <p:sp>
        <p:nvSpPr>
          <p:cNvPr id="12" name="TextBox 11"/>
          <p:cNvSpPr txBox="1"/>
          <p:nvPr/>
        </p:nvSpPr>
        <p:spPr>
          <a:xfrm>
            <a:off x="7516266" y="1335405"/>
            <a:ext cx="870610" cy="368877"/>
          </a:xfrm>
          <a:prstGeom prst="rect">
            <a:avLst/>
          </a:prstGeom>
          <a:noFill/>
        </p:spPr>
        <p:txBody>
          <a:bodyPr wrap="none" lIns="0" tIns="0" rIns="0" bIns="0">
            <a:spAutoFit/>
          </a:bodyPr>
          <a:lstStyle/>
          <a:p>
            <a:r>
              <a:rPr sz="2400" b="0" i="0">
                <a:solidFill>
                  <a:srgbClr val="000000"/>
                </a:solidFill>
                <a:latin typeface="Inter"/>
              </a:rPr>
              <a:t>Sales</a:t>
            </a:r>
          </a:p>
        </p:txBody>
      </p:sp>
      <p:sp>
        <p:nvSpPr>
          <p:cNvPr id="13" name="TextBox 12"/>
          <p:cNvSpPr txBox="1"/>
          <p:nvPr/>
        </p:nvSpPr>
        <p:spPr>
          <a:xfrm>
            <a:off x="8836223" y="1335405"/>
            <a:ext cx="869772" cy="368877"/>
          </a:xfrm>
          <a:prstGeom prst="rect">
            <a:avLst/>
          </a:prstGeom>
          <a:noFill/>
        </p:spPr>
        <p:txBody>
          <a:bodyPr wrap="none" lIns="0" tIns="0" rIns="0" bIns="0">
            <a:spAutoFit/>
          </a:bodyPr>
          <a:lstStyle/>
          <a:p>
            <a:r>
              <a:rPr sz="2400" b="0" i="0">
                <a:solidFill>
                  <a:srgbClr val="000000"/>
                </a:solidFill>
                <a:latin typeface="Inter"/>
              </a:rPr>
              <a:t>Profit</a:t>
            </a:r>
          </a:p>
        </p:txBody>
      </p:sp>
      <p:sp>
        <p:nvSpPr>
          <p:cNvPr id="14" name="TextBox 13"/>
          <p:cNvSpPr txBox="1"/>
          <p:nvPr/>
        </p:nvSpPr>
        <p:spPr>
          <a:xfrm>
            <a:off x="10156180" y="1335405"/>
            <a:ext cx="774522" cy="368877"/>
          </a:xfrm>
          <a:prstGeom prst="rect">
            <a:avLst/>
          </a:prstGeom>
          <a:noFill/>
        </p:spPr>
        <p:txBody>
          <a:bodyPr wrap="none" lIns="0" tIns="0" rIns="0" bIns="0">
            <a:spAutoFit/>
          </a:bodyPr>
          <a:lstStyle/>
          <a:p>
            <a:r>
              <a:rPr sz="2400" b="0" i="0">
                <a:solidFill>
                  <a:srgbClr val="000000"/>
                </a:solidFill>
                <a:latin typeface="Inter"/>
              </a:rPr>
              <a:t>Cost</a:t>
            </a:r>
          </a:p>
        </p:txBody>
      </p:sp>
      <p:sp>
        <p:nvSpPr>
          <p:cNvPr id="15" name="TextBox 14"/>
          <p:cNvSpPr txBox="1"/>
          <p:nvPr/>
        </p:nvSpPr>
        <p:spPr>
          <a:xfrm>
            <a:off x="12858750" y="3248025"/>
            <a:ext cx="1323847" cy="368877"/>
          </a:xfrm>
          <a:prstGeom prst="rect">
            <a:avLst/>
          </a:prstGeom>
          <a:noFill/>
        </p:spPr>
        <p:txBody>
          <a:bodyPr wrap="none" lIns="0" tIns="0" rIns="0" bIns="0">
            <a:spAutoFit/>
          </a:bodyPr>
          <a:lstStyle/>
          <a:p>
            <a:r>
              <a:rPr sz="2400" b="0" i="0">
                <a:solidFill>
                  <a:srgbClr val="000000"/>
                </a:solidFill>
                <a:latin typeface="Inter"/>
              </a:rPr>
              <a:t>20% ROI</a:t>
            </a:r>
          </a:p>
        </p:txBody>
      </p:sp>
      <p:sp>
        <p:nvSpPr>
          <p:cNvPr id="16" name="TextBox 15"/>
          <p:cNvSpPr txBox="1"/>
          <p:nvPr/>
        </p:nvSpPr>
        <p:spPr>
          <a:xfrm>
            <a:off x="2743200" y="3676650"/>
            <a:ext cx="1220368" cy="368877"/>
          </a:xfrm>
          <a:prstGeom prst="rect">
            <a:avLst/>
          </a:prstGeom>
          <a:noFill/>
        </p:spPr>
        <p:txBody>
          <a:bodyPr wrap="none" lIns="0" tIns="0" rIns="0" bIns="0">
            <a:spAutoFit/>
          </a:bodyPr>
          <a:lstStyle/>
          <a:p>
            <a:r>
              <a:rPr sz="2400" b="0" i="0">
                <a:solidFill>
                  <a:srgbClr val="000000"/>
                </a:solidFill>
                <a:latin typeface="Inter"/>
              </a:rPr>
              <a:t>Amount</a:t>
            </a:r>
          </a:p>
        </p:txBody>
      </p:sp>
      <p:sp>
        <p:nvSpPr>
          <p:cNvPr id="17" name="TextBox 16"/>
          <p:cNvSpPr txBox="1"/>
          <p:nvPr/>
        </p:nvSpPr>
        <p:spPr>
          <a:xfrm>
            <a:off x="1962150" y="4076700"/>
            <a:ext cx="1998065" cy="368877"/>
          </a:xfrm>
          <a:prstGeom prst="rect">
            <a:avLst/>
          </a:prstGeom>
          <a:noFill/>
        </p:spPr>
        <p:txBody>
          <a:bodyPr wrap="none" lIns="0" tIns="0" rIns="0" bIns="0">
            <a:spAutoFit/>
          </a:bodyPr>
          <a:lstStyle/>
          <a:p>
            <a:r>
              <a:rPr sz="2400" b="0" i="0">
                <a:solidFill>
                  <a:srgbClr val="000000"/>
                </a:solidFill>
                <a:latin typeface="Inter"/>
              </a:rPr>
              <a:t>(in $ millions)</a:t>
            </a:r>
          </a:p>
        </p:txBody>
      </p:sp>
      <p:sp>
        <p:nvSpPr>
          <p:cNvPr id="18" name="TextBox 17"/>
          <p:cNvSpPr txBox="1"/>
          <p:nvPr/>
        </p:nvSpPr>
        <p:spPr>
          <a:xfrm>
            <a:off x="952500" y="948928"/>
            <a:ext cx="1699894" cy="230548"/>
          </a:xfrm>
          <a:prstGeom prst="rect">
            <a:avLst/>
          </a:prstGeom>
          <a:noFill/>
        </p:spPr>
        <p:txBody>
          <a:bodyPr wrap="none" lIns="0" tIns="0" rIns="0" bIns="0">
            <a:spAutoFit/>
          </a:bodyPr>
          <a:lstStyle/>
          <a:p>
            <a:r>
              <a:rPr sz="1500" b="0" i="0">
                <a:solidFill>
                  <a:srgbClr val="000000"/>
                </a:solidFill>
                <a:latin typeface="Inter"/>
              </a:rPr>
              <a:t>CUSTOMER ROI</a:t>
            </a:r>
          </a:p>
        </p:txBody>
      </p:sp>
      <p:sp>
        <p:nvSpPr>
          <p:cNvPr id="19" name="TextBox 18"/>
          <p:cNvSpPr txBox="1"/>
          <p:nvPr/>
        </p:nvSpPr>
        <p:spPr>
          <a:xfrm>
            <a:off x="948392" y="8253321"/>
            <a:ext cx="15170074" cy="368877"/>
          </a:xfrm>
          <a:prstGeom prst="rect">
            <a:avLst/>
          </a:prstGeom>
          <a:noFill/>
        </p:spPr>
        <p:txBody>
          <a:bodyPr wrap="none" lIns="0" tIns="0" rIns="0" bIns="0">
            <a:spAutoFit/>
          </a:bodyPr>
          <a:lstStyle/>
          <a:p>
            <a:r>
              <a:rPr sz="2400" b="0" i="0">
                <a:solidFill>
                  <a:srgbClr val="FFFFFF"/>
                </a:solidFill>
                <a:latin typeface="Inter"/>
              </a:rPr>
              <a:t>This is a final summary of why your customer should be excited to collaborate on the mutual action plan. </a:t>
            </a:r>
          </a:p>
        </p:txBody>
      </p:sp>
      <p:sp>
        <p:nvSpPr>
          <p:cNvPr id="20" name="TextBox 19"/>
          <p:cNvSpPr txBox="1"/>
          <p:nvPr/>
        </p:nvSpPr>
        <p:spPr>
          <a:xfrm>
            <a:off x="948392" y="8653371"/>
            <a:ext cx="16274974" cy="368877"/>
          </a:xfrm>
          <a:prstGeom prst="rect">
            <a:avLst/>
          </a:prstGeom>
          <a:noFill/>
        </p:spPr>
        <p:txBody>
          <a:bodyPr wrap="none" lIns="0" tIns="0" rIns="0" bIns="0">
            <a:spAutoFit/>
          </a:bodyPr>
          <a:lstStyle/>
          <a:p>
            <a:r>
              <a:rPr sz="2400" b="0" i="0">
                <a:solidFill>
                  <a:srgbClr val="FFFFFF"/>
                </a:solidFill>
                <a:latin typeface="Inter"/>
              </a:rPr>
              <a:t>Reiterate the plan's objectives — why this is such a big deal — and estimate when the customer will see a return </a:t>
            </a:r>
          </a:p>
        </p:txBody>
      </p:sp>
      <p:sp>
        <p:nvSpPr>
          <p:cNvPr id="21" name="TextBox 20"/>
          <p:cNvSpPr txBox="1"/>
          <p:nvPr/>
        </p:nvSpPr>
        <p:spPr>
          <a:xfrm>
            <a:off x="948392" y="9043896"/>
            <a:ext cx="3016173" cy="368877"/>
          </a:xfrm>
          <a:prstGeom prst="rect">
            <a:avLst/>
          </a:prstGeom>
          <a:noFill/>
        </p:spPr>
        <p:txBody>
          <a:bodyPr wrap="none" lIns="0" tIns="0" rIns="0" bIns="0">
            <a:spAutoFit/>
          </a:bodyPr>
          <a:lstStyle/>
          <a:p>
            <a:r>
              <a:rPr sz="2400" b="0" i="0">
                <a:solidFill>
                  <a:srgbClr val="FFFFFF"/>
                </a:solidFill>
                <a:latin typeface="Inter"/>
              </a:rPr>
              <a:t>on their investment. </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15.png"/>
          <p:cNvPicPr>
            <a:picLocks noChangeAspect="1"/>
          </p:cNvPicPr>
          <p:nvPr/>
        </p:nvPicPr>
        <p:blipFill>
          <a:blip r:embed="rId2"/>
          <a:stretch>
            <a:fillRect/>
          </a:stretch>
        </p:blipFill>
        <p:spPr>
          <a:xfrm>
            <a:off x="0" y="0"/>
            <a:ext cx="18288000" cy="10287000"/>
          </a:xfrm>
          <a:prstGeom prst="rect">
            <a:avLst/>
          </a:prstGeom>
        </p:spPr>
      </p:pic>
      <p:sp>
        <p:nvSpPr>
          <p:cNvPr id="3" name="TextBox 2"/>
          <p:cNvSpPr txBox="1"/>
          <p:nvPr/>
        </p:nvSpPr>
        <p:spPr>
          <a:xfrm>
            <a:off x="956330" y="6959762"/>
            <a:ext cx="15584488" cy="490061"/>
          </a:xfrm>
          <a:prstGeom prst="rect">
            <a:avLst/>
          </a:prstGeom>
          <a:noFill/>
        </p:spPr>
        <p:txBody>
          <a:bodyPr wrap="none" lIns="0" tIns="0" rIns="0" bIns="0">
            <a:spAutoFit/>
          </a:bodyPr>
          <a:lstStyle/>
          <a:p>
            <a:r>
              <a:rPr sz="3750" b="0" i="0">
                <a:solidFill>
                  <a:srgbClr val="FFFFFF"/>
                </a:solidFill>
                <a:latin typeface="Type3 (66 0 R)"/>
              </a:rPr>
              <a:t>As</a:t>
            </a:r>
            <a:r>
              <a:rPr sz="3750" b="0" i="0">
                <a:solidFill>
                  <a:srgbClr val="FFFFFF"/>
                </a:solidFill>
                <a:latin typeface="Type3 (46 0 R)"/>
              </a:rPr>
              <a:t> y</a:t>
            </a:r>
            <a:r>
              <a:rPr sz="3750" b="0" i="0">
                <a:solidFill>
                  <a:srgbClr val="FFFFFF"/>
                </a:solidFill>
                <a:latin typeface="Type3 (66 0 R)"/>
              </a:rPr>
              <a:t>o</a:t>
            </a:r>
            <a:r>
              <a:rPr sz="3750" b="0" i="0">
                <a:solidFill>
                  <a:srgbClr val="FFFFFF"/>
                </a:solidFill>
                <a:latin typeface="Type3 (46 0 R)"/>
              </a:rPr>
              <a:t>u </a:t>
            </a:r>
            <a:r>
              <a:rPr sz="3750" b="0" i="0">
                <a:solidFill>
                  <a:srgbClr val="FFFFFF"/>
                </a:solidFill>
                <a:latin typeface="Type3 (66 0 R)"/>
              </a:rPr>
              <a:t>collaborateonand</a:t>
            </a:r>
            <a:r>
              <a:rPr sz="3750" b="0" i="0">
                <a:solidFill>
                  <a:srgbClr val="FFFFFF"/>
                </a:solidFill>
                <a:latin typeface="Type3 (46 0 R)"/>
              </a:rPr>
              <a:t> u</a:t>
            </a:r>
            <a:r>
              <a:rPr sz="3750" b="0" i="0">
                <a:solidFill>
                  <a:srgbClr val="FFFFFF"/>
                </a:solidFill>
                <a:latin typeface="Type3 (66 0 R)"/>
              </a:rPr>
              <a:t>pdate</a:t>
            </a:r>
            <a:r>
              <a:rPr sz="3750" b="0" i="0">
                <a:solidFill>
                  <a:srgbClr val="FFFFFF"/>
                </a:solidFill>
                <a:latin typeface="Type3 (46 0 R)"/>
              </a:rPr>
              <a:t> y</a:t>
            </a:r>
            <a:r>
              <a:rPr sz="3750" b="0" i="0">
                <a:solidFill>
                  <a:srgbClr val="FFFFFF"/>
                </a:solidFill>
                <a:latin typeface="Type3 (66 0 R)"/>
              </a:rPr>
              <a:t>o</a:t>
            </a:r>
            <a:r>
              <a:rPr sz="3750" b="0" i="0">
                <a:solidFill>
                  <a:srgbClr val="FFFFFF"/>
                </a:solidFill>
                <a:latin typeface="Type3 (46 0 R)"/>
              </a:rPr>
              <a:t>u</a:t>
            </a:r>
            <a:r>
              <a:rPr sz="3750" b="0" i="0">
                <a:solidFill>
                  <a:srgbClr val="FFFFFF"/>
                </a:solidFill>
                <a:latin typeface="Type3 (66 0 R)"/>
              </a:rPr>
              <a:t>rplan</a:t>
            </a:r>
            <a:r>
              <a:rPr sz="3750" b="0" i="0">
                <a:solidFill>
                  <a:srgbClr val="FFFFFF"/>
                </a:solidFill>
                <a:latin typeface="Type3 (46 0 R)"/>
              </a:rPr>
              <a:t>, </a:t>
            </a:r>
            <a:r>
              <a:rPr sz="3750" b="0" i="0">
                <a:solidFill>
                  <a:srgbClr val="FFFFFF"/>
                </a:solidFill>
                <a:latin typeface="Type3 (66 0 R)"/>
              </a:rPr>
              <a:t>addreso</a:t>
            </a:r>
            <a:r>
              <a:rPr sz="3750" b="0" i="0">
                <a:solidFill>
                  <a:srgbClr val="FFFFFF"/>
                </a:solidFill>
                <a:latin typeface="Type3 (46 0 R)"/>
              </a:rPr>
              <a:t>u</a:t>
            </a:r>
            <a:r>
              <a:rPr sz="3750" b="0" i="0">
                <a:solidFill>
                  <a:srgbClr val="FFFFFF"/>
                </a:solidFill>
                <a:latin typeface="Type3 (66 0 R)"/>
              </a:rPr>
              <a:t>rcesthatboth</a:t>
            </a:r>
          </a:p>
        </p:txBody>
      </p:sp>
      <p:sp>
        <p:nvSpPr>
          <p:cNvPr id="4" name="TextBox 3"/>
          <p:cNvSpPr txBox="1"/>
          <p:nvPr/>
        </p:nvSpPr>
        <p:spPr>
          <a:xfrm>
            <a:off x="956330" y="7578887"/>
            <a:ext cx="15313025" cy="490061"/>
          </a:xfrm>
          <a:prstGeom prst="rect">
            <a:avLst/>
          </a:prstGeom>
          <a:noFill/>
        </p:spPr>
        <p:txBody>
          <a:bodyPr wrap="none" lIns="0" tIns="0" rIns="0" bIns="0">
            <a:spAutoFit/>
          </a:bodyPr>
          <a:lstStyle/>
          <a:p>
            <a:r>
              <a:rPr sz="3750" b="0" i="0">
                <a:solidFill>
                  <a:srgbClr val="FFFFFF"/>
                </a:solidFill>
                <a:latin typeface="Type3 (66 0 R)"/>
              </a:rPr>
              <a:t>teamscanreferencetosta</a:t>
            </a:r>
            <a:r>
              <a:rPr sz="3750" b="0" i="0">
                <a:solidFill>
                  <a:srgbClr val="FFFFFF"/>
                </a:solidFill>
                <a:latin typeface="Type3 (46 0 R)"/>
              </a:rPr>
              <a:t>y </a:t>
            </a:r>
            <a:r>
              <a:rPr sz="3750" b="0" i="0">
                <a:solidFill>
                  <a:srgbClr val="FFFFFF"/>
                </a:solidFill>
                <a:latin typeface="Type3 (66 0 R)"/>
              </a:rPr>
              <a:t>aligned</a:t>
            </a:r>
            <a:r>
              <a:rPr sz="3750" b="0" i="0">
                <a:solidFill>
                  <a:srgbClr val="FFFFFF"/>
                </a:solidFill>
                <a:latin typeface="Type3 (46 0 R)"/>
              </a:rPr>
              <a:t>. </a:t>
            </a:r>
            <a:r>
              <a:rPr sz="3750" b="0" i="0">
                <a:solidFill>
                  <a:srgbClr val="FFFFFF"/>
                </a:solidFill>
                <a:latin typeface="Type3 (66 0 R)"/>
              </a:rPr>
              <a:t>Theseco</a:t>
            </a:r>
            <a:r>
              <a:rPr sz="3750" b="0" i="0">
                <a:solidFill>
                  <a:srgbClr val="FFFFFF"/>
                </a:solidFill>
                <a:latin typeface="Type3 (46 0 R)"/>
              </a:rPr>
              <a:t>u</a:t>
            </a:r>
            <a:r>
              <a:rPr sz="3750" b="0" i="0">
                <a:solidFill>
                  <a:srgbClr val="FFFFFF"/>
                </a:solidFill>
                <a:latin typeface="Type3 (66 0 R)"/>
              </a:rPr>
              <a:t>ldincl</a:t>
            </a:r>
            <a:r>
              <a:rPr sz="3750" b="0" i="0">
                <a:solidFill>
                  <a:srgbClr val="FFFFFF"/>
                </a:solidFill>
                <a:latin typeface="Type3 (46 0 R)"/>
              </a:rPr>
              <a:t>u</a:t>
            </a:r>
            <a:r>
              <a:rPr sz="3750" b="0" i="0">
                <a:solidFill>
                  <a:srgbClr val="FFFFFF"/>
                </a:solidFill>
                <a:latin typeface="Type3 (66 0 R)"/>
              </a:rPr>
              <a:t>dethingslike</a:t>
            </a:r>
          </a:p>
        </p:txBody>
      </p:sp>
      <p:sp>
        <p:nvSpPr>
          <p:cNvPr id="5" name="TextBox 4"/>
          <p:cNvSpPr txBox="1"/>
          <p:nvPr/>
        </p:nvSpPr>
        <p:spPr>
          <a:xfrm>
            <a:off x="956330" y="8198012"/>
            <a:ext cx="15608300" cy="490061"/>
          </a:xfrm>
          <a:prstGeom prst="rect">
            <a:avLst/>
          </a:prstGeom>
          <a:noFill/>
        </p:spPr>
        <p:txBody>
          <a:bodyPr wrap="none" lIns="0" tIns="0" rIns="0" bIns="0">
            <a:spAutoFit/>
          </a:bodyPr>
          <a:lstStyle/>
          <a:p>
            <a:r>
              <a:rPr sz="3750" b="0" i="0">
                <a:solidFill>
                  <a:srgbClr val="FFFFFF"/>
                </a:solidFill>
                <a:latin typeface="Type3 (66 0 R)"/>
              </a:rPr>
              <a:t>prod</a:t>
            </a:r>
            <a:r>
              <a:rPr sz="3750" b="0" i="0">
                <a:solidFill>
                  <a:srgbClr val="FFFFFF"/>
                </a:solidFill>
                <a:latin typeface="Type3 (46 0 R)"/>
              </a:rPr>
              <a:t>u</a:t>
            </a:r>
            <a:r>
              <a:rPr sz="3750" b="0" i="0">
                <a:solidFill>
                  <a:srgbClr val="FFFFFF"/>
                </a:solidFill>
                <a:latin typeface="Type3 (66 0 R)"/>
              </a:rPr>
              <a:t>ctdemosandpre</a:t>
            </a:r>
            <a:r>
              <a:rPr sz="3750" b="0" i="0">
                <a:solidFill>
                  <a:srgbClr val="FFFFFF"/>
                </a:solidFill>
                <a:latin typeface="Type3 (46 0 R)"/>
              </a:rPr>
              <a:t>v</a:t>
            </a:r>
            <a:r>
              <a:rPr sz="3750" b="0" i="0">
                <a:solidFill>
                  <a:srgbClr val="FFFFFF"/>
                </a:solidFill>
                <a:latin typeface="Type3 (66 0 R)"/>
              </a:rPr>
              <a:t>io</a:t>
            </a:r>
            <a:r>
              <a:rPr sz="3750" b="0" i="0">
                <a:solidFill>
                  <a:srgbClr val="FFFFFF"/>
                </a:solidFill>
                <a:latin typeface="Type3 (46 0 R)"/>
              </a:rPr>
              <a:t>u</a:t>
            </a:r>
            <a:r>
              <a:rPr sz="3750" b="0" i="0">
                <a:solidFill>
                  <a:srgbClr val="FFFFFF"/>
                </a:solidFill>
                <a:latin typeface="Type3 (66 0 R)"/>
              </a:rPr>
              <a:t>scalls</a:t>
            </a:r>
            <a:r>
              <a:rPr sz="3750" b="0" i="0">
                <a:solidFill>
                  <a:srgbClr val="FFFFFF"/>
                </a:solidFill>
                <a:latin typeface="Type3 (46 0 R)"/>
              </a:rPr>
              <a:t>, </a:t>
            </a:r>
            <a:r>
              <a:rPr sz="3750" b="0" i="0">
                <a:solidFill>
                  <a:srgbClr val="FFFFFF"/>
                </a:solidFill>
                <a:latin typeface="Type3 (66 0 R)"/>
              </a:rPr>
              <a:t>clients</a:t>
            </a:r>
            <a:r>
              <a:rPr sz="3750" b="0" i="0">
                <a:solidFill>
                  <a:srgbClr val="FFFFFF"/>
                </a:solidFill>
                <a:latin typeface="Type3 (46 0 R)"/>
              </a:rPr>
              <a:t>u</a:t>
            </a:r>
            <a:r>
              <a:rPr sz="3750" b="0" i="0">
                <a:solidFill>
                  <a:srgbClr val="FFFFFF"/>
                </a:solidFill>
                <a:latin typeface="Type3 (66 0 R)"/>
              </a:rPr>
              <a:t>ccessstories</a:t>
            </a:r>
            <a:r>
              <a:rPr sz="3750" b="0" i="0">
                <a:solidFill>
                  <a:srgbClr val="FFFFFF"/>
                </a:solidFill>
                <a:latin typeface="Type3 (46 0 R)"/>
              </a:rPr>
              <a:t>, </a:t>
            </a:r>
            <a:r>
              <a:rPr sz="3750" b="0" i="0">
                <a:solidFill>
                  <a:srgbClr val="FFFFFF"/>
                </a:solidFill>
                <a:latin typeface="Type3 (66 0 R)"/>
              </a:rPr>
              <a:t>andlinksto</a:t>
            </a:r>
          </a:p>
        </p:txBody>
      </p:sp>
      <p:sp>
        <p:nvSpPr>
          <p:cNvPr id="6" name="TextBox 5"/>
          <p:cNvSpPr txBox="1"/>
          <p:nvPr/>
        </p:nvSpPr>
        <p:spPr>
          <a:xfrm>
            <a:off x="956330" y="8817137"/>
            <a:ext cx="9772331" cy="490061"/>
          </a:xfrm>
          <a:prstGeom prst="rect">
            <a:avLst/>
          </a:prstGeom>
          <a:noFill/>
        </p:spPr>
        <p:txBody>
          <a:bodyPr wrap="none" lIns="0" tIns="0" rIns="0" bIns="0">
            <a:spAutoFit/>
          </a:bodyPr>
          <a:lstStyle/>
          <a:p>
            <a:r>
              <a:rPr sz="3750" b="0" i="0">
                <a:solidFill>
                  <a:srgbClr val="FFFFFF"/>
                </a:solidFill>
                <a:latin typeface="Type3 (66 0 R)"/>
              </a:rPr>
              <a:t>one</a:t>
            </a:r>
            <a:r>
              <a:rPr sz="3750" b="0" i="0">
                <a:solidFill>
                  <a:srgbClr val="FFFFFF"/>
                </a:solidFill>
                <a:latin typeface="Type3 (46 0 R)"/>
              </a:rPr>
              <a:t>-</a:t>
            </a:r>
            <a:r>
              <a:rPr sz="3750" b="0" i="0">
                <a:solidFill>
                  <a:srgbClr val="FFFFFF"/>
                </a:solidFill>
                <a:latin typeface="Type3 (66 0 R)"/>
              </a:rPr>
              <a:t>pagers</a:t>
            </a:r>
            <a:r>
              <a:rPr sz="3750" b="0" i="0">
                <a:solidFill>
                  <a:srgbClr val="FFFFFF"/>
                </a:solidFill>
                <a:latin typeface="Type3 (46 0 R)"/>
              </a:rPr>
              <a:t>, </a:t>
            </a:r>
            <a:r>
              <a:rPr sz="3750" b="0" i="0">
                <a:solidFill>
                  <a:srgbClr val="FFFFFF"/>
                </a:solidFill>
                <a:latin typeface="Type3 (66 0 R)"/>
              </a:rPr>
              <a:t>ebooks</a:t>
            </a:r>
            <a:r>
              <a:rPr sz="3750" b="0" i="0">
                <a:solidFill>
                  <a:srgbClr val="FFFFFF"/>
                </a:solidFill>
                <a:latin typeface="Type3 (46 0 R)"/>
              </a:rPr>
              <a:t>, </a:t>
            </a:r>
            <a:r>
              <a:rPr sz="3750" b="0" i="0">
                <a:solidFill>
                  <a:srgbClr val="FFFFFF"/>
                </a:solidFill>
                <a:latin typeface="Type3 (66 0 R)"/>
              </a:rPr>
              <a:t>orhelpcenterarticles</a:t>
            </a:r>
            <a:r>
              <a:rPr sz="3750" b="0" i="0">
                <a:solidFill>
                  <a:srgbClr val="FFFFFF"/>
                </a:solidFill>
                <a:latin typeface="Type3 (46 0 R)"/>
              </a:rPr>
              <a:t>.</a:t>
            </a:r>
          </a:p>
        </p:txBody>
      </p:sp>
      <p:sp>
        <p:nvSpPr>
          <p:cNvPr id="7" name="TextBox 6"/>
          <p:cNvSpPr txBox="1"/>
          <p:nvPr/>
        </p:nvSpPr>
        <p:spPr>
          <a:xfrm>
            <a:off x="952500" y="948928"/>
            <a:ext cx="1359471" cy="230548"/>
          </a:xfrm>
          <a:prstGeom prst="rect">
            <a:avLst/>
          </a:prstGeom>
          <a:noFill/>
        </p:spPr>
        <p:txBody>
          <a:bodyPr wrap="none" lIns="0" tIns="0" rIns="0" bIns="0">
            <a:spAutoFit/>
          </a:bodyPr>
          <a:lstStyle/>
          <a:p>
            <a:r>
              <a:rPr sz="1500" b="0" i="0">
                <a:solidFill>
                  <a:srgbClr val="00D9C6"/>
                </a:solidFill>
                <a:latin typeface="Inter"/>
              </a:rPr>
              <a:t>RESOURCES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16.png"/>
          <p:cNvPicPr>
            <a:picLocks noChangeAspect="1"/>
          </p:cNvPicPr>
          <p:nvPr/>
        </p:nvPicPr>
        <p:blipFill>
          <a:blip r:embed="rId2"/>
          <a:stretch>
            <a:fillRect/>
          </a:stretch>
        </p:blipFill>
        <p:spPr>
          <a:xfrm>
            <a:off x="0" y="0"/>
            <a:ext cx="18288000" cy="10287000"/>
          </a:xfrm>
          <a:prstGeom prst="rect">
            <a:avLst/>
          </a:prstGeom>
        </p:spPr>
      </p:pic>
      <p:sp>
        <p:nvSpPr>
          <p:cNvPr id="3" name="TextBox 2"/>
          <p:cNvSpPr txBox="1"/>
          <p:nvPr/>
        </p:nvSpPr>
        <p:spPr>
          <a:xfrm>
            <a:off x="954573" y="7536060"/>
            <a:ext cx="1538274" cy="368877"/>
          </a:xfrm>
          <a:prstGeom prst="rect">
            <a:avLst/>
          </a:prstGeom>
          <a:noFill/>
        </p:spPr>
        <p:txBody>
          <a:bodyPr wrap="none" lIns="0" tIns="0" rIns="0" bIns="0">
            <a:spAutoFit/>
          </a:bodyPr>
          <a:lstStyle/>
          <a:p>
            <a:r>
              <a:rPr sz="2400" b="0" i="0">
                <a:solidFill>
                  <a:srgbClr val="FFFFFF"/>
                </a:solidFill>
                <a:latin typeface="Inter"/>
              </a:rPr>
              <a:t>Meetings:</a:t>
            </a:r>
          </a:p>
        </p:txBody>
      </p:sp>
      <p:sp>
        <p:nvSpPr>
          <p:cNvPr id="4" name="TextBox 3"/>
          <p:cNvSpPr txBox="1"/>
          <p:nvPr/>
        </p:nvSpPr>
        <p:spPr>
          <a:xfrm>
            <a:off x="954573" y="8545710"/>
            <a:ext cx="3368370" cy="368877"/>
          </a:xfrm>
          <a:prstGeom prst="rect">
            <a:avLst/>
          </a:prstGeom>
          <a:noFill/>
        </p:spPr>
        <p:txBody>
          <a:bodyPr wrap="none" lIns="0" tIns="0" rIns="0" bIns="0">
            <a:spAutoFit/>
          </a:bodyPr>
          <a:lstStyle/>
          <a:p>
            <a:r>
              <a:rPr sz="2400" b="0" i="0">
                <a:solidFill>
                  <a:srgbClr val="00D9C6"/>
                </a:solidFill>
                <a:latin typeface="Inter"/>
              </a:rPr>
              <a:t>Discovery session, 2/6</a:t>
            </a:r>
          </a:p>
        </p:txBody>
      </p:sp>
      <p:sp>
        <p:nvSpPr>
          <p:cNvPr id="5" name="TextBox 4"/>
          <p:cNvSpPr txBox="1"/>
          <p:nvPr/>
        </p:nvSpPr>
        <p:spPr>
          <a:xfrm>
            <a:off x="954573" y="9041010"/>
            <a:ext cx="3187395" cy="368877"/>
          </a:xfrm>
          <a:prstGeom prst="rect">
            <a:avLst/>
          </a:prstGeom>
          <a:noFill/>
        </p:spPr>
        <p:txBody>
          <a:bodyPr wrap="none" lIns="0" tIns="0" rIns="0" bIns="0">
            <a:spAutoFit/>
          </a:bodyPr>
          <a:lstStyle/>
          <a:p>
            <a:r>
              <a:rPr sz="2400" b="0" i="0">
                <a:solidFill>
                  <a:srgbClr val="00D9C6"/>
                </a:solidFill>
                <a:latin typeface="Inter"/>
              </a:rPr>
              <a:t>Executive demo, 10/6</a:t>
            </a:r>
          </a:p>
        </p:txBody>
      </p:sp>
      <p:sp>
        <p:nvSpPr>
          <p:cNvPr id="6" name="TextBox 5"/>
          <p:cNvSpPr txBox="1"/>
          <p:nvPr/>
        </p:nvSpPr>
        <p:spPr>
          <a:xfrm>
            <a:off x="952500" y="1669256"/>
            <a:ext cx="7935912" cy="490061"/>
          </a:xfrm>
          <a:prstGeom prst="rect">
            <a:avLst/>
          </a:prstGeom>
          <a:noFill/>
        </p:spPr>
        <p:txBody>
          <a:bodyPr wrap="none" lIns="0" tIns="0" rIns="0" bIns="0">
            <a:spAutoFit/>
          </a:bodyPr>
          <a:lstStyle/>
          <a:p>
            <a:r>
              <a:rPr sz="3750" b="0" i="0">
                <a:solidFill>
                  <a:srgbClr val="FFFFFF"/>
                </a:solidFill>
                <a:latin typeface="Type3 (66 0 R)"/>
              </a:rPr>
              <a:t>Sho</a:t>
            </a:r>
            <a:r>
              <a:rPr sz="3750" b="0" i="0">
                <a:solidFill>
                  <a:srgbClr val="FFFFFF"/>
                </a:solidFill>
                <a:latin typeface="Type3 (46 0 R)"/>
              </a:rPr>
              <a:t>w</a:t>
            </a:r>
            <a:r>
              <a:rPr sz="3750" b="0" i="0">
                <a:solidFill>
                  <a:srgbClr val="FFFFFF"/>
                </a:solidFill>
                <a:latin typeface="Type3 (66 0 R)"/>
              </a:rPr>
              <a:t>case</a:t>
            </a:r>
            <a:r>
              <a:rPr sz="3750" b="0" i="0">
                <a:solidFill>
                  <a:srgbClr val="FFFFFF"/>
                </a:solidFill>
                <a:latin typeface="Type3 (46 0 R)"/>
              </a:rPr>
              <a:t> y</a:t>
            </a:r>
            <a:r>
              <a:rPr sz="3750" b="0" i="0">
                <a:solidFill>
                  <a:srgbClr val="FFFFFF"/>
                </a:solidFill>
                <a:latin typeface="Type3 (66 0 R)"/>
              </a:rPr>
              <a:t>o</a:t>
            </a:r>
            <a:r>
              <a:rPr sz="3750" b="0" i="0">
                <a:solidFill>
                  <a:srgbClr val="FFFFFF"/>
                </a:solidFill>
                <a:latin typeface="Type3 (46 0 R)"/>
              </a:rPr>
              <a:t>u</a:t>
            </a:r>
            <a:r>
              <a:rPr sz="3750" b="0" i="0">
                <a:solidFill>
                  <a:srgbClr val="FFFFFF"/>
                </a:solidFill>
                <a:latin typeface="Type3 (66 0 R)"/>
              </a:rPr>
              <a:t>rprod</a:t>
            </a:r>
            <a:r>
              <a:rPr sz="3750" b="0" i="0">
                <a:solidFill>
                  <a:srgbClr val="FFFFFF"/>
                </a:solidFill>
                <a:latin typeface="Type3 (46 0 R)"/>
              </a:rPr>
              <a:t>u</a:t>
            </a:r>
            <a:r>
              <a:rPr sz="3750" b="0" i="0">
                <a:solidFill>
                  <a:srgbClr val="FFFFFF"/>
                </a:solidFill>
                <a:latin typeface="Type3 (66 0 R)"/>
              </a:rPr>
              <a:t>ctdemo</a:t>
            </a:r>
            <a:r>
              <a:rPr sz="3750" b="0" i="0">
                <a:solidFill>
                  <a:srgbClr val="FFFFFF"/>
                </a:solidFill>
                <a:latin typeface="Type3 (46 0 R)"/>
              </a:rPr>
              <a:t>, </a:t>
            </a:r>
            <a:r>
              <a:rPr sz="3750" b="0" i="0">
                <a:solidFill>
                  <a:srgbClr val="FFFFFF"/>
                </a:solidFill>
                <a:latin typeface="Type3 (66 0 R)"/>
              </a:rPr>
              <a:t>and</a:t>
            </a:r>
          </a:p>
        </p:txBody>
      </p:sp>
      <p:sp>
        <p:nvSpPr>
          <p:cNvPr id="7" name="TextBox 6"/>
          <p:cNvSpPr txBox="1"/>
          <p:nvPr/>
        </p:nvSpPr>
        <p:spPr>
          <a:xfrm>
            <a:off x="952500" y="2288381"/>
            <a:ext cx="7788275" cy="490061"/>
          </a:xfrm>
          <a:prstGeom prst="rect">
            <a:avLst/>
          </a:prstGeom>
          <a:noFill/>
        </p:spPr>
        <p:txBody>
          <a:bodyPr wrap="none" lIns="0" tIns="0" rIns="0" bIns="0">
            <a:spAutoFit/>
          </a:bodyPr>
          <a:lstStyle/>
          <a:p>
            <a:r>
              <a:rPr sz="3750" b="0" i="0">
                <a:solidFill>
                  <a:srgbClr val="FFFFFF"/>
                </a:solidFill>
                <a:latin typeface="Type3 (66 0 R)"/>
              </a:rPr>
              <a:t>incl</a:t>
            </a:r>
            <a:r>
              <a:rPr sz="3750" b="0" i="0">
                <a:solidFill>
                  <a:srgbClr val="FFFFFF"/>
                </a:solidFill>
                <a:latin typeface="Type3 (46 0 R)"/>
              </a:rPr>
              <a:t>u</a:t>
            </a:r>
            <a:r>
              <a:rPr sz="3750" b="0" i="0">
                <a:solidFill>
                  <a:srgbClr val="FFFFFF"/>
                </a:solidFill>
                <a:latin typeface="Type3 (66 0 R)"/>
              </a:rPr>
              <a:t>delinkstopre</a:t>
            </a:r>
            <a:r>
              <a:rPr sz="3750" b="0" i="0">
                <a:solidFill>
                  <a:srgbClr val="FFFFFF"/>
                </a:solidFill>
                <a:latin typeface="Type3 (46 0 R)"/>
              </a:rPr>
              <a:t>v</a:t>
            </a:r>
            <a:r>
              <a:rPr sz="3750" b="0" i="0">
                <a:solidFill>
                  <a:srgbClr val="FFFFFF"/>
                </a:solidFill>
                <a:latin typeface="Type3 (66 0 R)"/>
              </a:rPr>
              <a:t>io</a:t>
            </a:r>
            <a:r>
              <a:rPr sz="3750" b="0" i="0">
                <a:solidFill>
                  <a:srgbClr val="FFFFFF"/>
                </a:solidFill>
                <a:latin typeface="Type3 (46 0 R)"/>
              </a:rPr>
              <a:t>u</a:t>
            </a:r>
            <a:r>
              <a:rPr sz="3750" b="0" i="0">
                <a:solidFill>
                  <a:srgbClr val="FFFFFF"/>
                </a:solidFill>
                <a:latin typeface="Type3 (66 0 R)"/>
              </a:rPr>
              <a:t>smeetings</a:t>
            </a:r>
          </a:p>
        </p:txBody>
      </p:sp>
      <p:sp>
        <p:nvSpPr>
          <p:cNvPr id="8" name="TextBox 7"/>
          <p:cNvSpPr txBox="1"/>
          <p:nvPr/>
        </p:nvSpPr>
        <p:spPr>
          <a:xfrm>
            <a:off x="952500" y="2907506"/>
            <a:ext cx="8521700" cy="490061"/>
          </a:xfrm>
          <a:prstGeom prst="rect">
            <a:avLst/>
          </a:prstGeom>
          <a:noFill/>
        </p:spPr>
        <p:txBody>
          <a:bodyPr wrap="none" lIns="0" tIns="0" rIns="0" bIns="0">
            <a:spAutoFit/>
          </a:bodyPr>
          <a:lstStyle/>
          <a:p>
            <a:r>
              <a:rPr sz="3750" b="0" i="0">
                <a:solidFill>
                  <a:srgbClr val="FFFFFF"/>
                </a:solidFill>
                <a:latin typeface="Type3 (66 0 R)"/>
              </a:rPr>
              <a:t>thatne</a:t>
            </a:r>
            <a:r>
              <a:rPr sz="3750" b="0" i="0">
                <a:solidFill>
                  <a:srgbClr val="FFFFFF"/>
                </a:solidFill>
                <a:latin typeface="Type3 (46 0 R)"/>
              </a:rPr>
              <a:t>w </a:t>
            </a:r>
            <a:r>
              <a:rPr sz="3750" b="0" i="0">
                <a:solidFill>
                  <a:srgbClr val="FFFFFF"/>
                </a:solidFill>
                <a:latin typeface="Type3 (66 0 R)"/>
              </a:rPr>
              <a:t>memberscan</a:t>
            </a:r>
            <a:r>
              <a:rPr sz="3750" b="0" i="0">
                <a:solidFill>
                  <a:srgbClr val="FFFFFF"/>
                </a:solidFill>
                <a:latin typeface="Type3 (46 0 R)"/>
              </a:rPr>
              <a:t> u</a:t>
            </a:r>
            <a:r>
              <a:rPr sz="3750" b="0" i="0">
                <a:solidFill>
                  <a:srgbClr val="FFFFFF"/>
                </a:solidFill>
                <a:latin typeface="Type3 (66 0 R)"/>
              </a:rPr>
              <a:t>setoget</a:t>
            </a:r>
            <a:r>
              <a:rPr sz="3750" b="0" i="0">
                <a:solidFill>
                  <a:srgbClr val="FFFFFF"/>
                </a:solidFill>
                <a:latin typeface="Type3 (46 0 R)"/>
              </a:rPr>
              <a:t> u</a:t>
            </a:r>
            <a:r>
              <a:rPr sz="3750" b="0" i="0">
                <a:solidFill>
                  <a:srgbClr val="FFFFFF"/>
                </a:solidFill>
                <a:latin typeface="Type3 (66 0 R)"/>
              </a:rPr>
              <a:t>p</a:t>
            </a:r>
            <a:r>
              <a:rPr sz="3750" b="0" i="0">
                <a:solidFill>
                  <a:srgbClr val="FFFFFF"/>
                </a:solidFill>
                <a:latin typeface="Type3 (46 0 R)"/>
              </a:rPr>
              <a:t>-</a:t>
            </a:r>
          </a:p>
        </p:txBody>
      </p:sp>
      <p:sp>
        <p:nvSpPr>
          <p:cNvPr id="9" name="TextBox 8"/>
          <p:cNvSpPr txBox="1"/>
          <p:nvPr/>
        </p:nvSpPr>
        <p:spPr>
          <a:xfrm>
            <a:off x="952500" y="3526631"/>
            <a:ext cx="1914207" cy="490061"/>
          </a:xfrm>
          <a:prstGeom prst="rect">
            <a:avLst/>
          </a:prstGeom>
          <a:noFill/>
        </p:spPr>
        <p:txBody>
          <a:bodyPr wrap="none" lIns="0" tIns="0" rIns="0" bIns="0">
            <a:spAutoFit/>
          </a:bodyPr>
          <a:lstStyle/>
          <a:p>
            <a:r>
              <a:rPr sz="3750" b="0" i="0">
                <a:solidFill>
                  <a:srgbClr val="FFFFFF"/>
                </a:solidFill>
                <a:latin typeface="Type3 (66 0 R)"/>
              </a:rPr>
              <a:t>to</a:t>
            </a:r>
            <a:r>
              <a:rPr sz="3750" b="0" i="0">
                <a:solidFill>
                  <a:srgbClr val="FFFFFF"/>
                </a:solidFill>
                <a:latin typeface="Type3 (46 0 R)"/>
              </a:rPr>
              <a:t>-</a:t>
            </a:r>
            <a:r>
              <a:rPr sz="3750" b="0" i="0">
                <a:solidFill>
                  <a:srgbClr val="FFFFFF"/>
                </a:solidFill>
                <a:latin typeface="Type3 (66 0 R)"/>
              </a:rPr>
              <a:t>date</a:t>
            </a:r>
            <a:r>
              <a:rPr sz="3750" b="0" i="0">
                <a:solidFill>
                  <a:srgbClr val="FFFFFF"/>
                </a:solidFill>
                <a:latin typeface="Type3 (46 0 R)"/>
              </a:rPr>
              <a:t>.</a:t>
            </a:r>
          </a:p>
        </p:txBody>
      </p:sp>
      <p:sp>
        <p:nvSpPr>
          <p:cNvPr id="10" name="TextBox 9"/>
          <p:cNvSpPr txBox="1"/>
          <p:nvPr/>
        </p:nvSpPr>
        <p:spPr>
          <a:xfrm>
            <a:off x="952500" y="948928"/>
            <a:ext cx="3217797" cy="230548"/>
          </a:xfrm>
          <a:prstGeom prst="rect">
            <a:avLst/>
          </a:prstGeom>
          <a:noFill/>
        </p:spPr>
        <p:txBody>
          <a:bodyPr wrap="none" lIns="0" tIns="0" rIns="0" bIns="0">
            <a:spAutoFit/>
          </a:bodyPr>
          <a:lstStyle/>
          <a:p>
            <a:r>
              <a:rPr sz="1500" b="0" i="0">
                <a:solidFill>
                  <a:srgbClr val="00D9C6"/>
                </a:solidFill>
                <a:latin typeface="Inter"/>
              </a:rPr>
              <a:t>RESOURCES: PRODUCT DEMO</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17.png"/>
          <p:cNvPicPr>
            <a:picLocks noChangeAspect="1"/>
          </p:cNvPicPr>
          <p:nvPr/>
        </p:nvPicPr>
        <p:blipFill>
          <a:blip r:embed="rId2"/>
          <a:stretch>
            <a:fillRect/>
          </a:stretch>
        </p:blipFill>
        <p:spPr>
          <a:xfrm>
            <a:off x="0" y="0"/>
            <a:ext cx="18288000" cy="10287000"/>
          </a:xfrm>
          <a:prstGeom prst="rect">
            <a:avLst/>
          </a:prstGeom>
        </p:spPr>
      </p:pic>
      <p:sp>
        <p:nvSpPr>
          <p:cNvPr id="3" name="TextBox 2"/>
          <p:cNvSpPr txBox="1"/>
          <p:nvPr/>
        </p:nvSpPr>
        <p:spPr>
          <a:xfrm>
            <a:off x="952404" y="6857851"/>
            <a:ext cx="7978699" cy="368877"/>
          </a:xfrm>
          <a:prstGeom prst="rect">
            <a:avLst/>
          </a:prstGeom>
          <a:noFill/>
        </p:spPr>
        <p:txBody>
          <a:bodyPr wrap="none" lIns="0" tIns="0" rIns="0" bIns="0">
            <a:spAutoFit/>
          </a:bodyPr>
          <a:lstStyle/>
          <a:p>
            <a:r>
              <a:rPr sz="2400" b="0" i="0">
                <a:solidFill>
                  <a:srgbClr val="FFFFFF"/>
                </a:solidFill>
                <a:latin typeface="Inter"/>
              </a:rPr>
              <a:t>Tell your customer a story about a similar client you've </a:t>
            </a:r>
          </a:p>
        </p:txBody>
      </p:sp>
      <p:sp>
        <p:nvSpPr>
          <p:cNvPr id="4" name="TextBox 3"/>
          <p:cNvSpPr txBox="1"/>
          <p:nvPr/>
        </p:nvSpPr>
        <p:spPr>
          <a:xfrm>
            <a:off x="952404" y="7362676"/>
            <a:ext cx="7826299" cy="368877"/>
          </a:xfrm>
          <a:prstGeom prst="rect">
            <a:avLst/>
          </a:prstGeom>
          <a:noFill/>
        </p:spPr>
        <p:txBody>
          <a:bodyPr wrap="none" lIns="0" tIns="0" rIns="0" bIns="0">
            <a:spAutoFit/>
          </a:bodyPr>
          <a:lstStyle/>
          <a:p>
            <a:r>
              <a:rPr sz="2400" b="0" i="0">
                <a:solidFill>
                  <a:srgbClr val="FFFFFF"/>
                </a:solidFill>
                <a:latin typeface="Inter"/>
              </a:rPr>
              <a:t>worked with in the past. Make it personal: Include the </a:t>
            </a:r>
          </a:p>
        </p:txBody>
      </p:sp>
      <p:sp>
        <p:nvSpPr>
          <p:cNvPr id="5" name="TextBox 4"/>
          <p:cNvSpPr txBox="1"/>
          <p:nvPr/>
        </p:nvSpPr>
        <p:spPr>
          <a:xfrm>
            <a:off x="952404" y="7867501"/>
            <a:ext cx="7902499" cy="368877"/>
          </a:xfrm>
          <a:prstGeom prst="rect">
            <a:avLst/>
          </a:prstGeom>
          <a:noFill/>
        </p:spPr>
        <p:txBody>
          <a:bodyPr wrap="none" lIns="0" tIns="0" rIns="0" bIns="0">
            <a:spAutoFit/>
          </a:bodyPr>
          <a:lstStyle/>
          <a:p>
            <a:r>
              <a:rPr sz="2400" b="0" i="0">
                <a:solidFill>
                  <a:srgbClr val="FFFFFF"/>
                </a:solidFill>
                <a:latin typeface="Inter"/>
              </a:rPr>
              <a:t>client's name, and explain the problem they had. What </a:t>
            </a:r>
          </a:p>
        </p:txBody>
      </p:sp>
      <p:sp>
        <p:nvSpPr>
          <p:cNvPr id="6" name="TextBox 5"/>
          <p:cNvSpPr txBox="1"/>
          <p:nvPr/>
        </p:nvSpPr>
        <p:spPr>
          <a:xfrm>
            <a:off x="952404" y="8362801"/>
            <a:ext cx="7778674" cy="368877"/>
          </a:xfrm>
          <a:prstGeom prst="rect">
            <a:avLst/>
          </a:prstGeom>
          <a:noFill/>
        </p:spPr>
        <p:txBody>
          <a:bodyPr wrap="none" lIns="0" tIns="0" rIns="0" bIns="0">
            <a:spAutoFit/>
          </a:bodyPr>
          <a:lstStyle/>
          <a:p>
            <a:r>
              <a:rPr sz="2400" b="0" i="0">
                <a:solidFill>
                  <a:srgbClr val="FFFFFF"/>
                </a:solidFill>
                <a:latin typeface="Inter"/>
              </a:rPr>
              <a:t>exactly was Sermin's challenge, and how did it affect </a:t>
            </a:r>
          </a:p>
        </p:txBody>
      </p:sp>
      <p:sp>
        <p:nvSpPr>
          <p:cNvPr id="7" name="TextBox 6"/>
          <p:cNvSpPr txBox="1"/>
          <p:nvPr/>
        </p:nvSpPr>
        <p:spPr>
          <a:xfrm>
            <a:off x="952404" y="8867626"/>
            <a:ext cx="2358948" cy="368877"/>
          </a:xfrm>
          <a:prstGeom prst="rect">
            <a:avLst/>
          </a:prstGeom>
          <a:noFill/>
        </p:spPr>
        <p:txBody>
          <a:bodyPr wrap="none" lIns="0" tIns="0" rIns="0" bIns="0">
            <a:spAutoFit/>
          </a:bodyPr>
          <a:lstStyle/>
          <a:p>
            <a:r>
              <a:rPr sz="2400" b="0" i="0">
                <a:solidFill>
                  <a:srgbClr val="FFFFFF"/>
                </a:solidFill>
                <a:latin typeface="Inter"/>
              </a:rPr>
              <a:t>their business? </a:t>
            </a:r>
          </a:p>
        </p:txBody>
      </p:sp>
      <p:sp>
        <p:nvSpPr>
          <p:cNvPr id="8" name="TextBox 7"/>
          <p:cNvSpPr txBox="1"/>
          <p:nvPr/>
        </p:nvSpPr>
        <p:spPr>
          <a:xfrm>
            <a:off x="952500" y="1669256"/>
            <a:ext cx="4425950" cy="490061"/>
          </a:xfrm>
          <a:prstGeom prst="rect">
            <a:avLst/>
          </a:prstGeom>
          <a:noFill/>
        </p:spPr>
        <p:txBody>
          <a:bodyPr wrap="none" lIns="0" tIns="0" rIns="0" bIns="0">
            <a:spAutoFit/>
          </a:bodyPr>
          <a:lstStyle/>
          <a:p>
            <a:r>
              <a:rPr sz="3750" b="0" i="0">
                <a:solidFill>
                  <a:srgbClr val="FFFFFF"/>
                </a:solidFill>
                <a:latin typeface="Type3 (66 0 R)"/>
              </a:rPr>
              <a:t>MeetSerminKiper</a:t>
            </a:r>
            <a:r>
              <a:rPr sz="3750" b="0" i="0">
                <a:solidFill>
                  <a:srgbClr val="FFFFFF"/>
                </a:solidFill>
                <a:latin typeface="Type3 (46 0 R)"/>
              </a:rPr>
              <a:t>, </a:t>
            </a:r>
          </a:p>
        </p:txBody>
      </p:sp>
      <p:sp>
        <p:nvSpPr>
          <p:cNvPr id="9" name="TextBox 8"/>
          <p:cNvSpPr txBox="1"/>
          <p:nvPr/>
        </p:nvSpPr>
        <p:spPr>
          <a:xfrm>
            <a:off x="952500" y="2288381"/>
            <a:ext cx="4747895" cy="490061"/>
          </a:xfrm>
          <a:prstGeom prst="rect">
            <a:avLst/>
          </a:prstGeom>
          <a:noFill/>
        </p:spPr>
        <p:txBody>
          <a:bodyPr wrap="none" lIns="0" tIns="0" rIns="0" bIns="0">
            <a:spAutoFit/>
          </a:bodyPr>
          <a:lstStyle/>
          <a:p>
            <a:r>
              <a:rPr sz="3750" b="0" i="0">
                <a:solidFill>
                  <a:srgbClr val="FFFFFF"/>
                </a:solidFill>
                <a:latin typeface="Type3 (66 0 R)"/>
              </a:rPr>
              <a:t>CMOofFinderGmbH</a:t>
            </a:r>
            <a:r>
              <a:rPr sz="3750" b="0" i="0">
                <a:solidFill>
                  <a:srgbClr val="FFFFFF"/>
                </a:solidFill>
                <a:latin typeface="Type3 (46 0 R)"/>
              </a:rPr>
              <a:t>.</a:t>
            </a:r>
          </a:p>
        </p:txBody>
      </p:sp>
      <p:sp>
        <p:nvSpPr>
          <p:cNvPr id="10" name="TextBox 9"/>
          <p:cNvSpPr txBox="1"/>
          <p:nvPr/>
        </p:nvSpPr>
        <p:spPr>
          <a:xfrm>
            <a:off x="952500" y="948928"/>
            <a:ext cx="2832416" cy="230548"/>
          </a:xfrm>
          <a:prstGeom prst="rect">
            <a:avLst/>
          </a:prstGeom>
          <a:noFill/>
        </p:spPr>
        <p:txBody>
          <a:bodyPr wrap="none" lIns="0" tIns="0" rIns="0" bIns="0">
            <a:spAutoFit/>
          </a:bodyPr>
          <a:lstStyle/>
          <a:p>
            <a:r>
              <a:rPr sz="1500" b="0" i="0">
                <a:solidFill>
                  <a:srgbClr val="00D9C6"/>
                </a:solidFill>
                <a:latin typeface="Inter"/>
              </a:rPr>
              <a:t>RESOURCES: CASE STUDY</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18.png"/>
          <p:cNvPicPr>
            <a:picLocks noChangeAspect="1"/>
          </p:cNvPicPr>
          <p:nvPr/>
        </p:nvPicPr>
        <p:blipFill>
          <a:blip r:embed="rId2"/>
          <a:stretch>
            <a:fillRect/>
          </a:stretch>
        </p:blipFill>
        <p:spPr>
          <a:xfrm>
            <a:off x="0" y="0"/>
            <a:ext cx="18288000" cy="10287000"/>
          </a:xfrm>
          <a:prstGeom prst="rect">
            <a:avLst/>
          </a:prstGeom>
        </p:spPr>
      </p:pic>
      <p:sp>
        <p:nvSpPr>
          <p:cNvPr id="3" name="TextBox 2"/>
          <p:cNvSpPr txBox="1"/>
          <p:nvPr/>
        </p:nvSpPr>
        <p:spPr>
          <a:xfrm>
            <a:off x="955275" y="7387570"/>
            <a:ext cx="6738619" cy="490061"/>
          </a:xfrm>
          <a:prstGeom prst="rect">
            <a:avLst/>
          </a:prstGeom>
          <a:noFill/>
        </p:spPr>
        <p:txBody>
          <a:bodyPr wrap="none" lIns="0" tIns="0" rIns="0" bIns="0">
            <a:spAutoFit/>
          </a:bodyPr>
          <a:lstStyle/>
          <a:p>
            <a:r>
              <a:rPr sz="3750" b="0" i="0">
                <a:solidFill>
                  <a:srgbClr val="FFFFFF"/>
                </a:solidFill>
                <a:latin typeface="Type3 (66 0 R)"/>
              </a:rPr>
              <a:t>Whatres</a:t>
            </a:r>
            <a:r>
              <a:rPr sz="3750" b="0" i="0">
                <a:solidFill>
                  <a:srgbClr val="FFFFFF"/>
                </a:solidFill>
                <a:latin typeface="Type3 (46 0 R)"/>
              </a:rPr>
              <a:t>u</a:t>
            </a:r>
            <a:r>
              <a:rPr sz="3750" b="0" i="0">
                <a:solidFill>
                  <a:srgbClr val="FFFFFF"/>
                </a:solidFill>
                <a:latin typeface="Type3 (66 0 R)"/>
              </a:rPr>
              <a:t>ltsdid</a:t>
            </a:r>
            <a:r>
              <a:rPr sz="3750" b="0" i="0">
                <a:solidFill>
                  <a:srgbClr val="FFFFFF"/>
                </a:solidFill>
                <a:latin typeface="Type3 (46 0 R)"/>
              </a:rPr>
              <a:t> y</a:t>
            </a:r>
            <a:r>
              <a:rPr sz="3750" b="0" i="0">
                <a:solidFill>
                  <a:srgbClr val="FFFFFF"/>
                </a:solidFill>
                <a:latin typeface="Type3 (66 0 R)"/>
              </a:rPr>
              <a:t>o</a:t>
            </a:r>
            <a:r>
              <a:rPr sz="3750" b="0" i="0">
                <a:solidFill>
                  <a:srgbClr val="FFFFFF"/>
                </a:solidFill>
                <a:latin typeface="Type3 (46 0 R)"/>
              </a:rPr>
              <a:t>u </a:t>
            </a:r>
            <a:r>
              <a:rPr sz="3750" b="0" i="0">
                <a:solidFill>
                  <a:srgbClr val="FFFFFF"/>
                </a:solidFill>
                <a:latin typeface="Type3 (66 0 R)"/>
              </a:rPr>
              <a:t>achie</a:t>
            </a:r>
            <a:r>
              <a:rPr sz="3750" b="0" i="0">
                <a:solidFill>
                  <a:srgbClr val="FFFFFF"/>
                </a:solidFill>
                <a:latin typeface="Type3 (46 0 R)"/>
              </a:rPr>
              <a:t>v</a:t>
            </a:r>
            <a:r>
              <a:rPr sz="3750" b="0" i="0">
                <a:solidFill>
                  <a:srgbClr val="FFFFFF"/>
                </a:solidFill>
                <a:latin typeface="Type3 (66 0 R)"/>
              </a:rPr>
              <a:t>e</a:t>
            </a:r>
            <a:r>
              <a:rPr sz="3750" b="0" i="0">
                <a:solidFill>
                  <a:srgbClr val="FFFFFF"/>
                </a:solidFill>
                <a:latin typeface="Type3 (46 0 R)"/>
              </a:rPr>
              <a:t>?</a:t>
            </a:r>
          </a:p>
        </p:txBody>
      </p:sp>
      <p:sp>
        <p:nvSpPr>
          <p:cNvPr id="4" name="TextBox 3"/>
          <p:cNvSpPr txBox="1"/>
          <p:nvPr/>
        </p:nvSpPr>
        <p:spPr>
          <a:xfrm>
            <a:off x="13665880" y="1503301"/>
            <a:ext cx="2006600" cy="843855"/>
          </a:xfrm>
          <a:prstGeom prst="rect">
            <a:avLst/>
          </a:prstGeom>
          <a:noFill/>
        </p:spPr>
        <p:txBody>
          <a:bodyPr wrap="none" lIns="0" tIns="0" rIns="0" bIns="0">
            <a:spAutoFit/>
          </a:bodyPr>
          <a:lstStyle/>
          <a:p>
            <a:r>
              <a:rPr sz="6000" b="1" i="0">
                <a:solidFill>
                  <a:srgbClr val="0B211F"/>
                </a:solidFill>
                <a:latin typeface="LiberationSerif"/>
              </a:rPr>
              <a:t>231%</a:t>
            </a:r>
          </a:p>
        </p:txBody>
      </p:sp>
      <p:sp>
        <p:nvSpPr>
          <p:cNvPr id="5" name="TextBox 4"/>
          <p:cNvSpPr txBox="1"/>
          <p:nvPr/>
        </p:nvSpPr>
        <p:spPr>
          <a:xfrm>
            <a:off x="12737193" y="2372829"/>
            <a:ext cx="3863899" cy="368877"/>
          </a:xfrm>
          <a:prstGeom prst="rect">
            <a:avLst/>
          </a:prstGeom>
          <a:noFill/>
        </p:spPr>
        <p:txBody>
          <a:bodyPr wrap="none" lIns="0" tIns="0" rIns="0" bIns="0">
            <a:spAutoFit/>
          </a:bodyPr>
          <a:lstStyle/>
          <a:p>
            <a:r>
              <a:rPr sz="2400" b="0" i="0">
                <a:solidFill>
                  <a:srgbClr val="0B211F"/>
                </a:solidFill>
                <a:latin typeface="Inter"/>
              </a:rPr>
              <a:t>Improvement in important </a:t>
            </a:r>
          </a:p>
        </p:txBody>
      </p:sp>
      <p:sp>
        <p:nvSpPr>
          <p:cNvPr id="6" name="TextBox 5"/>
          <p:cNvSpPr txBox="1"/>
          <p:nvPr/>
        </p:nvSpPr>
        <p:spPr>
          <a:xfrm>
            <a:off x="14161180" y="2734779"/>
            <a:ext cx="1014627" cy="368877"/>
          </a:xfrm>
          <a:prstGeom prst="rect">
            <a:avLst/>
          </a:prstGeom>
          <a:noFill/>
        </p:spPr>
        <p:txBody>
          <a:bodyPr wrap="none" lIns="0" tIns="0" rIns="0" bIns="0">
            <a:spAutoFit/>
          </a:bodyPr>
          <a:lstStyle/>
          <a:p>
            <a:r>
              <a:rPr sz="2400" b="0" i="0">
                <a:solidFill>
                  <a:srgbClr val="0B211F"/>
                </a:solidFill>
                <a:latin typeface="Inter"/>
              </a:rPr>
              <a:t>metric</a:t>
            </a:r>
          </a:p>
        </p:txBody>
      </p:sp>
      <p:sp>
        <p:nvSpPr>
          <p:cNvPr id="7" name="TextBox 6"/>
          <p:cNvSpPr txBox="1"/>
          <p:nvPr/>
        </p:nvSpPr>
        <p:spPr>
          <a:xfrm>
            <a:off x="13946193" y="4355907"/>
            <a:ext cx="1456436" cy="843855"/>
          </a:xfrm>
          <a:prstGeom prst="rect">
            <a:avLst/>
          </a:prstGeom>
          <a:noFill/>
        </p:spPr>
        <p:txBody>
          <a:bodyPr wrap="none" lIns="0" tIns="0" rIns="0" bIns="0">
            <a:spAutoFit/>
          </a:bodyPr>
          <a:lstStyle/>
          <a:p>
            <a:r>
              <a:rPr sz="6000" b="1" i="0">
                <a:solidFill>
                  <a:srgbClr val="0B211F"/>
                </a:solidFill>
                <a:latin typeface="LiberationSerif"/>
              </a:rPr>
              <a:t>12K</a:t>
            </a:r>
          </a:p>
        </p:txBody>
      </p:sp>
      <p:sp>
        <p:nvSpPr>
          <p:cNvPr id="8" name="TextBox 7"/>
          <p:cNvSpPr txBox="1"/>
          <p:nvPr/>
        </p:nvSpPr>
        <p:spPr>
          <a:xfrm>
            <a:off x="12742471" y="5225435"/>
            <a:ext cx="3863899" cy="368877"/>
          </a:xfrm>
          <a:prstGeom prst="rect">
            <a:avLst/>
          </a:prstGeom>
          <a:noFill/>
        </p:spPr>
        <p:txBody>
          <a:bodyPr wrap="none" lIns="0" tIns="0" rIns="0" bIns="0">
            <a:spAutoFit/>
          </a:bodyPr>
          <a:lstStyle/>
          <a:p>
            <a:r>
              <a:rPr sz="2400" b="0" i="0">
                <a:solidFill>
                  <a:srgbClr val="0B211F"/>
                </a:solidFill>
                <a:latin typeface="Inter"/>
              </a:rPr>
              <a:t>Improvement in important </a:t>
            </a:r>
          </a:p>
        </p:txBody>
      </p:sp>
      <p:sp>
        <p:nvSpPr>
          <p:cNvPr id="9" name="TextBox 8"/>
          <p:cNvSpPr txBox="1"/>
          <p:nvPr/>
        </p:nvSpPr>
        <p:spPr>
          <a:xfrm>
            <a:off x="14166459" y="5587385"/>
            <a:ext cx="1014627" cy="368877"/>
          </a:xfrm>
          <a:prstGeom prst="rect">
            <a:avLst/>
          </a:prstGeom>
          <a:noFill/>
        </p:spPr>
        <p:txBody>
          <a:bodyPr wrap="none" lIns="0" tIns="0" rIns="0" bIns="0">
            <a:spAutoFit/>
          </a:bodyPr>
          <a:lstStyle/>
          <a:p>
            <a:r>
              <a:rPr sz="2400" b="0" i="0">
                <a:solidFill>
                  <a:srgbClr val="0B211F"/>
                </a:solidFill>
                <a:latin typeface="Inter"/>
              </a:rPr>
              <a:t>metric</a:t>
            </a:r>
          </a:p>
        </p:txBody>
      </p:sp>
      <p:sp>
        <p:nvSpPr>
          <p:cNvPr id="10" name="TextBox 9"/>
          <p:cNvSpPr txBox="1"/>
          <p:nvPr/>
        </p:nvSpPr>
        <p:spPr>
          <a:xfrm>
            <a:off x="14241288" y="7219825"/>
            <a:ext cx="863600" cy="843855"/>
          </a:xfrm>
          <a:prstGeom prst="rect">
            <a:avLst/>
          </a:prstGeom>
          <a:noFill/>
        </p:spPr>
        <p:txBody>
          <a:bodyPr wrap="none" lIns="0" tIns="0" rIns="0" bIns="0">
            <a:spAutoFit/>
          </a:bodyPr>
          <a:lstStyle/>
          <a:p>
            <a:r>
              <a:rPr sz="6000" b="1" i="0">
                <a:solidFill>
                  <a:srgbClr val="0B211F"/>
                </a:solidFill>
                <a:latin typeface="LiberationSerif"/>
              </a:rPr>
              <a:t>5x</a:t>
            </a:r>
          </a:p>
        </p:txBody>
      </p:sp>
      <p:sp>
        <p:nvSpPr>
          <p:cNvPr id="11" name="TextBox 10"/>
          <p:cNvSpPr txBox="1"/>
          <p:nvPr/>
        </p:nvSpPr>
        <p:spPr>
          <a:xfrm>
            <a:off x="12741101" y="8089354"/>
            <a:ext cx="3863899" cy="368877"/>
          </a:xfrm>
          <a:prstGeom prst="rect">
            <a:avLst/>
          </a:prstGeom>
          <a:noFill/>
        </p:spPr>
        <p:txBody>
          <a:bodyPr wrap="none" lIns="0" tIns="0" rIns="0" bIns="0">
            <a:spAutoFit/>
          </a:bodyPr>
          <a:lstStyle/>
          <a:p>
            <a:r>
              <a:rPr sz="2400" b="0" i="0">
                <a:solidFill>
                  <a:srgbClr val="0B211F"/>
                </a:solidFill>
                <a:latin typeface="Inter"/>
              </a:rPr>
              <a:t>Improvement in important </a:t>
            </a:r>
          </a:p>
        </p:txBody>
      </p:sp>
      <p:sp>
        <p:nvSpPr>
          <p:cNvPr id="12" name="TextBox 11"/>
          <p:cNvSpPr txBox="1"/>
          <p:nvPr/>
        </p:nvSpPr>
        <p:spPr>
          <a:xfrm>
            <a:off x="14165088" y="8451304"/>
            <a:ext cx="1014627" cy="368877"/>
          </a:xfrm>
          <a:prstGeom prst="rect">
            <a:avLst/>
          </a:prstGeom>
          <a:noFill/>
        </p:spPr>
        <p:txBody>
          <a:bodyPr wrap="none" lIns="0" tIns="0" rIns="0" bIns="0">
            <a:spAutoFit/>
          </a:bodyPr>
          <a:lstStyle/>
          <a:p>
            <a:r>
              <a:rPr sz="2400" b="0" i="0">
                <a:solidFill>
                  <a:srgbClr val="0B211F"/>
                </a:solidFill>
                <a:latin typeface="Inter"/>
              </a:rPr>
              <a:t>metric</a:t>
            </a:r>
          </a:p>
        </p:txBody>
      </p:sp>
      <p:sp>
        <p:nvSpPr>
          <p:cNvPr id="13" name="TextBox 12"/>
          <p:cNvSpPr txBox="1"/>
          <p:nvPr/>
        </p:nvSpPr>
        <p:spPr>
          <a:xfrm>
            <a:off x="952804" y="8420382"/>
            <a:ext cx="9502698" cy="368877"/>
          </a:xfrm>
          <a:prstGeom prst="rect">
            <a:avLst/>
          </a:prstGeom>
          <a:noFill/>
        </p:spPr>
        <p:txBody>
          <a:bodyPr wrap="none" lIns="0" tIns="0" rIns="0" bIns="0">
            <a:spAutoFit/>
          </a:bodyPr>
          <a:lstStyle/>
          <a:p>
            <a:r>
              <a:rPr sz="2400" b="0" i="0">
                <a:solidFill>
                  <a:srgbClr val="FFFFFF"/>
                </a:solidFill>
                <a:latin typeface="Inter"/>
              </a:rPr>
              <a:t>Explain how you solved the problem, and show off what you were </a:t>
            </a:r>
          </a:p>
        </p:txBody>
      </p:sp>
      <p:sp>
        <p:nvSpPr>
          <p:cNvPr id="14" name="TextBox 13"/>
          <p:cNvSpPr txBox="1"/>
          <p:nvPr/>
        </p:nvSpPr>
        <p:spPr>
          <a:xfrm>
            <a:off x="952804" y="8925207"/>
            <a:ext cx="2871774" cy="368877"/>
          </a:xfrm>
          <a:prstGeom prst="rect">
            <a:avLst/>
          </a:prstGeom>
          <a:noFill/>
        </p:spPr>
        <p:txBody>
          <a:bodyPr wrap="none" lIns="0" tIns="0" rIns="0" bIns="0">
            <a:spAutoFit/>
          </a:bodyPr>
          <a:lstStyle/>
          <a:p>
            <a:r>
              <a:rPr sz="2400" b="0" i="0">
                <a:solidFill>
                  <a:srgbClr val="FFFFFF"/>
                </a:solidFill>
                <a:latin typeface="Inter"/>
              </a:rPr>
              <a:t>able to accomplish.</a:t>
            </a:r>
          </a:p>
        </p:txBody>
      </p:sp>
      <p:sp>
        <p:nvSpPr>
          <p:cNvPr id="15" name="TextBox 14"/>
          <p:cNvSpPr txBox="1"/>
          <p:nvPr/>
        </p:nvSpPr>
        <p:spPr>
          <a:xfrm>
            <a:off x="952500" y="948928"/>
            <a:ext cx="2832416" cy="230548"/>
          </a:xfrm>
          <a:prstGeom prst="rect">
            <a:avLst/>
          </a:prstGeom>
          <a:noFill/>
        </p:spPr>
        <p:txBody>
          <a:bodyPr wrap="none" lIns="0" tIns="0" rIns="0" bIns="0">
            <a:spAutoFit/>
          </a:bodyPr>
          <a:lstStyle/>
          <a:p>
            <a:r>
              <a:rPr sz="1500" b="0" i="0">
                <a:solidFill>
                  <a:srgbClr val="00D9C6"/>
                </a:solidFill>
                <a:latin typeface="Inter"/>
              </a:rPr>
              <a:t>RESOURCES: CASE STUDY</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19.png"/>
          <p:cNvPicPr>
            <a:picLocks noChangeAspect="1"/>
          </p:cNvPicPr>
          <p:nvPr/>
        </p:nvPicPr>
        <p:blipFill>
          <a:blip r:embed="rId2"/>
          <a:stretch>
            <a:fillRect/>
          </a:stretch>
        </p:blipFill>
        <p:spPr>
          <a:xfrm>
            <a:off x="0" y="0"/>
            <a:ext cx="18288000" cy="10287000"/>
          </a:xfrm>
          <a:prstGeom prst="rect">
            <a:avLst/>
          </a:prstGeom>
        </p:spPr>
      </p:pic>
      <p:sp>
        <p:nvSpPr>
          <p:cNvPr id="3" name="TextBox 2"/>
          <p:cNvSpPr txBox="1"/>
          <p:nvPr/>
        </p:nvSpPr>
        <p:spPr>
          <a:xfrm>
            <a:off x="10378380" y="2759011"/>
            <a:ext cx="4004557" cy="1277873"/>
          </a:xfrm>
          <a:prstGeom prst="rect">
            <a:avLst/>
          </a:prstGeom>
          <a:noFill/>
        </p:spPr>
        <p:txBody>
          <a:bodyPr wrap="none" lIns="0" tIns="0" rIns="0" bIns="0">
            <a:spAutoFit/>
          </a:bodyPr>
          <a:lstStyle/>
          <a:p>
            <a:r>
              <a:rPr sz="9750" b="0" i="0">
                <a:solidFill>
                  <a:srgbClr val="FF7A3D"/>
                </a:solidFill>
                <a:latin typeface="Type3 (120 0 R)"/>
              </a:rPr>
              <a:t>"</a:t>
            </a:r>
            <a:r>
              <a:rPr sz="9750" b="0" i="0">
                <a:solidFill>
                  <a:srgbClr val="FFFFFF"/>
                </a:solidFill>
                <a:latin typeface="Type3 (121 0 R)"/>
              </a:rPr>
              <a:t>Ithas</a:t>
            </a:r>
          </a:p>
        </p:txBody>
      </p:sp>
      <p:sp>
        <p:nvSpPr>
          <p:cNvPr id="4" name="TextBox 3"/>
          <p:cNvSpPr txBox="1"/>
          <p:nvPr/>
        </p:nvSpPr>
        <p:spPr>
          <a:xfrm>
            <a:off x="8227665" y="4121086"/>
            <a:ext cx="8305959" cy="1277873"/>
          </a:xfrm>
          <a:prstGeom prst="rect">
            <a:avLst/>
          </a:prstGeom>
          <a:noFill/>
        </p:spPr>
        <p:txBody>
          <a:bodyPr wrap="none" lIns="0" tIns="0" rIns="0" bIns="0">
            <a:spAutoFit/>
          </a:bodyPr>
          <a:lstStyle/>
          <a:p>
            <a:r>
              <a:rPr sz="9750" b="0" i="0">
                <a:solidFill>
                  <a:srgbClr val="FFFFFF"/>
                </a:solidFill>
                <a:latin typeface="Type3 (121 0 R)"/>
              </a:rPr>
              <a:t>f</a:t>
            </a:r>
            <a:r>
              <a:rPr sz="9750" b="0" i="0">
                <a:solidFill>
                  <a:srgbClr val="FFFFFF"/>
                </a:solidFill>
                <a:latin typeface="Type3 (120 0 R)"/>
              </a:rPr>
              <a:t>u</a:t>
            </a:r>
            <a:r>
              <a:rPr sz="9750" b="0" i="0">
                <a:solidFill>
                  <a:srgbClr val="FFFFFF"/>
                </a:solidFill>
                <a:latin typeface="Type3 (121 0 R)"/>
              </a:rPr>
              <a:t>ndamentall</a:t>
            </a:r>
            <a:r>
              <a:rPr sz="9750" b="0" i="0">
                <a:solidFill>
                  <a:srgbClr val="FFFFFF"/>
                </a:solidFill>
                <a:latin typeface="Type3 (120 0 R)"/>
              </a:rPr>
              <a:t>y </a:t>
            </a:r>
          </a:p>
        </p:txBody>
      </p:sp>
      <p:sp>
        <p:nvSpPr>
          <p:cNvPr id="5" name="TextBox 4"/>
          <p:cNvSpPr txBox="1"/>
          <p:nvPr/>
        </p:nvSpPr>
        <p:spPr>
          <a:xfrm>
            <a:off x="7464623" y="5483161"/>
            <a:ext cx="9831864" cy="1277873"/>
          </a:xfrm>
          <a:prstGeom prst="rect">
            <a:avLst/>
          </a:prstGeom>
          <a:noFill/>
        </p:spPr>
        <p:txBody>
          <a:bodyPr wrap="none" lIns="0" tIns="0" rIns="0" bIns="0">
            <a:spAutoFit/>
          </a:bodyPr>
          <a:lstStyle/>
          <a:p>
            <a:r>
              <a:rPr sz="9750" b="0" i="0">
                <a:solidFill>
                  <a:srgbClr val="FFFFFF"/>
                </a:solidFill>
                <a:latin typeface="Type3 (121 0 R)"/>
              </a:rPr>
              <a:t>changedthe</a:t>
            </a:r>
            <a:r>
              <a:rPr sz="9750" b="0" i="0">
                <a:solidFill>
                  <a:srgbClr val="FFFFFF"/>
                </a:solidFill>
                <a:latin typeface="Type3 (120 0 R)"/>
              </a:rPr>
              <a:t> w</a:t>
            </a:r>
            <a:r>
              <a:rPr sz="9750" b="0" i="0">
                <a:solidFill>
                  <a:srgbClr val="FFFFFF"/>
                </a:solidFill>
                <a:latin typeface="Type3 (121 0 R)"/>
              </a:rPr>
              <a:t>a</a:t>
            </a:r>
            <a:r>
              <a:rPr sz="9750" b="0" i="0">
                <a:solidFill>
                  <a:srgbClr val="FFFFFF"/>
                </a:solidFill>
                <a:latin typeface="Type3 (120 0 R)"/>
              </a:rPr>
              <a:t>y </a:t>
            </a:r>
          </a:p>
        </p:txBody>
      </p:sp>
      <p:sp>
        <p:nvSpPr>
          <p:cNvPr id="6" name="TextBox 5"/>
          <p:cNvSpPr txBox="1"/>
          <p:nvPr/>
        </p:nvSpPr>
        <p:spPr>
          <a:xfrm>
            <a:off x="9701510" y="6845236"/>
            <a:ext cx="5360661" cy="1277873"/>
          </a:xfrm>
          <a:prstGeom prst="rect">
            <a:avLst/>
          </a:prstGeom>
          <a:noFill/>
        </p:spPr>
        <p:txBody>
          <a:bodyPr wrap="none" lIns="0" tIns="0" rIns="0" bIns="0">
            <a:spAutoFit/>
          </a:bodyPr>
          <a:lstStyle/>
          <a:p>
            <a:r>
              <a:rPr sz="9750" b="0" i="0">
                <a:solidFill>
                  <a:srgbClr val="FFFFFF"/>
                </a:solidFill>
                <a:latin typeface="Type3 (120 0 R)"/>
              </a:rPr>
              <a:t>w</a:t>
            </a:r>
            <a:r>
              <a:rPr sz="9750" b="0" i="0">
                <a:solidFill>
                  <a:srgbClr val="FFFFFF"/>
                </a:solidFill>
                <a:latin typeface="Type3 (121 0 R)"/>
              </a:rPr>
              <a:t>e</a:t>
            </a:r>
            <a:r>
              <a:rPr sz="9750" b="0" i="0">
                <a:solidFill>
                  <a:srgbClr val="FFFFFF"/>
                </a:solidFill>
                <a:latin typeface="Type3 (120 0 R)"/>
              </a:rPr>
              <a:t> w</a:t>
            </a:r>
            <a:r>
              <a:rPr sz="9750" b="0" i="0">
                <a:solidFill>
                  <a:srgbClr val="FFFFFF"/>
                </a:solidFill>
                <a:latin typeface="Type3 (121 0 R)"/>
              </a:rPr>
              <a:t>ork</a:t>
            </a:r>
            <a:r>
              <a:rPr sz="9750" b="0" i="0">
                <a:solidFill>
                  <a:srgbClr val="FFFFFF"/>
                </a:solidFill>
                <a:latin typeface="Type3 (120 0 R)"/>
              </a:rPr>
              <a:t>.</a:t>
            </a:r>
            <a:r>
              <a:rPr sz="9750" b="0" i="0">
                <a:solidFill>
                  <a:srgbClr val="FF7A3D"/>
                </a:solidFill>
                <a:latin typeface="Type3 (120 0 R)"/>
              </a:rPr>
              <a:t>"</a:t>
            </a:r>
          </a:p>
        </p:txBody>
      </p:sp>
      <p:sp>
        <p:nvSpPr>
          <p:cNvPr id="7" name="TextBox 6"/>
          <p:cNvSpPr txBox="1"/>
          <p:nvPr/>
        </p:nvSpPr>
        <p:spPr>
          <a:xfrm>
            <a:off x="1513661" y="4834532"/>
            <a:ext cx="4359751" cy="576370"/>
          </a:xfrm>
          <a:prstGeom prst="rect">
            <a:avLst/>
          </a:prstGeom>
          <a:noFill/>
        </p:spPr>
        <p:txBody>
          <a:bodyPr wrap="none" lIns="0" tIns="0" rIns="0" bIns="0">
            <a:spAutoFit/>
          </a:bodyPr>
          <a:lstStyle/>
          <a:p>
            <a:r>
              <a:rPr sz="3750" b="0" i="0">
                <a:solidFill>
                  <a:srgbClr val="0B211F"/>
                </a:solidFill>
                <a:latin typeface="Inter"/>
              </a:rPr>
              <a:t>If you can, include </a:t>
            </a:r>
          </a:p>
        </p:txBody>
      </p:sp>
      <p:sp>
        <p:nvSpPr>
          <p:cNvPr id="8" name="TextBox 7"/>
          <p:cNvSpPr txBox="1"/>
          <p:nvPr/>
        </p:nvSpPr>
        <p:spPr>
          <a:xfrm>
            <a:off x="1513661" y="5406032"/>
            <a:ext cx="4045426" cy="576370"/>
          </a:xfrm>
          <a:prstGeom prst="rect">
            <a:avLst/>
          </a:prstGeom>
          <a:noFill/>
        </p:spPr>
        <p:txBody>
          <a:bodyPr wrap="none" lIns="0" tIns="0" rIns="0" bIns="0">
            <a:spAutoFit/>
          </a:bodyPr>
          <a:lstStyle/>
          <a:p>
            <a:r>
              <a:rPr sz="3750" b="0" i="0">
                <a:solidFill>
                  <a:srgbClr val="0B211F"/>
                </a:solidFill>
                <a:latin typeface="Inter"/>
              </a:rPr>
              <a:t>a quote from the </a:t>
            </a:r>
          </a:p>
        </p:txBody>
      </p:sp>
      <p:sp>
        <p:nvSpPr>
          <p:cNvPr id="9" name="TextBox 8"/>
          <p:cNvSpPr txBox="1"/>
          <p:nvPr/>
        </p:nvSpPr>
        <p:spPr>
          <a:xfrm>
            <a:off x="1513661" y="5977532"/>
            <a:ext cx="3616801" cy="576371"/>
          </a:xfrm>
          <a:prstGeom prst="rect">
            <a:avLst/>
          </a:prstGeom>
          <a:noFill/>
        </p:spPr>
        <p:txBody>
          <a:bodyPr wrap="none" lIns="0" tIns="0" rIns="0" bIns="0">
            <a:spAutoFit/>
          </a:bodyPr>
          <a:lstStyle/>
          <a:p>
            <a:r>
              <a:rPr sz="3750" b="0" i="0">
                <a:solidFill>
                  <a:srgbClr val="0B211F"/>
                </a:solidFill>
                <a:latin typeface="Inter"/>
              </a:rPr>
              <a:t>client for some </a:t>
            </a:r>
          </a:p>
        </p:txBody>
      </p:sp>
      <p:sp>
        <p:nvSpPr>
          <p:cNvPr id="10" name="TextBox 9"/>
          <p:cNvSpPr txBox="1"/>
          <p:nvPr/>
        </p:nvSpPr>
        <p:spPr>
          <a:xfrm>
            <a:off x="1513661" y="6549032"/>
            <a:ext cx="2871470" cy="576371"/>
          </a:xfrm>
          <a:prstGeom prst="rect">
            <a:avLst/>
          </a:prstGeom>
          <a:noFill/>
        </p:spPr>
        <p:txBody>
          <a:bodyPr wrap="none" lIns="0" tIns="0" rIns="0" bIns="0">
            <a:spAutoFit/>
          </a:bodyPr>
          <a:lstStyle/>
          <a:p>
            <a:r>
              <a:rPr sz="3750" b="0" i="0">
                <a:solidFill>
                  <a:srgbClr val="0B211F"/>
                </a:solidFill>
                <a:latin typeface="Inter"/>
              </a:rPr>
              <a:t>social proof.</a:t>
            </a:r>
          </a:p>
        </p:txBody>
      </p:sp>
      <p:sp>
        <p:nvSpPr>
          <p:cNvPr id="11" name="TextBox 10"/>
          <p:cNvSpPr txBox="1"/>
          <p:nvPr/>
        </p:nvSpPr>
        <p:spPr>
          <a:xfrm>
            <a:off x="952500" y="948928"/>
            <a:ext cx="2832416" cy="230548"/>
          </a:xfrm>
          <a:prstGeom prst="rect">
            <a:avLst/>
          </a:prstGeom>
          <a:noFill/>
        </p:spPr>
        <p:txBody>
          <a:bodyPr wrap="none" lIns="0" tIns="0" rIns="0" bIns="0">
            <a:spAutoFit/>
          </a:bodyPr>
          <a:lstStyle/>
          <a:p>
            <a:r>
              <a:rPr sz="1500" b="0" i="0">
                <a:solidFill>
                  <a:srgbClr val="00D9C6"/>
                </a:solidFill>
                <a:latin typeface="Inter"/>
              </a:rPr>
              <a:t>RESOURCES: CASE STUDY</a:t>
            </a:r>
          </a:p>
        </p:txBody>
      </p:sp>
      <p:sp>
        <p:nvSpPr>
          <p:cNvPr id="12" name="TextBox 11"/>
          <p:cNvSpPr txBox="1"/>
          <p:nvPr/>
        </p:nvSpPr>
        <p:spPr>
          <a:xfrm>
            <a:off x="10298627" y="9045178"/>
            <a:ext cx="4065741" cy="230547"/>
          </a:xfrm>
          <a:prstGeom prst="rect">
            <a:avLst/>
          </a:prstGeom>
          <a:noFill/>
        </p:spPr>
        <p:txBody>
          <a:bodyPr wrap="none" lIns="0" tIns="0" rIns="0" bIns="0">
            <a:spAutoFit/>
          </a:bodyPr>
          <a:lstStyle/>
          <a:p>
            <a:r>
              <a:rPr sz="1500" b="0" i="0">
                <a:solidFill>
                  <a:srgbClr val="FFFFFF"/>
                </a:solidFill>
                <a:latin typeface="Inter"/>
              </a:rPr>
              <a:t>SERMIN KIPER, CMO OF FINDER GMBH</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20.png"/>
          <p:cNvPicPr>
            <a:picLocks noChangeAspect="1"/>
          </p:cNvPicPr>
          <p:nvPr/>
        </p:nvPicPr>
        <p:blipFill>
          <a:blip r:embed="rId2"/>
          <a:stretch>
            <a:fillRect/>
          </a:stretch>
        </p:blipFill>
        <p:spPr>
          <a:xfrm>
            <a:off x="0" y="0"/>
            <a:ext cx="18288000" cy="10287000"/>
          </a:xfrm>
          <a:prstGeom prst="rect">
            <a:avLst/>
          </a:prstGeom>
        </p:spPr>
      </p:pic>
      <p:sp>
        <p:nvSpPr>
          <p:cNvPr id="3" name="TextBox 2"/>
          <p:cNvSpPr txBox="1"/>
          <p:nvPr/>
        </p:nvSpPr>
        <p:spPr>
          <a:xfrm>
            <a:off x="955171" y="8193711"/>
            <a:ext cx="7078662" cy="490061"/>
          </a:xfrm>
          <a:prstGeom prst="rect">
            <a:avLst/>
          </a:prstGeom>
          <a:noFill/>
        </p:spPr>
        <p:txBody>
          <a:bodyPr wrap="none" lIns="0" tIns="0" rIns="0" bIns="0">
            <a:spAutoFit/>
          </a:bodyPr>
          <a:lstStyle/>
          <a:p>
            <a:r>
              <a:rPr sz="3750" b="0" i="0">
                <a:solidFill>
                  <a:srgbClr val="FFFFFF"/>
                </a:solidFill>
                <a:latin typeface="Type3 (66 0 R)"/>
              </a:rPr>
              <a:t>O</a:t>
            </a:r>
            <a:r>
              <a:rPr sz="3750" b="0" i="0">
                <a:solidFill>
                  <a:srgbClr val="FFFFFF"/>
                </a:solidFill>
                <a:latin typeface="Type3 (46 0 R)"/>
              </a:rPr>
              <a:t>u</a:t>
            </a:r>
            <a:r>
              <a:rPr sz="3750" b="0" i="0">
                <a:solidFill>
                  <a:srgbClr val="FFFFFF"/>
                </a:solidFill>
                <a:latin typeface="Type3 (66 0 R)"/>
              </a:rPr>
              <a:t>rcompan</a:t>
            </a:r>
            <a:r>
              <a:rPr sz="3750" b="0" i="0">
                <a:solidFill>
                  <a:srgbClr val="FFFFFF"/>
                </a:solidFill>
                <a:latin typeface="Type3 (46 0 R)"/>
              </a:rPr>
              <a:t>y </a:t>
            </a:r>
            <a:r>
              <a:rPr sz="3750" b="0" i="0">
                <a:solidFill>
                  <a:srgbClr val="FFFFFF"/>
                </a:solidFill>
                <a:latin typeface="Type3 (66 0 R)"/>
              </a:rPr>
              <a:t>has</a:t>
            </a:r>
            <a:r>
              <a:rPr sz="3750" b="0" i="0">
                <a:solidFill>
                  <a:srgbClr val="FFFFFF"/>
                </a:solidFill>
                <a:latin typeface="Type3 (46 0 R)"/>
              </a:rPr>
              <a:t> 3,000 </a:t>
            </a:r>
            <a:r>
              <a:rPr sz="3750" b="0" i="0">
                <a:solidFill>
                  <a:srgbClr val="FFFFFF"/>
                </a:solidFill>
                <a:latin typeface="Type3 (66 0 R)"/>
              </a:rPr>
              <a:t>clients</a:t>
            </a:r>
          </a:p>
        </p:txBody>
      </p:sp>
      <p:sp>
        <p:nvSpPr>
          <p:cNvPr id="4" name="TextBox 3"/>
          <p:cNvSpPr txBox="1"/>
          <p:nvPr/>
        </p:nvSpPr>
        <p:spPr>
          <a:xfrm>
            <a:off x="955171" y="8812836"/>
            <a:ext cx="3995420" cy="490061"/>
          </a:xfrm>
          <a:prstGeom prst="rect">
            <a:avLst/>
          </a:prstGeom>
          <a:noFill/>
        </p:spPr>
        <p:txBody>
          <a:bodyPr wrap="none" lIns="0" tIns="0" rIns="0" bIns="0">
            <a:spAutoFit/>
          </a:bodyPr>
          <a:lstStyle/>
          <a:p>
            <a:r>
              <a:rPr sz="3750" b="0" i="0">
                <a:solidFill>
                  <a:srgbClr val="FFFFFF"/>
                </a:solidFill>
                <a:latin typeface="Type3 (66 0 R)"/>
              </a:rPr>
              <a:t>aro</a:t>
            </a:r>
            <a:r>
              <a:rPr sz="3750" b="0" i="0">
                <a:solidFill>
                  <a:srgbClr val="FFFFFF"/>
                </a:solidFill>
                <a:latin typeface="Type3 (46 0 R)"/>
              </a:rPr>
              <a:t>u</a:t>
            </a:r>
            <a:r>
              <a:rPr sz="3750" b="0" i="0">
                <a:solidFill>
                  <a:srgbClr val="FFFFFF"/>
                </a:solidFill>
                <a:latin typeface="Type3 (66 0 R)"/>
              </a:rPr>
              <a:t>ndthe</a:t>
            </a:r>
            <a:r>
              <a:rPr sz="3750" b="0" i="0">
                <a:solidFill>
                  <a:srgbClr val="FFFFFF"/>
                </a:solidFill>
                <a:latin typeface="Type3 (46 0 R)"/>
              </a:rPr>
              <a:t> w</a:t>
            </a:r>
            <a:r>
              <a:rPr sz="3750" b="0" i="0">
                <a:solidFill>
                  <a:srgbClr val="FFFFFF"/>
                </a:solidFill>
                <a:latin typeface="Type3 (66 0 R)"/>
              </a:rPr>
              <a:t>orld</a:t>
            </a:r>
            <a:r>
              <a:rPr sz="3750" b="0" i="0">
                <a:solidFill>
                  <a:srgbClr val="FFFFFF"/>
                </a:solidFill>
                <a:latin typeface="Type3 (46 0 R)"/>
              </a:rPr>
              <a:t>.</a:t>
            </a:r>
          </a:p>
        </p:txBody>
      </p:sp>
      <p:sp>
        <p:nvSpPr>
          <p:cNvPr id="5" name="TextBox 4"/>
          <p:cNvSpPr txBox="1"/>
          <p:nvPr/>
        </p:nvSpPr>
        <p:spPr>
          <a:xfrm>
            <a:off x="13354050" y="8903940"/>
            <a:ext cx="4080535" cy="368877"/>
          </a:xfrm>
          <a:prstGeom prst="rect">
            <a:avLst/>
          </a:prstGeom>
          <a:noFill/>
        </p:spPr>
        <p:txBody>
          <a:bodyPr wrap="none" lIns="0" tIns="0" rIns="0" bIns="0">
            <a:spAutoFit/>
          </a:bodyPr>
          <a:lstStyle/>
          <a:p>
            <a:r>
              <a:rPr sz="2400" b="0" i="0">
                <a:solidFill>
                  <a:srgbClr val="00D9C6"/>
                </a:solidFill>
                <a:latin typeface="Inter"/>
              </a:rPr>
              <a:t>Discover more case studies</a:t>
            </a:r>
          </a:p>
        </p:txBody>
      </p:sp>
      <p:sp>
        <p:nvSpPr>
          <p:cNvPr id="6" name="TextBox 5"/>
          <p:cNvSpPr txBox="1"/>
          <p:nvPr/>
        </p:nvSpPr>
        <p:spPr>
          <a:xfrm>
            <a:off x="952500" y="948928"/>
            <a:ext cx="2832416" cy="230548"/>
          </a:xfrm>
          <a:prstGeom prst="rect">
            <a:avLst/>
          </a:prstGeom>
          <a:noFill/>
        </p:spPr>
        <p:txBody>
          <a:bodyPr wrap="none" lIns="0" tIns="0" rIns="0" bIns="0">
            <a:spAutoFit/>
          </a:bodyPr>
          <a:lstStyle/>
          <a:p>
            <a:r>
              <a:rPr sz="1500" b="0" i="0">
                <a:solidFill>
                  <a:srgbClr val="00D9C6"/>
                </a:solidFill>
                <a:latin typeface="Inter"/>
              </a:rPr>
              <a:t>RESOURCES: CASE STUDY</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1.png"/>
          <p:cNvPicPr>
            <a:picLocks noChangeAspect="1"/>
          </p:cNvPicPr>
          <p:nvPr/>
        </p:nvPicPr>
        <p:blipFill>
          <a:blip r:embed="rId2"/>
          <a:stretch>
            <a:fillRect/>
          </a:stretch>
        </p:blipFill>
        <p:spPr>
          <a:xfrm>
            <a:off x="0" y="0"/>
            <a:ext cx="18288000" cy="10287000"/>
          </a:xfrm>
          <a:prstGeom prst="rect">
            <a:avLst/>
          </a:prstGeom>
        </p:spPr>
      </p:pic>
      <p:sp>
        <p:nvSpPr>
          <p:cNvPr id="3" name="TextBox 2"/>
          <p:cNvSpPr txBox="1"/>
          <p:nvPr/>
        </p:nvSpPr>
        <p:spPr>
          <a:xfrm>
            <a:off x="956556" y="5236243"/>
            <a:ext cx="15613063" cy="2000250"/>
          </a:xfrm>
          <a:prstGeom prst="rect">
            <a:avLst/>
          </a:prstGeom>
          <a:noFill/>
        </p:spPr>
        <p:txBody>
          <a:bodyPr wrap="none" lIns="0" tIns="0" rIns="0" bIns="0">
            <a:spAutoFit/>
          </a:bodyPr>
          <a:lstStyle/>
          <a:p>
            <a:r>
              <a:rPr sz="15750" b="0" i="0">
                <a:solidFill>
                  <a:srgbClr val="FFFFFF"/>
                </a:solidFill>
                <a:latin typeface="Type3 (132 0 R)"/>
              </a:rPr>
              <a:t>Team</a:t>
            </a:r>
            <a:r>
              <a:rPr sz="15750" b="0" i="0">
                <a:solidFill>
                  <a:srgbClr val="FFFFFF"/>
                </a:solidFill>
                <a:latin typeface="Type3 (133 0 R)"/>
              </a:rPr>
              <a:t>w</a:t>
            </a:r>
            <a:r>
              <a:rPr sz="15750" b="0" i="0">
                <a:solidFill>
                  <a:srgbClr val="FFFFFF"/>
                </a:solidFill>
                <a:latin typeface="Type3 (132 0 R)"/>
              </a:rPr>
              <a:t>orkmakes</a:t>
            </a:r>
          </a:p>
        </p:txBody>
      </p:sp>
      <p:sp>
        <p:nvSpPr>
          <p:cNvPr id="4" name="TextBox 3"/>
          <p:cNvSpPr txBox="1"/>
          <p:nvPr/>
        </p:nvSpPr>
        <p:spPr>
          <a:xfrm>
            <a:off x="956556" y="7236493"/>
            <a:ext cx="14322616" cy="2000250"/>
          </a:xfrm>
          <a:prstGeom prst="rect">
            <a:avLst/>
          </a:prstGeom>
          <a:noFill/>
        </p:spPr>
        <p:txBody>
          <a:bodyPr wrap="none" lIns="0" tIns="0" rIns="0" bIns="0">
            <a:spAutoFit/>
          </a:bodyPr>
          <a:lstStyle/>
          <a:p>
            <a:r>
              <a:rPr sz="15750" b="0" i="0">
                <a:solidFill>
                  <a:srgbClr val="FFFFFF"/>
                </a:solidFill>
                <a:latin typeface="Type3 (132 0 R)"/>
              </a:rPr>
              <a:t>thedream</a:t>
            </a:r>
            <a:r>
              <a:rPr sz="15750" b="0" i="0">
                <a:solidFill>
                  <a:srgbClr val="FFFFFF"/>
                </a:solidFill>
                <a:latin typeface="Type3 (133 0 R)"/>
              </a:rPr>
              <a:t> w</a:t>
            </a:r>
            <a:r>
              <a:rPr sz="15750" b="0" i="0">
                <a:solidFill>
                  <a:srgbClr val="FFFFFF"/>
                </a:solidFill>
                <a:latin typeface="Type3 (132 0 R)"/>
              </a:rPr>
              <a:t>ork</a:t>
            </a:r>
            <a:r>
              <a:rPr sz="15750" b="0" i="0">
                <a:solidFill>
                  <a:srgbClr val="FFFFFF"/>
                </a:solidFill>
                <a:latin typeface="Type3 (133 0 R)"/>
              </a:rPr>
              <a:t>.</a:t>
            </a:r>
          </a:p>
        </p:txBody>
      </p:sp>
      <p:sp>
        <p:nvSpPr>
          <p:cNvPr id="5" name="TextBox 4"/>
          <p:cNvSpPr txBox="1"/>
          <p:nvPr/>
        </p:nvSpPr>
        <p:spPr>
          <a:xfrm>
            <a:off x="5107781" y="1431131"/>
            <a:ext cx="372109" cy="483393"/>
          </a:xfrm>
          <a:prstGeom prst="rect">
            <a:avLst/>
          </a:prstGeom>
          <a:noFill/>
        </p:spPr>
        <p:txBody>
          <a:bodyPr wrap="none" lIns="0" tIns="0" rIns="0" bIns="0">
            <a:spAutoFit/>
          </a:bodyPr>
          <a:lstStyle/>
          <a:p>
            <a:r>
              <a:rPr sz="3750" b="0" i="0">
                <a:solidFill>
                  <a:srgbClr val="FFFFFF"/>
                </a:solidFill>
                <a:latin typeface="Type3 (46 0 R)"/>
              </a:rPr>
              <a:t>x</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Logo(final-detailed) Kopie.png"/>
          <p:cNvPicPr>
            <a:picLocks noChangeAspect="1"/>
          </p:cNvPicPr>
          <p:nvPr/>
        </p:nvPicPr>
        <p:blipFill>
          <a:blip r:embed="rId3"/>
          <a:stretch>
            <a:fillRect/>
          </a:stretch>
        </p:blipFill>
        <p:spPr>
          <a:xfrm>
            <a:off x="1234440" y="822960"/>
            <a:ext cx="1281273" cy="576072"/>
          </a:xfrm>
          <a:prstGeom prst="rect">
            <a:avLst/>
          </a:prstGeom>
        </p:spPr>
      </p:pic>
      <p:sp>
        <p:nvSpPr>
          <p:cNvPr id="3" name="TextBox 2"/>
          <p:cNvSpPr txBox="1"/>
          <p:nvPr/>
        </p:nvSpPr>
        <p:spPr>
          <a:xfrm>
            <a:off x="14950440" y="932688"/>
            <a:ext cx="2125980" cy="276999"/>
          </a:xfrm>
          <a:prstGeom prst="rect">
            <a:avLst/>
          </a:prstGeom>
          <a:noFill/>
        </p:spPr>
        <p:txBody>
          <a:bodyPr wrap="square" lIns="0" tIns="0" rIns="0" bIns="0" anchor="t">
            <a:spAutoFit/>
          </a:bodyPr>
          <a:lstStyle/>
          <a:p>
            <a:pPr algn="r"/>
            <a:r>
              <a:rPr>
                <a:solidFill>
                  <a:srgbClr val="8FB0A8"/>
                </a:solidFill>
                <a:latin typeface="JetBrains Mono"/>
              </a:rPr>
              <a:t>01 / 05</a:t>
            </a:r>
          </a:p>
        </p:txBody>
      </p:sp>
      <p:sp>
        <p:nvSpPr>
          <p:cNvPr id="4" name="TextBox 3"/>
          <p:cNvSpPr txBox="1"/>
          <p:nvPr/>
        </p:nvSpPr>
        <p:spPr>
          <a:xfrm>
            <a:off x="1234440" y="2057400"/>
            <a:ext cx="10972800" cy="300082"/>
          </a:xfrm>
          <a:prstGeom prst="rect">
            <a:avLst/>
          </a:prstGeom>
          <a:noFill/>
        </p:spPr>
        <p:txBody>
          <a:bodyPr wrap="square" lIns="0" tIns="0" rIns="0" bIns="0" anchor="t">
            <a:spAutoFit/>
          </a:bodyPr>
          <a:lstStyle/>
          <a:p>
            <a:pPr algn="l"/>
            <a:r>
              <a:rPr sz="1950" b="1">
                <a:solidFill>
                  <a:srgbClr val="00D9C6"/>
                </a:solidFill>
                <a:latin typeface="Inter"/>
              </a:rPr>
              <a:t>NACH DER MESSE</a:t>
            </a:r>
          </a:p>
        </p:txBody>
      </p:sp>
      <p:sp>
        <p:nvSpPr>
          <p:cNvPr id="5" name="Rectangle 4"/>
          <p:cNvSpPr/>
          <p:nvPr/>
        </p:nvSpPr>
        <p:spPr>
          <a:xfrm>
            <a:off x="1" y="10177272"/>
            <a:ext cx="3657509" cy="109728"/>
          </a:xfrm>
          <a:prstGeom prst="rect">
            <a:avLst/>
          </a:prstGeom>
          <a:solidFill>
            <a:srgbClr val="00D9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6" name="TextBox 5"/>
          <p:cNvSpPr txBox="1"/>
          <p:nvPr/>
        </p:nvSpPr>
        <p:spPr>
          <a:xfrm>
            <a:off x="1234440" y="2674620"/>
            <a:ext cx="15773400" cy="1096454"/>
          </a:xfrm>
          <a:prstGeom prst="rect">
            <a:avLst/>
          </a:prstGeom>
          <a:noFill/>
        </p:spPr>
        <p:txBody>
          <a:bodyPr wrap="square" lIns="0" tIns="0" rIns="0" bIns="0" anchor="t">
            <a:spAutoFit/>
          </a:bodyPr>
          <a:lstStyle/>
          <a:p>
            <a:pPr algn="l">
              <a:lnSpc>
                <a:spcPct val="95000"/>
              </a:lnSpc>
            </a:pPr>
            <a:r>
              <a:rPr sz="7500" b="1">
                <a:solidFill>
                  <a:srgbClr val="EAF6F3"/>
                </a:solidFill>
                <a:latin typeface="Space Grotesk"/>
              </a:rPr>
              <a:t>Wo landen Ihre 60 Messe-Anfragen?</a:t>
            </a:r>
          </a:p>
        </p:txBody>
      </p:sp>
      <p:sp>
        <p:nvSpPr>
          <p:cNvPr id="7" name="TextBox 6"/>
          <p:cNvSpPr txBox="1"/>
          <p:nvPr/>
        </p:nvSpPr>
        <p:spPr>
          <a:xfrm>
            <a:off x="1234440" y="4320541"/>
            <a:ext cx="15773400" cy="692497"/>
          </a:xfrm>
          <a:prstGeom prst="rect">
            <a:avLst/>
          </a:prstGeom>
          <a:noFill/>
        </p:spPr>
        <p:txBody>
          <a:bodyPr wrap="square" lIns="0" tIns="0" rIns="0" bIns="0" anchor="t">
            <a:spAutoFit/>
          </a:bodyPr>
          <a:lstStyle/>
          <a:p>
            <a:pPr algn="l"/>
            <a:r>
              <a:rPr sz="4500" b="1">
                <a:solidFill>
                  <a:srgbClr val="EAF6F3"/>
                </a:solidFill>
                <a:latin typeface="Space Grotesk"/>
              </a:rPr>
              <a:t>60 Anfragen. </a:t>
            </a:r>
            <a:r>
              <a:rPr sz="4500" b="1">
                <a:solidFill>
                  <a:srgbClr val="00D9C6"/>
                </a:solidFill>
                <a:latin typeface="Space Grotesk"/>
              </a:rPr>
              <a:t>20 verschwinden.</a:t>
            </a:r>
          </a:p>
        </p:txBody>
      </p:sp>
      <p:sp>
        <p:nvSpPr>
          <p:cNvPr id="8" name="TextBox 7"/>
          <p:cNvSpPr txBox="1"/>
          <p:nvPr/>
        </p:nvSpPr>
        <p:spPr>
          <a:xfrm>
            <a:off x="1234440" y="5280660"/>
            <a:ext cx="14401800" cy="415498"/>
          </a:xfrm>
          <a:prstGeom prst="rect">
            <a:avLst/>
          </a:prstGeom>
          <a:noFill/>
        </p:spPr>
        <p:txBody>
          <a:bodyPr wrap="square" lIns="0" tIns="0" rIns="0" bIns="0" anchor="t">
            <a:spAutoFit/>
          </a:bodyPr>
          <a:lstStyle/>
          <a:p>
            <a:pPr algn="l"/>
            <a:r>
              <a:rPr sz="2700">
                <a:solidFill>
                  <a:srgbClr val="8FB0A8"/>
                </a:solidFill>
                <a:latin typeface="Inter"/>
              </a:rPr>
              <a:t>Jede Messe endet gleich: Die Liste landet in Excel. Niemand fühlt sich zuständig.</a:t>
            </a:r>
          </a:p>
        </p:txBody>
      </p:sp>
      <p:sp>
        <p:nvSpPr>
          <p:cNvPr id="9" name="Oval 8"/>
          <p:cNvSpPr/>
          <p:nvPr/>
        </p:nvSpPr>
        <p:spPr>
          <a:xfrm>
            <a:off x="1234440" y="6789420"/>
            <a:ext cx="521208" cy="521208"/>
          </a:xfrm>
          <a:prstGeom prst="ellipse">
            <a:avLst/>
          </a:prstGeom>
          <a:solidFill>
            <a:srgbClr val="00D9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0" name="Oval 9"/>
          <p:cNvSpPr/>
          <p:nvPr/>
        </p:nvSpPr>
        <p:spPr>
          <a:xfrm>
            <a:off x="2029968" y="6789420"/>
            <a:ext cx="521208" cy="521208"/>
          </a:xfrm>
          <a:prstGeom prst="ellipse">
            <a:avLst/>
          </a:prstGeom>
          <a:solidFill>
            <a:srgbClr val="00D9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1" name="Oval 10"/>
          <p:cNvSpPr/>
          <p:nvPr/>
        </p:nvSpPr>
        <p:spPr>
          <a:xfrm>
            <a:off x="2825496" y="6789420"/>
            <a:ext cx="521208" cy="521208"/>
          </a:xfrm>
          <a:prstGeom prst="ellipse">
            <a:avLst/>
          </a:prstGeom>
          <a:solidFill>
            <a:srgbClr val="00D9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2" name="Oval 11"/>
          <p:cNvSpPr/>
          <p:nvPr/>
        </p:nvSpPr>
        <p:spPr>
          <a:xfrm>
            <a:off x="3621024" y="6789420"/>
            <a:ext cx="521208" cy="521208"/>
          </a:xfrm>
          <a:prstGeom prst="ellipse">
            <a:avLst/>
          </a:prstGeom>
          <a:solidFill>
            <a:srgbClr val="00D9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3" name="Oval 12"/>
          <p:cNvSpPr/>
          <p:nvPr/>
        </p:nvSpPr>
        <p:spPr>
          <a:xfrm>
            <a:off x="4416552" y="6789420"/>
            <a:ext cx="521208" cy="521208"/>
          </a:xfrm>
          <a:prstGeom prst="ellipse">
            <a:avLst/>
          </a:prstGeom>
          <a:solidFill>
            <a:srgbClr val="00D9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4" name="Oval 13"/>
          <p:cNvSpPr/>
          <p:nvPr/>
        </p:nvSpPr>
        <p:spPr>
          <a:xfrm>
            <a:off x="5212080" y="6789420"/>
            <a:ext cx="521208" cy="521208"/>
          </a:xfrm>
          <a:prstGeom prst="ellipse">
            <a:avLst/>
          </a:prstGeom>
          <a:solidFill>
            <a:srgbClr val="00D9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5" name="Oval 14"/>
          <p:cNvSpPr/>
          <p:nvPr/>
        </p:nvSpPr>
        <p:spPr>
          <a:xfrm>
            <a:off x="6007608" y="6789420"/>
            <a:ext cx="521208" cy="521208"/>
          </a:xfrm>
          <a:prstGeom prst="ellipse">
            <a:avLst/>
          </a:prstGeom>
          <a:solidFill>
            <a:srgbClr val="00D9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6" name="Oval 15"/>
          <p:cNvSpPr/>
          <p:nvPr/>
        </p:nvSpPr>
        <p:spPr>
          <a:xfrm>
            <a:off x="6803136" y="6789420"/>
            <a:ext cx="521208" cy="521208"/>
          </a:xfrm>
          <a:prstGeom prst="ellipse">
            <a:avLst/>
          </a:prstGeom>
          <a:solidFill>
            <a:srgbClr val="00D9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7" name="Oval 16"/>
          <p:cNvSpPr/>
          <p:nvPr/>
        </p:nvSpPr>
        <p:spPr>
          <a:xfrm>
            <a:off x="7598664" y="6789420"/>
            <a:ext cx="521208" cy="521208"/>
          </a:xfrm>
          <a:prstGeom prst="ellipse">
            <a:avLst/>
          </a:prstGeom>
          <a:solidFill>
            <a:srgbClr val="00D9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8" name="Oval 17"/>
          <p:cNvSpPr/>
          <p:nvPr/>
        </p:nvSpPr>
        <p:spPr>
          <a:xfrm>
            <a:off x="8394192" y="6789420"/>
            <a:ext cx="521208" cy="521208"/>
          </a:xfrm>
          <a:prstGeom prst="ellipse">
            <a:avLst/>
          </a:prstGeom>
          <a:solidFill>
            <a:srgbClr val="00D9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9" name="Oval 18"/>
          <p:cNvSpPr/>
          <p:nvPr/>
        </p:nvSpPr>
        <p:spPr>
          <a:xfrm>
            <a:off x="9189720" y="6789420"/>
            <a:ext cx="521208" cy="521208"/>
          </a:xfrm>
          <a:prstGeom prst="ellipse">
            <a:avLst/>
          </a:prstGeom>
          <a:solidFill>
            <a:srgbClr val="00D9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20" name="Oval 19"/>
          <p:cNvSpPr/>
          <p:nvPr/>
        </p:nvSpPr>
        <p:spPr>
          <a:xfrm>
            <a:off x="9985248" y="6789420"/>
            <a:ext cx="521208" cy="521208"/>
          </a:xfrm>
          <a:prstGeom prst="ellipse">
            <a:avLst/>
          </a:prstGeom>
          <a:solidFill>
            <a:srgbClr val="00D9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21" name="Oval 20"/>
          <p:cNvSpPr/>
          <p:nvPr/>
        </p:nvSpPr>
        <p:spPr>
          <a:xfrm>
            <a:off x="10780776" y="6789420"/>
            <a:ext cx="521208" cy="521208"/>
          </a:xfrm>
          <a:prstGeom prst="ellipse">
            <a:avLst/>
          </a:prstGeom>
          <a:solidFill>
            <a:srgbClr val="00D9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22" name="Oval 21"/>
          <p:cNvSpPr/>
          <p:nvPr/>
        </p:nvSpPr>
        <p:spPr>
          <a:xfrm>
            <a:off x="11576304" y="6789420"/>
            <a:ext cx="521208" cy="521208"/>
          </a:xfrm>
          <a:prstGeom prst="ellipse">
            <a:avLst/>
          </a:prstGeom>
          <a:solidFill>
            <a:srgbClr val="00D9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23" name="Oval 22"/>
          <p:cNvSpPr/>
          <p:nvPr/>
        </p:nvSpPr>
        <p:spPr>
          <a:xfrm>
            <a:off x="12371832" y="6789420"/>
            <a:ext cx="521208" cy="521208"/>
          </a:xfrm>
          <a:prstGeom prst="ellipse">
            <a:avLst/>
          </a:prstGeom>
          <a:solidFill>
            <a:srgbClr val="00D9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24" name="Oval 23"/>
          <p:cNvSpPr/>
          <p:nvPr/>
        </p:nvSpPr>
        <p:spPr>
          <a:xfrm>
            <a:off x="13167360" y="6789420"/>
            <a:ext cx="521208" cy="521208"/>
          </a:xfrm>
          <a:prstGeom prst="ellipse">
            <a:avLst/>
          </a:prstGeom>
          <a:solidFill>
            <a:srgbClr val="00D9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25" name="Oval 24"/>
          <p:cNvSpPr/>
          <p:nvPr/>
        </p:nvSpPr>
        <p:spPr>
          <a:xfrm>
            <a:off x="13962888" y="6789420"/>
            <a:ext cx="521208" cy="521208"/>
          </a:xfrm>
          <a:prstGeom prst="ellipse">
            <a:avLst/>
          </a:prstGeom>
          <a:solidFill>
            <a:srgbClr val="00D9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26" name="Oval 25"/>
          <p:cNvSpPr/>
          <p:nvPr/>
        </p:nvSpPr>
        <p:spPr>
          <a:xfrm>
            <a:off x="14758416" y="6789420"/>
            <a:ext cx="521208" cy="521208"/>
          </a:xfrm>
          <a:prstGeom prst="ellipse">
            <a:avLst/>
          </a:prstGeom>
          <a:solidFill>
            <a:srgbClr val="00D9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27" name="Oval 26"/>
          <p:cNvSpPr/>
          <p:nvPr/>
        </p:nvSpPr>
        <p:spPr>
          <a:xfrm>
            <a:off x="15553944" y="6789420"/>
            <a:ext cx="521208" cy="521208"/>
          </a:xfrm>
          <a:prstGeom prst="ellipse">
            <a:avLst/>
          </a:prstGeom>
          <a:solidFill>
            <a:srgbClr val="00D9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28" name="Oval 27"/>
          <p:cNvSpPr/>
          <p:nvPr/>
        </p:nvSpPr>
        <p:spPr>
          <a:xfrm>
            <a:off x="16349472" y="6789420"/>
            <a:ext cx="521208" cy="521208"/>
          </a:xfrm>
          <a:prstGeom prst="ellipse">
            <a:avLst/>
          </a:prstGeom>
          <a:solidFill>
            <a:srgbClr val="00D9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29" name="Oval 28"/>
          <p:cNvSpPr/>
          <p:nvPr/>
        </p:nvSpPr>
        <p:spPr>
          <a:xfrm>
            <a:off x="1234440" y="7584948"/>
            <a:ext cx="521208" cy="521208"/>
          </a:xfrm>
          <a:prstGeom prst="ellipse">
            <a:avLst/>
          </a:prstGeom>
          <a:solidFill>
            <a:srgbClr val="00D9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30" name="Oval 29"/>
          <p:cNvSpPr/>
          <p:nvPr/>
        </p:nvSpPr>
        <p:spPr>
          <a:xfrm>
            <a:off x="2029968" y="7584948"/>
            <a:ext cx="521208" cy="521208"/>
          </a:xfrm>
          <a:prstGeom prst="ellipse">
            <a:avLst/>
          </a:prstGeom>
          <a:solidFill>
            <a:srgbClr val="00D9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31" name="Oval 30"/>
          <p:cNvSpPr/>
          <p:nvPr/>
        </p:nvSpPr>
        <p:spPr>
          <a:xfrm>
            <a:off x="2825496" y="7584948"/>
            <a:ext cx="521208" cy="521208"/>
          </a:xfrm>
          <a:prstGeom prst="ellipse">
            <a:avLst/>
          </a:prstGeom>
          <a:solidFill>
            <a:srgbClr val="00D9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32" name="Oval 31"/>
          <p:cNvSpPr/>
          <p:nvPr/>
        </p:nvSpPr>
        <p:spPr>
          <a:xfrm>
            <a:off x="3621024" y="7584948"/>
            <a:ext cx="521208" cy="521208"/>
          </a:xfrm>
          <a:prstGeom prst="ellipse">
            <a:avLst/>
          </a:prstGeom>
          <a:solidFill>
            <a:srgbClr val="00D9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33" name="Oval 32"/>
          <p:cNvSpPr/>
          <p:nvPr/>
        </p:nvSpPr>
        <p:spPr>
          <a:xfrm>
            <a:off x="4416552" y="7584948"/>
            <a:ext cx="521208" cy="521208"/>
          </a:xfrm>
          <a:prstGeom prst="ellipse">
            <a:avLst/>
          </a:prstGeom>
          <a:solidFill>
            <a:srgbClr val="00D9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34" name="Oval 33"/>
          <p:cNvSpPr/>
          <p:nvPr/>
        </p:nvSpPr>
        <p:spPr>
          <a:xfrm>
            <a:off x="5212080" y="7584948"/>
            <a:ext cx="521208" cy="521208"/>
          </a:xfrm>
          <a:prstGeom prst="ellipse">
            <a:avLst/>
          </a:prstGeom>
          <a:solidFill>
            <a:srgbClr val="00D9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35" name="Oval 34"/>
          <p:cNvSpPr/>
          <p:nvPr/>
        </p:nvSpPr>
        <p:spPr>
          <a:xfrm>
            <a:off x="6007608" y="7584948"/>
            <a:ext cx="521208" cy="521208"/>
          </a:xfrm>
          <a:prstGeom prst="ellipse">
            <a:avLst/>
          </a:prstGeom>
          <a:solidFill>
            <a:srgbClr val="00D9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36" name="Oval 35"/>
          <p:cNvSpPr/>
          <p:nvPr/>
        </p:nvSpPr>
        <p:spPr>
          <a:xfrm>
            <a:off x="6803136" y="7584948"/>
            <a:ext cx="521208" cy="521208"/>
          </a:xfrm>
          <a:prstGeom prst="ellipse">
            <a:avLst/>
          </a:prstGeom>
          <a:solidFill>
            <a:srgbClr val="00D9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37" name="Oval 36"/>
          <p:cNvSpPr/>
          <p:nvPr/>
        </p:nvSpPr>
        <p:spPr>
          <a:xfrm>
            <a:off x="7598664" y="7584948"/>
            <a:ext cx="521208" cy="521208"/>
          </a:xfrm>
          <a:prstGeom prst="ellipse">
            <a:avLst/>
          </a:prstGeom>
          <a:solidFill>
            <a:srgbClr val="00D9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38" name="Oval 37"/>
          <p:cNvSpPr/>
          <p:nvPr/>
        </p:nvSpPr>
        <p:spPr>
          <a:xfrm>
            <a:off x="8394192" y="7584948"/>
            <a:ext cx="521208" cy="521208"/>
          </a:xfrm>
          <a:prstGeom prst="ellipse">
            <a:avLst/>
          </a:prstGeom>
          <a:solidFill>
            <a:srgbClr val="00D9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39" name="Oval 38"/>
          <p:cNvSpPr/>
          <p:nvPr/>
        </p:nvSpPr>
        <p:spPr>
          <a:xfrm>
            <a:off x="9189720" y="7584948"/>
            <a:ext cx="521208" cy="521208"/>
          </a:xfrm>
          <a:prstGeom prst="ellipse">
            <a:avLst/>
          </a:prstGeom>
          <a:solidFill>
            <a:srgbClr val="00D9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40" name="Oval 39"/>
          <p:cNvSpPr/>
          <p:nvPr/>
        </p:nvSpPr>
        <p:spPr>
          <a:xfrm>
            <a:off x="9985248" y="7584948"/>
            <a:ext cx="521208" cy="521208"/>
          </a:xfrm>
          <a:prstGeom prst="ellipse">
            <a:avLst/>
          </a:prstGeom>
          <a:solidFill>
            <a:srgbClr val="00D9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41" name="Oval 40"/>
          <p:cNvSpPr/>
          <p:nvPr/>
        </p:nvSpPr>
        <p:spPr>
          <a:xfrm>
            <a:off x="10780776" y="7584948"/>
            <a:ext cx="521208" cy="521208"/>
          </a:xfrm>
          <a:prstGeom prst="ellipse">
            <a:avLst/>
          </a:prstGeom>
          <a:solidFill>
            <a:srgbClr val="00D9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42" name="Oval 41"/>
          <p:cNvSpPr/>
          <p:nvPr/>
        </p:nvSpPr>
        <p:spPr>
          <a:xfrm>
            <a:off x="11576304" y="7584948"/>
            <a:ext cx="521208" cy="521208"/>
          </a:xfrm>
          <a:prstGeom prst="ellipse">
            <a:avLst/>
          </a:prstGeom>
          <a:solidFill>
            <a:srgbClr val="00D9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43" name="Oval 42"/>
          <p:cNvSpPr/>
          <p:nvPr/>
        </p:nvSpPr>
        <p:spPr>
          <a:xfrm>
            <a:off x="12371832" y="7584948"/>
            <a:ext cx="521208" cy="521208"/>
          </a:xfrm>
          <a:prstGeom prst="ellipse">
            <a:avLst/>
          </a:prstGeom>
          <a:solidFill>
            <a:srgbClr val="00D9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44" name="Oval 43"/>
          <p:cNvSpPr/>
          <p:nvPr/>
        </p:nvSpPr>
        <p:spPr>
          <a:xfrm>
            <a:off x="13167360" y="7584948"/>
            <a:ext cx="521208" cy="521208"/>
          </a:xfrm>
          <a:prstGeom prst="ellipse">
            <a:avLst/>
          </a:prstGeom>
          <a:solidFill>
            <a:srgbClr val="00D9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45" name="Oval 44"/>
          <p:cNvSpPr/>
          <p:nvPr/>
        </p:nvSpPr>
        <p:spPr>
          <a:xfrm>
            <a:off x="13962888" y="7584948"/>
            <a:ext cx="521208" cy="521208"/>
          </a:xfrm>
          <a:prstGeom prst="ellipse">
            <a:avLst/>
          </a:prstGeom>
          <a:solidFill>
            <a:srgbClr val="00D9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46" name="Oval 45"/>
          <p:cNvSpPr/>
          <p:nvPr/>
        </p:nvSpPr>
        <p:spPr>
          <a:xfrm>
            <a:off x="14758416" y="7584948"/>
            <a:ext cx="521208" cy="521208"/>
          </a:xfrm>
          <a:prstGeom prst="ellipse">
            <a:avLst/>
          </a:prstGeom>
          <a:solidFill>
            <a:srgbClr val="00D9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47" name="Oval 46"/>
          <p:cNvSpPr/>
          <p:nvPr/>
        </p:nvSpPr>
        <p:spPr>
          <a:xfrm>
            <a:off x="15553944" y="7584948"/>
            <a:ext cx="521208" cy="521208"/>
          </a:xfrm>
          <a:prstGeom prst="ellipse">
            <a:avLst/>
          </a:prstGeom>
          <a:solidFill>
            <a:srgbClr val="00D9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48" name="Oval 47"/>
          <p:cNvSpPr/>
          <p:nvPr/>
        </p:nvSpPr>
        <p:spPr>
          <a:xfrm>
            <a:off x="16349472" y="7584948"/>
            <a:ext cx="521208" cy="521208"/>
          </a:xfrm>
          <a:prstGeom prst="ellipse">
            <a:avLst/>
          </a:prstGeom>
          <a:solidFill>
            <a:srgbClr val="00D9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49" name="Oval 48"/>
          <p:cNvSpPr/>
          <p:nvPr/>
        </p:nvSpPr>
        <p:spPr>
          <a:xfrm>
            <a:off x="1234440" y="8380476"/>
            <a:ext cx="521208" cy="521208"/>
          </a:xfrm>
          <a:prstGeom prst="ellipse">
            <a:avLst/>
          </a:prstGeom>
          <a:noFill/>
          <a:ln w="22225">
            <a:solidFill>
              <a:srgbClr val="2A4A43"/>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0" name="Oval 49"/>
          <p:cNvSpPr/>
          <p:nvPr/>
        </p:nvSpPr>
        <p:spPr>
          <a:xfrm>
            <a:off x="2029968" y="8380476"/>
            <a:ext cx="521208" cy="521208"/>
          </a:xfrm>
          <a:prstGeom prst="ellipse">
            <a:avLst/>
          </a:prstGeom>
          <a:noFill/>
          <a:ln w="22225">
            <a:solidFill>
              <a:srgbClr val="2A4A43"/>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1" name="Oval 50"/>
          <p:cNvSpPr/>
          <p:nvPr/>
        </p:nvSpPr>
        <p:spPr>
          <a:xfrm>
            <a:off x="2825496" y="8380476"/>
            <a:ext cx="521208" cy="521208"/>
          </a:xfrm>
          <a:prstGeom prst="ellipse">
            <a:avLst/>
          </a:prstGeom>
          <a:noFill/>
          <a:ln w="22225">
            <a:solidFill>
              <a:srgbClr val="2A4A43"/>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2" name="Oval 51"/>
          <p:cNvSpPr/>
          <p:nvPr/>
        </p:nvSpPr>
        <p:spPr>
          <a:xfrm>
            <a:off x="3621024" y="8380476"/>
            <a:ext cx="521208" cy="521208"/>
          </a:xfrm>
          <a:prstGeom prst="ellipse">
            <a:avLst/>
          </a:prstGeom>
          <a:noFill/>
          <a:ln w="22225">
            <a:solidFill>
              <a:srgbClr val="2A4A43"/>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3" name="Oval 52"/>
          <p:cNvSpPr/>
          <p:nvPr/>
        </p:nvSpPr>
        <p:spPr>
          <a:xfrm>
            <a:off x="4416552" y="8380476"/>
            <a:ext cx="521208" cy="521208"/>
          </a:xfrm>
          <a:prstGeom prst="ellipse">
            <a:avLst/>
          </a:prstGeom>
          <a:noFill/>
          <a:ln w="22225">
            <a:solidFill>
              <a:srgbClr val="2A4A43"/>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4" name="Oval 53"/>
          <p:cNvSpPr/>
          <p:nvPr/>
        </p:nvSpPr>
        <p:spPr>
          <a:xfrm>
            <a:off x="5212080" y="8380476"/>
            <a:ext cx="521208" cy="521208"/>
          </a:xfrm>
          <a:prstGeom prst="ellipse">
            <a:avLst/>
          </a:prstGeom>
          <a:noFill/>
          <a:ln w="22225">
            <a:solidFill>
              <a:srgbClr val="2A4A43"/>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5" name="Oval 54"/>
          <p:cNvSpPr/>
          <p:nvPr/>
        </p:nvSpPr>
        <p:spPr>
          <a:xfrm>
            <a:off x="6007608" y="8380476"/>
            <a:ext cx="521208" cy="521208"/>
          </a:xfrm>
          <a:prstGeom prst="ellipse">
            <a:avLst/>
          </a:prstGeom>
          <a:noFill/>
          <a:ln w="22225">
            <a:solidFill>
              <a:srgbClr val="2A4A43"/>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6" name="Oval 55"/>
          <p:cNvSpPr/>
          <p:nvPr/>
        </p:nvSpPr>
        <p:spPr>
          <a:xfrm>
            <a:off x="6803136" y="8380476"/>
            <a:ext cx="521208" cy="521208"/>
          </a:xfrm>
          <a:prstGeom prst="ellipse">
            <a:avLst/>
          </a:prstGeom>
          <a:noFill/>
          <a:ln w="22225">
            <a:solidFill>
              <a:srgbClr val="2A4A43"/>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7" name="Oval 56"/>
          <p:cNvSpPr/>
          <p:nvPr/>
        </p:nvSpPr>
        <p:spPr>
          <a:xfrm>
            <a:off x="7598664" y="8380476"/>
            <a:ext cx="521208" cy="521208"/>
          </a:xfrm>
          <a:prstGeom prst="ellipse">
            <a:avLst/>
          </a:prstGeom>
          <a:noFill/>
          <a:ln w="22225">
            <a:solidFill>
              <a:srgbClr val="2A4A43"/>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8" name="Oval 57"/>
          <p:cNvSpPr/>
          <p:nvPr/>
        </p:nvSpPr>
        <p:spPr>
          <a:xfrm>
            <a:off x="8394192" y="8380476"/>
            <a:ext cx="521208" cy="521208"/>
          </a:xfrm>
          <a:prstGeom prst="ellipse">
            <a:avLst/>
          </a:prstGeom>
          <a:noFill/>
          <a:ln w="22225">
            <a:solidFill>
              <a:srgbClr val="2A4A43"/>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9" name="Oval 58"/>
          <p:cNvSpPr/>
          <p:nvPr/>
        </p:nvSpPr>
        <p:spPr>
          <a:xfrm>
            <a:off x="9189720" y="8380476"/>
            <a:ext cx="521208" cy="521208"/>
          </a:xfrm>
          <a:prstGeom prst="ellipse">
            <a:avLst/>
          </a:prstGeom>
          <a:noFill/>
          <a:ln w="22225">
            <a:solidFill>
              <a:srgbClr val="2A4A43"/>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60" name="Oval 59"/>
          <p:cNvSpPr/>
          <p:nvPr/>
        </p:nvSpPr>
        <p:spPr>
          <a:xfrm>
            <a:off x="9985248" y="8380476"/>
            <a:ext cx="521208" cy="521208"/>
          </a:xfrm>
          <a:prstGeom prst="ellipse">
            <a:avLst/>
          </a:prstGeom>
          <a:noFill/>
          <a:ln w="22225">
            <a:solidFill>
              <a:srgbClr val="2A4A43"/>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61" name="Oval 60"/>
          <p:cNvSpPr/>
          <p:nvPr/>
        </p:nvSpPr>
        <p:spPr>
          <a:xfrm>
            <a:off x="10780776" y="8380476"/>
            <a:ext cx="521208" cy="521208"/>
          </a:xfrm>
          <a:prstGeom prst="ellipse">
            <a:avLst/>
          </a:prstGeom>
          <a:noFill/>
          <a:ln w="22225">
            <a:solidFill>
              <a:srgbClr val="2A4A43"/>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62" name="Oval 61"/>
          <p:cNvSpPr/>
          <p:nvPr/>
        </p:nvSpPr>
        <p:spPr>
          <a:xfrm>
            <a:off x="11576304" y="8380476"/>
            <a:ext cx="521208" cy="521208"/>
          </a:xfrm>
          <a:prstGeom prst="ellipse">
            <a:avLst/>
          </a:prstGeom>
          <a:noFill/>
          <a:ln w="22225">
            <a:solidFill>
              <a:srgbClr val="2A4A43"/>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63" name="Oval 62"/>
          <p:cNvSpPr/>
          <p:nvPr/>
        </p:nvSpPr>
        <p:spPr>
          <a:xfrm>
            <a:off x="12371832" y="8380476"/>
            <a:ext cx="521208" cy="521208"/>
          </a:xfrm>
          <a:prstGeom prst="ellipse">
            <a:avLst/>
          </a:prstGeom>
          <a:noFill/>
          <a:ln w="22225">
            <a:solidFill>
              <a:srgbClr val="2A4A43"/>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64" name="Oval 63"/>
          <p:cNvSpPr/>
          <p:nvPr/>
        </p:nvSpPr>
        <p:spPr>
          <a:xfrm>
            <a:off x="13167360" y="8380476"/>
            <a:ext cx="521208" cy="521208"/>
          </a:xfrm>
          <a:prstGeom prst="ellipse">
            <a:avLst/>
          </a:prstGeom>
          <a:noFill/>
          <a:ln w="22225">
            <a:solidFill>
              <a:srgbClr val="2A4A43"/>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65" name="Oval 64"/>
          <p:cNvSpPr/>
          <p:nvPr/>
        </p:nvSpPr>
        <p:spPr>
          <a:xfrm>
            <a:off x="13962888" y="8380476"/>
            <a:ext cx="521208" cy="521208"/>
          </a:xfrm>
          <a:prstGeom prst="ellipse">
            <a:avLst/>
          </a:prstGeom>
          <a:noFill/>
          <a:ln w="22225">
            <a:solidFill>
              <a:srgbClr val="2A4A43"/>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66" name="Oval 65"/>
          <p:cNvSpPr/>
          <p:nvPr/>
        </p:nvSpPr>
        <p:spPr>
          <a:xfrm>
            <a:off x="14758416" y="8380476"/>
            <a:ext cx="521208" cy="521208"/>
          </a:xfrm>
          <a:prstGeom prst="ellipse">
            <a:avLst/>
          </a:prstGeom>
          <a:noFill/>
          <a:ln w="22225">
            <a:solidFill>
              <a:srgbClr val="2A4A43"/>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67" name="Oval 66"/>
          <p:cNvSpPr/>
          <p:nvPr/>
        </p:nvSpPr>
        <p:spPr>
          <a:xfrm>
            <a:off x="15553944" y="8380476"/>
            <a:ext cx="521208" cy="521208"/>
          </a:xfrm>
          <a:prstGeom prst="ellipse">
            <a:avLst/>
          </a:prstGeom>
          <a:noFill/>
          <a:ln w="22225">
            <a:solidFill>
              <a:srgbClr val="2A4A43"/>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68" name="Oval 67"/>
          <p:cNvSpPr/>
          <p:nvPr/>
        </p:nvSpPr>
        <p:spPr>
          <a:xfrm>
            <a:off x="16349472" y="8380476"/>
            <a:ext cx="521208" cy="521208"/>
          </a:xfrm>
          <a:prstGeom prst="ellipse">
            <a:avLst/>
          </a:prstGeom>
          <a:noFill/>
          <a:ln w="22225">
            <a:solidFill>
              <a:srgbClr val="2A4A43"/>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69" name="Oval 68"/>
          <p:cNvSpPr/>
          <p:nvPr/>
        </p:nvSpPr>
        <p:spPr>
          <a:xfrm>
            <a:off x="1234440" y="9299448"/>
            <a:ext cx="219456" cy="219456"/>
          </a:xfrm>
          <a:prstGeom prst="ellipse">
            <a:avLst/>
          </a:prstGeom>
          <a:solidFill>
            <a:srgbClr val="00D9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70" name="TextBox 69"/>
          <p:cNvSpPr txBox="1"/>
          <p:nvPr/>
        </p:nvSpPr>
        <p:spPr>
          <a:xfrm>
            <a:off x="1618488" y="9230868"/>
            <a:ext cx="4114800" cy="276999"/>
          </a:xfrm>
          <a:prstGeom prst="rect">
            <a:avLst/>
          </a:prstGeom>
          <a:noFill/>
        </p:spPr>
        <p:txBody>
          <a:bodyPr wrap="square" lIns="0" tIns="0" rIns="0" bIns="0" anchor="t">
            <a:spAutoFit/>
          </a:bodyPr>
          <a:lstStyle/>
          <a:p>
            <a:pPr algn="l"/>
            <a:r>
              <a:rPr>
                <a:solidFill>
                  <a:srgbClr val="8FB0A8"/>
                </a:solidFill>
                <a:latin typeface="Inter"/>
              </a:rPr>
              <a:t>40 werden bearbeitet</a:t>
            </a:r>
          </a:p>
        </p:txBody>
      </p:sp>
      <p:sp>
        <p:nvSpPr>
          <p:cNvPr id="71" name="Oval 70"/>
          <p:cNvSpPr/>
          <p:nvPr/>
        </p:nvSpPr>
        <p:spPr>
          <a:xfrm>
            <a:off x="5897880" y="9299448"/>
            <a:ext cx="219456" cy="219456"/>
          </a:xfrm>
          <a:prstGeom prst="ellipse">
            <a:avLst/>
          </a:prstGeom>
          <a:noFill/>
          <a:ln w="19050">
            <a:solidFill>
              <a:srgbClr val="8FB0A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72" name="TextBox 71"/>
          <p:cNvSpPr txBox="1"/>
          <p:nvPr/>
        </p:nvSpPr>
        <p:spPr>
          <a:xfrm>
            <a:off x="6281928" y="9230868"/>
            <a:ext cx="4114800" cy="276999"/>
          </a:xfrm>
          <a:prstGeom prst="rect">
            <a:avLst/>
          </a:prstGeom>
          <a:noFill/>
        </p:spPr>
        <p:txBody>
          <a:bodyPr wrap="square" lIns="0" tIns="0" rIns="0" bIns="0" anchor="t">
            <a:spAutoFit/>
          </a:bodyPr>
          <a:lstStyle/>
          <a:p>
            <a:pPr algn="l"/>
            <a:r>
              <a:rPr>
                <a:solidFill>
                  <a:srgbClr val="8FB0A8"/>
                </a:solidFill>
                <a:latin typeface="Inter"/>
              </a:rPr>
              <a:t>20 versanden</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Logo(final-detailed) Kopie.png"/>
          <p:cNvPicPr>
            <a:picLocks noChangeAspect="1"/>
          </p:cNvPicPr>
          <p:nvPr/>
        </p:nvPicPr>
        <p:blipFill>
          <a:blip r:embed="rId3"/>
          <a:stretch>
            <a:fillRect/>
          </a:stretch>
        </p:blipFill>
        <p:spPr>
          <a:xfrm>
            <a:off x="1234440" y="822960"/>
            <a:ext cx="1281273" cy="576072"/>
          </a:xfrm>
          <a:prstGeom prst="rect">
            <a:avLst/>
          </a:prstGeom>
        </p:spPr>
      </p:pic>
      <p:sp>
        <p:nvSpPr>
          <p:cNvPr id="3" name="TextBox 2"/>
          <p:cNvSpPr txBox="1"/>
          <p:nvPr/>
        </p:nvSpPr>
        <p:spPr>
          <a:xfrm>
            <a:off x="14950440" y="932688"/>
            <a:ext cx="2125980" cy="276999"/>
          </a:xfrm>
          <a:prstGeom prst="rect">
            <a:avLst/>
          </a:prstGeom>
          <a:noFill/>
        </p:spPr>
        <p:txBody>
          <a:bodyPr wrap="square" lIns="0" tIns="0" rIns="0" bIns="0" anchor="t">
            <a:spAutoFit/>
          </a:bodyPr>
          <a:lstStyle/>
          <a:p>
            <a:pPr algn="r"/>
            <a:r>
              <a:rPr>
                <a:solidFill>
                  <a:srgbClr val="31564E"/>
                </a:solidFill>
                <a:latin typeface="JetBrains Mono"/>
              </a:rPr>
              <a:t>02 / 05</a:t>
            </a:r>
          </a:p>
        </p:txBody>
      </p:sp>
      <p:sp>
        <p:nvSpPr>
          <p:cNvPr id="4" name="TextBox 3"/>
          <p:cNvSpPr txBox="1"/>
          <p:nvPr/>
        </p:nvSpPr>
        <p:spPr>
          <a:xfrm>
            <a:off x="1234440" y="2057400"/>
            <a:ext cx="10972800" cy="300082"/>
          </a:xfrm>
          <a:prstGeom prst="rect">
            <a:avLst/>
          </a:prstGeom>
          <a:noFill/>
        </p:spPr>
        <p:txBody>
          <a:bodyPr wrap="square" lIns="0" tIns="0" rIns="0" bIns="0" anchor="t">
            <a:spAutoFit/>
          </a:bodyPr>
          <a:lstStyle/>
          <a:p>
            <a:pPr algn="l"/>
            <a:r>
              <a:rPr sz="1950" b="1">
                <a:solidFill>
                  <a:srgbClr val="00D9C6"/>
                </a:solidFill>
                <a:latin typeface="Inter"/>
              </a:rPr>
              <a:t>WAS DAS KOSTET</a:t>
            </a:r>
          </a:p>
        </p:txBody>
      </p:sp>
      <p:sp>
        <p:nvSpPr>
          <p:cNvPr id="5" name="Rectangle 4"/>
          <p:cNvSpPr/>
          <p:nvPr/>
        </p:nvSpPr>
        <p:spPr>
          <a:xfrm>
            <a:off x="0" y="10177272"/>
            <a:ext cx="7315017" cy="109728"/>
          </a:xfrm>
          <a:prstGeom prst="rect">
            <a:avLst/>
          </a:prstGeom>
          <a:solidFill>
            <a:srgbClr val="00D9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6" name="TextBox 5"/>
          <p:cNvSpPr txBox="1"/>
          <p:nvPr/>
        </p:nvSpPr>
        <p:spPr>
          <a:xfrm>
            <a:off x="1234440" y="2674620"/>
            <a:ext cx="15773400" cy="1154162"/>
          </a:xfrm>
          <a:prstGeom prst="rect">
            <a:avLst/>
          </a:prstGeom>
          <a:noFill/>
        </p:spPr>
        <p:txBody>
          <a:bodyPr wrap="square" lIns="0" tIns="0" rIns="0" bIns="0" anchor="t">
            <a:spAutoFit/>
          </a:bodyPr>
          <a:lstStyle/>
          <a:p>
            <a:pPr algn="l"/>
            <a:r>
              <a:rPr sz="7500" b="1">
                <a:solidFill>
                  <a:srgbClr val="0B211F"/>
                </a:solidFill>
                <a:latin typeface="Space Grotesk"/>
              </a:rPr>
              <a:t>Was kostet Sie das jedes Jahr?</a:t>
            </a:r>
          </a:p>
        </p:txBody>
      </p:sp>
      <p:sp>
        <p:nvSpPr>
          <p:cNvPr id="7" name="TextBox 6"/>
          <p:cNvSpPr txBox="1"/>
          <p:nvPr/>
        </p:nvSpPr>
        <p:spPr>
          <a:xfrm>
            <a:off x="1234440" y="4114801"/>
            <a:ext cx="15773400" cy="461665"/>
          </a:xfrm>
          <a:prstGeom prst="rect">
            <a:avLst/>
          </a:prstGeom>
          <a:noFill/>
        </p:spPr>
        <p:txBody>
          <a:bodyPr wrap="square" lIns="0" tIns="0" rIns="0" bIns="0" anchor="t">
            <a:spAutoFit/>
          </a:bodyPr>
          <a:lstStyle/>
          <a:p>
            <a:pPr algn="l"/>
            <a:r>
              <a:rPr sz="3000">
                <a:solidFill>
                  <a:srgbClr val="31564E"/>
                </a:solidFill>
                <a:latin typeface="Inter"/>
              </a:rPr>
              <a:t>Verlorene Leads und ein Forecast aus dem Bauch.</a:t>
            </a:r>
          </a:p>
        </p:txBody>
      </p:sp>
      <p:sp>
        <p:nvSpPr>
          <p:cNvPr id="8" name="Rounded Rectangle 7"/>
          <p:cNvSpPr/>
          <p:nvPr/>
        </p:nvSpPr>
        <p:spPr>
          <a:xfrm>
            <a:off x="1234440" y="5349240"/>
            <a:ext cx="7680960" cy="4114800"/>
          </a:xfrm>
          <a:prstGeom prst="roundRect">
            <a:avLst>
              <a:gd name="adj" fmla="val 9333"/>
            </a:avLst>
          </a:prstGeom>
          <a:solidFill>
            <a:srgbClr val="10302C"/>
          </a:solidFill>
          <a:ln w="19050">
            <a:solidFill>
              <a:srgbClr val="2A4A4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9" name="TextBox 8"/>
          <p:cNvSpPr txBox="1"/>
          <p:nvPr/>
        </p:nvSpPr>
        <p:spPr>
          <a:xfrm>
            <a:off x="1920240" y="5966459"/>
            <a:ext cx="6583680" cy="1523494"/>
          </a:xfrm>
          <a:prstGeom prst="rect">
            <a:avLst/>
          </a:prstGeom>
          <a:noFill/>
        </p:spPr>
        <p:txBody>
          <a:bodyPr wrap="square" lIns="0" tIns="0" rIns="0" bIns="0" anchor="t">
            <a:spAutoFit/>
          </a:bodyPr>
          <a:lstStyle/>
          <a:p>
            <a:pPr algn="l"/>
            <a:r>
              <a:rPr sz="9900" b="1">
                <a:solidFill>
                  <a:srgbClr val="FF7A3D"/>
                </a:solidFill>
                <a:latin typeface="Space Grotesk"/>
              </a:rPr>
              <a:t>150.000 €</a:t>
            </a:r>
          </a:p>
        </p:txBody>
      </p:sp>
      <p:sp>
        <p:nvSpPr>
          <p:cNvPr id="10" name="TextBox 9"/>
          <p:cNvSpPr txBox="1"/>
          <p:nvPr/>
        </p:nvSpPr>
        <p:spPr>
          <a:xfrm>
            <a:off x="1920240" y="8092441"/>
            <a:ext cx="6446520" cy="415498"/>
          </a:xfrm>
          <a:prstGeom prst="rect">
            <a:avLst/>
          </a:prstGeom>
          <a:noFill/>
        </p:spPr>
        <p:txBody>
          <a:bodyPr wrap="square" lIns="0" tIns="0" rIns="0" bIns="0" anchor="t">
            <a:spAutoFit/>
          </a:bodyPr>
          <a:lstStyle/>
          <a:p>
            <a:pPr algn="l"/>
            <a:r>
              <a:rPr sz="2700" dirty="0" err="1">
                <a:solidFill>
                  <a:schemeClr val="accent3">
                    <a:lumMod val="20000"/>
                    <a:lumOff val="80000"/>
                    <a:alpha val="90000"/>
                  </a:schemeClr>
                </a:solidFill>
                <a:latin typeface="Inter"/>
              </a:rPr>
              <a:t>Erstumsatz</a:t>
            </a:r>
            <a:r>
              <a:rPr sz="2700" dirty="0">
                <a:solidFill>
                  <a:schemeClr val="accent3">
                    <a:lumMod val="20000"/>
                    <a:lumOff val="80000"/>
                    <a:alpha val="90000"/>
                  </a:schemeClr>
                </a:solidFill>
                <a:latin typeface="Inter"/>
              </a:rPr>
              <a:t> pro Jahr </a:t>
            </a:r>
            <a:r>
              <a:rPr sz="2700" dirty="0" err="1">
                <a:solidFill>
                  <a:schemeClr val="accent3">
                    <a:lumMod val="20000"/>
                    <a:lumOff val="80000"/>
                    <a:alpha val="90000"/>
                  </a:schemeClr>
                </a:solidFill>
                <a:latin typeface="Inter"/>
              </a:rPr>
              <a:t>gehen</a:t>
            </a:r>
            <a:r>
              <a:rPr sz="2700" dirty="0">
                <a:solidFill>
                  <a:schemeClr val="accent3">
                    <a:lumMod val="20000"/>
                    <a:lumOff val="80000"/>
                    <a:alpha val="90000"/>
                  </a:schemeClr>
                </a:solidFill>
                <a:latin typeface="Inter"/>
              </a:rPr>
              <a:t> </a:t>
            </a:r>
            <a:r>
              <a:rPr sz="2700" dirty="0" err="1">
                <a:solidFill>
                  <a:schemeClr val="accent3">
                    <a:lumMod val="20000"/>
                    <a:lumOff val="80000"/>
                    <a:alpha val="90000"/>
                  </a:schemeClr>
                </a:solidFill>
                <a:latin typeface="Inter"/>
              </a:rPr>
              <a:t>verloren</a:t>
            </a:r>
            <a:r>
              <a:rPr sz="2700" dirty="0">
                <a:solidFill>
                  <a:schemeClr val="accent3">
                    <a:lumMod val="20000"/>
                    <a:lumOff val="80000"/>
                    <a:alpha val="90000"/>
                  </a:schemeClr>
                </a:solidFill>
                <a:latin typeface="Inter"/>
              </a:rPr>
              <a:t>.</a:t>
            </a:r>
          </a:p>
        </p:txBody>
      </p:sp>
      <p:sp>
        <p:nvSpPr>
          <p:cNvPr id="11" name="Rounded Rectangle 10"/>
          <p:cNvSpPr/>
          <p:nvPr/>
        </p:nvSpPr>
        <p:spPr>
          <a:xfrm>
            <a:off x="9258300" y="5349240"/>
            <a:ext cx="7680960" cy="4114800"/>
          </a:xfrm>
          <a:prstGeom prst="roundRect">
            <a:avLst>
              <a:gd name="adj" fmla="val 9333"/>
            </a:avLst>
          </a:prstGeom>
          <a:solidFill>
            <a:srgbClr val="10302C"/>
          </a:solidFill>
          <a:ln w="19050">
            <a:solidFill>
              <a:srgbClr val="2A4A4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2" name="TextBox 11"/>
          <p:cNvSpPr txBox="1"/>
          <p:nvPr/>
        </p:nvSpPr>
        <p:spPr>
          <a:xfrm>
            <a:off x="9944100" y="5966459"/>
            <a:ext cx="6583680" cy="1523494"/>
          </a:xfrm>
          <a:prstGeom prst="rect">
            <a:avLst/>
          </a:prstGeom>
          <a:noFill/>
        </p:spPr>
        <p:txBody>
          <a:bodyPr wrap="square" lIns="0" tIns="0" rIns="0" bIns="0" anchor="t">
            <a:spAutoFit/>
          </a:bodyPr>
          <a:lstStyle/>
          <a:p>
            <a:pPr algn="l"/>
            <a:r>
              <a:rPr sz="9900" b="1">
                <a:solidFill>
                  <a:srgbClr val="00D9C6"/>
                </a:solidFill>
                <a:latin typeface="Space Grotesk"/>
              </a:rPr>
              <a:t>3 Std.</a:t>
            </a:r>
          </a:p>
        </p:txBody>
      </p:sp>
      <p:sp>
        <p:nvSpPr>
          <p:cNvPr id="13" name="TextBox 12"/>
          <p:cNvSpPr txBox="1"/>
          <p:nvPr/>
        </p:nvSpPr>
        <p:spPr>
          <a:xfrm>
            <a:off x="9944100" y="8092441"/>
            <a:ext cx="6446520" cy="415498"/>
          </a:xfrm>
          <a:prstGeom prst="rect">
            <a:avLst/>
          </a:prstGeom>
          <a:noFill/>
        </p:spPr>
        <p:txBody>
          <a:bodyPr wrap="square" lIns="0" tIns="0" rIns="0" bIns="0" anchor="t">
            <a:spAutoFit/>
          </a:bodyPr>
          <a:lstStyle/>
          <a:p>
            <a:pPr algn="l"/>
            <a:r>
              <a:rPr sz="2700" dirty="0">
                <a:solidFill>
                  <a:schemeClr val="accent3">
                    <a:lumMod val="20000"/>
                    <a:lumOff val="80000"/>
                    <a:alpha val="90132"/>
                  </a:schemeClr>
                </a:solidFill>
                <a:latin typeface="Inter"/>
              </a:rPr>
              <a:t>Forecast von Hand, </a:t>
            </a:r>
            <a:r>
              <a:rPr sz="2700" dirty="0" err="1">
                <a:solidFill>
                  <a:schemeClr val="accent3">
                    <a:lumMod val="20000"/>
                    <a:lumOff val="80000"/>
                    <a:alpha val="90132"/>
                  </a:schemeClr>
                </a:solidFill>
                <a:latin typeface="Inter"/>
              </a:rPr>
              <a:t>jeden</a:t>
            </a:r>
            <a:r>
              <a:rPr sz="2700" dirty="0">
                <a:solidFill>
                  <a:schemeClr val="accent3">
                    <a:lumMod val="20000"/>
                    <a:lumOff val="80000"/>
                    <a:alpha val="90132"/>
                  </a:schemeClr>
                </a:solidFill>
                <a:latin typeface="Inter"/>
              </a:rPr>
              <a:t> Freitag.</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Logo(final-detailed) Kopie.png"/>
          <p:cNvPicPr>
            <a:picLocks noChangeAspect="1"/>
          </p:cNvPicPr>
          <p:nvPr/>
        </p:nvPicPr>
        <p:blipFill>
          <a:blip r:embed="rId3"/>
          <a:stretch>
            <a:fillRect/>
          </a:stretch>
        </p:blipFill>
        <p:spPr>
          <a:xfrm>
            <a:off x="1234440" y="822960"/>
            <a:ext cx="1281273" cy="576072"/>
          </a:xfrm>
          <a:prstGeom prst="rect">
            <a:avLst/>
          </a:prstGeom>
        </p:spPr>
      </p:pic>
      <p:sp>
        <p:nvSpPr>
          <p:cNvPr id="3" name="TextBox 2"/>
          <p:cNvSpPr txBox="1"/>
          <p:nvPr/>
        </p:nvSpPr>
        <p:spPr>
          <a:xfrm>
            <a:off x="14950440" y="932688"/>
            <a:ext cx="2125980" cy="276999"/>
          </a:xfrm>
          <a:prstGeom prst="rect">
            <a:avLst/>
          </a:prstGeom>
          <a:noFill/>
        </p:spPr>
        <p:txBody>
          <a:bodyPr wrap="square" lIns="0" tIns="0" rIns="0" bIns="0" anchor="t">
            <a:spAutoFit/>
          </a:bodyPr>
          <a:lstStyle/>
          <a:p>
            <a:pPr algn="r"/>
            <a:r>
              <a:rPr>
                <a:solidFill>
                  <a:srgbClr val="31564E"/>
                </a:solidFill>
                <a:latin typeface="JetBrains Mono"/>
              </a:rPr>
              <a:t>03 / 05</a:t>
            </a:r>
          </a:p>
        </p:txBody>
      </p:sp>
      <p:sp>
        <p:nvSpPr>
          <p:cNvPr id="4" name="TextBox 3"/>
          <p:cNvSpPr txBox="1"/>
          <p:nvPr/>
        </p:nvSpPr>
        <p:spPr>
          <a:xfrm>
            <a:off x="1234440" y="2057400"/>
            <a:ext cx="10972800" cy="300082"/>
          </a:xfrm>
          <a:prstGeom prst="rect">
            <a:avLst/>
          </a:prstGeom>
          <a:noFill/>
        </p:spPr>
        <p:txBody>
          <a:bodyPr wrap="square" lIns="0" tIns="0" rIns="0" bIns="0" anchor="t">
            <a:spAutoFit/>
          </a:bodyPr>
          <a:lstStyle/>
          <a:p>
            <a:pPr algn="l"/>
            <a:r>
              <a:rPr sz="1950" b="1">
                <a:solidFill>
                  <a:srgbClr val="00D9C6"/>
                </a:solidFill>
                <a:latin typeface="Inter"/>
              </a:rPr>
              <a:t>DIE LÖSUNG</a:t>
            </a:r>
          </a:p>
        </p:txBody>
      </p:sp>
      <p:sp>
        <p:nvSpPr>
          <p:cNvPr id="5" name="Rectangle 4"/>
          <p:cNvSpPr/>
          <p:nvPr/>
        </p:nvSpPr>
        <p:spPr>
          <a:xfrm>
            <a:off x="1" y="10177272"/>
            <a:ext cx="10972526" cy="109728"/>
          </a:xfrm>
          <a:prstGeom prst="rect">
            <a:avLst/>
          </a:prstGeom>
          <a:solidFill>
            <a:srgbClr val="00D9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6" name="TextBox 5"/>
          <p:cNvSpPr txBox="1"/>
          <p:nvPr/>
        </p:nvSpPr>
        <p:spPr>
          <a:xfrm>
            <a:off x="1234440" y="2674620"/>
            <a:ext cx="15773400" cy="1154162"/>
          </a:xfrm>
          <a:prstGeom prst="rect">
            <a:avLst/>
          </a:prstGeom>
          <a:noFill/>
        </p:spPr>
        <p:txBody>
          <a:bodyPr wrap="square" lIns="0" tIns="0" rIns="0" bIns="0" anchor="t">
            <a:spAutoFit/>
          </a:bodyPr>
          <a:lstStyle/>
          <a:p>
            <a:pPr algn="l"/>
            <a:r>
              <a:rPr sz="7500" b="1">
                <a:solidFill>
                  <a:srgbClr val="0B211F"/>
                </a:solidFill>
                <a:latin typeface="Space Grotesk"/>
              </a:rPr>
              <a:t>Liste rein. </a:t>
            </a:r>
            <a:r>
              <a:rPr sz="7500" b="1">
                <a:solidFill>
                  <a:srgbClr val="00D9C6"/>
                </a:solidFill>
                <a:latin typeface="Space Grotesk"/>
              </a:rPr>
              <a:t>Forecast raus.</a:t>
            </a:r>
          </a:p>
        </p:txBody>
      </p:sp>
      <p:sp>
        <p:nvSpPr>
          <p:cNvPr id="7" name="TextBox 6"/>
          <p:cNvSpPr txBox="1"/>
          <p:nvPr/>
        </p:nvSpPr>
        <p:spPr>
          <a:xfrm>
            <a:off x="1234440" y="4183380"/>
            <a:ext cx="15773400" cy="461665"/>
          </a:xfrm>
          <a:prstGeom prst="rect">
            <a:avLst/>
          </a:prstGeom>
          <a:noFill/>
        </p:spPr>
        <p:txBody>
          <a:bodyPr wrap="square" lIns="0" tIns="0" rIns="0" bIns="0" anchor="t">
            <a:spAutoFit/>
          </a:bodyPr>
          <a:lstStyle/>
          <a:p>
            <a:pPr algn="l"/>
            <a:r>
              <a:rPr sz="3000">
                <a:solidFill>
                  <a:srgbClr val="31564E"/>
                </a:solidFill>
                <a:latin typeface="Inter"/>
              </a:rPr>
              <a:t>LeadPilot braucht keine 30 Pflichtfelder.</a:t>
            </a:r>
          </a:p>
        </p:txBody>
      </p:sp>
      <p:sp>
        <p:nvSpPr>
          <p:cNvPr id="8" name="Rounded Rectangle 7"/>
          <p:cNvSpPr/>
          <p:nvPr/>
        </p:nvSpPr>
        <p:spPr>
          <a:xfrm>
            <a:off x="1234440" y="5349240"/>
            <a:ext cx="4869180" cy="4114800"/>
          </a:xfrm>
          <a:prstGeom prst="roundRect">
            <a:avLst>
              <a:gd name="adj" fmla="val 9333"/>
            </a:avLst>
          </a:prstGeom>
          <a:solidFill>
            <a:srgbClr val="10302C"/>
          </a:solidFill>
          <a:ln w="19050">
            <a:solidFill>
              <a:srgbClr val="2A4A4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9" name="TextBox 8"/>
          <p:cNvSpPr txBox="1"/>
          <p:nvPr/>
        </p:nvSpPr>
        <p:spPr>
          <a:xfrm>
            <a:off x="1783080" y="5829301"/>
            <a:ext cx="2743200" cy="323165"/>
          </a:xfrm>
          <a:prstGeom prst="rect">
            <a:avLst/>
          </a:prstGeom>
          <a:noFill/>
        </p:spPr>
        <p:txBody>
          <a:bodyPr wrap="square" lIns="0" tIns="0" rIns="0" bIns="0" anchor="t">
            <a:spAutoFit/>
          </a:bodyPr>
          <a:lstStyle/>
          <a:p>
            <a:pPr algn="l"/>
            <a:r>
              <a:rPr sz="2100">
                <a:solidFill>
                  <a:srgbClr val="00D9C6"/>
                </a:solidFill>
                <a:latin typeface="JetBrains Mono"/>
              </a:rPr>
              <a:t>01</a:t>
            </a:r>
          </a:p>
        </p:txBody>
      </p:sp>
      <p:sp>
        <p:nvSpPr>
          <p:cNvPr id="10" name="TextBox 9"/>
          <p:cNvSpPr txBox="1"/>
          <p:nvPr/>
        </p:nvSpPr>
        <p:spPr>
          <a:xfrm>
            <a:off x="1783080" y="6446520"/>
            <a:ext cx="3771900" cy="646331"/>
          </a:xfrm>
          <a:prstGeom prst="rect">
            <a:avLst/>
          </a:prstGeom>
          <a:noFill/>
        </p:spPr>
        <p:txBody>
          <a:bodyPr wrap="square" lIns="0" tIns="0" rIns="0" bIns="0" anchor="t">
            <a:spAutoFit/>
          </a:bodyPr>
          <a:lstStyle/>
          <a:p>
            <a:pPr algn="l"/>
            <a:r>
              <a:rPr sz="4200" b="1" dirty="0" err="1">
                <a:solidFill>
                  <a:schemeClr val="bg1"/>
                </a:solidFill>
                <a:latin typeface="Space Grotesk"/>
              </a:rPr>
              <a:t>Importieren</a:t>
            </a:r>
            <a:endParaRPr sz="4200" b="1" dirty="0">
              <a:solidFill>
                <a:schemeClr val="bg1"/>
              </a:solidFill>
              <a:latin typeface="Space Grotesk"/>
            </a:endParaRPr>
          </a:p>
        </p:txBody>
      </p:sp>
      <p:sp>
        <p:nvSpPr>
          <p:cNvPr id="11" name="TextBox 10"/>
          <p:cNvSpPr txBox="1"/>
          <p:nvPr/>
        </p:nvSpPr>
        <p:spPr>
          <a:xfrm>
            <a:off x="1783080" y="7406641"/>
            <a:ext cx="3771900" cy="346249"/>
          </a:xfrm>
          <a:prstGeom prst="rect">
            <a:avLst/>
          </a:prstGeom>
          <a:noFill/>
        </p:spPr>
        <p:txBody>
          <a:bodyPr wrap="square" lIns="0" tIns="0" rIns="0" bIns="0" anchor="t">
            <a:spAutoFit/>
          </a:bodyPr>
          <a:lstStyle/>
          <a:p>
            <a:pPr algn="l"/>
            <a:r>
              <a:rPr sz="2250">
                <a:solidFill>
                  <a:srgbClr val="31564E"/>
                </a:solidFill>
                <a:latin typeface="Inter"/>
              </a:rPr>
              <a:t>Messe-Liste hochladen. Fertig.</a:t>
            </a:r>
          </a:p>
        </p:txBody>
      </p:sp>
      <p:sp>
        <p:nvSpPr>
          <p:cNvPr id="12" name="TextBox 11"/>
          <p:cNvSpPr txBox="1"/>
          <p:nvPr/>
        </p:nvSpPr>
        <p:spPr>
          <a:xfrm>
            <a:off x="6103620" y="6995161"/>
            <a:ext cx="877824" cy="646331"/>
          </a:xfrm>
          <a:prstGeom prst="rect">
            <a:avLst/>
          </a:prstGeom>
          <a:noFill/>
        </p:spPr>
        <p:txBody>
          <a:bodyPr wrap="square" lIns="0" tIns="0" rIns="0" bIns="0" anchor="t">
            <a:spAutoFit/>
          </a:bodyPr>
          <a:lstStyle/>
          <a:p>
            <a:pPr algn="ctr"/>
            <a:r>
              <a:rPr sz="4200" b="1">
                <a:solidFill>
                  <a:srgbClr val="2A4A43"/>
                </a:solidFill>
                <a:latin typeface="Space Grotesk"/>
              </a:rPr>
              <a:t>→</a:t>
            </a:r>
          </a:p>
        </p:txBody>
      </p:sp>
      <p:sp>
        <p:nvSpPr>
          <p:cNvPr id="13" name="Rounded Rectangle 12"/>
          <p:cNvSpPr/>
          <p:nvPr/>
        </p:nvSpPr>
        <p:spPr>
          <a:xfrm>
            <a:off x="6981444" y="5349240"/>
            <a:ext cx="4869180" cy="4114800"/>
          </a:xfrm>
          <a:prstGeom prst="roundRect">
            <a:avLst>
              <a:gd name="adj" fmla="val 9333"/>
            </a:avLst>
          </a:prstGeom>
          <a:solidFill>
            <a:srgbClr val="10302C"/>
          </a:solidFill>
          <a:ln w="25400">
            <a:solidFill>
              <a:srgbClr val="00D9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4" name="TextBox 13"/>
          <p:cNvSpPr txBox="1"/>
          <p:nvPr/>
        </p:nvSpPr>
        <p:spPr>
          <a:xfrm>
            <a:off x="7530084" y="5829301"/>
            <a:ext cx="2743200" cy="323165"/>
          </a:xfrm>
          <a:prstGeom prst="rect">
            <a:avLst/>
          </a:prstGeom>
          <a:noFill/>
        </p:spPr>
        <p:txBody>
          <a:bodyPr wrap="square" lIns="0" tIns="0" rIns="0" bIns="0" anchor="t">
            <a:spAutoFit/>
          </a:bodyPr>
          <a:lstStyle/>
          <a:p>
            <a:pPr algn="l"/>
            <a:r>
              <a:rPr sz="2100">
                <a:solidFill>
                  <a:srgbClr val="00D9C6"/>
                </a:solidFill>
                <a:latin typeface="JetBrains Mono"/>
              </a:rPr>
              <a:t>02</a:t>
            </a:r>
          </a:p>
        </p:txBody>
      </p:sp>
      <p:sp>
        <p:nvSpPr>
          <p:cNvPr id="15" name="TextBox 14"/>
          <p:cNvSpPr txBox="1"/>
          <p:nvPr/>
        </p:nvSpPr>
        <p:spPr>
          <a:xfrm>
            <a:off x="7530084" y="6446520"/>
            <a:ext cx="3771900" cy="646331"/>
          </a:xfrm>
          <a:prstGeom prst="rect">
            <a:avLst/>
          </a:prstGeom>
          <a:noFill/>
        </p:spPr>
        <p:txBody>
          <a:bodyPr wrap="square" lIns="0" tIns="0" rIns="0" bIns="0" anchor="t">
            <a:spAutoFit/>
          </a:bodyPr>
          <a:lstStyle/>
          <a:p>
            <a:pPr algn="l"/>
            <a:r>
              <a:rPr sz="4200" b="1" dirty="0" err="1">
                <a:solidFill>
                  <a:schemeClr val="bg1"/>
                </a:solidFill>
                <a:latin typeface="Space Grotesk"/>
              </a:rPr>
              <a:t>Nachfassen</a:t>
            </a:r>
            <a:endParaRPr sz="4200" b="1" dirty="0">
              <a:solidFill>
                <a:schemeClr val="bg1"/>
              </a:solidFill>
              <a:latin typeface="Space Grotesk"/>
            </a:endParaRPr>
          </a:p>
        </p:txBody>
      </p:sp>
      <p:sp>
        <p:nvSpPr>
          <p:cNvPr id="16" name="TextBox 15"/>
          <p:cNvSpPr txBox="1"/>
          <p:nvPr/>
        </p:nvSpPr>
        <p:spPr>
          <a:xfrm>
            <a:off x="7530084" y="7406641"/>
            <a:ext cx="3771900" cy="1038746"/>
          </a:xfrm>
          <a:prstGeom prst="rect">
            <a:avLst/>
          </a:prstGeom>
          <a:noFill/>
        </p:spPr>
        <p:txBody>
          <a:bodyPr wrap="square" lIns="0" tIns="0" rIns="0" bIns="0" anchor="t">
            <a:spAutoFit/>
          </a:bodyPr>
          <a:lstStyle/>
          <a:p>
            <a:pPr algn="l"/>
            <a:r>
              <a:rPr sz="2250">
                <a:solidFill>
                  <a:srgbClr val="31564E"/>
                </a:solidFill>
                <a:latin typeface="Inter"/>
              </a:rPr>
              <a:t>Jeder Lead wird binnen 48 Stunden automatisch kontaktiert.</a:t>
            </a:r>
          </a:p>
        </p:txBody>
      </p:sp>
      <p:sp>
        <p:nvSpPr>
          <p:cNvPr id="17" name="TextBox 16"/>
          <p:cNvSpPr txBox="1"/>
          <p:nvPr/>
        </p:nvSpPr>
        <p:spPr>
          <a:xfrm>
            <a:off x="11850624" y="6995161"/>
            <a:ext cx="877824" cy="646331"/>
          </a:xfrm>
          <a:prstGeom prst="rect">
            <a:avLst/>
          </a:prstGeom>
          <a:noFill/>
        </p:spPr>
        <p:txBody>
          <a:bodyPr wrap="square" lIns="0" tIns="0" rIns="0" bIns="0" anchor="t">
            <a:spAutoFit/>
          </a:bodyPr>
          <a:lstStyle/>
          <a:p>
            <a:pPr algn="ctr"/>
            <a:r>
              <a:rPr sz="4200" b="1">
                <a:solidFill>
                  <a:srgbClr val="2A4A43"/>
                </a:solidFill>
                <a:latin typeface="Space Grotesk"/>
              </a:rPr>
              <a:t>→</a:t>
            </a:r>
          </a:p>
        </p:txBody>
      </p:sp>
      <p:sp>
        <p:nvSpPr>
          <p:cNvPr id="18" name="Rounded Rectangle 17"/>
          <p:cNvSpPr/>
          <p:nvPr/>
        </p:nvSpPr>
        <p:spPr>
          <a:xfrm>
            <a:off x="12728448" y="5349240"/>
            <a:ext cx="4869180" cy="4114800"/>
          </a:xfrm>
          <a:prstGeom prst="roundRect">
            <a:avLst>
              <a:gd name="adj" fmla="val 9333"/>
            </a:avLst>
          </a:prstGeom>
          <a:solidFill>
            <a:srgbClr val="10302C"/>
          </a:solidFill>
          <a:ln w="19050">
            <a:solidFill>
              <a:srgbClr val="2A4A4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9" name="TextBox 18"/>
          <p:cNvSpPr txBox="1"/>
          <p:nvPr/>
        </p:nvSpPr>
        <p:spPr>
          <a:xfrm>
            <a:off x="13277088" y="5829301"/>
            <a:ext cx="2743200" cy="323165"/>
          </a:xfrm>
          <a:prstGeom prst="rect">
            <a:avLst/>
          </a:prstGeom>
          <a:noFill/>
        </p:spPr>
        <p:txBody>
          <a:bodyPr wrap="square" lIns="0" tIns="0" rIns="0" bIns="0" anchor="t">
            <a:spAutoFit/>
          </a:bodyPr>
          <a:lstStyle/>
          <a:p>
            <a:pPr algn="l"/>
            <a:r>
              <a:rPr sz="2100">
                <a:solidFill>
                  <a:srgbClr val="00D9C6"/>
                </a:solidFill>
                <a:latin typeface="JetBrains Mono"/>
              </a:rPr>
              <a:t>03</a:t>
            </a:r>
          </a:p>
        </p:txBody>
      </p:sp>
      <p:sp>
        <p:nvSpPr>
          <p:cNvPr id="20" name="TextBox 19"/>
          <p:cNvSpPr txBox="1"/>
          <p:nvPr/>
        </p:nvSpPr>
        <p:spPr>
          <a:xfrm>
            <a:off x="13277088" y="6446520"/>
            <a:ext cx="3771900" cy="646331"/>
          </a:xfrm>
          <a:prstGeom prst="rect">
            <a:avLst/>
          </a:prstGeom>
          <a:noFill/>
        </p:spPr>
        <p:txBody>
          <a:bodyPr wrap="square" lIns="0" tIns="0" rIns="0" bIns="0" anchor="t">
            <a:spAutoFit/>
          </a:bodyPr>
          <a:lstStyle/>
          <a:p>
            <a:pPr algn="l"/>
            <a:r>
              <a:rPr sz="4200" b="1" dirty="0" err="1">
                <a:solidFill>
                  <a:schemeClr val="bg1"/>
                </a:solidFill>
                <a:latin typeface="Space Grotesk"/>
              </a:rPr>
              <a:t>Vorhersagen</a:t>
            </a:r>
            <a:endParaRPr sz="4200" b="1" dirty="0">
              <a:solidFill>
                <a:schemeClr val="bg1"/>
              </a:solidFill>
              <a:latin typeface="Space Grotesk"/>
            </a:endParaRPr>
          </a:p>
        </p:txBody>
      </p:sp>
      <p:sp>
        <p:nvSpPr>
          <p:cNvPr id="21" name="TextBox 20"/>
          <p:cNvSpPr txBox="1"/>
          <p:nvPr/>
        </p:nvSpPr>
        <p:spPr>
          <a:xfrm>
            <a:off x="13277088" y="7406641"/>
            <a:ext cx="3771900" cy="692497"/>
          </a:xfrm>
          <a:prstGeom prst="rect">
            <a:avLst/>
          </a:prstGeom>
          <a:noFill/>
        </p:spPr>
        <p:txBody>
          <a:bodyPr wrap="square" lIns="0" tIns="0" rIns="0" bIns="0" anchor="t">
            <a:spAutoFit/>
          </a:bodyPr>
          <a:lstStyle/>
          <a:p>
            <a:pPr algn="l"/>
            <a:r>
              <a:rPr sz="2250">
                <a:solidFill>
                  <a:srgbClr val="31564E"/>
                </a:solidFill>
                <a:latin typeface="Inter"/>
              </a:rPr>
              <a:t>Freitags-Forecast auf Knopfdruck.</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Logo(final-detailed) Kopie.png"/>
          <p:cNvPicPr>
            <a:picLocks noChangeAspect="1"/>
          </p:cNvPicPr>
          <p:nvPr/>
        </p:nvPicPr>
        <p:blipFill>
          <a:blip r:embed="rId3"/>
          <a:stretch>
            <a:fillRect/>
          </a:stretch>
        </p:blipFill>
        <p:spPr>
          <a:xfrm>
            <a:off x="1234440" y="822960"/>
            <a:ext cx="1281273" cy="576072"/>
          </a:xfrm>
          <a:prstGeom prst="rect">
            <a:avLst/>
          </a:prstGeom>
        </p:spPr>
      </p:pic>
      <p:sp>
        <p:nvSpPr>
          <p:cNvPr id="3" name="TextBox 2"/>
          <p:cNvSpPr txBox="1"/>
          <p:nvPr/>
        </p:nvSpPr>
        <p:spPr>
          <a:xfrm>
            <a:off x="14950440" y="932688"/>
            <a:ext cx="2125980" cy="276999"/>
          </a:xfrm>
          <a:prstGeom prst="rect">
            <a:avLst/>
          </a:prstGeom>
          <a:noFill/>
        </p:spPr>
        <p:txBody>
          <a:bodyPr wrap="square" lIns="0" tIns="0" rIns="0" bIns="0" anchor="t">
            <a:spAutoFit/>
          </a:bodyPr>
          <a:lstStyle/>
          <a:p>
            <a:pPr algn="r"/>
            <a:r>
              <a:rPr>
                <a:solidFill>
                  <a:srgbClr val="31564E"/>
                </a:solidFill>
                <a:latin typeface="JetBrains Mono"/>
              </a:rPr>
              <a:t>04 / 05</a:t>
            </a:r>
          </a:p>
        </p:txBody>
      </p:sp>
      <p:sp>
        <p:nvSpPr>
          <p:cNvPr id="4" name="TextBox 3"/>
          <p:cNvSpPr txBox="1"/>
          <p:nvPr/>
        </p:nvSpPr>
        <p:spPr>
          <a:xfrm>
            <a:off x="1234440" y="2057400"/>
            <a:ext cx="10972800" cy="300082"/>
          </a:xfrm>
          <a:prstGeom prst="rect">
            <a:avLst/>
          </a:prstGeom>
          <a:noFill/>
        </p:spPr>
        <p:txBody>
          <a:bodyPr wrap="square" lIns="0" tIns="0" rIns="0" bIns="0" anchor="t">
            <a:spAutoFit/>
          </a:bodyPr>
          <a:lstStyle/>
          <a:p>
            <a:pPr algn="l"/>
            <a:r>
              <a:rPr sz="1950" b="1">
                <a:solidFill>
                  <a:srgbClr val="00D9C6"/>
                </a:solidFill>
                <a:latin typeface="Inter"/>
              </a:rPr>
              <a:t>DER BEWEIS</a:t>
            </a:r>
          </a:p>
        </p:txBody>
      </p:sp>
      <p:sp>
        <p:nvSpPr>
          <p:cNvPr id="5" name="Rectangle 4"/>
          <p:cNvSpPr/>
          <p:nvPr/>
        </p:nvSpPr>
        <p:spPr>
          <a:xfrm>
            <a:off x="0" y="10177272"/>
            <a:ext cx="14630034" cy="109728"/>
          </a:xfrm>
          <a:prstGeom prst="rect">
            <a:avLst/>
          </a:prstGeom>
          <a:solidFill>
            <a:srgbClr val="00D9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6" name="TextBox 5"/>
          <p:cNvSpPr txBox="1"/>
          <p:nvPr/>
        </p:nvSpPr>
        <p:spPr>
          <a:xfrm>
            <a:off x="1234440" y="2674621"/>
            <a:ext cx="15773400" cy="1015663"/>
          </a:xfrm>
          <a:prstGeom prst="rect">
            <a:avLst/>
          </a:prstGeom>
          <a:noFill/>
        </p:spPr>
        <p:txBody>
          <a:bodyPr wrap="square" lIns="0" tIns="0" rIns="0" bIns="0" anchor="t">
            <a:spAutoFit/>
          </a:bodyPr>
          <a:lstStyle/>
          <a:p>
            <a:pPr algn="l"/>
            <a:r>
              <a:rPr sz="6600" b="1">
                <a:solidFill>
                  <a:srgbClr val="0B211F"/>
                </a:solidFill>
                <a:latin typeface="Space Grotesk"/>
              </a:rPr>
              <a:t>Maschinenbauer nutzen LeadPilot bereits.</a:t>
            </a:r>
          </a:p>
        </p:txBody>
      </p:sp>
      <p:sp>
        <p:nvSpPr>
          <p:cNvPr id="7" name="Rounded Rectangle 6"/>
          <p:cNvSpPr/>
          <p:nvPr/>
        </p:nvSpPr>
        <p:spPr>
          <a:xfrm>
            <a:off x="1234440" y="4389120"/>
            <a:ext cx="4937760" cy="2880360"/>
          </a:xfrm>
          <a:prstGeom prst="roundRect">
            <a:avLst>
              <a:gd name="adj" fmla="val 13333"/>
            </a:avLst>
          </a:prstGeom>
          <a:solidFill>
            <a:srgbClr val="10302C"/>
          </a:solidFill>
          <a:ln w="19050">
            <a:solidFill>
              <a:srgbClr val="2A4A4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8" name="TextBox 7"/>
          <p:cNvSpPr txBox="1"/>
          <p:nvPr/>
        </p:nvSpPr>
        <p:spPr>
          <a:xfrm>
            <a:off x="1783080" y="4732021"/>
            <a:ext cx="4114800" cy="1015663"/>
          </a:xfrm>
          <a:prstGeom prst="rect">
            <a:avLst/>
          </a:prstGeom>
          <a:noFill/>
        </p:spPr>
        <p:txBody>
          <a:bodyPr wrap="square" lIns="0" tIns="0" rIns="0" bIns="0" anchor="t">
            <a:spAutoFit/>
          </a:bodyPr>
          <a:lstStyle/>
          <a:p>
            <a:pPr algn="l"/>
            <a:r>
              <a:rPr sz="6600" b="1">
                <a:solidFill>
                  <a:srgbClr val="00D9C6"/>
                </a:solidFill>
                <a:latin typeface="Space Grotesk"/>
              </a:rPr>
              <a:t>66</a:t>
            </a:r>
          </a:p>
        </p:txBody>
      </p:sp>
      <p:sp>
        <p:nvSpPr>
          <p:cNvPr id="9" name="TextBox 8"/>
          <p:cNvSpPr txBox="1"/>
          <p:nvPr/>
        </p:nvSpPr>
        <p:spPr>
          <a:xfrm>
            <a:off x="1783080" y="6172201"/>
            <a:ext cx="4114800" cy="323165"/>
          </a:xfrm>
          <a:prstGeom prst="rect">
            <a:avLst/>
          </a:prstGeom>
          <a:noFill/>
        </p:spPr>
        <p:txBody>
          <a:bodyPr wrap="square" lIns="0" tIns="0" rIns="0" bIns="0" anchor="t">
            <a:spAutoFit/>
          </a:bodyPr>
          <a:lstStyle/>
          <a:p>
            <a:pPr algn="l"/>
            <a:r>
              <a:rPr sz="2100" dirty="0">
                <a:solidFill>
                  <a:schemeClr val="accent3">
                    <a:lumMod val="20000"/>
                    <a:lumOff val="80000"/>
                    <a:alpha val="90132"/>
                  </a:schemeClr>
                </a:solidFill>
                <a:latin typeface="Inter"/>
              </a:rPr>
              <a:t>B2B-Mittelständler </a:t>
            </a:r>
            <a:r>
              <a:rPr sz="2100" dirty="0" err="1">
                <a:solidFill>
                  <a:schemeClr val="accent3">
                    <a:lumMod val="20000"/>
                    <a:lumOff val="80000"/>
                    <a:alpha val="90132"/>
                  </a:schemeClr>
                </a:solidFill>
                <a:latin typeface="Inter"/>
              </a:rPr>
              <a:t>im</a:t>
            </a:r>
            <a:r>
              <a:rPr sz="2100" dirty="0">
                <a:solidFill>
                  <a:schemeClr val="accent3">
                    <a:lumMod val="20000"/>
                    <a:lumOff val="80000"/>
                    <a:alpha val="90132"/>
                  </a:schemeClr>
                </a:solidFill>
                <a:latin typeface="Inter"/>
              </a:rPr>
              <a:t> </a:t>
            </a:r>
            <a:r>
              <a:rPr sz="2100" dirty="0" err="1">
                <a:solidFill>
                  <a:schemeClr val="accent3">
                    <a:lumMod val="20000"/>
                    <a:lumOff val="80000"/>
                    <a:alpha val="90132"/>
                  </a:schemeClr>
                </a:solidFill>
                <a:latin typeface="Inter"/>
              </a:rPr>
              <a:t>Einsatz</a:t>
            </a:r>
            <a:endParaRPr sz="2100" dirty="0">
              <a:solidFill>
                <a:schemeClr val="accent3">
                  <a:lumMod val="20000"/>
                  <a:lumOff val="80000"/>
                  <a:alpha val="90132"/>
                </a:schemeClr>
              </a:solidFill>
              <a:latin typeface="Inter"/>
            </a:endParaRPr>
          </a:p>
        </p:txBody>
      </p:sp>
      <p:sp>
        <p:nvSpPr>
          <p:cNvPr id="10" name="Rounded Rectangle 9"/>
          <p:cNvSpPr/>
          <p:nvPr/>
        </p:nvSpPr>
        <p:spPr>
          <a:xfrm>
            <a:off x="6652260" y="4389120"/>
            <a:ext cx="4937760" cy="2880360"/>
          </a:xfrm>
          <a:prstGeom prst="roundRect">
            <a:avLst>
              <a:gd name="adj" fmla="val 13333"/>
            </a:avLst>
          </a:prstGeom>
          <a:solidFill>
            <a:srgbClr val="10302C"/>
          </a:solidFill>
          <a:ln w="25400">
            <a:solidFill>
              <a:srgbClr val="00D9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1" name="TextBox 10"/>
          <p:cNvSpPr txBox="1"/>
          <p:nvPr/>
        </p:nvSpPr>
        <p:spPr>
          <a:xfrm>
            <a:off x="7200900" y="4732021"/>
            <a:ext cx="4114800" cy="1015663"/>
          </a:xfrm>
          <a:prstGeom prst="rect">
            <a:avLst/>
          </a:prstGeom>
          <a:noFill/>
        </p:spPr>
        <p:txBody>
          <a:bodyPr wrap="square" lIns="0" tIns="0" rIns="0" bIns="0" anchor="t">
            <a:spAutoFit/>
          </a:bodyPr>
          <a:lstStyle/>
          <a:p>
            <a:pPr algn="l"/>
            <a:r>
              <a:rPr sz="6600" b="1">
                <a:solidFill>
                  <a:srgbClr val="00D9C6"/>
                </a:solidFill>
                <a:latin typeface="Space Grotesk"/>
              </a:rPr>
              <a:t>36 %</a:t>
            </a:r>
          </a:p>
        </p:txBody>
      </p:sp>
      <p:sp>
        <p:nvSpPr>
          <p:cNvPr id="12" name="TextBox 11"/>
          <p:cNvSpPr txBox="1"/>
          <p:nvPr/>
        </p:nvSpPr>
        <p:spPr>
          <a:xfrm>
            <a:off x="7200900" y="6172201"/>
            <a:ext cx="4114800" cy="323165"/>
          </a:xfrm>
          <a:prstGeom prst="rect">
            <a:avLst/>
          </a:prstGeom>
          <a:noFill/>
        </p:spPr>
        <p:txBody>
          <a:bodyPr wrap="square" lIns="0" tIns="0" rIns="0" bIns="0" anchor="t">
            <a:spAutoFit/>
          </a:bodyPr>
          <a:lstStyle/>
          <a:p>
            <a:pPr algn="l"/>
            <a:r>
              <a:rPr sz="2100" dirty="0" err="1">
                <a:solidFill>
                  <a:schemeClr val="accent3">
                    <a:lumMod val="20000"/>
                    <a:lumOff val="80000"/>
                    <a:alpha val="90000"/>
                  </a:schemeClr>
                </a:solidFill>
                <a:latin typeface="Inter"/>
              </a:rPr>
              <a:t>davon</a:t>
            </a:r>
            <a:r>
              <a:rPr sz="2100" dirty="0">
                <a:solidFill>
                  <a:schemeClr val="accent3">
                    <a:lumMod val="20000"/>
                    <a:lumOff val="80000"/>
                    <a:alpha val="90000"/>
                  </a:schemeClr>
                </a:solidFill>
                <a:latin typeface="Inter"/>
              </a:rPr>
              <a:t> </a:t>
            </a:r>
            <a:r>
              <a:rPr sz="2100" dirty="0" err="1">
                <a:solidFill>
                  <a:schemeClr val="accent3">
                    <a:lumMod val="20000"/>
                    <a:lumOff val="80000"/>
                    <a:alpha val="90000"/>
                  </a:schemeClr>
                </a:solidFill>
                <a:latin typeface="Inter"/>
              </a:rPr>
              <a:t>aus</a:t>
            </a:r>
            <a:r>
              <a:rPr sz="2100" dirty="0">
                <a:solidFill>
                  <a:schemeClr val="accent3">
                    <a:lumMod val="20000"/>
                    <a:lumOff val="80000"/>
                    <a:alpha val="90000"/>
                  </a:schemeClr>
                </a:solidFill>
                <a:latin typeface="Inter"/>
              </a:rPr>
              <a:t> dem Maschinenbau</a:t>
            </a:r>
          </a:p>
        </p:txBody>
      </p:sp>
      <p:sp>
        <p:nvSpPr>
          <p:cNvPr id="13" name="Rounded Rectangle 12"/>
          <p:cNvSpPr/>
          <p:nvPr/>
        </p:nvSpPr>
        <p:spPr>
          <a:xfrm>
            <a:off x="12070080" y="4389120"/>
            <a:ext cx="4937760" cy="2880360"/>
          </a:xfrm>
          <a:prstGeom prst="roundRect">
            <a:avLst>
              <a:gd name="adj" fmla="val 13333"/>
            </a:avLst>
          </a:prstGeom>
          <a:solidFill>
            <a:srgbClr val="10302C"/>
          </a:solidFill>
          <a:ln w="19050">
            <a:solidFill>
              <a:srgbClr val="2A4A4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4" name="TextBox 13"/>
          <p:cNvSpPr txBox="1"/>
          <p:nvPr/>
        </p:nvSpPr>
        <p:spPr>
          <a:xfrm>
            <a:off x="12618720" y="4732021"/>
            <a:ext cx="4114800" cy="1015663"/>
          </a:xfrm>
          <a:prstGeom prst="rect">
            <a:avLst/>
          </a:prstGeom>
          <a:noFill/>
        </p:spPr>
        <p:txBody>
          <a:bodyPr wrap="square" lIns="0" tIns="0" rIns="0" bIns="0" anchor="t">
            <a:spAutoFit/>
          </a:bodyPr>
          <a:lstStyle/>
          <a:p>
            <a:pPr algn="l"/>
            <a:r>
              <a:rPr sz="6600" b="1">
                <a:solidFill>
                  <a:srgbClr val="00D9C6"/>
                </a:solidFill>
                <a:latin typeface="Space Grotesk"/>
              </a:rPr>
              <a:t>NPS 34</a:t>
            </a:r>
          </a:p>
        </p:txBody>
      </p:sp>
      <p:sp>
        <p:nvSpPr>
          <p:cNvPr id="15" name="TextBox 14"/>
          <p:cNvSpPr txBox="1"/>
          <p:nvPr/>
        </p:nvSpPr>
        <p:spPr>
          <a:xfrm>
            <a:off x="12618720" y="6172201"/>
            <a:ext cx="4114800" cy="323165"/>
          </a:xfrm>
          <a:prstGeom prst="rect">
            <a:avLst/>
          </a:prstGeom>
          <a:noFill/>
        </p:spPr>
        <p:txBody>
          <a:bodyPr wrap="square" lIns="0" tIns="0" rIns="0" bIns="0" anchor="t">
            <a:spAutoFit/>
          </a:bodyPr>
          <a:lstStyle/>
          <a:p>
            <a:pPr algn="l"/>
            <a:r>
              <a:rPr sz="2100" dirty="0" err="1">
                <a:solidFill>
                  <a:schemeClr val="accent3">
                    <a:lumMod val="20000"/>
                    <a:lumOff val="80000"/>
                    <a:alpha val="90000"/>
                  </a:schemeClr>
                </a:solidFill>
                <a:latin typeface="Inter"/>
              </a:rPr>
              <a:t>Kundenzufriedenheit</a:t>
            </a:r>
            <a:endParaRPr sz="2100" dirty="0">
              <a:solidFill>
                <a:schemeClr val="accent3">
                  <a:lumMod val="20000"/>
                  <a:lumOff val="80000"/>
                  <a:alpha val="90000"/>
                </a:schemeClr>
              </a:solidFill>
              <a:latin typeface="Inter"/>
            </a:endParaRPr>
          </a:p>
        </p:txBody>
      </p:sp>
      <p:sp>
        <p:nvSpPr>
          <p:cNvPr id="16" name="Rounded Rectangle 15"/>
          <p:cNvSpPr/>
          <p:nvPr/>
        </p:nvSpPr>
        <p:spPr>
          <a:xfrm>
            <a:off x="1234440" y="7612380"/>
            <a:ext cx="15841980" cy="1851660"/>
          </a:xfrm>
          <a:prstGeom prst="roundRect">
            <a:avLst>
              <a:gd name="adj" fmla="val 20740"/>
            </a:avLst>
          </a:prstGeom>
          <a:solidFill>
            <a:srgbClr val="10302C"/>
          </a:solidFill>
          <a:ln w="19050">
            <a:solidFill>
              <a:srgbClr val="2A4A4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dirty="0"/>
          </a:p>
        </p:txBody>
      </p:sp>
      <p:sp>
        <p:nvSpPr>
          <p:cNvPr id="17" name="TextBox 16"/>
          <p:cNvSpPr txBox="1"/>
          <p:nvPr/>
        </p:nvSpPr>
        <p:spPr>
          <a:xfrm>
            <a:off x="1783079" y="7886700"/>
            <a:ext cx="2989337" cy="253916"/>
          </a:xfrm>
          <a:prstGeom prst="rect">
            <a:avLst/>
          </a:prstGeom>
          <a:noFill/>
        </p:spPr>
        <p:txBody>
          <a:bodyPr wrap="square" lIns="0" tIns="0" rIns="0" bIns="0" anchor="t">
            <a:spAutoFit/>
          </a:bodyPr>
          <a:lstStyle/>
          <a:p>
            <a:pPr algn="l"/>
            <a:r>
              <a:rPr sz="1650" b="1" dirty="0">
                <a:solidFill>
                  <a:srgbClr val="00D9C6"/>
                </a:solidFill>
                <a:latin typeface="Inter"/>
              </a:rPr>
              <a:t>REFERENZ</a:t>
            </a:r>
          </a:p>
        </p:txBody>
      </p:sp>
      <p:sp>
        <p:nvSpPr>
          <p:cNvPr id="18" name="TextBox 17"/>
          <p:cNvSpPr txBox="1"/>
          <p:nvPr/>
        </p:nvSpPr>
        <p:spPr>
          <a:xfrm>
            <a:off x="1783080" y="8366760"/>
            <a:ext cx="9875520" cy="692497"/>
          </a:xfrm>
          <a:prstGeom prst="rect">
            <a:avLst/>
          </a:prstGeom>
          <a:noFill/>
        </p:spPr>
        <p:txBody>
          <a:bodyPr wrap="square" lIns="0" tIns="0" rIns="0" bIns="0" anchor="t">
            <a:spAutoFit/>
          </a:bodyPr>
          <a:lstStyle/>
          <a:p>
            <a:pPr algn="l"/>
            <a:r>
              <a:rPr sz="2250" dirty="0" err="1">
                <a:solidFill>
                  <a:schemeClr val="bg1"/>
                </a:solidFill>
                <a:latin typeface="Inter"/>
              </a:rPr>
              <a:t>Maschinenbauer</a:t>
            </a:r>
            <a:r>
              <a:rPr sz="2250" dirty="0">
                <a:solidFill>
                  <a:schemeClr val="bg1"/>
                </a:solidFill>
                <a:latin typeface="Inter"/>
              </a:rPr>
              <a:t>, 6 </a:t>
            </a:r>
            <a:r>
              <a:rPr sz="2250" dirty="0" err="1">
                <a:solidFill>
                  <a:schemeClr val="bg1"/>
                </a:solidFill>
                <a:latin typeface="Inter"/>
              </a:rPr>
              <a:t>Vertriebler</a:t>
            </a:r>
            <a:r>
              <a:rPr sz="2250" dirty="0">
                <a:solidFill>
                  <a:schemeClr val="bg1"/>
                </a:solidFill>
                <a:latin typeface="Inter"/>
              </a:rPr>
              <a:t>: </a:t>
            </a:r>
            <a:r>
              <a:rPr sz="2250" dirty="0" err="1">
                <a:solidFill>
                  <a:schemeClr val="bg1"/>
                </a:solidFill>
                <a:latin typeface="Inter"/>
              </a:rPr>
              <a:t>keine</a:t>
            </a:r>
            <a:r>
              <a:rPr sz="2250" dirty="0">
                <a:solidFill>
                  <a:schemeClr val="bg1"/>
                </a:solidFill>
                <a:latin typeface="Inter"/>
              </a:rPr>
              <a:t> </a:t>
            </a:r>
            <a:r>
              <a:rPr sz="2250" dirty="0" err="1">
                <a:solidFill>
                  <a:schemeClr val="bg1"/>
                </a:solidFill>
                <a:latin typeface="Inter"/>
              </a:rPr>
              <a:t>verlorenen</a:t>
            </a:r>
            <a:r>
              <a:rPr sz="2250" dirty="0">
                <a:solidFill>
                  <a:schemeClr val="bg1"/>
                </a:solidFill>
                <a:latin typeface="Inter"/>
              </a:rPr>
              <a:t> </a:t>
            </a:r>
            <a:r>
              <a:rPr sz="2250" dirty="0" err="1">
                <a:solidFill>
                  <a:schemeClr val="bg1"/>
                </a:solidFill>
                <a:latin typeface="Inter"/>
              </a:rPr>
              <a:t>Anfragen</a:t>
            </a:r>
            <a:r>
              <a:rPr sz="2250" dirty="0">
                <a:solidFill>
                  <a:schemeClr val="bg1"/>
                </a:solidFill>
                <a:latin typeface="Inter"/>
              </a:rPr>
              <a:t> </a:t>
            </a:r>
            <a:r>
              <a:rPr sz="2250" dirty="0" err="1">
                <a:solidFill>
                  <a:schemeClr val="bg1"/>
                </a:solidFill>
                <a:latin typeface="Inter"/>
              </a:rPr>
              <a:t>mehr</a:t>
            </a:r>
            <a:r>
              <a:rPr sz="2250" dirty="0">
                <a:solidFill>
                  <a:schemeClr val="bg1"/>
                </a:solidFill>
                <a:latin typeface="Inter"/>
              </a:rPr>
              <a:t>, </a:t>
            </a:r>
            <a:r>
              <a:rPr sz="2250" dirty="0" err="1">
                <a:solidFill>
                  <a:schemeClr val="bg1"/>
                </a:solidFill>
                <a:latin typeface="Inter"/>
              </a:rPr>
              <a:t>jede</a:t>
            </a:r>
            <a:r>
              <a:rPr sz="2250" dirty="0">
                <a:solidFill>
                  <a:schemeClr val="bg1"/>
                </a:solidFill>
                <a:latin typeface="Inter"/>
              </a:rPr>
              <a:t> </a:t>
            </a:r>
            <a:r>
              <a:rPr sz="2250" dirty="0" err="1">
                <a:solidFill>
                  <a:schemeClr val="bg1"/>
                </a:solidFill>
                <a:latin typeface="Inter"/>
              </a:rPr>
              <a:t>Woche</a:t>
            </a:r>
            <a:r>
              <a:rPr sz="2250" dirty="0">
                <a:solidFill>
                  <a:schemeClr val="bg1"/>
                </a:solidFill>
                <a:latin typeface="Inter"/>
              </a:rPr>
              <a:t> </a:t>
            </a:r>
            <a:r>
              <a:rPr sz="2250" dirty="0" err="1">
                <a:solidFill>
                  <a:schemeClr val="bg1"/>
                </a:solidFill>
                <a:latin typeface="Inter"/>
              </a:rPr>
              <a:t>weniger</a:t>
            </a:r>
            <a:r>
              <a:rPr sz="2250" dirty="0">
                <a:solidFill>
                  <a:schemeClr val="bg1"/>
                </a:solidFill>
                <a:latin typeface="Inter"/>
              </a:rPr>
              <a:t> </a:t>
            </a:r>
            <a:r>
              <a:rPr sz="2250" dirty="0" err="1">
                <a:solidFill>
                  <a:schemeClr val="bg1"/>
                </a:solidFill>
                <a:latin typeface="Inter"/>
              </a:rPr>
              <a:t>Aufwand</a:t>
            </a:r>
            <a:r>
              <a:rPr sz="2250" dirty="0">
                <a:solidFill>
                  <a:schemeClr val="bg1"/>
                </a:solidFill>
                <a:latin typeface="Inter"/>
              </a:rPr>
              <a:t> </a:t>
            </a:r>
            <a:r>
              <a:rPr sz="2250" dirty="0" err="1">
                <a:solidFill>
                  <a:schemeClr val="bg1"/>
                </a:solidFill>
                <a:latin typeface="Inter"/>
              </a:rPr>
              <a:t>beim</a:t>
            </a:r>
            <a:r>
              <a:rPr sz="2250" dirty="0">
                <a:solidFill>
                  <a:schemeClr val="bg1"/>
                </a:solidFill>
                <a:latin typeface="Inter"/>
              </a:rPr>
              <a:t> Forecast.</a:t>
            </a:r>
          </a:p>
        </p:txBody>
      </p:sp>
      <p:sp>
        <p:nvSpPr>
          <p:cNvPr id="19" name="Rounded Rectangle 18"/>
          <p:cNvSpPr/>
          <p:nvPr/>
        </p:nvSpPr>
        <p:spPr>
          <a:xfrm>
            <a:off x="13030200" y="8023860"/>
            <a:ext cx="3566160" cy="548640"/>
          </a:xfrm>
          <a:prstGeom prst="roundRect">
            <a:avLst>
              <a:gd name="adj" fmla="val 50000"/>
            </a:avLst>
          </a:prstGeom>
          <a:noFill/>
          <a:ln w="19050">
            <a:solidFill>
              <a:srgbClr val="00D9C6"/>
            </a:solid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650" b="1">
                <a:solidFill>
                  <a:srgbClr val="00D9C6"/>
                </a:solidFill>
                <a:latin typeface="Inter"/>
              </a:rPr>
              <a:t>DSGVO-KONFORM</a:t>
            </a:r>
          </a:p>
        </p:txBody>
      </p:sp>
      <p:sp>
        <p:nvSpPr>
          <p:cNvPr id="20" name="Rounded Rectangle 19"/>
          <p:cNvSpPr/>
          <p:nvPr/>
        </p:nvSpPr>
        <p:spPr>
          <a:xfrm>
            <a:off x="13030200" y="8709660"/>
            <a:ext cx="3566160" cy="548640"/>
          </a:xfrm>
          <a:prstGeom prst="roundRect">
            <a:avLst>
              <a:gd name="adj" fmla="val 50000"/>
            </a:avLst>
          </a:prstGeom>
          <a:noFill/>
          <a:ln w="19050">
            <a:solidFill>
              <a:srgbClr val="2A4A43">
                <a:alpha val="87843"/>
              </a:srgbClr>
            </a:solid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650" b="1" dirty="0">
                <a:solidFill>
                  <a:srgbClr val="2A4A43"/>
                </a:solidFill>
                <a:latin typeface="Inter"/>
              </a:rPr>
              <a:t>HOSTING IN EUROPA</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Logo(final-detailed) Kopie.png"/>
          <p:cNvPicPr>
            <a:picLocks noChangeAspect="1"/>
          </p:cNvPicPr>
          <p:nvPr/>
        </p:nvPicPr>
        <p:blipFill>
          <a:blip r:embed="rId3"/>
          <a:stretch>
            <a:fillRect/>
          </a:stretch>
        </p:blipFill>
        <p:spPr>
          <a:xfrm>
            <a:off x="1234440" y="822960"/>
            <a:ext cx="1281273" cy="576072"/>
          </a:xfrm>
          <a:prstGeom prst="rect">
            <a:avLst/>
          </a:prstGeom>
        </p:spPr>
      </p:pic>
      <p:sp>
        <p:nvSpPr>
          <p:cNvPr id="3" name="TextBox 2"/>
          <p:cNvSpPr txBox="1"/>
          <p:nvPr/>
        </p:nvSpPr>
        <p:spPr>
          <a:xfrm>
            <a:off x="14950440" y="932688"/>
            <a:ext cx="2125980" cy="276999"/>
          </a:xfrm>
          <a:prstGeom prst="rect">
            <a:avLst/>
          </a:prstGeom>
          <a:noFill/>
        </p:spPr>
        <p:txBody>
          <a:bodyPr wrap="square" lIns="0" tIns="0" rIns="0" bIns="0" anchor="t">
            <a:spAutoFit/>
          </a:bodyPr>
          <a:lstStyle/>
          <a:p>
            <a:pPr algn="r"/>
            <a:r>
              <a:rPr>
                <a:solidFill>
                  <a:srgbClr val="8FB0A8"/>
                </a:solidFill>
                <a:latin typeface="JetBrains Mono"/>
              </a:rPr>
              <a:t>05 / 05</a:t>
            </a:r>
          </a:p>
        </p:txBody>
      </p:sp>
      <p:sp>
        <p:nvSpPr>
          <p:cNvPr id="4" name="TextBox 3"/>
          <p:cNvSpPr txBox="1"/>
          <p:nvPr/>
        </p:nvSpPr>
        <p:spPr>
          <a:xfrm>
            <a:off x="1234440" y="2057400"/>
            <a:ext cx="10972800" cy="300082"/>
          </a:xfrm>
          <a:prstGeom prst="rect">
            <a:avLst/>
          </a:prstGeom>
          <a:noFill/>
        </p:spPr>
        <p:txBody>
          <a:bodyPr wrap="square" lIns="0" tIns="0" rIns="0" bIns="0" anchor="t">
            <a:spAutoFit/>
          </a:bodyPr>
          <a:lstStyle/>
          <a:p>
            <a:pPr algn="l"/>
            <a:r>
              <a:rPr sz="1950" b="1">
                <a:solidFill>
                  <a:srgbClr val="00D9C6"/>
                </a:solidFill>
                <a:latin typeface="Inter"/>
              </a:rPr>
              <a:t>NÄCHSTER SCHRITT</a:t>
            </a:r>
          </a:p>
        </p:txBody>
      </p:sp>
      <p:sp>
        <p:nvSpPr>
          <p:cNvPr id="5" name="Rectangle 4"/>
          <p:cNvSpPr/>
          <p:nvPr/>
        </p:nvSpPr>
        <p:spPr>
          <a:xfrm>
            <a:off x="1" y="10177272"/>
            <a:ext cx="18287543" cy="109728"/>
          </a:xfrm>
          <a:prstGeom prst="rect">
            <a:avLst/>
          </a:prstGeom>
          <a:solidFill>
            <a:srgbClr val="00D9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6" name="TextBox 5"/>
          <p:cNvSpPr txBox="1"/>
          <p:nvPr/>
        </p:nvSpPr>
        <p:spPr>
          <a:xfrm>
            <a:off x="1234440" y="2674620"/>
            <a:ext cx="15773400" cy="2262158"/>
          </a:xfrm>
          <a:prstGeom prst="rect">
            <a:avLst/>
          </a:prstGeom>
          <a:noFill/>
        </p:spPr>
        <p:txBody>
          <a:bodyPr wrap="square" lIns="0" tIns="0" rIns="0" bIns="0" anchor="t">
            <a:spAutoFit/>
          </a:bodyPr>
          <a:lstStyle/>
          <a:p>
            <a:pPr algn="l">
              <a:lnSpc>
                <a:spcPct val="98000"/>
              </a:lnSpc>
            </a:pPr>
            <a:r>
              <a:rPr sz="7500" b="1">
                <a:solidFill>
                  <a:srgbClr val="EAF6F3"/>
                </a:solidFill>
                <a:latin typeface="Space Grotesk"/>
              </a:rPr>
              <a:t>Dienstag. 30 Minuten.</a:t>
            </a:r>
          </a:p>
          <a:p>
            <a:pPr algn="l">
              <a:lnSpc>
                <a:spcPct val="98000"/>
              </a:lnSpc>
            </a:pPr>
            <a:r>
              <a:rPr sz="7500" b="1">
                <a:solidFill>
                  <a:srgbClr val="00D9C6"/>
                </a:solidFill>
                <a:latin typeface="Space Grotesk"/>
              </a:rPr>
              <a:t>Ihre Messe-Liste.</a:t>
            </a:r>
          </a:p>
        </p:txBody>
      </p:sp>
      <p:sp>
        <p:nvSpPr>
          <p:cNvPr id="7" name="TextBox 6"/>
          <p:cNvSpPr txBox="1"/>
          <p:nvPr/>
        </p:nvSpPr>
        <p:spPr>
          <a:xfrm>
            <a:off x="1234440" y="5143501"/>
            <a:ext cx="14401800" cy="461665"/>
          </a:xfrm>
          <a:prstGeom prst="rect">
            <a:avLst/>
          </a:prstGeom>
          <a:noFill/>
        </p:spPr>
        <p:txBody>
          <a:bodyPr wrap="square" lIns="0" tIns="0" rIns="0" bIns="0" anchor="t">
            <a:spAutoFit/>
          </a:bodyPr>
          <a:lstStyle/>
          <a:p>
            <a:pPr algn="l"/>
            <a:r>
              <a:rPr sz="3000">
                <a:solidFill>
                  <a:srgbClr val="8FB0A8"/>
                </a:solidFill>
                <a:latin typeface="Inter"/>
              </a:rPr>
              <a:t>Wir bereiten Ihre letzte Messe-Liste live in LeadPilot auf.</a:t>
            </a:r>
          </a:p>
        </p:txBody>
      </p:sp>
      <p:sp>
        <p:nvSpPr>
          <p:cNvPr id="8" name="Oval 7"/>
          <p:cNvSpPr/>
          <p:nvPr/>
        </p:nvSpPr>
        <p:spPr>
          <a:xfrm>
            <a:off x="1234440" y="6391656"/>
            <a:ext cx="192024" cy="192024"/>
          </a:xfrm>
          <a:prstGeom prst="ellipse">
            <a:avLst/>
          </a:prstGeom>
          <a:solidFill>
            <a:srgbClr val="00D9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9" name="TextBox 8"/>
          <p:cNvSpPr txBox="1"/>
          <p:nvPr/>
        </p:nvSpPr>
        <p:spPr>
          <a:xfrm>
            <a:off x="1645920" y="6281928"/>
            <a:ext cx="4663440" cy="369332"/>
          </a:xfrm>
          <a:prstGeom prst="rect">
            <a:avLst/>
          </a:prstGeom>
          <a:noFill/>
        </p:spPr>
        <p:txBody>
          <a:bodyPr wrap="square" lIns="0" tIns="0" rIns="0" bIns="0" anchor="t">
            <a:spAutoFit/>
          </a:bodyPr>
          <a:lstStyle/>
          <a:p>
            <a:pPr algn="l"/>
            <a:r>
              <a:rPr sz="2400">
                <a:solidFill>
                  <a:srgbClr val="8FB0A8"/>
                </a:solidFill>
                <a:latin typeface="Inter"/>
              </a:rPr>
              <a:t>Echte Daten, kein Demo-Set</a:t>
            </a:r>
          </a:p>
        </p:txBody>
      </p:sp>
      <p:sp>
        <p:nvSpPr>
          <p:cNvPr id="10" name="Oval 9"/>
          <p:cNvSpPr/>
          <p:nvPr/>
        </p:nvSpPr>
        <p:spPr>
          <a:xfrm>
            <a:off x="6583680" y="6391656"/>
            <a:ext cx="192024" cy="192024"/>
          </a:xfrm>
          <a:prstGeom prst="ellipse">
            <a:avLst/>
          </a:prstGeom>
          <a:solidFill>
            <a:srgbClr val="00D9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1" name="TextBox 10"/>
          <p:cNvSpPr txBox="1"/>
          <p:nvPr/>
        </p:nvSpPr>
        <p:spPr>
          <a:xfrm>
            <a:off x="6995160" y="6281928"/>
            <a:ext cx="4663440" cy="369332"/>
          </a:xfrm>
          <a:prstGeom prst="rect">
            <a:avLst/>
          </a:prstGeom>
          <a:noFill/>
        </p:spPr>
        <p:txBody>
          <a:bodyPr wrap="square" lIns="0" tIns="0" rIns="0" bIns="0" anchor="t">
            <a:spAutoFit/>
          </a:bodyPr>
          <a:lstStyle/>
          <a:p>
            <a:pPr algn="l"/>
            <a:r>
              <a:rPr sz="2400">
                <a:solidFill>
                  <a:srgbClr val="8FB0A8"/>
                </a:solidFill>
                <a:latin typeface="Inter"/>
              </a:rPr>
              <a:t>Forecast live sehen</a:t>
            </a:r>
          </a:p>
        </p:txBody>
      </p:sp>
      <p:sp>
        <p:nvSpPr>
          <p:cNvPr id="12" name="Oval 11"/>
          <p:cNvSpPr/>
          <p:nvPr/>
        </p:nvSpPr>
        <p:spPr>
          <a:xfrm>
            <a:off x="11932919" y="6391656"/>
            <a:ext cx="192024" cy="192024"/>
          </a:xfrm>
          <a:prstGeom prst="ellipse">
            <a:avLst/>
          </a:prstGeom>
          <a:solidFill>
            <a:srgbClr val="00D9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3" name="TextBox 12"/>
          <p:cNvSpPr txBox="1"/>
          <p:nvPr/>
        </p:nvSpPr>
        <p:spPr>
          <a:xfrm>
            <a:off x="12344400" y="6281928"/>
            <a:ext cx="4663440" cy="369332"/>
          </a:xfrm>
          <a:prstGeom prst="rect">
            <a:avLst/>
          </a:prstGeom>
          <a:noFill/>
        </p:spPr>
        <p:txBody>
          <a:bodyPr wrap="square" lIns="0" tIns="0" rIns="0" bIns="0" anchor="t">
            <a:spAutoFit/>
          </a:bodyPr>
          <a:lstStyle/>
          <a:p>
            <a:pPr algn="l"/>
            <a:r>
              <a:rPr sz="2400">
                <a:solidFill>
                  <a:srgbClr val="8FB0A8"/>
                </a:solidFill>
                <a:latin typeface="Inter"/>
              </a:rPr>
              <a:t>Danach entscheiden Sie</a:t>
            </a:r>
          </a:p>
        </p:txBody>
      </p:sp>
      <p:sp>
        <p:nvSpPr>
          <p:cNvPr id="14" name="TextBox 13"/>
          <p:cNvSpPr txBox="1"/>
          <p:nvPr/>
        </p:nvSpPr>
        <p:spPr>
          <a:xfrm>
            <a:off x="1234440" y="7543801"/>
            <a:ext cx="8229600" cy="646331"/>
          </a:xfrm>
          <a:prstGeom prst="rect">
            <a:avLst/>
          </a:prstGeom>
          <a:noFill/>
        </p:spPr>
        <p:txBody>
          <a:bodyPr wrap="square" lIns="0" tIns="0" rIns="0" bIns="0" anchor="t">
            <a:spAutoFit/>
          </a:bodyPr>
          <a:lstStyle/>
          <a:p>
            <a:pPr algn="l"/>
            <a:r>
              <a:rPr sz="4200" b="1">
                <a:solidFill>
                  <a:srgbClr val="EAF6F3"/>
                </a:solidFill>
                <a:latin typeface="Space Grotesk"/>
              </a:rPr>
              <a:t>Passt Ihnen Dienstag?</a:t>
            </a:r>
          </a:p>
        </p:txBody>
      </p:sp>
      <p:sp>
        <p:nvSpPr>
          <p:cNvPr id="15" name="Rounded Rectangle 14"/>
          <p:cNvSpPr/>
          <p:nvPr/>
        </p:nvSpPr>
        <p:spPr>
          <a:xfrm>
            <a:off x="1234440" y="8503920"/>
            <a:ext cx="6309360" cy="1097280"/>
          </a:xfrm>
          <a:prstGeom prst="roundRect">
            <a:avLst>
              <a:gd name="adj" fmla="val 50000"/>
            </a:avLst>
          </a:prstGeom>
          <a:solidFill>
            <a:srgbClr val="FF7A3D"/>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2700" b="1">
                <a:solidFill>
                  <a:srgbClr val="0B211F"/>
                </a:solidFill>
                <a:latin typeface="Inter"/>
              </a:rPr>
              <a:t>Dienstag fest einplanen</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Logo(final-detailed) Kopie.png"/>
          <p:cNvPicPr>
            <a:picLocks noChangeAspect="1"/>
          </p:cNvPicPr>
          <p:nvPr/>
        </p:nvPicPr>
        <p:blipFill>
          <a:blip r:embed="rId3"/>
          <a:stretch>
            <a:fillRect/>
          </a:stretch>
        </p:blipFill>
        <p:spPr>
          <a:xfrm>
            <a:off x="1234440" y="822960"/>
            <a:ext cx="1281273" cy="576072"/>
          </a:xfrm>
          <a:prstGeom prst="rect">
            <a:avLst/>
          </a:prstGeom>
        </p:spPr>
      </p:pic>
      <p:sp>
        <p:nvSpPr>
          <p:cNvPr id="3" name="TextBox 2"/>
          <p:cNvSpPr txBox="1"/>
          <p:nvPr/>
        </p:nvSpPr>
        <p:spPr>
          <a:xfrm>
            <a:off x="14950440" y="932688"/>
            <a:ext cx="2125980" cy="276999"/>
          </a:xfrm>
          <a:prstGeom prst="rect">
            <a:avLst/>
          </a:prstGeom>
          <a:noFill/>
        </p:spPr>
        <p:txBody>
          <a:bodyPr wrap="square" lIns="0" tIns="0" rIns="0" bIns="0" anchor="t">
            <a:spAutoFit/>
          </a:bodyPr>
          <a:lstStyle/>
          <a:p>
            <a:pPr algn="r"/>
            <a:r>
              <a:rPr>
                <a:solidFill>
                  <a:srgbClr val="8FB0A8"/>
                </a:solidFill>
                <a:latin typeface="JetBrains Mono"/>
              </a:rPr>
              <a:t>01 / 05</a:t>
            </a:r>
          </a:p>
        </p:txBody>
      </p:sp>
      <p:sp>
        <p:nvSpPr>
          <p:cNvPr id="4" name="TextBox 3"/>
          <p:cNvSpPr txBox="1"/>
          <p:nvPr/>
        </p:nvSpPr>
        <p:spPr>
          <a:xfrm>
            <a:off x="1234440" y="2057400"/>
            <a:ext cx="10972800" cy="300082"/>
          </a:xfrm>
          <a:prstGeom prst="rect">
            <a:avLst/>
          </a:prstGeom>
          <a:noFill/>
        </p:spPr>
        <p:txBody>
          <a:bodyPr wrap="square" lIns="0" tIns="0" rIns="0" bIns="0" anchor="t">
            <a:spAutoFit/>
          </a:bodyPr>
          <a:lstStyle/>
          <a:p>
            <a:pPr algn="l"/>
            <a:r>
              <a:rPr sz="1950" b="1">
                <a:solidFill>
                  <a:srgbClr val="00D9C6"/>
                </a:solidFill>
                <a:latin typeface="Inter"/>
              </a:rPr>
              <a:t>NACH DER MESSE</a:t>
            </a:r>
          </a:p>
        </p:txBody>
      </p:sp>
      <p:sp>
        <p:nvSpPr>
          <p:cNvPr id="5" name="Rectangle 4"/>
          <p:cNvSpPr/>
          <p:nvPr/>
        </p:nvSpPr>
        <p:spPr>
          <a:xfrm>
            <a:off x="1" y="10177272"/>
            <a:ext cx="3657509" cy="109728"/>
          </a:xfrm>
          <a:prstGeom prst="rect">
            <a:avLst/>
          </a:prstGeom>
          <a:solidFill>
            <a:srgbClr val="00D9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6" name="TextBox 5"/>
          <p:cNvSpPr txBox="1"/>
          <p:nvPr/>
        </p:nvSpPr>
        <p:spPr>
          <a:xfrm>
            <a:off x="1234440" y="2674620"/>
            <a:ext cx="15773400" cy="1096454"/>
          </a:xfrm>
          <a:prstGeom prst="rect">
            <a:avLst/>
          </a:prstGeom>
          <a:noFill/>
        </p:spPr>
        <p:txBody>
          <a:bodyPr wrap="square" lIns="0" tIns="0" rIns="0" bIns="0" anchor="t">
            <a:spAutoFit/>
          </a:bodyPr>
          <a:lstStyle/>
          <a:p>
            <a:pPr algn="l">
              <a:lnSpc>
                <a:spcPct val="95000"/>
              </a:lnSpc>
            </a:pPr>
            <a:r>
              <a:rPr sz="7500" b="1">
                <a:solidFill>
                  <a:srgbClr val="EAF6F3"/>
                </a:solidFill>
                <a:latin typeface="Space Grotesk"/>
              </a:rPr>
              <a:t>Wo landen Ihre 60 Messe-Anfragen?</a:t>
            </a:r>
          </a:p>
        </p:txBody>
      </p:sp>
      <p:sp>
        <p:nvSpPr>
          <p:cNvPr id="7" name="TextBox 6"/>
          <p:cNvSpPr txBox="1"/>
          <p:nvPr/>
        </p:nvSpPr>
        <p:spPr>
          <a:xfrm>
            <a:off x="1234440" y="4320541"/>
            <a:ext cx="15773400" cy="692497"/>
          </a:xfrm>
          <a:prstGeom prst="rect">
            <a:avLst/>
          </a:prstGeom>
          <a:noFill/>
        </p:spPr>
        <p:txBody>
          <a:bodyPr wrap="square" lIns="0" tIns="0" rIns="0" bIns="0" anchor="t">
            <a:spAutoFit/>
          </a:bodyPr>
          <a:lstStyle/>
          <a:p>
            <a:pPr algn="l"/>
            <a:r>
              <a:rPr sz="4500" b="1">
                <a:solidFill>
                  <a:srgbClr val="EAF6F3"/>
                </a:solidFill>
                <a:latin typeface="Space Grotesk"/>
              </a:rPr>
              <a:t>60 Anfragen. </a:t>
            </a:r>
            <a:r>
              <a:rPr sz="4500" b="1">
                <a:solidFill>
                  <a:srgbClr val="00D9C6"/>
                </a:solidFill>
                <a:latin typeface="Space Grotesk"/>
              </a:rPr>
              <a:t>20 verschwinden.</a:t>
            </a:r>
          </a:p>
        </p:txBody>
      </p:sp>
      <p:sp>
        <p:nvSpPr>
          <p:cNvPr id="8" name="TextBox 7"/>
          <p:cNvSpPr txBox="1"/>
          <p:nvPr/>
        </p:nvSpPr>
        <p:spPr>
          <a:xfrm>
            <a:off x="1234440" y="5280660"/>
            <a:ext cx="14401800" cy="415498"/>
          </a:xfrm>
          <a:prstGeom prst="rect">
            <a:avLst/>
          </a:prstGeom>
          <a:noFill/>
        </p:spPr>
        <p:txBody>
          <a:bodyPr wrap="square" lIns="0" tIns="0" rIns="0" bIns="0" anchor="t">
            <a:spAutoFit/>
          </a:bodyPr>
          <a:lstStyle/>
          <a:p>
            <a:pPr algn="l"/>
            <a:r>
              <a:rPr sz="2700">
                <a:solidFill>
                  <a:srgbClr val="8FB0A8"/>
                </a:solidFill>
                <a:latin typeface="Inter"/>
              </a:rPr>
              <a:t>Jede Messe endet gleich: Die Liste landet in Excel. Niemand fühlt sich zuständig.</a:t>
            </a:r>
          </a:p>
        </p:txBody>
      </p:sp>
      <p:sp>
        <p:nvSpPr>
          <p:cNvPr id="9" name="Oval 8"/>
          <p:cNvSpPr/>
          <p:nvPr/>
        </p:nvSpPr>
        <p:spPr>
          <a:xfrm>
            <a:off x="1234440" y="6789420"/>
            <a:ext cx="521208" cy="521208"/>
          </a:xfrm>
          <a:prstGeom prst="ellipse">
            <a:avLst/>
          </a:prstGeom>
          <a:solidFill>
            <a:srgbClr val="00D9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0" name="Oval 9"/>
          <p:cNvSpPr/>
          <p:nvPr/>
        </p:nvSpPr>
        <p:spPr>
          <a:xfrm>
            <a:off x="2029968" y="6789420"/>
            <a:ext cx="521208" cy="521208"/>
          </a:xfrm>
          <a:prstGeom prst="ellipse">
            <a:avLst/>
          </a:prstGeom>
          <a:solidFill>
            <a:srgbClr val="00D9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1" name="Oval 10"/>
          <p:cNvSpPr/>
          <p:nvPr/>
        </p:nvSpPr>
        <p:spPr>
          <a:xfrm>
            <a:off x="2825496" y="6789420"/>
            <a:ext cx="521208" cy="521208"/>
          </a:xfrm>
          <a:prstGeom prst="ellipse">
            <a:avLst/>
          </a:prstGeom>
          <a:solidFill>
            <a:srgbClr val="00D9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2" name="Oval 11"/>
          <p:cNvSpPr/>
          <p:nvPr/>
        </p:nvSpPr>
        <p:spPr>
          <a:xfrm>
            <a:off x="3621024" y="6789420"/>
            <a:ext cx="521208" cy="521208"/>
          </a:xfrm>
          <a:prstGeom prst="ellipse">
            <a:avLst/>
          </a:prstGeom>
          <a:solidFill>
            <a:srgbClr val="00D9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3" name="Oval 12"/>
          <p:cNvSpPr/>
          <p:nvPr/>
        </p:nvSpPr>
        <p:spPr>
          <a:xfrm>
            <a:off x="4416552" y="6789420"/>
            <a:ext cx="521208" cy="521208"/>
          </a:xfrm>
          <a:prstGeom prst="ellipse">
            <a:avLst/>
          </a:prstGeom>
          <a:solidFill>
            <a:srgbClr val="00D9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4" name="Oval 13"/>
          <p:cNvSpPr/>
          <p:nvPr/>
        </p:nvSpPr>
        <p:spPr>
          <a:xfrm>
            <a:off x="5212080" y="6789420"/>
            <a:ext cx="521208" cy="521208"/>
          </a:xfrm>
          <a:prstGeom prst="ellipse">
            <a:avLst/>
          </a:prstGeom>
          <a:solidFill>
            <a:srgbClr val="00D9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5" name="Oval 14"/>
          <p:cNvSpPr/>
          <p:nvPr/>
        </p:nvSpPr>
        <p:spPr>
          <a:xfrm>
            <a:off x="6007608" y="6789420"/>
            <a:ext cx="521208" cy="521208"/>
          </a:xfrm>
          <a:prstGeom prst="ellipse">
            <a:avLst/>
          </a:prstGeom>
          <a:solidFill>
            <a:srgbClr val="00D9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6" name="Oval 15"/>
          <p:cNvSpPr/>
          <p:nvPr/>
        </p:nvSpPr>
        <p:spPr>
          <a:xfrm>
            <a:off x="6803136" y="6789420"/>
            <a:ext cx="521208" cy="521208"/>
          </a:xfrm>
          <a:prstGeom prst="ellipse">
            <a:avLst/>
          </a:prstGeom>
          <a:solidFill>
            <a:srgbClr val="00D9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7" name="Oval 16"/>
          <p:cNvSpPr/>
          <p:nvPr/>
        </p:nvSpPr>
        <p:spPr>
          <a:xfrm>
            <a:off x="7598664" y="6789420"/>
            <a:ext cx="521208" cy="521208"/>
          </a:xfrm>
          <a:prstGeom prst="ellipse">
            <a:avLst/>
          </a:prstGeom>
          <a:solidFill>
            <a:srgbClr val="00D9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8" name="Oval 17"/>
          <p:cNvSpPr/>
          <p:nvPr/>
        </p:nvSpPr>
        <p:spPr>
          <a:xfrm>
            <a:off x="8394192" y="6789420"/>
            <a:ext cx="521208" cy="521208"/>
          </a:xfrm>
          <a:prstGeom prst="ellipse">
            <a:avLst/>
          </a:prstGeom>
          <a:solidFill>
            <a:srgbClr val="00D9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9" name="Oval 18"/>
          <p:cNvSpPr/>
          <p:nvPr/>
        </p:nvSpPr>
        <p:spPr>
          <a:xfrm>
            <a:off x="9189720" y="6789420"/>
            <a:ext cx="521208" cy="521208"/>
          </a:xfrm>
          <a:prstGeom prst="ellipse">
            <a:avLst/>
          </a:prstGeom>
          <a:solidFill>
            <a:srgbClr val="00D9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20" name="Oval 19"/>
          <p:cNvSpPr/>
          <p:nvPr/>
        </p:nvSpPr>
        <p:spPr>
          <a:xfrm>
            <a:off x="9985248" y="6789420"/>
            <a:ext cx="521208" cy="521208"/>
          </a:xfrm>
          <a:prstGeom prst="ellipse">
            <a:avLst/>
          </a:prstGeom>
          <a:solidFill>
            <a:srgbClr val="00D9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21" name="Oval 20"/>
          <p:cNvSpPr/>
          <p:nvPr/>
        </p:nvSpPr>
        <p:spPr>
          <a:xfrm>
            <a:off x="10780776" y="6789420"/>
            <a:ext cx="521208" cy="521208"/>
          </a:xfrm>
          <a:prstGeom prst="ellipse">
            <a:avLst/>
          </a:prstGeom>
          <a:solidFill>
            <a:srgbClr val="00D9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22" name="Oval 21"/>
          <p:cNvSpPr/>
          <p:nvPr/>
        </p:nvSpPr>
        <p:spPr>
          <a:xfrm>
            <a:off x="11576304" y="6789420"/>
            <a:ext cx="521208" cy="521208"/>
          </a:xfrm>
          <a:prstGeom prst="ellipse">
            <a:avLst/>
          </a:prstGeom>
          <a:solidFill>
            <a:srgbClr val="00D9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23" name="Oval 22"/>
          <p:cNvSpPr/>
          <p:nvPr/>
        </p:nvSpPr>
        <p:spPr>
          <a:xfrm>
            <a:off x="12371832" y="6789420"/>
            <a:ext cx="521208" cy="521208"/>
          </a:xfrm>
          <a:prstGeom prst="ellipse">
            <a:avLst/>
          </a:prstGeom>
          <a:solidFill>
            <a:srgbClr val="00D9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24" name="Oval 23"/>
          <p:cNvSpPr/>
          <p:nvPr/>
        </p:nvSpPr>
        <p:spPr>
          <a:xfrm>
            <a:off x="13167360" y="6789420"/>
            <a:ext cx="521208" cy="521208"/>
          </a:xfrm>
          <a:prstGeom prst="ellipse">
            <a:avLst/>
          </a:prstGeom>
          <a:solidFill>
            <a:srgbClr val="00D9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25" name="Oval 24"/>
          <p:cNvSpPr/>
          <p:nvPr/>
        </p:nvSpPr>
        <p:spPr>
          <a:xfrm>
            <a:off x="13962888" y="6789420"/>
            <a:ext cx="521208" cy="521208"/>
          </a:xfrm>
          <a:prstGeom prst="ellipse">
            <a:avLst/>
          </a:prstGeom>
          <a:solidFill>
            <a:srgbClr val="00D9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26" name="Oval 25"/>
          <p:cNvSpPr/>
          <p:nvPr/>
        </p:nvSpPr>
        <p:spPr>
          <a:xfrm>
            <a:off x="14758416" y="6789420"/>
            <a:ext cx="521208" cy="521208"/>
          </a:xfrm>
          <a:prstGeom prst="ellipse">
            <a:avLst/>
          </a:prstGeom>
          <a:solidFill>
            <a:srgbClr val="00D9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27" name="Oval 26"/>
          <p:cNvSpPr/>
          <p:nvPr/>
        </p:nvSpPr>
        <p:spPr>
          <a:xfrm>
            <a:off x="15553944" y="6789420"/>
            <a:ext cx="521208" cy="521208"/>
          </a:xfrm>
          <a:prstGeom prst="ellipse">
            <a:avLst/>
          </a:prstGeom>
          <a:solidFill>
            <a:srgbClr val="00D9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28" name="Oval 27"/>
          <p:cNvSpPr/>
          <p:nvPr/>
        </p:nvSpPr>
        <p:spPr>
          <a:xfrm>
            <a:off x="16349472" y="6789420"/>
            <a:ext cx="521208" cy="521208"/>
          </a:xfrm>
          <a:prstGeom prst="ellipse">
            <a:avLst/>
          </a:prstGeom>
          <a:solidFill>
            <a:srgbClr val="00D9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29" name="Oval 28"/>
          <p:cNvSpPr/>
          <p:nvPr/>
        </p:nvSpPr>
        <p:spPr>
          <a:xfrm>
            <a:off x="1234440" y="7584948"/>
            <a:ext cx="521208" cy="521208"/>
          </a:xfrm>
          <a:prstGeom prst="ellipse">
            <a:avLst/>
          </a:prstGeom>
          <a:solidFill>
            <a:srgbClr val="00D9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30" name="Oval 29"/>
          <p:cNvSpPr/>
          <p:nvPr/>
        </p:nvSpPr>
        <p:spPr>
          <a:xfrm>
            <a:off x="2029968" y="7584948"/>
            <a:ext cx="521208" cy="521208"/>
          </a:xfrm>
          <a:prstGeom prst="ellipse">
            <a:avLst/>
          </a:prstGeom>
          <a:solidFill>
            <a:srgbClr val="00D9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31" name="Oval 30"/>
          <p:cNvSpPr/>
          <p:nvPr/>
        </p:nvSpPr>
        <p:spPr>
          <a:xfrm>
            <a:off x="2825496" y="7584948"/>
            <a:ext cx="521208" cy="521208"/>
          </a:xfrm>
          <a:prstGeom prst="ellipse">
            <a:avLst/>
          </a:prstGeom>
          <a:solidFill>
            <a:srgbClr val="00D9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32" name="Oval 31"/>
          <p:cNvSpPr/>
          <p:nvPr/>
        </p:nvSpPr>
        <p:spPr>
          <a:xfrm>
            <a:off x="3621024" y="7584948"/>
            <a:ext cx="521208" cy="521208"/>
          </a:xfrm>
          <a:prstGeom prst="ellipse">
            <a:avLst/>
          </a:prstGeom>
          <a:solidFill>
            <a:srgbClr val="00D9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33" name="Oval 32"/>
          <p:cNvSpPr/>
          <p:nvPr/>
        </p:nvSpPr>
        <p:spPr>
          <a:xfrm>
            <a:off x="4416552" y="7584948"/>
            <a:ext cx="521208" cy="521208"/>
          </a:xfrm>
          <a:prstGeom prst="ellipse">
            <a:avLst/>
          </a:prstGeom>
          <a:solidFill>
            <a:srgbClr val="00D9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34" name="Oval 33"/>
          <p:cNvSpPr/>
          <p:nvPr/>
        </p:nvSpPr>
        <p:spPr>
          <a:xfrm>
            <a:off x="5212080" y="7584948"/>
            <a:ext cx="521208" cy="521208"/>
          </a:xfrm>
          <a:prstGeom prst="ellipse">
            <a:avLst/>
          </a:prstGeom>
          <a:solidFill>
            <a:srgbClr val="00D9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35" name="Oval 34"/>
          <p:cNvSpPr/>
          <p:nvPr/>
        </p:nvSpPr>
        <p:spPr>
          <a:xfrm>
            <a:off x="6007608" y="7584948"/>
            <a:ext cx="521208" cy="521208"/>
          </a:xfrm>
          <a:prstGeom prst="ellipse">
            <a:avLst/>
          </a:prstGeom>
          <a:solidFill>
            <a:srgbClr val="00D9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36" name="Oval 35"/>
          <p:cNvSpPr/>
          <p:nvPr/>
        </p:nvSpPr>
        <p:spPr>
          <a:xfrm>
            <a:off x="6803136" y="7584948"/>
            <a:ext cx="521208" cy="521208"/>
          </a:xfrm>
          <a:prstGeom prst="ellipse">
            <a:avLst/>
          </a:prstGeom>
          <a:solidFill>
            <a:srgbClr val="00D9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37" name="Oval 36"/>
          <p:cNvSpPr/>
          <p:nvPr/>
        </p:nvSpPr>
        <p:spPr>
          <a:xfrm>
            <a:off x="7598664" y="7584948"/>
            <a:ext cx="521208" cy="521208"/>
          </a:xfrm>
          <a:prstGeom prst="ellipse">
            <a:avLst/>
          </a:prstGeom>
          <a:solidFill>
            <a:srgbClr val="00D9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38" name="Oval 37"/>
          <p:cNvSpPr/>
          <p:nvPr/>
        </p:nvSpPr>
        <p:spPr>
          <a:xfrm>
            <a:off x="8394192" y="7584948"/>
            <a:ext cx="521208" cy="521208"/>
          </a:xfrm>
          <a:prstGeom prst="ellipse">
            <a:avLst/>
          </a:prstGeom>
          <a:solidFill>
            <a:srgbClr val="00D9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39" name="Oval 38"/>
          <p:cNvSpPr/>
          <p:nvPr/>
        </p:nvSpPr>
        <p:spPr>
          <a:xfrm>
            <a:off x="9189720" y="7584948"/>
            <a:ext cx="521208" cy="521208"/>
          </a:xfrm>
          <a:prstGeom prst="ellipse">
            <a:avLst/>
          </a:prstGeom>
          <a:solidFill>
            <a:srgbClr val="00D9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40" name="Oval 39"/>
          <p:cNvSpPr/>
          <p:nvPr/>
        </p:nvSpPr>
        <p:spPr>
          <a:xfrm>
            <a:off x="9985248" y="7584948"/>
            <a:ext cx="521208" cy="521208"/>
          </a:xfrm>
          <a:prstGeom prst="ellipse">
            <a:avLst/>
          </a:prstGeom>
          <a:solidFill>
            <a:srgbClr val="00D9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41" name="Oval 40"/>
          <p:cNvSpPr/>
          <p:nvPr/>
        </p:nvSpPr>
        <p:spPr>
          <a:xfrm>
            <a:off x="10780776" y="7584948"/>
            <a:ext cx="521208" cy="521208"/>
          </a:xfrm>
          <a:prstGeom prst="ellipse">
            <a:avLst/>
          </a:prstGeom>
          <a:solidFill>
            <a:srgbClr val="00D9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42" name="Oval 41"/>
          <p:cNvSpPr/>
          <p:nvPr/>
        </p:nvSpPr>
        <p:spPr>
          <a:xfrm>
            <a:off x="11576304" y="7584948"/>
            <a:ext cx="521208" cy="521208"/>
          </a:xfrm>
          <a:prstGeom prst="ellipse">
            <a:avLst/>
          </a:prstGeom>
          <a:solidFill>
            <a:srgbClr val="00D9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43" name="Oval 42"/>
          <p:cNvSpPr/>
          <p:nvPr/>
        </p:nvSpPr>
        <p:spPr>
          <a:xfrm>
            <a:off x="12371832" y="7584948"/>
            <a:ext cx="521208" cy="521208"/>
          </a:xfrm>
          <a:prstGeom prst="ellipse">
            <a:avLst/>
          </a:prstGeom>
          <a:solidFill>
            <a:srgbClr val="00D9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44" name="Oval 43"/>
          <p:cNvSpPr/>
          <p:nvPr/>
        </p:nvSpPr>
        <p:spPr>
          <a:xfrm>
            <a:off x="13167360" y="7584948"/>
            <a:ext cx="521208" cy="521208"/>
          </a:xfrm>
          <a:prstGeom prst="ellipse">
            <a:avLst/>
          </a:prstGeom>
          <a:solidFill>
            <a:srgbClr val="00D9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45" name="Oval 44"/>
          <p:cNvSpPr/>
          <p:nvPr/>
        </p:nvSpPr>
        <p:spPr>
          <a:xfrm>
            <a:off x="13962888" y="7584948"/>
            <a:ext cx="521208" cy="521208"/>
          </a:xfrm>
          <a:prstGeom prst="ellipse">
            <a:avLst/>
          </a:prstGeom>
          <a:solidFill>
            <a:srgbClr val="00D9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46" name="Oval 45"/>
          <p:cNvSpPr/>
          <p:nvPr/>
        </p:nvSpPr>
        <p:spPr>
          <a:xfrm>
            <a:off x="14758416" y="7584948"/>
            <a:ext cx="521208" cy="521208"/>
          </a:xfrm>
          <a:prstGeom prst="ellipse">
            <a:avLst/>
          </a:prstGeom>
          <a:solidFill>
            <a:srgbClr val="00D9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47" name="Oval 46"/>
          <p:cNvSpPr/>
          <p:nvPr/>
        </p:nvSpPr>
        <p:spPr>
          <a:xfrm>
            <a:off x="15553944" y="7584948"/>
            <a:ext cx="521208" cy="521208"/>
          </a:xfrm>
          <a:prstGeom prst="ellipse">
            <a:avLst/>
          </a:prstGeom>
          <a:solidFill>
            <a:srgbClr val="00D9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48" name="Oval 47"/>
          <p:cNvSpPr/>
          <p:nvPr/>
        </p:nvSpPr>
        <p:spPr>
          <a:xfrm>
            <a:off x="16349472" y="7584948"/>
            <a:ext cx="521208" cy="521208"/>
          </a:xfrm>
          <a:prstGeom prst="ellipse">
            <a:avLst/>
          </a:prstGeom>
          <a:solidFill>
            <a:srgbClr val="00D9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49" name="Oval 48"/>
          <p:cNvSpPr/>
          <p:nvPr/>
        </p:nvSpPr>
        <p:spPr>
          <a:xfrm>
            <a:off x="1234440" y="8380476"/>
            <a:ext cx="521208" cy="521208"/>
          </a:xfrm>
          <a:prstGeom prst="ellipse">
            <a:avLst/>
          </a:prstGeom>
          <a:noFill/>
          <a:ln w="22225">
            <a:solidFill>
              <a:srgbClr val="2A4A43"/>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0" name="Oval 49"/>
          <p:cNvSpPr/>
          <p:nvPr/>
        </p:nvSpPr>
        <p:spPr>
          <a:xfrm>
            <a:off x="2029968" y="8380476"/>
            <a:ext cx="521208" cy="521208"/>
          </a:xfrm>
          <a:prstGeom prst="ellipse">
            <a:avLst/>
          </a:prstGeom>
          <a:noFill/>
          <a:ln w="22225">
            <a:solidFill>
              <a:srgbClr val="2A4A43"/>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1" name="Oval 50"/>
          <p:cNvSpPr/>
          <p:nvPr/>
        </p:nvSpPr>
        <p:spPr>
          <a:xfrm>
            <a:off x="2825496" y="8380476"/>
            <a:ext cx="521208" cy="521208"/>
          </a:xfrm>
          <a:prstGeom prst="ellipse">
            <a:avLst/>
          </a:prstGeom>
          <a:noFill/>
          <a:ln w="22225">
            <a:solidFill>
              <a:srgbClr val="2A4A43"/>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2" name="Oval 51"/>
          <p:cNvSpPr/>
          <p:nvPr/>
        </p:nvSpPr>
        <p:spPr>
          <a:xfrm>
            <a:off x="3621024" y="8380476"/>
            <a:ext cx="521208" cy="521208"/>
          </a:xfrm>
          <a:prstGeom prst="ellipse">
            <a:avLst/>
          </a:prstGeom>
          <a:noFill/>
          <a:ln w="22225">
            <a:solidFill>
              <a:srgbClr val="2A4A43"/>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3" name="Oval 52"/>
          <p:cNvSpPr/>
          <p:nvPr/>
        </p:nvSpPr>
        <p:spPr>
          <a:xfrm>
            <a:off x="4416552" y="8380476"/>
            <a:ext cx="521208" cy="521208"/>
          </a:xfrm>
          <a:prstGeom prst="ellipse">
            <a:avLst/>
          </a:prstGeom>
          <a:noFill/>
          <a:ln w="22225">
            <a:solidFill>
              <a:srgbClr val="2A4A43"/>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4" name="Oval 53"/>
          <p:cNvSpPr/>
          <p:nvPr/>
        </p:nvSpPr>
        <p:spPr>
          <a:xfrm>
            <a:off x="5212080" y="8380476"/>
            <a:ext cx="521208" cy="521208"/>
          </a:xfrm>
          <a:prstGeom prst="ellipse">
            <a:avLst/>
          </a:prstGeom>
          <a:noFill/>
          <a:ln w="22225">
            <a:solidFill>
              <a:srgbClr val="2A4A43"/>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5" name="Oval 54"/>
          <p:cNvSpPr/>
          <p:nvPr/>
        </p:nvSpPr>
        <p:spPr>
          <a:xfrm>
            <a:off x="6007608" y="8380476"/>
            <a:ext cx="521208" cy="521208"/>
          </a:xfrm>
          <a:prstGeom prst="ellipse">
            <a:avLst/>
          </a:prstGeom>
          <a:noFill/>
          <a:ln w="22225">
            <a:solidFill>
              <a:srgbClr val="2A4A43"/>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6" name="Oval 55"/>
          <p:cNvSpPr/>
          <p:nvPr/>
        </p:nvSpPr>
        <p:spPr>
          <a:xfrm>
            <a:off x="6803136" y="8380476"/>
            <a:ext cx="521208" cy="521208"/>
          </a:xfrm>
          <a:prstGeom prst="ellipse">
            <a:avLst/>
          </a:prstGeom>
          <a:noFill/>
          <a:ln w="22225">
            <a:solidFill>
              <a:srgbClr val="2A4A43"/>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7" name="Oval 56"/>
          <p:cNvSpPr/>
          <p:nvPr/>
        </p:nvSpPr>
        <p:spPr>
          <a:xfrm>
            <a:off x="7598664" y="8380476"/>
            <a:ext cx="521208" cy="521208"/>
          </a:xfrm>
          <a:prstGeom prst="ellipse">
            <a:avLst/>
          </a:prstGeom>
          <a:noFill/>
          <a:ln w="22225">
            <a:solidFill>
              <a:srgbClr val="2A4A43"/>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8" name="Oval 57"/>
          <p:cNvSpPr/>
          <p:nvPr/>
        </p:nvSpPr>
        <p:spPr>
          <a:xfrm>
            <a:off x="8394192" y="8380476"/>
            <a:ext cx="521208" cy="521208"/>
          </a:xfrm>
          <a:prstGeom prst="ellipse">
            <a:avLst/>
          </a:prstGeom>
          <a:noFill/>
          <a:ln w="22225">
            <a:solidFill>
              <a:srgbClr val="2A4A43"/>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9" name="Oval 58"/>
          <p:cNvSpPr/>
          <p:nvPr/>
        </p:nvSpPr>
        <p:spPr>
          <a:xfrm>
            <a:off x="9189720" y="8380476"/>
            <a:ext cx="521208" cy="521208"/>
          </a:xfrm>
          <a:prstGeom prst="ellipse">
            <a:avLst/>
          </a:prstGeom>
          <a:noFill/>
          <a:ln w="22225">
            <a:solidFill>
              <a:srgbClr val="2A4A43"/>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60" name="Oval 59"/>
          <p:cNvSpPr/>
          <p:nvPr/>
        </p:nvSpPr>
        <p:spPr>
          <a:xfrm>
            <a:off x="9985248" y="8380476"/>
            <a:ext cx="521208" cy="521208"/>
          </a:xfrm>
          <a:prstGeom prst="ellipse">
            <a:avLst/>
          </a:prstGeom>
          <a:noFill/>
          <a:ln w="22225">
            <a:solidFill>
              <a:srgbClr val="2A4A43"/>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61" name="Oval 60"/>
          <p:cNvSpPr/>
          <p:nvPr/>
        </p:nvSpPr>
        <p:spPr>
          <a:xfrm>
            <a:off x="10780776" y="8380476"/>
            <a:ext cx="521208" cy="521208"/>
          </a:xfrm>
          <a:prstGeom prst="ellipse">
            <a:avLst/>
          </a:prstGeom>
          <a:noFill/>
          <a:ln w="22225">
            <a:solidFill>
              <a:srgbClr val="2A4A43"/>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62" name="Oval 61"/>
          <p:cNvSpPr/>
          <p:nvPr/>
        </p:nvSpPr>
        <p:spPr>
          <a:xfrm>
            <a:off x="11576304" y="8380476"/>
            <a:ext cx="521208" cy="521208"/>
          </a:xfrm>
          <a:prstGeom prst="ellipse">
            <a:avLst/>
          </a:prstGeom>
          <a:noFill/>
          <a:ln w="22225">
            <a:solidFill>
              <a:srgbClr val="2A4A43"/>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63" name="Oval 62"/>
          <p:cNvSpPr/>
          <p:nvPr/>
        </p:nvSpPr>
        <p:spPr>
          <a:xfrm>
            <a:off x="12371832" y="8380476"/>
            <a:ext cx="521208" cy="521208"/>
          </a:xfrm>
          <a:prstGeom prst="ellipse">
            <a:avLst/>
          </a:prstGeom>
          <a:noFill/>
          <a:ln w="22225">
            <a:solidFill>
              <a:srgbClr val="2A4A43"/>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64" name="Oval 63"/>
          <p:cNvSpPr/>
          <p:nvPr/>
        </p:nvSpPr>
        <p:spPr>
          <a:xfrm>
            <a:off x="13167360" y="8380476"/>
            <a:ext cx="521208" cy="521208"/>
          </a:xfrm>
          <a:prstGeom prst="ellipse">
            <a:avLst/>
          </a:prstGeom>
          <a:noFill/>
          <a:ln w="22225">
            <a:solidFill>
              <a:srgbClr val="2A4A43"/>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65" name="Oval 64"/>
          <p:cNvSpPr/>
          <p:nvPr/>
        </p:nvSpPr>
        <p:spPr>
          <a:xfrm>
            <a:off x="13962888" y="8380476"/>
            <a:ext cx="521208" cy="521208"/>
          </a:xfrm>
          <a:prstGeom prst="ellipse">
            <a:avLst/>
          </a:prstGeom>
          <a:noFill/>
          <a:ln w="22225">
            <a:solidFill>
              <a:srgbClr val="2A4A43"/>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66" name="Oval 65"/>
          <p:cNvSpPr/>
          <p:nvPr/>
        </p:nvSpPr>
        <p:spPr>
          <a:xfrm>
            <a:off x="14758416" y="8380476"/>
            <a:ext cx="521208" cy="521208"/>
          </a:xfrm>
          <a:prstGeom prst="ellipse">
            <a:avLst/>
          </a:prstGeom>
          <a:noFill/>
          <a:ln w="22225">
            <a:solidFill>
              <a:srgbClr val="2A4A43"/>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67" name="Oval 66"/>
          <p:cNvSpPr/>
          <p:nvPr/>
        </p:nvSpPr>
        <p:spPr>
          <a:xfrm>
            <a:off x="15553944" y="8380476"/>
            <a:ext cx="521208" cy="521208"/>
          </a:xfrm>
          <a:prstGeom prst="ellipse">
            <a:avLst/>
          </a:prstGeom>
          <a:noFill/>
          <a:ln w="22225">
            <a:solidFill>
              <a:srgbClr val="2A4A43"/>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68" name="Oval 67"/>
          <p:cNvSpPr/>
          <p:nvPr/>
        </p:nvSpPr>
        <p:spPr>
          <a:xfrm>
            <a:off x="16349472" y="8380476"/>
            <a:ext cx="521208" cy="521208"/>
          </a:xfrm>
          <a:prstGeom prst="ellipse">
            <a:avLst/>
          </a:prstGeom>
          <a:noFill/>
          <a:ln w="22225">
            <a:solidFill>
              <a:srgbClr val="2A4A43"/>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69" name="Oval 68"/>
          <p:cNvSpPr/>
          <p:nvPr/>
        </p:nvSpPr>
        <p:spPr>
          <a:xfrm>
            <a:off x="1234440" y="9299448"/>
            <a:ext cx="219456" cy="219456"/>
          </a:xfrm>
          <a:prstGeom prst="ellipse">
            <a:avLst/>
          </a:prstGeom>
          <a:solidFill>
            <a:srgbClr val="00D9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70" name="TextBox 69"/>
          <p:cNvSpPr txBox="1"/>
          <p:nvPr/>
        </p:nvSpPr>
        <p:spPr>
          <a:xfrm>
            <a:off x="1618488" y="9230868"/>
            <a:ext cx="4114800" cy="276999"/>
          </a:xfrm>
          <a:prstGeom prst="rect">
            <a:avLst/>
          </a:prstGeom>
          <a:noFill/>
        </p:spPr>
        <p:txBody>
          <a:bodyPr wrap="square" lIns="0" tIns="0" rIns="0" bIns="0" anchor="t">
            <a:spAutoFit/>
          </a:bodyPr>
          <a:lstStyle/>
          <a:p>
            <a:pPr algn="l"/>
            <a:r>
              <a:rPr>
                <a:solidFill>
                  <a:srgbClr val="8FB0A8"/>
                </a:solidFill>
                <a:latin typeface="Inter"/>
              </a:rPr>
              <a:t>40 werden bearbeitet</a:t>
            </a:r>
          </a:p>
        </p:txBody>
      </p:sp>
      <p:sp>
        <p:nvSpPr>
          <p:cNvPr id="71" name="Oval 70"/>
          <p:cNvSpPr/>
          <p:nvPr/>
        </p:nvSpPr>
        <p:spPr>
          <a:xfrm>
            <a:off x="5897880" y="9299448"/>
            <a:ext cx="219456" cy="219456"/>
          </a:xfrm>
          <a:prstGeom prst="ellipse">
            <a:avLst/>
          </a:prstGeom>
          <a:noFill/>
          <a:ln w="19050">
            <a:solidFill>
              <a:srgbClr val="8FB0A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72" name="TextBox 71"/>
          <p:cNvSpPr txBox="1"/>
          <p:nvPr/>
        </p:nvSpPr>
        <p:spPr>
          <a:xfrm>
            <a:off x="6281928" y="9230868"/>
            <a:ext cx="4114800" cy="276999"/>
          </a:xfrm>
          <a:prstGeom prst="rect">
            <a:avLst/>
          </a:prstGeom>
          <a:noFill/>
        </p:spPr>
        <p:txBody>
          <a:bodyPr wrap="square" lIns="0" tIns="0" rIns="0" bIns="0" anchor="t">
            <a:spAutoFit/>
          </a:bodyPr>
          <a:lstStyle/>
          <a:p>
            <a:pPr algn="l"/>
            <a:r>
              <a:rPr>
                <a:solidFill>
                  <a:srgbClr val="8FB0A8"/>
                </a:solidFill>
                <a:latin typeface="Inter"/>
              </a:rPr>
              <a:t>20 versanden</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Logo(final-detailed) Kopie.png"/>
          <p:cNvPicPr>
            <a:picLocks noChangeAspect="1"/>
          </p:cNvPicPr>
          <p:nvPr/>
        </p:nvPicPr>
        <p:blipFill>
          <a:blip r:embed="rId3"/>
          <a:stretch>
            <a:fillRect/>
          </a:stretch>
        </p:blipFill>
        <p:spPr>
          <a:xfrm>
            <a:off x="1234440" y="822960"/>
            <a:ext cx="1281273" cy="576072"/>
          </a:xfrm>
          <a:prstGeom prst="rect">
            <a:avLst/>
          </a:prstGeom>
        </p:spPr>
      </p:pic>
      <p:sp>
        <p:nvSpPr>
          <p:cNvPr id="3" name="TextBox 2"/>
          <p:cNvSpPr txBox="1"/>
          <p:nvPr/>
        </p:nvSpPr>
        <p:spPr>
          <a:xfrm>
            <a:off x="14950440" y="932688"/>
            <a:ext cx="2125980" cy="276999"/>
          </a:xfrm>
          <a:prstGeom prst="rect">
            <a:avLst/>
          </a:prstGeom>
          <a:noFill/>
        </p:spPr>
        <p:txBody>
          <a:bodyPr wrap="square" lIns="0" tIns="0" rIns="0" bIns="0" anchor="t">
            <a:spAutoFit/>
          </a:bodyPr>
          <a:lstStyle/>
          <a:p>
            <a:pPr algn="r"/>
            <a:r>
              <a:rPr>
                <a:solidFill>
                  <a:srgbClr val="8FB0A8"/>
                </a:solidFill>
                <a:latin typeface="JetBrains Mono"/>
              </a:rPr>
              <a:t>02 / 05</a:t>
            </a:r>
          </a:p>
        </p:txBody>
      </p:sp>
      <p:sp>
        <p:nvSpPr>
          <p:cNvPr id="4" name="TextBox 3"/>
          <p:cNvSpPr txBox="1"/>
          <p:nvPr/>
        </p:nvSpPr>
        <p:spPr>
          <a:xfrm>
            <a:off x="1234440" y="2057400"/>
            <a:ext cx="10972800" cy="300082"/>
          </a:xfrm>
          <a:prstGeom prst="rect">
            <a:avLst/>
          </a:prstGeom>
          <a:noFill/>
        </p:spPr>
        <p:txBody>
          <a:bodyPr wrap="square" lIns="0" tIns="0" rIns="0" bIns="0" anchor="t">
            <a:spAutoFit/>
          </a:bodyPr>
          <a:lstStyle/>
          <a:p>
            <a:pPr algn="l"/>
            <a:r>
              <a:rPr sz="1950" b="1">
                <a:solidFill>
                  <a:srgbClr val="00D9C6"/>
                </a:solidFill>
                <a:latin typeface="Inter"/>
              </a:rPr>
              <a:t>WAS DAS KOSTET</a:t>
            </a:r>
          </a:p>
        </p:txBody>
      </p:sp>
      <p:sp>
        <p:nvSpPr>
          <p:cNvPr id="5" name="Rectangle 4"/>
          <p:cNvSpPr/>
          <p:nvPr/>
        </p:nvSpPr>
        <p:spPr>
          <a:xfrm>
            <a:off x="0" y="10177272"/>
            <a:ext cx="7315017" cy="109728"/>
          </a:xfrm>
          <a:prstGeom prst="rect">
            <a:avLst/>
          </a:prstGeom>
          <a:solidFill>
            <a:srgbClr val="00D9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6" name="TextBox 5"/>
          <p:cNvSpPr txBox="1"/>
          <p:nvPr/>
        </p:nvSpPr>
        <p:spPr>
          <a:xfrm>
            <a:off x="1234440" y="2674620"/>
            <a:ext cx="15773400" cy="1154162"/>
          </a:xfrm>
          <a:prstGeom prst="rect">
            <a:avLst/>
          </a:prstGeom>
          <a:noFill/>
        </p:spPr>
        <p:txBody>
          <a:bodyPr wrap="square" lIns="0" tIns="0" rIns="0" bIns="0" anchor="t">
            <a:spAutoFit/>
          </a:bodyPr>
          <a:lstStyle/>
          <a:p>
            <a:pPr algn="l"/>
            <a:r>
              <a:rPr sz="7500" b="1">
                <a:solidFill>
                  <a:srgbClr val="EAF6F3"/>
                </a:solidFill>
                <a:latin typeface="Space Grotesk"/>
              </a:rPr>
              <a:t>Was kostet Sie das jedes Jahr?</a:t>
            </a:r>
          </a:p>
        </p:txBody>
      </p:sp>
      <p:sp>
        <p:nvSpPr>
          <p:cNvPr id="7" name="TextBox 6"/>
          <p:cNvSpPr txBox="1"/>
          <p:nvPr/>
        </p:nvSpPr>
        <p:spPr>
          <a:xfrm>
            <a:off x="1234440" y="4114801"/>
            <a:ext cx="15773400" cy="461665"/>
          </a:xfrm>
          <a:prstGeom prst="rect">
            <a:avLst/>
          </a:prstGeom>
          <a:noFill/>
        </p:spPr>
        <p:txBody>
          <a:bodyPr wrap="square" lIns="0" tIns="0" rIns="0" bIns="0" anchor="t">
            <a:spAutoFit/>
          </a:bodyPr>
          <a:lstStyle/>
          <a:p>
            <a:pPr algn="l"/>
            <a:r>
              <a:rPr sz="3000">
                <a:solidFill>
                  <a:srgbClr val="8FB0A8"/>
                </a:solidFill>
                <a:latin typeface="Inter"/>
              </a:rPr>
              <a:t>Verlorene Leads und ein Forecast aus dem Bauch.</a:t>
            </a:r>
          </a:p>
        </p:txBody>
      </p:sp>
      <p:sp>
        <p:nvSpPr>
          <p:cNvPr id="8" name="Rounded Rectangle 7"/>
          <p:cNvSpPr/>
          <p:nvPr/>
        </p:nvSpPr>
        <p:spPr>
          <a:xfrm>
            <a:off x="1234440" y="5349240"/>
            <a:ext cx="7680960" cy="4114800"/>
          </a:xfrm>
          <a:prstGeom prst="roundRect">
            <a:avLst>
              <a:gd name="adj" fmla="val 9333"/>
            </a:avLst>
          </a:prstGeom>
          <a:solidFill>
            <a:srgbClr val="10302C"/>
          </a:solidFill>
          <a:ln w="19050">
            <a:solidFill>
              <a:srgbClr val="2A4A4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9" name="TextBox 8"/>
          <p:cNvSpPr txBox="1"/>
          <p:nvPr/>
        </p:nvSpPr>
        <p:spPr>
          <a:xfrm>
            <a:off x="1920240" y="5966459"/>
            <a:ext cx="6583680" cy="1523494"/>
          </a:xfrm>
          <a:prstGeom prst="rect">
            <a:avLst/>
          </a:prstGeom>
          <a:noFill/>
        </p:spPr>
        <p:txBody>
          <a:bodyPr wrap="square" lIns="0" tIns="0" rIns="0" bIns="0" anchor="t">
            <a:spAutoFit/>
          </a:bodyPr>
          <a:lstStyle/>
          <a:p>
            <a:pPr algn="l"/>
            <a:r>
              <a:rPr sz="9900" b="1">
                <a:solidFill>
                  <a:srgbClr val="FF7A3D"/>
                </a:solidFill>
                <a:latin typeface="Space Grotesk"/>
              </a:rPr>
              <a:t>150.000 €</a:t>
            </a:r>
          </a:p>
        </p:txBody>
      </p:sp>
      <p:sp>
        <p:nvSpPr>
          <p:cNvPr id="10" name="TextBox 9"/>
          <p:cNvSpPr txBox="1"/>
          <p:nvPr/>
        </p:nvSpPr>
        <p:spPr>
          <a:xfrm>
            <a:off x="1920240" y="8092441"/>
            <a:ext cx="6446520" cy="415498"/>
          </a:xfrm>
          <a:prstGeom prst="rect">
            <a:avLst/>
          </a:prstGeom>
          <a:noFill/>
        </p:spPr>
        <p:txBody>
          <a:bodyPr wrap="square" lIns="0" tIns="0" rIns="0" bIns="0" anchor="t">
            <a:spAutoFit/>
          </a:bodyPr>
          <a:lstStyle/>
          <a:p>
            <a:pPr algn="l"/>
            <a:r>
              <a:rPr sz="2700">
                <a:solidFill>
                  <a:srgbClr val="8FB0A8"/>
                </a:solidFill>
                <a:latin typeface="Inter"/>
              </a:rPr>
              <a:t>Erstumsatz pro Jahr gehen verloren.</a:t>
            </a:r>
          </a:p>
        </p:txBody>
      </p:sp>
      <p:sp>
        <p:nvSpPr>
          <p:cNvPr id="11" name="Rounded Rectangle 10"/>
          <p:cNvSpPr/>
          <p:nvPr/>
        </p:nvSpPr>
        <p:spPr>
          <a:xfrm>
            <a:off x="9258300" y="5349240"/>
            <a:ext cx="7680960" cy="4114800"/>
          </a:xfrm>
          <a:prstGeom prst="roundRect">
            <a:avLst>
              <a:gd name="adj" fmla="val 9333"/>
            </a:avLst>
          </a:prstGeom>
          <a:solidFill>
            <a:srgbClr val="10302C"/>
          </a:solidFill>
          <a:ln w="19050">
            <a:solidFill>
              <a:srgbClr val="2A4A4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2" name="TextBox 11"/>
          <p:cNvSpPr txBox="1"/>
          <p:nvPr/>
        </p:nvSpPr>
        <p:spPr>
          <a:xfrm>
            <a:off x="9944100" y="5966459"/>
            <a:ext cx="6583680" cy="1523494"/>
          </a:xfrm>
          <a:prstGeom prst="rect">
            <a:avLst/>
          </a:prstGeom>
          <a:noFill/>
        </p:spPr>
        <p:txBody>
          <a:bodyPr wrap="square" lIns="0" tIns="0" rIns="0" bIns="0" anchor="t">
            <a:spAutoFit/>
          </a:bodyPr>
          <a:lstStyle/>
          <a:p>
            <a:pPr algn="l"/>
            <a:r>
              <a:rPr sz="9900" b="1">
                <a:solidFill>
                  <a:srgbClr val="00D9C6"/>
                </a:solidFill>
                <a:latin typeface="Space Grotesk"/>
              </a:rPr>
              <a:t>3 Std.</a:t>
            </a:r>
          </a:p>
        </p:txBody>
      </p:sp>
      <p:sp>
        <p:nvSpPr>
          <p:cNvPr id="13" name="TextBox 12"/>
          <p:cNvSpPr txBox="1"/>
          <p:nvPr/>
        </p:nvSpPr>
        <p:spPr>
          <a:xfrm>
            <a:off x="9944100" y="8092441"/>
            <a:ext cx="6446520" cy="415498"/>
          </a:xfrm>
          <a:prstGeom prst="rect">
            <a:avLst/>
          </a:prstGeom>
          <a:noFill/>
        </p:spPr>
        <p:txBody>
          <a:bodyPr wrap="square" lIns="0" tIns="0" rIns="0" bIns="0" anchor="t">
            <a:spAutoFit/>
          </a:bodyPr>
          <a:lstStyle/>
          <a:p>
            <a:pPr algn="l"/>
            <a:r>
              <a:rPr sz="2700">
                <a:solidFill>
                  <a:srgbClr val="8FB0A8"/>
                </a:solidFill>
                <a:latin typeface="Inter"/>
              </a:rPr>
              <a:t>Forecast von Hand, jeden Freitag.</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Logo(final-detailed) Kopie.png"/>
          <p:cNvPicPr>
            <a:picLocks noChangeAspect="1"/>
          </p:cNvPicPr>
          <p:nvPr/>
        </p:nvPicPr>
        <p:blipFill>
          <a:blip r:embed="rId3"/>
          <a:stretch>
            <a:fillRect/>
          </a:stretch>
        </p:blipFill>
        <p:spPr>
          <a:xfrm>
            <a:off x="1234440" y="822960"/>
            <a:ext cx="1281273" cy="576072"/>
          </a:xfrm>
          <a:prstGeom prst="rect">
            <a:avLst/>
          </a:prstGeom>
        </p:spPr>
      </p:pic>
      <p:sp>
        <p:nvSpPr>
          <p:cNvPr id="3" name="TextBox 2"/>
          <p:cNvSpPr txBox="1"/>
          <p:nvPr/>
        </p:nvSpPr>
        <p:spPr>
          <a:xfrm>
            <a:off x="14950440" y="932688"/>
            <a:ext cx="2125980" cy="276999"/>
          </a:xfrm>
          <a:prstGeom prst="rect">
            <a:avLst/>
          </a:prstGeom>
          <a:noFill/>
        </p:spPr>
        <p:txBody>
          <a:bodyPr wrap="square" lIns="0" tIns="0" rIns="0" bIns="0" anchor="t">
            <a:spAutoFit/>
          </a:bodyPr>
          <a:lstStyle/>
          <a:p>
            <a:pPr algn="r"/>
            <a:r>
              <a:rPr>
                <a:solidFill>
                  <a:srgbClr val="8FB0A8"/>
                </a:solidFill>
                <a:latin typeface="JetBrains Mono"/>
              </a:rPr>
              <a:t>03 / 05</a:t>
            </a:r>
          </a:p>
        </p:txBody>
      </p:sp>
      <p:sp>
        <p:nvSpPr>
          <p:cNvPr id="4" name="TextBox 3"/>
          <p:cNvSpPr txBox="1"/>
          <p:nvPr/>
        </p:nvSpPr>
        <p:spPr>
          <a:xfrm>
            <a:off x="1234440" y="2057400"/>
            <a:ext cx="10972800" cy="300082"/>
          </a:xfrm>
          <a:prstGeom prst="rect">
            <a:avLst/>
          </a:prstGeom>
          <a:noFill/>
        </p:spPr>
        <p:txBody>
          <a:bodyPr wrap="square" lIns="0" tIns="0" rIns="0" bIns="0" anchor="t">
            <a:spAutoFit/>
          </a:bodyPr>
          <a:lstStyle/>
          <a:p>
            <a:pPr algn="l"/>
            <a:r>
              <a:rPr sz="1950" b="1">
                <a:solidFill>
                  <a:srgbClr val="00D9C6"/>
                </a:solidFill>
                <a:latin typeface="Inter"/>
              </a:rPr>
              <a:t>DIE LÖSUNG</a:t>
            </a:r>
          </a:p>
        </p:txBody>
      </p:sp>
      <p:sp>
        <p:nvSpPr>
          <p:cNvPr id="5" name="Rectangle 4"/>
          <p:cNvSpPr/>
          <p:nvPr/>
        </p:nvSpPr>
        <p:spPr>
          <a:xfrm>
            <a:off x="1" y="10177272"/>
            <a:ext cx="10972526" cy="109728"/>
          </a:xfrm>
          <a:prstGeom prst="rect">
            <a:avLst/>
          </a:prstGeom>
          <a:solidFill>
            <a:srgbClr val="00D9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6" name="TextBox 5"/>
          <p:cNvSpPr txBox="1"/>
          <p:nvPr/>
        </p:nvSpPr>
        <p:spPr>
          <a:xfrm>
            <a:off x="1234440" y="2674620"/>
            <a:ext cx="15773400" cy="1154162"/>
          </a:xfrm>
          <a:prstGeom prst="rect">
            <a:avLst/>
          </a:prstGeom>
          <a:noFill/>
        </p:spPr>
        <p:txBody>
          <a:bodyPr wrap="square" lIns="0" tIns="0" rIns="0" bIns="0" anchor="t">
            <a:spAutoFit/>
          </a:bodyPr>
          <a:lstStyle/>
          <a:p>
            <a:pPr algn="l"/>
            <a:r>
              <a:rPr sz="7500" b="1">
                <a:solidFill>
                  <a:srgbClr val="EAF6F3"/>
                </a:solidFill>
                <a:latin typeface="Space Grotesk"/>
              </a:rPr>
              <a:t>Liste rein. </a:t>
            </a:r>
            <a:r>
              <a:rPr sz="7500" b="1">
                <a:solidFill>
                  <a:srgbClr val="00D9C6"/>
                </a:solidFill>
                <a:latin typeface="Space Grotesk"/>
              </a:rPr>
              <a:t>Forecast raus.</a:t>
            </a:r>
          </a:p>
        </p:txBody>
      </p:sp>
      <p:sp>
        <p:nvSpPr>
          <p:cNvPr id="7" name="TextBox 6"/>
          <p:cNvSpPr txBox="1"/>
          <p:nvPr/>
        </p:nvSpPr>
        <p:spPr>
          <a:xfrm>
            <a:off x="1234440" y="4183380"/>
            <a:ext cx="15773400" cy="461665"/>
          </a:xfrm>
          <a:prstGeom prst="rect">
            <a:avLst/>
          </a:prstGeom>
          <a:noFill/>
        </p:spPr>
        <p:txBody>
          <a:bodyPr wrap="square" lIns="0" tIns="0" rIns="0" bIns="0" anchor="t">
            <a:spAutoFit/>
          </a:bodyPr>
          <a:lstStyle/>
          <a:p>
            <a:pPr algn="l"/>
            <a:r>
              <a:rPr sz="3000">
                <a:solidFill>
                  <a:srgbClr val="8FB0A8"/>
                </a:solidFill>
                <a:latin typeface="Inter"/>
              </a:rPr>
              <a:t>LeadPilot braucht keine 30 Pflichtfelder.</a:t>
            </a:r>
          </a:p>
        </p:txBody>
      </p:sp>
      <p:sp>
        <p:nvSpPr>
          <p:cNvPr id="8" name="Rounded Rectangle 7"/>
          <p:cNvSpPr/>
          <p:nvPr/>
        </p:nvSpPr>
        <p:spPr>
          <a:xfrm>
            <a:off x="1234440" y="5349240"/>
            <a:ext cx="4869180" cy="4114800"/>
          </a:xfrm>
          <a:prstGeom prst="roundRect">
            <a:avLst>
              <a:gd name="adj" fmla="val 9333"/>
            </a:avLst>
          </a:prstGeom>
          <a:solidFill>
            <a:srgbClr val="10302C"/>
          </a:solidFill>
          <a:ln w="19050">
            <a:solidFill>
              <a:srgbClr val="2A4A4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9" name="TextBox 8"/>
          <p:cNvSpPr txBox="1"/>
          <p:nvPr/>
        </p:nvSpPr>
        <p:spPr>
          <a:xfrm>
            <a:off x="1783080" y="5829301"/>
            <a:ext cx="2743200" cy="323165"/>
          </a:xfrm>
          <a:prstGeom prst="rect">
            <a:avLst/>
          </a:prstGeom>
          <a:noFill/>
        </p:spPr>
        <p:txBody>
          <a:bodyPr wrap="square" lIns="0" tIns="0" rIns="0" bIns="0" anchor="t">
            <a:spAutoFit/>
          </a:bodyPr>
          <a:lstStyle/>
          <a:p>
            <a:pPr algn="l"/>
            <a:r>
              <a:rPr sz="2100">
                <a:solidFill>
                  <a:srgbClr val="00D9C6"/>
                </a:solidFill>
                <a:latin typeface="JetBrains Mono"/>
              </a:rPr>
              <a:t>01</a:t>
            </a:r>
          </a:p>
        </p:txBody>
      </p:sp>
      <p:sp>
        <p:nvSpPr>
          <p:cNvPr id="10" name="TextBox 9"/>
          <p:cNvSpPr txBox="1"/>
          <p:nvPr/>
        </p:nvSpPr>
        <p:spPr>
          <a:xfrm>
            <a:off x="1783080" y="6446520"/>
            <a:ext cx="3771900" cy="646331"/>
          </a:xfrm>
          <a:prstGeom prst="rect">
            <a:avLst/>
          </a:prstGeom>
          <a:noFill/>
        </p:spPr>
        <p:txBody>
          <a:bodyPr wrap="square" lIns="0" tIns="0" rIns="0" bIns="0" anchor="t">
            <a:spAutoFit/>
          </a:bodyPr>
          <a:lstStyle/>
          <a:p>
            <a:pPr algn="l"/>
            <a:r>
              <a:rPr sz="4200" b="1">
                <a:solidFill>
                  <a:srgbClr val="EAF6F3"/>
                </a:solidFill>
                <a:latin typeface="Space Grotesk"/>
              </a:rPr>
              <a:t>Importieren</a:t>
            </a:r>
          </a:p>
        </p:txBody>
      </p:sp>
      <p:sp>
        <p:nvSpPr>
          <p:cNvPr id="11" name="TextBox 10"/>
          <p:cNvSpPr txBox="1"/>
          <p:nvPr/>
        </p:nvSpPr>
        <p:spPr>
          <a:xfrm>
            <a:off x="1783080" y="7406641"/>
            <a:ext cx="3771900" cy="346249"/>
          </a:xfrm>
          <a:prstGeom prst="rect">
            <a:avLst/>
          </a:prstGeom>
          <a:noFill/>
        </p:spPr>
        <p:txBody>
          <a:bodyPr wrap="square" lIns="0" tIns="0" rIns="0" bIns="0" anchor="t">
            <a:spAutoFit/>
          </a:bodyPr>
          <a:lstStyle/>
          <a:p>
            <a:pPr algn="l"/>
            <a:r>
              <a:rPr sz="2250">
                <a:solidFill>
                  <a:srgbClr val="8FB0A8"/>
                </a:solidFill>
                <a:latin typeface="Inter"/>
              </a:rPr>
              <a:t>Messe-Liste hochladen. Fertig.</a:t>
            </a:r>
          </a:p>
        </p:txBody>
      </p:sp>
      <p:sp>
        <p:nvSpPr>
          <p:cNvPr id="12" name="TextBox 11"/>
          <p:cNvSpPr txBox="1"/>
          <p:nvPr/>
        </p:nvSpPr>
        <p:spPr>
          <a:xfrm>
            <a:off x="6103620" y="6995161"/>
            <a:ext cx="877824" cy="646331"/>
          </a:xfrm>
          <a:prstGeom prst="rect">
            <a:avLst/>
          </a:prstGeom>
          <a:noFill/>
        </p:spPr>
        <p:txBody>
          <a:bodyPr wrap="square" lIns="0" tIns="0" rIns="0" bIns="0" anchor="t">
            <a:spAutoFit/>
          </a:bodyPr>
          <a:lstStyle/>
          <a:p>
            <a:pPr algn="ctr"/>
            <a:r>
              <a:rPr sz="4200" b="1">
                <a:solidFill>
                  <a:srgbClr val="2A4A43"/>
                </a:solidFill>
                <a:latin typeface="Space Grotesk"/>
              </a:rPr>
              <a:t>→</a:t>
            </a:r>
          </a:p>
        </p:txBody>
      </p:sp>
      <p:sp>
        <p:nvSpPr>
          <p:cNvPr id="13" name="Rounded Rectangle 12"/>
          <p:cNvSpPr/>
          <p:nvPr/>
        </p:nvSpPr>
        <p:spPr>
          <a:xfrm>
            <a:off x="6981444" y="5349240"/>
            <a:ext cx="4869180" cy="4114800"/>
          </a:xfrm>
          <a:prstGeom prst="roundRect">
            <a:avLst>
              <a:gd name="adj" fmla="val 9333"/>
            </a:avLst>
          </a:prstGeom>
          <a:solidFill>
            <a:srgbClr val="10302C"/>
          </a:solidFill>
          <a:ln w="25400">
            <a:solidFill>
              <a:srgbClr val="00D9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4" name="TextBox 13"/>
          <p:cNvSpPr txBox="1"/>
          <p:nvPr/>
        </p:nvSpPr>
        <p:spPr>
          <a:xfrm>
            <a:off x="7530084" y="5829301"/>
            <a:ext cx="2743200" cy="323165"/>
          </a:xfrm>
          <a:prstGeom prst="rect">
            <a:avLst/>
          </a:prstGeom>
          <a:noFill/>
        </p:spPr>
        <p:txBody>
          <a:bodyPr wrap="square" lIns="0" tIns="0" rIns="0" bIns="0" anchor="t">
            <a:spAutoFit/>
          </a:bodyPr>
          <a:lstStyle/>
          <a:p>
            <a:pPr algn="l"/>
            <a:r>
              <a:rPr sz="2100">
                <a:solidFill>
                  <a:srgbClr val="00D9C6"/>
                </a:solidFill>
                <a:latin typeface="JetBrains Mono"/>
              </a:rPr>
              <a:t>02</a:t>
            </a:r>
          </a:p>
        </p:txBody>
      </p:sp>
      <p:sp>
        <p:nvSpPr>
          <p:cNvPr id="15" name="TextBox 14"/>
          <p:cNvSpPr txBox="1"/>
          <p:nvPr/>
        </p:nvSpPr>
        <p:spPr>
          <a:xfrm>
            <a:off x="7530084" y="6446520"/>
            <a:ext cx="3771900" cy="646331"/>
          </a:xfrm>
          <a:prstGeom prst="rect">
            <a:avLst/>
          </a:prstGeom>
          <a:noFill/>
        </p:spPr>
        <p:txBody>
          <a:bodyPr wrap="square" lIns="0" tIns="0" rIns="0" bIns="0" anchor="t">
            <a:spAutoFit/>
          </a:bodyPr>
          <a:lstStyle/>
          <a:p>
            <a:pPr algn="l"/>
            <a:r>
              <a:rPr sz="4200" b="1">
                <a:solidFill>
                  <a:srgbClr val="EAF6F3"/>
                </a:solidFill>
                <a:latin typeface="Space Grotesk"/>
              </a:rPr>
              <a:t>Nachfassen</a:t>
            </a:r>
          </a:p>
        </p:txBody>
      </p:sp>
      <p:sp>
        <p:nvSpPr>
          <p:cNvPr id="16" name="TextBox 15"/>
          <p:cNvSpPr txBox="1"/>
          <p:nvPr/>
        </p:nvSpPr>
        <p:spPr>
          <a:xfrm>
            <a:off x="7530084" y="7406641"/>
            <a:ext cx="3771900" cy="1038746"/>
          </a:xfrm>
          <a:prstGeom prst="rect">
            <a:avLst/>
          </a:prstGeom>
          <a:noFill/>
        </p:spPr>
        <p:txBody>
          <a:bodyPr wrap="square" lIns="0" tIns="0" rIns="0" bIns="0" anchor="t">
            <a:spAutoFit/>
          </a:bodyPr>
          <a:lstStyle/>
          <a:p>
            <a:pPr algn="l"/>
            <a:r>
              <a:rPr sz="2250">
                <a:solidFill>
                  <a:srgbClr val="8FB0A8"/>
                </a:solidFill>
                <a:latin typeface="Inter"/>
              </a:rPr>
              <a:t>Jeder Lead wird binnen 48 Stunden automatisch kontaktiert.</a:t>
            </a:r>
          </a:p>
        </p:txBody>
      </p:sp>
      <p:sp>
        <p:nvSpPr>
          <p:cNvPr id="17" name="TextBox 16"/>
          <p:cNvSpPr txBox="1"/>
          <p:nvPr/>
        </p:nvSpPr>
        <p:spPr>
          <a:xfrm>
            <a:off x="11850624" y="6995161"/>
            <a:ext cx="877824" cy="646331"/>
          </a:xfrm>
          <a:prstGeom prst="rect">
            <a:avLst/>
          </a:prstGeom>
          <a:noFill/>
        </p:spPr>
        <p:txBody>
          <a:bodyPr wrap="square" lIns="0" tIns="0" rIns="0" bIns="0" anchor="t">
            <a:spAutoFit/>
          </a:bodyPr>
          <a:lstStyle/>
          <a:p>
            <a:pPr algn="ctr"/>
            <a:r>
              <a:rPr sz="4200" b="1">
                <a:solidFill>
                  <a:srgbClr val="2A4A43"/>
                </a:solidFill>
                <a:latin typeface="Space Grotesk"/>
              </a:rPr>
              <a:t>→</a:t>
            </a:r>
          </a:p>
        </p:txBody>
      </p:sp>
      <p:sp>
        <p:nvSpPr>
          <p:cNvPr id="18" name="Rounded Rectangle 17"/>
          <p:cNvSpPr/>
          <p:nvPr/>
        </p:nvSpPr>
        <p:spPr>
          <a:xfrm>
            <a:off x="12728448" y="5349240"/>
            <a:ext cx="4869180" cy="4114800"/>
          </a:xfrm>
          <a:prstGeom prst="roundRect">
            <a:avLst>
              <a:gd name="adj" fmla="val 9333"/>
            </a:avLst>
          </a:prstGeom>
          <a:solidFill>
            <a:srgbClr val="10302C"/>
          </a:solidFill>
          <a:ln w="19050">
            <a:solidFill>
              <a:srgbClr val="2A4A4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9" name="TextBox 18"/>
          <p:cNvSpPr txBox="1"/>
          <p:nvPr/>
        </p:nvSpPr>
        <p:spPr>
          <a:xfrm>
            <a:off x="13277088" y="5829301"/>
            <a:ext cx="2743200" cy="323165"/>
          </a:xfrm>
          <a:prstGeom prst="rect">
            <a:avLst/>
          </a:prstGeom>
          <a:noFill/>
        </p:spPr>
        <p:txBody>
          <a:bodyPr wrap="square" lIns="0" tIns="0" rIns="0" bIns="0" anchor="t">
            <a:spAutoFit/>
          </a:bodyPr>
          <a:lstStyle/>
          <a:p>
            <a:pPr algn="l"/>
            <a:r>
              <a:rPr sz="2100">
                <a:solidFill>
                  <a:srgbClr val="00D9C6"/>
                </a:solidFill>
                <a:latin typeface="JetBrains Mono"/>
              </a:rPr>
              <a:t>03</a:t>
            </a:r>
          </a:p>
        </p:txBody>
      </p:sp>
      <p:sp>
        <p:nvSpPr>
          <p:cNvPr id="20" name="TextBox 19"/>
          <p:cNvSpPr txBox="1"/>
          <p:nvPr/>
        </p:nvSpPr>
        <p:spPr>
          <a:xfrm>
            <a:off x="13277088" y="6446520"/>
            <a:ext cx="3771900" cy="646331"/>
          </a:xfrm>
          <a:prstGeom prst="rect">
            <a:avLst/>
          </a:prstGeom>
          <a:noFill/>
        </p:spPr>
        <p:txBody>
          <a:bodyPr wrap="square" lIns="0" tIns="0" rIns="0" bIns="0" anchor="t">
            <a:spAutoFit/>
          </a:bodyPr>
          <a:lstStyle/>
          <a:p>
            <a:pPr algn="l"/>
            <a:r>
              <a:rPr sz="4200" b="1">
                <a:solidFill>
                  <a:srgbClr val="EAF6F3"/>
                </a:solidFill>
                <a:latin typeface="Space Grotesk"/>
              </a:rPr>
              <a:t>Vorhersagen</a:t>
            </a:r>
          </a:p>
        </p:txBody>
      </p:sp>
      <p:sp>
        <p:nvSpPr>
          <p:cNvPr id="21" name="TextBox 20"/>
          <p:cNvSpPr txBox="1"/>
          <p:nvPr/>
        </p:nvSpPr>
        <p:spPr>
          <a:xfrm>
            <a:off x="13277088" y="7406641"/>
            <a:ext cx="3771900" cy="692497"/>
          </a:xfrm>
          <a:prstGeom prst="rect">
            <a:avLst/>
          </a:prstGeom>
          <a:noFill/>
        </p:spPr>
        <p:txBody>
          <a:bodyPr wrap="square" lIns="0" tIns="0" rIns="0" bIns="0" anchor="t">
            <a:spAutoFit/>
          </a:bodyPr>
          <a:lstStyle/>
          <a:p>
            <a:pPr algn="l"/>
            <a:r>
              <a:rPr sz="2250">
                <a:solidFill>
                  <a:srgbClr val="8FB0A8"/>
                </a:solidFill>
                <a:latin typeface="Inter"/>
              </a:rPr>
              <a:t>Freitags-Forecast auf Knopfdruck.</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Logo(final-detailed) Kopie.png"/>
          <p:cNvPicPr>
            <a:picLocks noChangeAspect="1"/>
          </p:cNvPicPr>
          <p:nvPr/>
        </p:nvPicPr>
        <p:blipFill>
          <a:blip r:embed="rId3"/>
          <a:stretch>
            <a:fillRect/>
          </a:stretch>
        </p:blipFill>
        <p:spPr>
          <a:xfrm>
            <a:off x="1234440" y="822960"/>
            <a:ext cx="1281273" cy="576072"/>
          </a:xfrm>
          <a:prstGeom prst="rect">
            <a:avLst/>
          </a:prstGeom>
        </p:spPr>
      </p:pic>
      <p:sp>
        <p:nvSpPr>
          <p:cNvPr id="3" name="TextBox 2"/>
          <p:cNvSpPr txBox="1"/>
          <p:nvPr/>
        </p:nvSpPr>
        <p:spPr>
          <a:xfrm>
            <a:off x="14950440" y="932688"/>
            <a:ext cx="2125980" cy="276999"/>
          </a:xfrm>
          <a:prstGeom prst="rect">
            <a:avLst/>
          </a:prstGeom>
          <a:noFill/>
        </p:spPr>
        <p:txBody>
          <a:bodyPr wrap="square" lIns="0" tIns="0" rIns="0" bIns="0" anchor="t">
            <a:spAutoFit/>
          </a:bodyPr>
          <a:lstStyle/>
          <a:p>
            <a:pPr algn="r"/>
            <a:r>
              <a:rPr>
                <a:solidFill>
                  <a:srgbClr val="8FB0A8"/>
                </a:solidFill>
                <a:latin typeface="JetBrains Mono"/>
              </a:rPr>
              <a:t>04 / 05</a:t>
            </a:r>
          </a:p>
        </p:txBody>
      </p:sp>
      <p:sp>
        <p:nvSpPr>
          <p:cNvPr id="4" name="TextBox 3"/>
          <p:cNvSpPr txBox="1"/>
          <p:nvPr/>
        </p:nvSpPr>
        <p:spPr>
          <a:xfrm>
            <a:off x="1234440" y="2057400"/>
            <a:ext cx="10972800" cy="300082"/>
          </a:xfrm>
          <a:prstGeom prst="rect">
            <a:avLst/>
          </a:prstGeom>
          <a:noFill/>
        </p:spPr>
        <p:txBody>
          <a:bodyPr wrap="square" lIns="0" tIns="0" rIns="0" bIns="0" anchor="t">
            <a:spAutoFit/>
          </a:bodyPr>
          <a:lstStyle/>
          <a:p>
            <a:pPr algn="l"/>
            <a:r>
              <a:rPr sz="1950" b="1">
                <a:solidFill>
                  <a:srgbClr val="00D9C6"/>
                </a:solidFill>
                <a:latin typeface="Inter"/>
              </a:rPr>
              <a:t>DER BEWEIS</a:t>
            </a:r>
          </a:p>
        </p:txBody>
      </p:sp>
      <p:sp>
        <p:nvSpPr>
          <p:cNvPr id="5" name="Rectangle 4"/>
          <p:cNvSpPr/>
          <p:nvPr/>
        </p:nvSpPr>
        <p:spPr>
          <a:xfrm>
            <a:off x="0" y="10177272"/>
            <a:ext cx="14630034" cy="109728"/>
          </a:xfrm>
          <a:prstGeom prst="rect">
            <a:avLst/>
          </a:prstGeom>
          <a:solidFill>
            <a:srgbClr val="00D9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6" name="TextBox 5"/>
          <p:cNvSpPr txBox="1"/>
          <p:nvPr/>
        </p:nvSpPr>
        <p:spPr>
          <a:xfrm>
            <a:off x="1234440" y="2674621"/>
            <a:ext cx="15773400" cy="1015663"/>
          </a:xfrm>
          <a:prstGeom prst="rect">
            <a:avLst/>
          </a:prstGeom>
          <a:noFill/>
        </p:spPr>
        <p:txBody>
          <a:bodyPr wrap="square" lIns="0" tIns="0" rIns="0" bIns="0" anchor="t">
            <a:spAutoFit/>
          </a:bodyPr>
          <a:lstStyle/>
          <a:p>
            <a:pPr algn="l"/>
            <a:r>
              <a:rPr sz="6600" b="1">
                <a:solidFill>
                  <a:srgbClr val="EAF6F3"/>
                </a:solidFill>
                <a:latin typeface="Space Grotesk"/>
              </a:rPr>
              <a:t>Maschinenbauer nutzen LeadPilot bereits.</a:t>
            </a:r>
          </a:p>
        </p:txBody>
      </p:sp>
      <p:sp>
        <p:nvSpPr>
          <p:cNvPr id="7" name="Rounded Rectangle 6"/>
          <p:cNvSpPr/>
          <p:nvPr/>
        </p:nvSpPr>
        <p:spPr>
          <a:xfrm>
            <a:off x="1234440" y="4389120"/>
            <a:ext cx="4937760" cy="2880360"/>
          </a:xfrm>
          <a:prstGeom prst="roundRect">
            <a:avLst>
              <a:gd name="adj" fmla="val 13333"/>
            </a:avLst>
          </a:prstGeom>
          <a:solidFill>
            <a:srgbClr val="10302C"/>
          </a:solidFill>
          <a:ln w="19050">
            <a:solidFill>
              <a:srgbClr val="2A4A4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8" name="TextBox 7"/>
          <p:cNvSpPr txBox="1"/>
          <p:nvPr/>
        </p:nvSpPr>
        <p:spPr>
          <a:xfrm>
            <a:off x="1783080" y="4732021"/>
            <a:ext cx="4114800" cy="1015663"/>
          </a:xfrm>
          <a:prstGeom prst="rect">
            <a:avLst/>
          </a:prstGeom>
          <a:noFill/>
        </p:spPr>
        <p:txBody>
          <a:bodyPr wrap="square" lIns="0" tIns="0" rIns="0" bIns="0" anchor="t">
            <a:spAutoFit/>
          </a:bodyPr>
          <a:lstStyle/>
          <a:p>
            <a:pPr algn="l"/>
            <a:r>
              <a:rPr sz="6600" b="1">
                <a:solidFill>
                  <a:srgbClr val="00D9C6"/>
                </a:solidFill>
                <a:latin typeface="Space Grotesk"/>
              </a:rPr>
              <a:t>66</a:t>
            </a:r>
          </a:p>
        </p:txBody>
      </p:sp>
      <p:sp>
        <p:nvSpPr>
          <p:cNvPr id="9" name="TextBox 8"/>
          <p:cNvSpPr txBox="1"/>
          <p:nvPr/>
        </p:nvSpPr>
        <p:spPr>
          <a:xfrm>
            <a:off x="1783080" y="6172201"/>
            <a:ext cx="4114800" cy="323165"/>
          </a:xfrm>
          <a:prstGeom prst="rect">
            <a:avLst/>
          </a:prstGeom>
          <a:noFill/>
        </p:spPr>
        <p:txBody>
          <a:bodyPr wrap="square" lIns="0" tIns="0" rIns="0" bIns="0" anchor="t">
            <a:spAutoFit/>
          </a:bodyPr>
          <a:lstStyle/>
          <a:p>
            <a:pPr algn="l"/>
            <a:r>
              <a:rPr sz="2100">
                <a:solidFill>
                  <a:srgbClr val="8FB0A8"/>
                </a:solidFill>
                <a:latin typeface="Inter"/>
              </a:rPr>
              <a:t>B2B-Mittelständler im Einsatz</a:t>
            </a:r>
          </a:p>
        </p:txBody>
      </p:sp>
      <p:sp>
        <p:nvSpPr>
          <p:cNvPr id="10" name="Rounded Rectangle 9"/>
          <p:cNvSpPr/>
          <p:nvPr/>
        </p:nvSpPr>
        <p:spPr>
          <a:xfrm>
            <a:off x="6652260" y="4389120"/>
            <a:ext cx="4937760" cy="2880360"/>
          </a:xfrm>
          <a:prstGeom prst="roundRect">
            <a:avLst>
              <a:gd name="adj" fmla="val 13333"/>
            </a:avLst>
          </a:prstGeom>
          <a:solidFill>
            <a:srgbClr val="10302C"/>
          </a:solidFill>
          <a:ln w="25400">
            <a:solidFill>
              <a:srgbClr val="00D9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1" name="TextBox 10"/>
          <p:cNvSpPr txBox="1"/>
          <p:nvPr/>
        </p:nvSpPr>
        <p:spPr>
          <a:xfrm>
            <a:off x="7200900" y="4732021"/>
            <a:ext cx="4114800" cy="1015663"/>
          </a:xfrm>
          <a:prstGeom prst="rect">
            <a:avLst/>
          </a:prstGeom>
          <a:noFill/>
        </p:spPr>
        <p:txBody>
          <a:bodyPr wrap="square" lIns="0" tIns="0" rIns="0" bIns="0" anchor="t">
            <a:spAutoFit/>
          </a:bodyPr>
          <a:lstStyle/>
          <a:p>
            <a:pPr algn="l"/>
            <a:r>
              <a:rPr sz="6600" b="1">
                <a:solidFill>
                  <a:srgbClr val="00D9C6"/>
                </a:solidFill>
                <a:latin typeface="Space Grotesk"/>
              </a:rPr>
              <a:t>36 %</a:t>
            </a:r>
          </a:p>
        </p:txBody>
      </p:sp>
      <p:sp>
        <p:nvSpPr>
          <p:cNvPr id="12" name="TextBox 11"/>
          <p:cNvSpPr txBox="1"/>
          <p:nvPr/>
        </p:nvSpPr>
        <p:spPr>
          <a:xfrm>
            <a:off x="7200900" y="6172201"/>
            <a:ext cx="4114800" cy="323165"/>
          </a:xfrm>
          <a:prstGeom prst="rect">
            <a:avLst/>
          </a:prstGeom>
          <a:noFill/>
        </p:spPr>
        <p:txBody>
          <a:bodyPr wrap="square" lIns="0" tIns="0" rIns="0" bIns="0" anchor="t">
            <a:spAutoFit/>
          </a:bodyPr>
          <a:lstStyle/>
          <a:p>
            <a:pPr algn="l"/>
            <a:r>
              <a:rPr sz="2100">
                <a:solidFill>
                  <a:srgbClr val="8FB0A8"/>
                </a:solidFill>
                <a:latin typeface="Inter"/>
              </a:rPr>
              <a:t>davon aus dem Maschinenbau</a:t>
            </a:r>
          </a:p>
        </p:txBody>
      </p:sp>
      <p:sp>
        <p:nvSpPr>
          <p:cNvPr id="13" name="Rounded Rectangle 12"/>
          <p:cNvSpPr/>
          <p:nvPr/>
        </p:nvSpPr>
        <p:spPr>
          <a:xfrm>
            <a:off x="12070080" y="4389120"/>
            <a:ext cx="4937760" cy="2880360"/>
          </a:xfrm>
          <a:prstGeom prst="roundRect">
            <a:avLst>
              <a:gd name="adj" fmla="val 13333"/>
            </a:avLst>
          </a:prstGeom>
          <a:solidFill>
            <a:srgbClr val="10302C"/>
          </a:solidFill>
          <a:ln w="19050">
            <a:solidFill>
              <a:srgbClr val="2A4A4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4" name="TextBox 13"/>
          <p:cNvSpPr txBox="1"/>
          <p:nvPr/>
        </p:nvSpPr>
        <p:spPr>
          <a:xfrm>
            <a:off x="12618720" y="4732021"/>
            <a:ext cx="4114800" cy="1015663"/>
          </a:xfrm>
          <a:prstGeom prst="rect">
            <a:avLst/>
          </a:prstGeom>
          <a:noFill/>
        </p:spPr>
        <p:txBody>
          <a:bodyPr wrap="square" lIns="0" tIns="0" rIns="0" bIns="0" anchor="t">
            <a:spAutoFit/>
          </a:bodyPr>
          <a:lstStyle/>
          <a:p>
            <a:pPr algn="l"/>
            <a:r>
              <a:rPr sz="6600" b="1">
                <a:solidFill>
                  <a:srgbClr val="00D9C6"/>
                </a:solidFill>
                <a:latin typeface="Space Grotesk"/>
              </a:rPr>
              <a:t>NPS 34</a:t>
            </a:r>
          </a:p>
        </p:txBody>
      </p:sp>
      <p:sp>
        <p:nvSpPr>
          <p:cNvPr id="15" name="TextBox 14"/>
          <p:cNvSpPr txBox="1"/>
          <p:nvPr/>
        </p:nvSpPr>
        <p:spPr>
          <a:xfrm>
            <a:off x="12618720" y="6172201"/>
            <a:ext cx="4114800" cy="323165"/>
          </a:xfrm>
          <a:prstGeom prst="rect">
            <a:avLst/>
          </a:prstGeom>
          <a:noFill/>
        </p:spPr>
        <p:txBody>
          <a:bodyPr wrap="square" lIns="0" tIns="0" rIns="0" bIns="0" anchor="t">
            <a:spAutoFit/>
          </a:bodyPr>
          <a:lstStyle/>
          <a:p>
            <a:pPr algn="l"/>
            <a:r>
              <a:rPr sz="2100">
                <a:solidFill>
                  <a:srgbClr val="8FB0A8"/>
                </a:solidFill>
                <a:latin typeface="Inter"/>
              </a:rPr>
              <a:t>Kundenzufriedenheit</a:t>
            </a:r>
          </a:p>
        </p:txBody>
      </p:sp>
      <p:sp>
        <p:nvSpPr>
          <p:cNvPr id="16" name="Rounded Rectangle 15"/>
          <p:cNvSpPr/>
          <p:nvPr/>
        </p:nvSpPr>
        <p:spPr>
          <a:xfrm>
            <a:off x="1234440" y="7612380"/>
            <a:ext cx="15841980" cy="1851660"/>
          </a:xfrm>
          <a:prstGeom prst="roundRect">
            <a:avLst>
              <a:gd name="adj" fmla="val 20740"/>
            </a:avLst>
          </a:prstGeom>
          <a:solidFill>
            <a:srgbClr val="10302C"/>
          </a:solidFill>
          <a:ln w="19050">
            <a:solidFill>
              <a:srgbClr val="2A4A4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7" name="TextBox 16"/>
          <p:cNvSpPr txBox="1"/>
          <p:nvPr/>
        </p:nvSpPr>
        <p:spPr>
          <a:xfrm>
            <a:off x="1783080" y="7886701"/>
            <a:ext cx="137160" cy="2031325"/>
          </a:xfrm>
          <a:prstGeom prst="rect">
            <a:avLst/>
          </a:prstGeom>
          <a:noFill/>
        </p:spPr>
        <p:txBody>
          <a:bodyPr wrap="square" lIns="0" tIns="0" rIns="0" bIns="0" anchor="t">
            <a:spAutoFit/>
          </a:bodyPr>
          <a:lstStyle/>
          <a:p>
            <a:pPr algn="l"/>
            <a:r>
              <a:rPr sz="1650" b="1">
                <a:solidFill>
                  <a:srgbClr val="00D9C6"/>
                </a:solidFill>
                <a:latin typeface="Inter"/>
              </a:rPr>
              <a:t>REFERENZ</a:t>
            </a:r>
          </a:p>
        </p:txBody>
      </p:sp>
      <p:sp>
        <p:nvSpPr>
          <p:cNvPr id="18" name="TextBox 17"/>
          <p:cNvSpPr txBox="1"/>
          <p:nvPr/>
        </p:nvSpPr>
        <p:spPr>
          <a:xfrm>
            <a:off x="1783080" y="8366760"/>
            <a:ext cx="9875520" cy="692497"/>
          </a:xfrm>
          <a:prstGeom prst="rect">
            <a:avLst/>
          </a:prstGeom>
          <a:noFill/>
        </p:spPr>
        <p:txBody>
          <a:bodyPr wrap="square" lIns="0" tIns="0" rIns="0" bIns="0" anchor="t">
            <a:spAutoFit/>
          </a:bodyPr>
          <a:lstStyle/>
          <a:p>
            <a:pPr algn="l"/>
            <a:r>
              <a:rPr sz="2250">
                <a:solidFill>
                  <a:srgbClr val="EAF6F3"/>
                </a:solidFill>
                <a:latin typeface="Inter"/>
              </a:rPr>
              <a:t>Maschinenbauer, 6 Vertriebler: keine verlorenen Anfragen mehr, jede Woche weniger Aufwand beim Forecast.</a:t>
            </a:r>
          </a:p>
        </p:txBody>
      </p:sp>
      <p:sp>
        <p:nvSpPr>
          <p:cNvPr id="19" name="Rounded Rectangle 18"/>
          <p:cNvSpPr/>
          <p:nvPr/>
        </p:nvSpPr>
        <p:spPr>
          <a:xfrm>
            <a:off x="13030200" y="8023860"/>
            <a:ext cx="3566160" cy="548640"/>
          </a:xfrm>
          <a:prstGeom prst="roundRect">
            <a:avLst>
              <a:gd name="adj" fmla="val 50000"/>
            </a:avLst>
          </a:prstGeom>
          <a:noFill/>
          <a:ln w="19050">
            <a:solidFill>
              <a:srgbClr val="00D9C6"/>
            </a:solid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650" b="1">
                <a:solidFill>
                  <a:srgbClr val="00D9C6"/>
                </a:solidFill>
                <a:latin typeface="Inter"/>
              </a:rPr>
              <a:t>DSGVO-KONFORM</a:t>
            </a:r>
          </a:p>
        </p:txBody>
      </p:sp>
      <p:sp>
        <p:nvSpPr>
          <p:cNvPr id="20" name="Rounded Rectangle 19"/>
          <p:cNvSpPr/>
          <p:nvPr/>
        </p:nvSpPr>
        <p:spPr>
          <a:xfrm>
            <a:off x="13030200" y="8709660"/>
            <a:ext cx="3566160" cy="548640"/>
          </a:xfrm>
          <a:prstGeom prst="roundRect">
            <a:avLst>
              <a:gd name="adj" fmla="val 50000"/>
            </a:avLst>
          </a:prstGeom>
          <a:noFill/>
          <a:ln w="19050">
            <a:solidFill>
              <a:srgbClr val="2A4A43"/>
            </a:solid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650" b="1">
                <a:solidFill>
                  <a:srgbClr val="8FB0A8"/>
                </a:solidFill>
                <a:latin typeface="Inter"/>
              </a:rPr>
              <a:t>HOSTING IN EUROPA</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Logo(final-detailed) Kopie.png"/>
          <p:cNvPicPr>
            <a:picLocks noChangeAspect="1"/>
          </p:cNvPicPr>
          <p:nvPr/>
        </p:nvPicPr>
        <p:blipFill>
          <a:blip r:embed="rId3"/>
          <a:stretch>
            <a:fillRect/>
          </a:stretch>
        </p:blipFill>
        <p:spPr>
          <a:xfrm>
            <a:off x="1234440" y="822960"/>
            <a:ext cx="1281273" cy="576072"/>
          </a:xfrm>
          <a:prstGeom prst="rect">
            <a:avLst/>
          </a:prstGeom>
        </p:spPr>
      </p:pic>
      <p:sp>
        <p:nvSpPr>
          <p:cNvPr id="3" name="TextBox 2"/>
          <p:cNvSpPr txBox="1"/>
          <p:nvPr/>
        </p:nvSpPr>
        <p:spPr>
          <a:xfrm>
            <a:off x="14950440" y="932688"/>
            <a:ext cx="2125980" cy="276999"/>
          </a:xfrm>
          <a:prstGeom prst="rect">
            <a:avLst/>
          </a:prstGeom>
          <a:noFill/>
        </p:spPr>
        <p:txBody>
          <a:bodyPr wrap="square" lIns="0" tIns="0" rIns="0" bIns="0" anchor="t">
            <a:spAutoFit/>
          </a:bodyPr>
          <a:lstStyle/>
          <a:p>
            <a:pPr algn="r"/>
            <a:r>
              <a:rPr>
                <a:solidFill>
                  <a:srgbClr val="8FB0A8"/>
                </a:solidFill>
                <a:latin typeface="JetBrains Mono"/>
              </a:rPr>
              <a:t>05 / 05</a:t>
            </a:r>
          </a:p>
        </p:txBody>
      </p:sp>
      <p:sp>
        <p:nvSpPr>
          <p:cNvPr id="4" name="TextBox 3"/>
          <p:cNvSpPr txBox="1"/>
          <p:nvPr/>
        </p:nvSpPr>
        <p:spPr>
          <a:xfrm>
            <a:off x="1234440" y="2057400"/>
            <a:ext cx="10972800" cy="300082"/>
          </a:xfrm>
          <a:prstGeom prst="rect">
            <a:avLst/>
          </a:prstGeom>
          <a:noFill/>
        </p:spPr>
        <p:txBody>
          <a:bodyPr wrap="square" lIns="0" tIns="0" rIns="0" bIns="0" anchor="t">
            <a:spAutoFit/>
          </a:bodyPr>
          <a:lstStyle/>
          <a:p>
            <a:pPr algn="l"/>
            <a:r>
              <a:rPr sz="1950" b="1">
                <a:solidFill>
                  <a:srgbClr val="00D9C6"/>
                </a:solidFill>
                <a:latin typeface="Inter"/>
              </a:rPr>
              <a:t>NÄCHSTER SCHRITT</a:t>
            </a:r>
          </a:p>
        </p:txBody>
      </p:sp>
      <p:sp>
        <p:nvSpPr>
          <p:cNvPr id="5" name="Rectangle 4"/>
          <p:cNvSpPr/>
          <p:nvPr/>
        </p:nvSpPr>
        <p:spPr>
          <a:xfrm>
            <a:off x="1" y="10177272"/>
            <a:ext cx="18287543" cy="109728"/>
          </a:xfrm>
          <a:prstGeom prst="rect">
            <a:avLst/>
          </a:prstGeom>
          <a:solidFill>
            <a:srgbClr val="00D9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6" name="TextBox 5"/>
          <p:cNvSpPr txBox="1"/>
          <p:nvPr/>
        </p:nvSpPr>
        <p:spPr>
          <a:xfrm>
            <a:off x="1234440" y="2674620"/>
            <a:ext cx="15773400" cy="2262158"/>
          </a:xfrm>
          <a:prstGeom prst="rect">
            <a:avLst/>
          </a:prstGeom>
          <a:noFill/>
        </p:spPr>
        <p:txBody>
          <a:bodyPr wrap="square" lIns="0" tIns="0" rIns="0" bIns="0" anchor="t">
            <a:spAutoFit/>
          </a:bodyPr>
          <a:lstStyle/>
          <a:p>
            <a:pPr algn="l">
              <a:lnSpc>
                <a:spcPct val="98000"/>
              </a:lnSpc>
            </a:pPr>
            <a:r>
              <a:rPr sz="7500" b="1">
                <a:solidFill>
                  <a:srgbClr val="EAF6F3"/>
                </a:solidFill>
                <a:latin typeface="Space Grotesk"/>
              </a:rPr>
              <a:t>Dienstag. 30 Minuten.</a:t>
            </a:r>
          </a:p>
          <a:p>
            <a:pPr algn="l">
              <a:lnSpc>
                <a:spcPct val="98000"/>
              </a:lnSpc>
            </a:pPr>
            <a:r>
              <a:rPr sz="7500" b="1">
                <a:solidFill>
                  <a:srgbClr val="00D9C6"/>
                </a:solidFill>
                <a:latin typeface="Space Grotesk"/>
              </a:rPr>
              <a:t>Ihre Messe-Liste.</a:t>
            </a:r>
          </a:p>
        </p:txBody>
      </p:sp>
      <p:sp>
        <p:nvSpPr>
          <p:cNvPr id="7" name="TextBox 6"/>
          <p:cNvSpPr txBox="1"/>
          <p:nvPr/>
        </p:nvSpPr>
        <p:spPr>
          <a:xfrm>
            <a:off x="1234440" y="5143501"/>
            <a:ext cx="14401800" cy="461665"/>
          </a:xfrm>
          <a:prstGeom prst="rect">
            <a:avLst/>
          </a:prstGeom>
          <a:noFill/>
        </p:spPr>
        <p:txBody>
          <a:bodyPr wrap="square" lIns="0" tIns="0" rIns="0" bIns="0" anchor="t">
            <a:spAutoFit/>
          </a:bodyPr>
          <a:lstStyle/>
          <a:p>
            <a:pPr algn="l"/>
            <a:r>
              <a:rPr sz="3000">
                <a:solidFill>
                  <a:srgbClr val="8FB0A8"/>
                </a:solidFill>
                <a:latin typeface="Inter"/>
              </a:rPr>
              <a:t>Wir bereiten Ihre letzte Messe-Liste live in LeadPilot auf.</a:t>
            </a:r>
          </a:p>
        </p:txBody>
      </p:sp>
      <p:sp>
        <p:nvSpPr>
          <p:cNvPr id="8" name="Oval 7"/>
          <p:cNvSpPr/>
          <p:nvPr/>
        </p:nvSpPr>
        <p:spPr>
          <a:xfrm>
            <a:off x="1234440" y="6391656"/>
            <a:ext cx="192024" cy="192024"/>
          </a:xfrm>
          <a:prstGeom prst="ellipse">
            <a:avLst/>
          </a:prstGeom>
          <a:solidFill>
            <a:srgbClr val="00D9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9" name="TextBox 8"/>
          <p:cNvSpPr txBox="1"/>
          <p:nvPr/>
        </p:nvSpPr>
        <p:spPr>
          <a:xfrm>
            <a:off x="1645920" y="6281928"/>
            <a:ext cx="4663440" cy="369332"/>
          </a:xfrm>
          <a:prstGeom prst="rect">
            <a:avLst/>
          </a:prstGeom>
          <a:noFill/>
        </p:spPr>
        <p:txBody>
          <a:bodyPr wrap="square" lIns="0" tIns="0" rIns="0" bIns="0" anchor="t">
            <a:spAutoFit/>
          </a:bodyPr>
          <a:lstStyle/>
          <a:p>
            <a:pPr algn="l"/>
            <a:r>
              <a:rPr sz="2400">
                <a:solidFill>
                  <a:srgbClr val="8FB0A8"/>
                </a:solidFill>
                <a:latin typeface="Inter"/>
              </a:rPr>
              <a:t>Echte Daten, kein Demo-Set</a:t>
            </a:r>
          </a:p>
        </p:txBody>
      </p:sp>
      <p:sp>
        <p:nvSpPr>
          <p:cNvPr id="10" name="Oval 9"/>
          <p:cNvSpPr/>
          <p:nvPr/>
        </p:nvSpPr>
        <p:spPr>
          <a:xfrm>
            <a:off x="6583680" y="6391656"/>
            <a:ext cx="192024" cy="192024"/>
          </a:xfrm>
          <a:prstGeom prst="ellipse">
            <a:avLst/>
          </a:prstGeom>
          <a:solidFill>
            <a:srgbClr val="00D9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1" name="TextBox 10"/>
          <p:cNvSpPr txBox="1"/>
          <p:nvPr/>
        </p:nvSpPr>
        <p:spPr>
          <a:xfrm>
            <a:off x="6995160" y="6281928"/>
            <a:ext cx="4663440" cy="369332"/>
          </a:xfrm>
          <a:prstGeom prst="rect">
            <a:avLst/>
          </a:prstGeom>
          <a:noFill/>
        </p:spPr>
        <p:txBody>
          <a:bodyPr wrap="square" lIns="0" tIns="0" rIns="0" bIns="0" anchor="t">
            <a:spAutoFit/>
          </a:bodyPr>
          <a:lstStyle/>
          <a:p>
            <a:pPr algn="l"/>
            <a:r>
              <a:rPr sz="2400">
                <a:solidFill>
                  <a:srgbClr val="8FB0A8"/>
                </a:solidFill>
                <a:latin typeface="Inter"/>
              </a:rPr>
              <a:t>Forecast live sehen</a:t>
            </a:r>
          </a:p>
        </p:txBody>
      </p:sp>
      <p:sp>
        <p:nvSpPr>
          <p:cNvPr id="12" name="Oval 11"/>
          <p:cNvSpPr/>
          <p:nvPr/>
        </p:nvSpPr>
        <p:spPr>
          <a:xfrm>
            <a:off x="11932919" y="6391656"/>
            <a:ext cx="192024" cy="192024"/>
          </a:xfrm>
          <a:prstGeom prst="ellipse">
            <a:avLst/>
          </a:prstGeom>
          <a:solidFill>
            <a:srgbClr val="00D9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3" name="TextBox 12"/>
          <p:cNvSpPr txBox="1"/>
          <p:nvPr/>
        </p:nvSpPr>
        <p:spPr>
          <a:xfrm>
            <a:off x="12344400" y="6281928"/>
            <a:ext cx="4663440" cy="369332"/>
          </a:xfrm>
          <a:prstGeom prst="rect">
            <a:avLst/>
          </a:prstGeom>
          <a:noFill/>
        </p:spPr>
        <p:txBody>
          <a:bodyPr wrap="square" lIns="0" tIns="0" rIns="0" bIns="0" anchor="t">
            <a:spAutoFit/>
          </a:bodyPr>
          <a:lstStyle/>
          <a:p>
            <a:pPr algn="l"/>
            <a:r>
              <a:rPr sz="2400">
                <a:solidFill>
                  <a:srgbClr val="8FB0A8"/>
                </a:solidFill>
                <a:latin typeface="Inter"/>
              </a:rPr>
              <a:t>Danach entscheiden Sie</a:t>
            </a:r>
          </a:p>
        </p:txBody>
      </p:sp>
      <p:sp>
        <p:nvSpPr>
          <p:cNvPr id="14" name="TextBox 13"/>
          <p:cNvSpPr txBox="1"/>
          <p:nvPr/>
        </p:nvSpPr>
        <p:spPr>
          <a:xfrm>
            <a:off x="1234440" y="7543801"/>
            <a:ext cx="8229600" cy="646331"/>
          </a:xfrm>
          <a:prstGeom prst="rect">
            <a:avLst/>
          </a:prstGeom>
          <a:noFill/>
        </p:spPr>
        <p:txBody>
          <a:bodyPr wrap="square" lIns="0" tIns="0" rIns="0" bIns="0" anchor="t">
            <a:spAutoFit/>
          </a:bodyPr>
          <a:lstStyle/>
          <a:p>
            <a:pPr algn="l"/>
            <a:r>
              <a:rPr sz="4200" b="1">
                <a:solidFill>
                  <a:srgbClr val="EAF6F3"/>
                </a:solidFill>
                <a:latin typeface="Space Grotesk"/>
              </a:rPr>
              <a:t>Passt Ihnen Dienstag?</a:t>
            </a:r>
          </a:p>
        </p:txBody>
      </p:sp>
      <p:sp>
        <p:nvSpPr>
          <p:cNvPr id="15" name="Rounded Rectangle 14"/>
          <p:cNvSpPr/>
          <p:nvPr/>
        </p:nvSpPr>
        <p:spPr>
          <a:xfrm>
            <a:off x="1234440" y="8503920"/>
            <a:ext cx="6309360" cy="1097280"/>
          </a:xfrm>
          <a:prstGeom prst="roundRect">
            <a:avLst>
              <a:gd name="adj" fmla="val 50000"/>
            </a:avLst>
          </a:prstGeom>
          <a:solidFill>
            <a:srgbClr val="FF7A3D"/>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2700" b="1">
                <a:solidFill>
                  <a:srgbClr val="0B211F"/>
                </a:solidFill>
                <a:latin typeface="Inter"/>
              </a:rPr>
              <a:t>Dienstag fest einplanen</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hteck 1">
            <a:extLst>
              <a:ext uri="{FF2B5EF4-FFF2-40B4-BE49-F238E27FC236}">
                <a16:creationId xmlns:a16="http://schemas.microsoft.com/office/drawing/2014/main" id="{D3D892DC-208D-42AA-8677-8B5820E66AEF}"/>
              </a:ext>
            </a:extLst>
          </p:cNvPr>
          <p:cNvSpPr>
            <a:spLocks noGrp="1"/>
          </p:cNvSpPr>
          <p:nvPr/>
        </p:nvSpPr>
        <p:spPr>
          <a:xfrm>
            <a:off x="16430625" y="685800"/>
            <a:ext cx="857250" cy="457200"/>
          </a:xfrm>
          <a:prstGeom prst="rect">
            <a:avLst/>
          </a:prstGeom>
          <a:noFill/>
          <a:ln w="0">
            <a:noFill/>
          </a:ln>
        </p:spPr>
        <p:txBody>
          <a:bodyPr/>
          <a:lstStyle>
            <a:defPPr>
              <a:defRPr sz="1350" b="0">
                <a:solidFill>
                  <a:srgbClr val="A7B0BA"/>
                </a:solidFill>
                <a:latin typeface="LeadPilot Grotesk"/>
                <a:ea typeface="LeadPilot Grotesk"/>
                <a:cs typeface="LeadPilot Grotesk"/>
              </a:defRPr>
            </a:defPPr>
          </a:lstStyle>
          <a:p>
            <a:pPr>
              <a:defRPr sz="1350" b="0">
                <a:solidFill>
                  <a:srgbClr val="A7B0BA"/>
                </a:solidFill>
                <a:latin typeface="LeadPilot Grotesk"/>
                <a:ea typeface="LeadPilot Grotesk"/>
                <a:cs typeface="LeadPilot Grotesk"/>
              </a:defRPr>
            </a:pPr>
            <a:r>
              <a:rPr sz="2025">
                <a:solidFill>
                  <a:srgbClr val="A7B0BA"/>
                </a:solidFill>
                <a:latin typeface="LeadPilot Grotesk"/>
                <a:ea typeface="LeadPilot Grotesk"/>
                <a:cs typeface="LeadPilot Grotesk"/>
              </a:rPr>
              <a:t>01</a:t>
            </a:r>
          </a:p>
        </p:txBody>
      </p:sp>
      <p:sp>
        <p:nvSpPr>
          <p:cNvPr id="3" name="Rechteck 2">
            <a:extLst>
              <a:ext uri="{FF2B5EF4-FFF2-40B4-BE49-F238E27FC236}">
                <a16:creationId xmlns:a16="http://schemas.microsoft.com/office/drawing/2014/main" id="{0907D18E-CD7D-4DC6-BCE2-0FCB8573E2E9}"/>
              </a:ext>
            </a:extLst>
          </p:cNvPr>
          <p:cNvSpPr>
            <a:spLocks noGrp="1"/>
          </p:cNvSpPr>
          <p:nvPr/>
        </p:nvSpPr>
        <p:spPr>
          <a:xfrm>
            <a:off x="1028700" y="9372600"/>
            <a:ext cx="15716250" cy="514350"/>
          </a:xfrm>
          <a:prstGeom prst="rect">
            <a:avLst/>
          </a:prstGeom>
          <a:noFill/>
          <a:ln w="0">
            <a:noFill/>
          </a:ln>
        </p:spPr>
        <p:txBody>
          <a:bodyPr/>
          <a:lstStyle>
            <a:defPPr>
              <a:defRPr sz="1200" b="0">
                <a:solidFill>
                  <a:srgbClr val="A7B0BA"/>
                </a:solidFill>
                <a:latin typeface="LeadPilot Grotesk"/>
                <a:ea typeface="LeadPilot Grotesk"/>
                <a:cs typeface="LeadPilot Grotesk"/>
              </a:defRPr>
            </a:defPPr>
          </a:lstStyle>
          <a:p>
            <a:pPr>
              <a:defRPr sz="1200" b="0">
                <a:solidFill>
                  <a:srgbClr val="A7B0BA"/>
                </a:solidFill>
                <a:latin typeface="LeadPilot Grotesk"/>
                <a:ea typeface="LeadPilot Grotesk"/>
                <a:cs typeface="LeadPilot Grotesk"/>
              </a:defRPr>
            </a:pPr>
            <a:r>
              <a:rPr>
                <a:solidFill>
                  <a:srgbClr val="A7B0BA"/>
                </a:solidFill>
                <a:latin typeface="LeadPilot Grotesk"/>
                <a:ea typeface="LeadPilot Grotesk"/>
                <a:cs typeface="LeadPilot Grotesk"/>
              </a:rPr>
              <a:t>Fiktives Kundenszenario: Jens Hartwig, Weidner Antriebstechnik GmbH</a:t>
            </a:r>
          </a:p>
        </p:txBody>
      </p:sp>
      <p:sp>
        <p:nvSpPr>
          <p:cNvPr id="4" name="Rechteck 3">
            <a:extLst>
              <a:ext uri="{FF2B5EF4-FFF2-40B4-BE49-F238E27FC236}">
                <a16:creationId xmlns:a16="http://schemas.microsoft.com/office/drawing/2014/main" id="{E386F533-6A2E-4402-B10A-AFBFB57F7093}"/>
              </a:ext>
            </a:extLst>
          </p:cNvPr>
          <p:cNvSpPr>
            <a:spLocks noGrp="1"/>
          </p:cNvSpPr>
          <p:nvPr/>
        </p:nvSpPr>
        <p:spPr>
          <a:xfrm>
            <a:off x="1028700" y="2171700"/>
            <a:ext cx="16230600" cy="2286000"/>
          </a:xfrm>
          <a:prstGeom prst="rect">
            <a:avLst/>
          </a:prstGeom>
          <a:noFill/>
          <a:ln w="0">
            <a:noFill/>
          </a:ln>
        </p:spPr>
        <p:txBody>
          <a:bodyPr/>
          <a:lstStyle>
            <a:defPPr>
              <a:defRPr sz="4500" b="1">
                <a:solidFill>
                  <a:srgbClr val="FFFFFF"/>
                </a:solidFill>
                <a:latin typeface="LeadPilot Grotesk"/>
                <a:ea typeface="LeadPilot Grotesk"/>
                <a:cs typeface="LeadPilot Grotesk"/>
              </a:defRPr>
            </a:defPPr>
          </a:lstStyle>
          <a:p>
            <a:pPr>
              <a:defRPr sz="4500" b="1">
                <a:solidFill>
                  <a:srgbClr val="FFFFFF"/>
                </a:solidFill>
                <a:latin typeface="LeadPilot Grotesk"/>
                <a:ea typeface="LeadPilot Grotesk"/>
                <a:cs typeface="LeadPilot Grotesk"/>
              </a:defRPr>
            </a:pPr>
            <a:r>
              <a:rPr sz="6750" b="1">
                <a:solidFill>
                  <a:srgbClr val="FFFFFF"/>
                </a:solidFill>
                <a:latin typeface="LeadPilot Grotesk"/>
                <a:ea typeface="LeadPilot Grotesk"/>
                <a:cs typeface="LeadPilot Grotesk"/>
              </a:rPr>
              <a:t>Nach der Messe beginnt</a:t>
            </a:r>
          </a:p>
          <a:p>
            <a:pPr>
              <a:defRPr sz="4500" b="1">
                <a:solidFill>
                  <a:srgbClr val="FFFFFF"/>
                </a:solidFill>
                <a:latin typeface="LeadPilot Grotesk"/>
                <a:ea typeface="LeadPilot Grotesk"/>
                <a:cs typeface="LeadPilot Grotesk"/>
              </a:defRPr>
            </a:pPr>
            <a:r>
              <a:rPr sz="6750" b="1">
                <a:solidFill>
                  <a:srgbClr val="FFFFFF"/>
                </a:solidFill>
                <a:latin typeface="LeadPilot Grotesk"/>
                <a:ea typeface="LeadPilot Grotesk"/>
                <a:cs typeface="LeadPilot Grotesk"/>
              </a:rPr>
              <a:t>der entscheidende Teil</a:t>
            </a:r>
          </a:p>
        </p:txBody>
      </p:sp>
      <p:sp>
        <p:nvSpPr>
          <p:cNvPr id="5" name="Rechteck 4">
            <a:extLst>
              <a:ext uri="{FF2B5EF4-FFF2-40B4-BE49-F238E27FC236}">
                <a16:creationId xmlns:a16="http://schemas.microsoft.com/office/drawing/2014/main" id="{DB8B8860-FD9D-463A-8A58-170C85F3B8F1}"/>
              </a:ext>
            </a:extLst>
          </p:cNvPr>
          <p:cNvSpPr>
            <a:spLocks noGrp="1"/>
          </p:cNvSpPr>
          <p:nvPr/>
        </p:nvSpPr>
        <p:spPr>
          <a:xfrm>
            <a:off x="1028700" y="5086350"/>
            <a:ext cx="15716250" cy="1028700"/>
          </a:xfrm>
          <a:prstGeom prst="rect">
            <a:avLst/>
          </a:prstGeom>
          <a:noFill/>
          <a:ln w="0">
            <a:noFill/>
          </a:ln>
        </p:spPr>
        <p:txBody>
          <a:bodyPr/>
          <a:lstStyle>
            <a:defPPr>
              <a:defRPr sz="3300" b="1">
                <a:solidFill>
                  <a:srgbClr val="00D9C6"/>
                </a:solidFill>
                <a:latin typeface="LeadPilot Grotesk"/>
                <a:ea typeface="LeadPilot Grotesk"/>
                <a:cs typeface="LeadPilot Grotesk"/>
              </a:defRPr>
            </a:defPPr>
          </a:lstStyle>
          <a:p>
            <a:pPr>
              <a:defRPr sz="3300" b="1">
                <a:solidFill>
                  <a:srgbClr val="00D9C6"/>
                </a:solidFill>
                <a:latin typeface="LeadPilot Grotesk"/>
                <a:ea typeface="LeadPilot Grotesk"/>
                <a:cs typeface="LeadPilot Grotesk"/>
              </a:defRPr>
            </a:pPr>
            <a:r>
              <a:rPr sz="4950" b="1">
                <a:solidFill>
                  <a:srgbClr val="00D9C6"/>
                </a:solidFill>
                <a:latin typeface="LeadPilot Grotesk"/>
                <a:ea typeface="LeadPilot Grotesk"/>
                <a:cs typeface="LeadPilot Grotesk"/>
              </a:rPr>
              <a:t>„Leads haben wir genug.“</a:t>
            </a:r>
          </a:p>
        </p:txBody>
      </p:sp>
      <p:sp>
        <p:nvSpPr>
          <p:cNvPr id="6" name="Rechteck 5">
            <a:extLst>
              <a:ext uri="{FF2B5EF4-FFF2-40B4-BE49-F238E27FC236}">
                <a16:creationId xmlns:a16="http://schemas.microsoft.com/office/drawing/2014/main" id="{00BC0038-0B6F-4B09-BD3A-D01341929560}"/>
              </a:ext>
            </a:extLst>
          </p:cNvPr>
          <p:cNvSpPr>
            <a:spLocks noGrp="1"/>
          </p:cNvSpPr>
          <p:nvPr/>
        </p:nvSpPr>
        <p:spPr>
          <a:xfrm>
            <a:off x="1028701" y="6515100"/>
            <a:ext cx="9542657" cy="1428750"/>
          </a:xfrm>
          <a:prstGeom prst="rect">
            <a:avLst/>
          </a:prstGeom>
          <a:noFill/>
          <a:ln w="0">
            <a:noFill/>
          </a:ln>
        </p:spPr>
        <p:txBody>
          <a:bodyPr/>
          <a:lstStyle>
            <a:defPPr>
              <a:defRPr sz="2400" b="0">
                <a:solidFill>
                  <a:srgbClr val="FFFFFF"/>
                </a:solidFill>
                <a:latin typeface="LeadPilot Grotesk"/>
                <a:ea typeface="LeadPilot Grotesk"/>
                <a:cs typeface="LeadPilot Grotesk"/>
              </a:defRPr>
            </a:defPPr>
          </a:lstStyle>
          <a:p>
            <a:pPr>
              <a:defRPr sz="2400" b="0">
                <a:solidFill>
                  <a:srgbClr val="FFFFFF"/>
                </a:solidFill>
                <a:latin typeface="LeadPilot Grotesk"/>
                <a:ea typeface="LeadPilot Grotesk"/>
                <a:cs typeface="LeadPilot Grotesk"/>
              </a:defRPr>
            </a:pPr>
            <a:r>
              <a:rPr sz="3600">
                <a:solidFill>
                  <a:srgbClr val="FFFFFF"/>
                </a:solidFill>
                <a:latin typeface="LeadPilot Grotesk"/>
                <a:ea typeface="LeadPilot Grotesk"/>
                <a:cs typeface="LeadPilot Grotesk"/>
              </a:rPr>
              <a:t>Doch erst sechs Wochen später sehen Sie,</a:t>
            </a:r>
          </a:p>
          <a:p>
            <a:pPr>
              <a:defRPr sz="2400" b="0">
                <a:solidFill>
                  <a:srgbClr val="FFFFFF"/>
                </a:solidFill>
                <a:latin typeface="LeadPilot Grotesk"/>
                <a:ea typeface="LeadPilot Grotesk"/>
                <a:cs typeface="LeadPilot Grotesk"/>
              </a:defRPr>
            </a:pPr>
            <a:r>
              <a:rPr sz="3600">
                <a:solidFill>
                  <a:srgbClr val="FFFFFF"/>
                </a:solidFill>
                <a:latin typeface="LeadPilot Grotesk"/>
                <a:ea typeface="LeadPilot Grotesk"/>
                <a:cs typeface="LeadPilot Grotesk"/>
              </a:rPr>
              <a:t>welche Anfragen niemand angerufen hat.</a:t>
            </a:r>
          </a:p>
        </p:txBody>
      </p:sp>
      <p:pic>
        <p:nvPicPr>
          <p:cNvPr id="9" name="Grafik 8">
            <a:extLst>
              <a:ext uri="{FF2B5EF4-FFF2-40B4-BE49-F238E27FC236}">
                <a16:creationId xmlns:a16="http://schemas.microsoft.com/office/drawing/2014/main" id="{407D619F-B3A5-BFED-01BE-695E2064C7B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0125" y="225318"/>
            <a:ext cx="2930838" cy="1317732"/>
          </a:xfrm>
          <a:prstGeom prst="rect">
            <a:avLst/>
          </a:prstGeom>
        </p:spPr>
      </p:pic>
    </p:spTree>
    <p:extLst>
      <p:ext uri="{BB962C8B-B14F-4D97-AF65-F5344CB8AC3E}">
        <p14:creationId xmlns:p14="http://schemas.microsoft.com/office/powerpoint/2010/main" val="47325254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hteck 1">
            <a:extLst>
              <a:ext uri="{FF2B5EF4-FFF2-40B4-BE49-F238E27FC236}">
                <a16:creationId xmlns:a16="http://schemas.microsoft.com/office/drawing/2014/main" id="{9651B0BC-A665-4515-9931-BB89F49CE63F}"/>
              </a:ext>
            </a:extLst>
          </p:cNvPr>
          <p:cNvSpPr>
            <a:spLocks noGrp="1"/>
          </p:cNvSpPr>
          <p:nvPr/>
        </p:nvSpPr>
        <p:spPr>
          <a:xfrm>
            <a:off x="16430625" y="685800"/>
            <a:ext cx="857250" cy="457200"/>
          </a:xfrm>
          <a:prstGeom prst="rect">
            <a:avLst/>
          </a:prstGeom>
          <a:noFill/>
          <a:ln w="0">
            <a:noFill/>
          </a:ln>
        </p:spPr>
        <p:txBody>
          <a:bodyPr/>
          <a:lstStyle>
            <a:defPPr>
              <a:defRPr sz="1350" b="0">
                <a:solidFill>
                  <a:srgbClr val="A7B0BA"/>
                </a:solidFill>
                <a:latin typeface="LeadPilot Grotesk"/>
                <a:ea typeface="LeadPilot Grotesk"/>
                <a:cs typeface="LeadPilot Grotesk"/>
              </a:defRPr>
            </a:defPPr>
          </a:lstStyle>
          <a:p>
            <a:pPr>
              <a:defRPr sz="1350" b="0">
                <a:solidFill>
                  <a:srgbClr val="A7B0BA"/>
                </a:solidFill>
                <a:latin typeface="LeadPilot Grotesk"/>
                <a:ea typeface="LeadPilot Grotesk"/>
                <a:cs typeface="LeadPilot Grotesk"/>
              </a:defRPr>
            </a:pPr>
            <a:r>
              <a:rPr sz="2025">
                <a:solidFill>
                  <a:srgbClr val="A7B0BA"/>
                </a:solidFill>
                <a:latin typeface="LeadPilot Grotesk"/>
                <a:ea typeface="LeadPilot Grotesk"/>
                <a:cs typeface="LeadPilot Grotesk"/>
              </a:rPr>
              <a:t>02</a:t>
            </a:r>
          </a:p>
        </p:txBody>
      </p:sp>
      <p:sp>
        <p:nvSpPr>
          <p:cNvPr id="3" name="Rechteck 2">
            <a:extLst>
              <a:ext uri="{FF2B5EF4-FFF2-40B4-BE49-F238E27FC236}">
                <a16:creationId xmlns:a16="http://schemas.microsoft.com/office/drawing/2014/main" id="{0F742CBA-22CD-494D-8CC4-5B8D9E49EDC1}"/>
              </a:ext>
            </a:extLst>
          </p:cNvPr>
          <p:cNvSpPr>
            <a:spLocks noGrp="1"/>
          </p:cNvSpPr>
          <p:nvPr/>
        </p:nvSpPr>
        <p:spPr>
          <a:xfrm>
            <a:off x="1028700" y="9372600"/>
            <a:ext cx="15716250" cy="514350"/>
          </a:xfrm>
          <a:prstGeom prst="rect">
            <a:avLst/>
          </a:prstGeom>
          <a:noFill/>
          <a:ln w="0">
            <a:noFill/>
          </a:ln>
        </p:spPr>
        <p:txBody>
          <a:bodyPr/>
          <a:lstStyle>
            <a:defPPr>
              <a:defRPr sz="1200" b="0">
                <a:solidFill>
                  <a:srgbClr val="A7B0BA"/>
                </a:solidFill>
                <a:latin typeface="LeadPilot Grotesk"/>
                <a:ea typeface="LeadPilot Grotesk"/>
                <a:cs typeface="LeadPilot Grotesk"/>
              </a:defRPr>
            </a:defPPr>
          </a:lstStyle>
          <a:p>
            <a:pPr>
              <a:defRPr sz="1200" b="0">
                <a:solidFill>
                  <a:srgbClr val="A7B0BA"/>
                </a:solidFill>
                <a:latin typeface="LeadPilot Grotesk"/>
                <a:ea typeface="LeadPilot Grotesk"/>
                <a:cs typeface="LeadPilot Grotesk"/>
              </a:defRPr>
            </a:pPr>
            <a:r>
              <a:rPr>
                <a:solidFill>
                  <a:srgbClr val="A7B0BA"/>
                </a:solidFill>
                <a:latin typeface="LeadPilot Grotesk"/>
                <a:ea typeface="LeadPilot Grotesk"/>
                <a:cs typeface="LeadPilot Grotesk"/>
              </a:rPr>
              <a:t>Szenario-Schätzungen aus dem Dossier, keine nachgewiesenen Verluste oder Einsparungen</a:t>
            </a:r>
          </a:p>
        </p:txBody>
      </p:sp>
      <p:sp>
        <p:nvSpPr>
          <p:cNvPr id="4" name="Rechteck 3">
            <a:extLst>
              <a:ext uri="{FF2B5EF4-FFF2-40B4-BE49-F238E27FC236}">
                <a16:creationId xmlns:a16="http://schemas.microsoft.com/office/drawing/2014/main" id="{0FF356EB-2A02-4AD3-8BC7-DCCA1F023664}"/>
              </a:ext>
            </a:extLst>
          </p:cNvPr>
          <p:cNvSpPr>
            <a:spLocks noGrp="1"/>
          </p:cNvSpPr>
          <p:nvPr/>
        </p:nvSpPr>
        <p:spPr>
          <a:xfrm>
            <a:off x="1028700" y="2171700"/>
            <a:ext cx="16230600" cy="1285875"/>
          </a:xfrm>
          <a:prstGeom prst="rect">
            <a:avLst/>
          </a:prstGeom>
          <a:noFill/>
          <a:ln w="0">
            <a:noFill/>
          </a:ln>
        </p:spPr>
        <p:txBody>
          <a:bodyPr/>
          <a:lstStyle>
            <a:defPPr>
              <a:defRPr sz="3600" b="1">
                <a:solidFill>
                  <a:srgbClr val="FFFFFF"/>
                </a:solidFill>
                <a:latin typeface="LeadPilot Grotesk"/>
                <a:ea typeface="LeadPilot Grotesk"/>
                <a:cs typeface="LeadPilot Grotesk"/>
              </a:defRPr>
            </a:defPPr>
          </a:lstStyle>
          <a:p>
            <a:pPr>
              <a:defRPr sz="3600" b="1">
                <a:solidFill>
                  <a:srgbClr val="FFFFFF"/>
                </a:solidFill>
                <a:latin typeface="LeadPilot Grotesk"/>
                <a:ea typeface="LeadPilot Grotesk"/>
                <a:cs typeface="LeadPilot Grotesk"/>
              </a:defRPr>
            </a:pPr>
            <a:r>
              <a:rPr sz="5400" b="1">
                <a:solidFill>
                  <a:srgbClr val="FFFFFF"/>
                </a:solidFill>
                <a:latin typeface="LeadPilot Grotesk"/>
                <a:ea typeface="LeadPilot Grotesk"/>
                <a:cs typeface="LeadPilot Grotesk"/>
              </a:rPr>
              <a:t>Was liegengebliebene Anfragen kosten</a:t>
            </a:r>
          </a:p>
        </p:txBody>
      </p:sp>
      <p:sp>
        <p:nvSpPr>
          <p:cNvPr id="5" name="Rechteck 4">
            <a:extLst>
              <a:ext uri="{FF2B5EF4-FFF2-40B4-BE49-F238E27FC236}">
                <a16:creationId xmlns:a16="http://schemas.microsoft.com/office/drawing/2014/main" id="{A6A2AB9C-92DC-4ED3-8525-353009F52E79}"/>
              </a:ext>
            </a:extLst>
          </p:cNvPr>
          <p:cNvSpPr>
            <a:spLocks noGrp="1"/>
          </p:cNvSpPr>
          <p:nvPr/>
        </p:nvSpPr>
        <p:spPr>
          <a:xfrm>
            <a:off x="1028700" y="4200525"/>
            <a:ext cx="8001000" cy="1571625"/>
          </a:xfrm>
          <a:prstGeom prst="rect">
            <a:avLst/>
          </a:prstGeom>
          <a:noFill/>
          <a:ln w="0">
            <a:noFill/>
          </a:ln>
        </p:spPr>
        <p:txBody>
          <a:bodyPr/>
          <a:lstStyle>
            <a:defPPr>
              <a:defRPr sz="6300" b="1">
                <a:solidFill>
                  <a:srgbClr val="FF7A3D"/>
                </a:solidFill>
                <a:latin typeface="LeadPilot Grotesk"/>
                <a:ea typeface="LeadPilot Grotesk"/>
                <a:cs typeface="LeadPilot Grotesk"/>
              </a:defRPr>
            </a:defPPr>
          </a:lstStyle>
          <a:p>
            <a:pPr>
              <a:defRPr sz="6300" b="1">
                <a:solidFill>
                  <a:srgbClr val="FF7A3D"/>
                </a:solidFill>
                <a:latin typeface="LeadPilot Grotesk"/>
                <a:ea typeface="LeadPilot Grotesk"/>
                <a:cs typeface="LeadPilot Grotesk"/>
              </a:defRPr>
            </a:pPr>
            <a:r>
              <a:rPr sz="9450" b="1" dirty="0">
                <a:solidFill>
                  <a:srgbClr val="FF7A3D"/>
                </a:solidFill>
                <a:latin typeface="LeadPilot Grotesk"/>
                <a:ea typeface="LeadPilot Grotesk"/>
                <a:cs typeface="LeadPilot Grotesk"/>
              </a:rPr>
              <a:t>150.000 €</a:t>
            </a:r>
          </a:p>
        </p:txBody>
      </p:sp>
      <p:sp>
        <p:nvSpPr>
          <p:cNvPr id="6" name="Rechteck 5">
            <a:extLst>
              <a:ext uri="{FF2B5EF4-FFF2-40B4-BE49-F238E27FC236}">
                <a16:creationId xmlns:a16="http://schemas.microsoft.com/office/drawing/2014/main" id="{143EC5A0-B5BD-44E4-A611-F74656FC0435}"/>
              </a:ext>
            </a:extLst>
          </p:cNvPr>
          <p:cNvSpPr>
            <a:spLocks noGrp="1"/>
          </p:cNvSpPr>
          <p:nvPr/>
        </p:nvSpPr>
        <p:spPr>
          <a:xfrm>
            <a:off x="1028700" y="5943600"/>
            <a:ext cx="7429500" cy="685800"/>
          </a:xfrm>
          <a:prstGeom prst="rect">
            <a:avLst/>
          </a:prstGeom>
          <a:noFill/>
          <a:ln w="0">
            <a:noFill/>
          </a:ln>
        </p:spPr>
        <p:txBody>
          <a:bodyPr/>
          <a:lstStyle>
            <a:defPPr>
              <a:defRPr sz="2100" b="1">
                <a:solidFill>
                  <a:srgbClr val="FFFFFF"/>
                </a:solidFill>
                <a:latin typeface="LeadPilot Grotesk"/>
                <a:ea typeface="LeadPilot Grotesk"/>
                <a:cs typeface="LeadPilot Grotesk"/>
              </a:defRPr>
            </a:defPPr>
          </a:lstStyle>
          <a:p>
            <a:pPr>
              <a:defRPr sz="2100" b="1">
                <a:solidFill>
                  <a:srgbClr val="FFFFFF"/>
                </a:solidFill>
                <a:latin typeface="LeadPilot Grotesk"/>
                <a:ea typeface="LeadPilot Grotesk"/>
                <a:cs typeface="LeadPilot Grotesk"/>
              </a:defRPr>
            </a:pPr>
            <a:r>
              <a:rPr sz="3150" b="1">
                <a:solidFill>
                  <a:srgbClr val="FFFFFF"/>
                </a:solidFill>
                <a:latin typeface="LeadPilot Grotesk"/>
                <a:ea typeface="LeadPilot Grotesk"/>
                <a:cs typeface="LeadPilot Grotesk"/>
              </a:rPr>
              <a:t>möglicher Erstumsatz pro Jahr</a:t>
            </a:r>
          </a:p>
        </p:txBody>
      </p:sp>
      <p:sp>
        <p:nvSpPr>
          <p:cNvPr id="7" name="Rechteck 6">
            <a:extLst>
              <a:ext uri="{FF2B5EF4-FFF2-40B4-BE49-F238E27FC236}">
                <a16:creationId xmlns:a16="http://schemas.microsoft.com/office/drawing/2014/main" id="{26393FD1-B763-4581-8986-0E2E069CB845}"/>
              </a:ext>
            </a:extLst>
          </p:cNvPr>
          <p:cNvSpPr>
            <a:spLocks noGrp="1"/>
          </p:cNvSpPr>
          <p:nvPr/>
        </p:nvSpPr>
        <p:spPr>
          <a:xfrm>
            <a:off x="1028700" y="6915150"/>
            <a:ext cx="7658100" cy="1371600"/>
          </a:xfrm>
          <a:prstGeom prst="rect">
            <a:avLst/>
          </a:prstGeom>
          <a:noFill/>
          <a:ln w="0">
            <a:noFill/>
          </a:ln>
        </p:spPr>
        <p:txBody>
          <a:bodyPr/>
          <a:lstStyle>
            <a:defPPr>
              <a:defRPr sz="1800" b="0">
                <a:solidFill>
                  <a:srgbClr val="A7B0BA"/>
                </a:solidFill>
                <a:latin typeface="LeadPilot Grotesk"/>
                <a:ea typeface="LeadPilot Grotesk"/>
                <a:cs typeface="LeadPilot Grotesk"/>
              </a:defRPr>
            </a:defPPr>
          </a:lstStyle>
          <a:p>
            <a:pPr>
              <a:defRPr sz="1800" b="0">
                <a:solidFill>
                  <a:srgbClr val="A7B0BA"/>
                </a:solidFill>
                <a:latin typeface="LeadPilot Grotesk"/>
                <a:ea typeface="LeadPilot Grotesk"/>
                <a:cs typeface="LeadPilot Grotesk"/>
              </a:defRPr>
            </a:pPr>
            <a:r>
              <a:rPr sz="2700" dirty="0">
                <a:solidFill>
                  <a:srgbClr val="A7B0BA"/>
                </a:solidFill>
                <a:latin typeface="LeadPilot Grotesk"/>
                <a:ea typeface="LeadPilot Grotesk"/>
                <a:cs typeface="LeadPilot Grotesk"/>
              </a:rPr>
              <a:t>3 </a:t>
            </a:r>
            <a:r>
              <a:rPr sz="2700" dirty="0" err="1">
                <a:solidFill>
                  <a:srgbClr val="A7B0BA"/>
                </a:solidFill>
                <a:latin typeface="LeadPilot Grotesk"/>
                <a:ea typeface="LeadPilot Grotesk"/>
                <a:cs typeface="LeadPilot Grotesk"/>
              </a:rPr>
              <a:t>Messen</a:t>
            </a:r>
            <a:r>
              <a:rPr sz="2700" dirty="0">
                <a:solidFill>
                  <a:srgbClr val="A7B0BA"/>
                </a:solidFill>
                <a:latin typeface="LeadPilot Grotesk"/>
                <a:ea typeface="LeadPilot Grotesk"/>
                <a:cs typeface="LeadPilot Grotesk"/>
              </a:rPr>
              <a:t> × 2 </a:t>
            </a:r>
            <a:r>
              <a:rPr sz="2700" dirty="0" err="1">
                <a:solidFill>
                  <a:srgbClr val="A7B0BA"/>
                </a:solidFill>
                <a:latin typeface="LeadPilot Grotesk"/>
                <a:ea typeface="LeadPilot Grotesk"/>
                <a:cs typeface="LeadPilot Grotesk"/>
              </a:rPr>
              <a:t>Aufträge</a:t>
            </a:r>
            <a:r>
              <a:rPr sz="2700" dirty="0">
                <a:solidFill>
                  <a:srgbClr val="A7B0BA"/>
                </a:solidFill>
                <a:latin typeface="LeadPilot Grotesk"/>
                <a:ea typeface="LeadPilot Grotesk"/>
                <a:cs typeface="LeadPilot Grotesk"/>
              </a:rPr>
              <a:t> × 25.000 €</a:t>
            </a:r>
          </a:p>
          <a:p>
            <a:pPr>
              <a:defRPr sz="1800" b="0">
                <a:solidFill>
                  <a:srgbClr val="A7B0BA"/>
                </a:solidFill>
                <a:latin typeface="LeadPilot Grotesk"/>
                <a:ea typeface="LeadPilot Grotesk"/>
                <a:cs typeface="LeadPilot Grotesk"/>
              </a:defRPr>
            </a:pPr>
            <a:r>
              <a:rPr sz="2700" dirty="0" err="1">
                <a:solidFill>
                  <a:srgbClr val="A7B0BA"/>
                </a:solidFill>
                <a:latin typeface="LeadPilot Grotesk"/>
                <a:ea typeface="LeadPilot Grotesk"/>
                <a:cs typeface="LeadPilot Grotesk"/>
              </a:rPr>
              <a:t>Potenzial</a:t>
            </a:r>
            <a:r>
              <a:rPr sz="2700" dirty="0">
                <a:solidFill>
                  <a:srgbClr val="A7B0BA"/>
                </a:solidFill>
                <a:latin typeface="LeadPilot Grotesk"/>
                <a:ea typeface="LeadPilot Grotesk"/>
                <a:cs typeface="LeadPilot Grotesk"/>
              </a:rPr>
              <a:t> </a:t>
            </a:r>
            <a:r>
              <a:rPr sz="2700" dirty="0" err="1">
                <a:solidFill>
                  <a:srgbClr val="A7B0BA"/>
                </a:solidFill>
                <a:latin typeface="LeadPilot Grotesk"/>
                <a:ea typeface="LeadPilot Grotesk"/>
                <a:cs typeface="LeadPilot Grotesk"/>
              </a:rPr>
              <a:t>aus</a:t>
            </a:r>
            <a:r>
              <a:rPr sz="2700" dirty="0">
                <a:solidFill>
                  <a:srgbClr val="A7B0BA"/>
                </a:solidFill>
                <a:latin typeface="LeadPilot Grotesk"/>
                <a:ea typeface="LeadPilot Grotesk"/>
                <a:cs typeface="LeadPilot Grotesk"/>
              </a:rPr>
              <a:t> </a:t>
            </a:r>
            <a:r>
              <a:rPr sz="2700" dirty="0" err="1">
                <a:solidFill>
                  <a:srgbClr val="A7B0BA"/>
                </a:solidFill>
                <a:latin typeface="LeadPilot Grotesk"/>
                <a:ea typeface="LeadPilot Grotesk"/>
                <a:cs typeface="LeadPilot Grotesk"/>
              </a:rPr>
              <a:t>liegengebliebenen</a:t>
            </a:r>
            <a:r>
              <a:rPr sz="2700" dirty="0">
                <a:solidFill>
                  <a:srgbClr val="A7B0BA"/>
                </a:solidFill>
                <a:latin typeface="LeadPilot Grotesk"/>
                <a:ea typeface="LeadPilot Grotesk"/>
                <a:cs typeface="LeadPilot Grotesk"/>
              </a:rPr>
              <a:t> Leads</a:t>
            </a:r>
          </a:p>
        </p:txBody>
      </p:sp>
      <p:sp>
        <p:nvSpPr>
          <p:cNvPr id="8" name="Rechteck 7">
            <a:extLst>
              <a:ext uri="{FF2B5EF4-FFF2-40B4-BE49-F238E27FC236}">
                <a16:creationId xmlns:a16="http://schemas.microsoft.com/office/drawing/2014/main" id="{177B7028-3E7A-4E25-A4EE-43E52065C5EA}"/>
              </a:ext>
            </a:extLst>
          </p:cNvPr>
          <p:cNvSpPr>
            <a:spLocks noGrp="1"/>
          </p:cNvSpPr>
          <p:nvPr/>
        </p:nvSpPr>
        <p:spPr>
          <a:xfrm>
            <a:off x="10058400" y="4200525"/>
            <a:ext cx="7143750" cy="1571625"/>
          </a:xfrm>
          <a:prstGeom prst="rect">
            <a:avLst/>
          </a:prstGeom>
          <a:noFill/>
          <a:ln w="0">
            <a:noFill/>
          </a:ln>
        </p:spPr>
        <p:txBody>
          <a:bodyPr/>
          <a:lstStyle>
            <a:defPPr>
              <a:defRPr sz="6300" b="1">
                <a:solidFill>
                  <a:srgbClr val="00D9C6"/>
                </a:solidFill>
                <a:latin typeface="LeadPilot Grotesk"/>
                <a:ea typeface="LeadPilot Grotesk"/>
                <a:cs typeface="LeadPilot Grotesk"/>
              </a:defRPr>
            </a:defPPr>
          </a:lstStyle>
          <a:p>
            <a:pPr>
              <a:defRPr sz="6300" b="1">
                <a:solidFill>
                  <a:srgbClr val="00D9C6"/>
                </a:solidFill>
                <a:latin typeface="LeadPilot Grotesk"/>
                <a:ea typeface="LeadPilot Grotesk"/>
                <a:cs typeface="LeadPilot Grotesk"/>
              </a:defRPr>
            </a:pPr>
            <a:r>
              <a:rPr sz="9450" b="1" dirty="0">
                <a:solidFill>
                  <a:srgbClr val="00D9C6"/>
                </a:solidFill>
                <a:latin typeface="LeadPilot Grotesk"/>
                <a:ea typeface="LeadPilot Grotesk"/>
                <a:cs typeface="LeadPilot Grotesk"/>
              </a:rPr>
              <a:t>150 Std.</a:t>
            </a:r>
          </a:p>
        </p:txBody>
      </p:sp>
      <p:sp>
        <p:nvSpPr>
          <p:cNvPr id="9" name="Rechteck 8">
            <a:extLst>
              <a:ext uri="{FF2B5EF4-FFF2-40B4-BE49-F238E27FC236}">
                <a16:creationId xmlns:a16="http://schemas.microsoft.com/office/drawing/2014/main" id="{EF4B4082-F1A6-449D-9A8C-4D4D236D1D16}"/>
              </a:ext>
            </a:extLst>
          </p:cNvPr>
          <p:cNvSpPr>
            <a:spLocks noGrp="1"/>
          </p:cNvSpPr>
          <p:nvPr/>
        </p:nvSpPr>
        <p:spPr>
          <a:xfrm>
            <a:off x="10058400" y="5943600"/>
            <a:ext cx="7143750" cy="1000125"/>
          </a:xfrm>
          <a:prstGeom prst="rect">
            <a:avLst/>
          </a:prstGeom>
          <a:noFill/>
          <a:ln w="0">
            <a:noFill/>
          </a:ln>
        </p:spPr>
        <p:txBody>
          <a:bodyPr/>
          <a:lstStyle>
            <a:defPPr>
              <a:defRPr sz="2100" b="1">
                <a:solidFill>
                  <a:srgbClr val="FFFFFF"/>
                </a:solidFill>
                <a:latin typeface="LeadPilot Grotesk"/>
                <a:ea typeface="LeadPilot Grotesk"/>
                <a:cs typeface="LeadPilot Grotesk"/>
              </a:defRPr>
            </a:defPPr>
          </a:lstStyle>
          <a:p>
            <a:pPr>
              <a:defRPr sz="2100" b="1">
                <a:solidFill>
                  <a:srgbClr val="FFFFFF"/>
                </a:solidFill>
                <a:latin typeface="LeadPilot Grotesk"/>
                <a:ea typeface="LeadPilot Grotesk"/>
                <a:cs typeface="LeadPilot Grotesk"/>
              </a:defRPr>
            </a:pPr>
            <a:r>
              <a:rPr sz="3150" b="1">
                <a:solidFill>
                  <a:srgbClr val="FFFFFF"/>
                </a:solidFill>
                <a:latin typeface="LeadPilot Grotesk"/>
                <a:ea typeface="LeadPilot Grotesk"/>
                <a:cs typeface="LeadPilot Grotesk"/>
              </a:rPr>
              <a:t>jährlicher Aufwand für den Forecast</a:t>
            </a:r>
          </a:p>
        </p:txBody>
      </p:sp>
      <p:sp>
        <p:nvSpPr>
          <p:cNvPr id="10" name="Rechteck 9">
            <a:extLst>
              <a:ext uri="{FF2B5EF4-FFF2-40B4-BE49-F238E27FC236}">
                <a16:creationId xmlns:a16="http://schemas.microsoft.com/office/drawing/2014/main" id="{AAB6ECDE-13F9-42A1-87CF-2A38A09D1396}"/>
              </a:ext>
            </a:extLst>
          </p:cNvPr>
          <p:cNvSpPr>
            <a:spLocks noGrp="1"/>
          </p:cNvSpPr>
          <p:nvPr/>
        </p:nvSpPr>
        <p:spPr>
          <a:xfrm>
            <a:off x="10058400" y="6915150"/>
            <a:ext cx="7143750" cy="1143000"/>
          </a:xfrm>
          <a:prstGeom prst="rect">
            <a:avLst/>
          </a:prstGeom>
          <a:noFill/>
          <a:ln w="0">
            <a:noFill/>
          </a:ln>
        </p:spPr>
        <p:txBody>
          <a:bodyPr/>
          <a:lstStyle>
            <a:defPPr>
              <a:defRPr sz="1800" b="0">
                <a:solidFill>
                  <a:srgbClr val="A7B0BA"/>
                </a:solidFill>
                <a:latin typeface="LeadPilot Grotesk"/>
                <a:ea typeface="LeadPilot Grotesk"/>
                <a:cs typeface="LeadPilot Grotesk"/>
              </a:defRPr>
            </a:defPPr>
          </a:lstStyle>
          <a:p>
            <a:pPr>
              <a:defRPr sz="1800" b="0">
                <a:solidFill>
                  <a:srgbClr val="A7B0BA"/>
                </a:solidFill>
                <a:latin typeface="LeadPilot Grotesk"/>
                <a:ea typeface="LeadPilot Grotesk"/>
                <a:cs typeface="LeadPilot Grotesk"/>
              </a:defRPr>
            </a:pPr>
            <a:r>
              <a:rPr sz="2700" dirty="0">
                <a:solidFill>
                  <a:srgbClr val="A7B0BA"/>
                </a:solidFill>
                <a:latin typeface="LeadPilot Grotesk"/>
                <a:ea typeface="LeadPilot Grotesk"/>
                <a:cs typeface="LeadPilot Grotesk"/>
              </a:rPr>
              <a:t>3 </a:t>
            </a:r>
            <a:r>
              <a:rPr sz="2700" dirty="0" err="1">
                <a:solidFill>
                  <a:srgbClr val="A7B0BA"/>
                </a:solidFill>
                <a:latin typeface="LeadPilot Grotesk"/>
                <a:ea typeface="LeadPilot Grotesk"/>
                <a:cs typeface="LeadPilot Grotesk"/>
              </a:rPr>
              <a:t>Stunden</a:t>
            </a:r>
            <a:r>
              <a:rPr sz="2700" dirty="0">
                <a:solidFill>
                  <a:srgbClr val="A7B0BA"/>
                </a:solidFill>
                <a:latin typeface="LeadPilot Grotesk"/>
                <a:ea typeface="LeadPilot Grotesk"/>
                <a:cs typeface="LeadPilot Grotesk"/>
              </a:rPr>
              <a:t> pro Freitag × 50 </a:t>
            </a:r>
            <a:r>
              <a:rPr sz="2700" dirty="0" err="1">
                <a:solidFill>
                  <a:srgbClr val="A7B0BA"/>
                </a:solidFill>
                <a:latin typeface="LeadPilot Grotesk"/>
                <a:ea typeface="LeadPilot Grotesk"/>
                <a:cs typeface="LeadPilot Grotesk"/>
              </a:rPr>
              <a:t>Wochen</a:t>
            </a:r>
            <a:endParaRPr sz="2700" dirty="0">
              <a:solidFill>
                <a:srgbClr val="A7B0BA"/>
              </a:solidFill>
              <a:latin typeface="LeadPilot Grotesk"/>
              <a:ea typeface="LeadPilot Grotesk"/>
              <a:cs typeface="LeadPilot Grotesk"/>
            </a:endParaRPr>
          </a:p>
          <a:p>
            <a:pPr>
              <a:defRPr sz="1800" b="0">
                <a:solidFill>
                  <a:srgbClr val="A7B0BA"/>
                </a:solidFill>
                <a:latin typeface="LeadPilot Grotesk"/>
                <a:ea typeface="LeadPilot Grotesk"/>
                <a:cs typeface="LeadPilot Grotesk"/>
              </a:defRPr>
            </a:pPr>
            <a:r>
              <a:rPr sz="2700" dirty="0">
                <a:solidFill>
                  <a:srgbClr val="A7B0BA"/>
                </a:solidFill>
                <a:latin typeface="LeadPilot Grotesk"/>
                <a:ea typeface="LeadPilot Grotesk"/>
                <a:cs typeface="LeadPilot Grotesk"/>
              </a:rPr>
              <a:t>Zeit, die Ihnen </a:t>
            </a:r>
            <a:r>
              <a:rPr sz="2700" dirty="0" err="1">
                <a:solidFill>
                  <a:srgbClr val="A7B0BA"/>
                </a:solidFill>
                <a:latin typeface="LeadPilot Grotesk"/>
                <a:ea typeface="LeadPilot Grotesk"/>
                <a:cs typeface="LeadPilot Grotesk"/>
              </a:rPr>
              <a:t>beim</a:t>
            </a:r>
            <a:r>
              <a:rPr sz="2700" dirty="0">
                <a:solidFill>
                  <a:srgbClr val="A7B0BA"/>
                </a:solidFill>
                <a:latin typeface="LeadPilot Grotesk"/>
                <a:ea typeface="LeadPilot Grotesk"/>
                <a:cs typeface="LeadPilot Grotesk"/>
              </a:rPr>
              <a:t> Kunden </a:t>
            </a:r>
            <a:r>
              <a:rPr sz="2700" dirty="0" err="1">
                <a:solidFill>
                  <a:srgbClr val="A7B0BA"/>
                </a:solidFill>
                <a:latin typeface="LeadPilot Grotesk"/>
                <a:ea typeface="LeadPilot Grotesk"/>
                <a:cs typeface="LeadPilot Grotesk"/>
              </a:rPr>
              <a:t>fehlt</a:t>
            </a:r>
            <a:endParaRPr sz="2700" dirty="0">
              <a:solidFill>
                <a:srgbClr val="A7B0BA"/>
              </a:solidFill>
              <a:latin typeface="LeadPilot Grotesk"/>
              <a:ea typeface="LeadPilot Grotesk"/>
              <a:cs typeface="LeadPilot Grotesk"/>
            </a:endParaRPr>
          </a:p>
        </p:txBody>
      </p:sp>
      <p:pic>
        <p:nvPicPr>
          <p:cNvPr id="13" name="Grafik 12">
            <a:extLst>
              <a:ext uri="{FF2B5EF4-FFF2-40B4-BE49-F238E27FC236}">
                <a16:creationId xmlns:a16="http://schemas.microsoft.com/office/drawing/2014/main" id="{D577E564-752B-D0DB-2B23-39DFDCD9A6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0125" y="225318"/>
            <a:ext cx="2930838" cy="1317732"/>
          </a:xfrm>
          <a:prstGeom prst="rect">
            <a:avLst/>
          </a:prstGeom>
        </p:spPr>
      </p:pic>
    </p:spTree>
    <p:extLst>
      <p:ext uri="{BB962C8B-B14F-4D97-AF65-F5344CB8AC3E}">
        <p14:creationId xmlns:p14="http://schemas.microsoft.com/office/powerpoint/2010/main" val="42168112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hteck 1">
            <a:extLst>
              <a:ext uri="{FF2B5EF4-FFF2-40B4-BE49-F238E27FC236}">
                <a16:creationId xmlns:a16="http://schemas.microsoft.com/office/drawing/2014/main" id="{10F93755-58AF-4A2F-B97E-551F731BFC44}"/>
              </a:ext>
            </a:extLst>
          </p:cNvPr>
          <p:cNvSpPr>
            <a:spLocks noGrp="1"/>
          </p:cNvSpPr>
          <p:nvPr/>
        </p:nvSpPr>
        <p:spPr>
          <a:xfrm>
            <a:off x="16430625" y="685800"/>
            <a:ext cx="857250" cy="457200"/>
          </a:xfrm>
          <a:prstGeom prst="rect">
            <a:avLst/>
          </a:prstGeom>
          <a:noFill/>
          <a:ln w="0">
            <a:noFill/>
          </a:ln>
        </p:spPr>
        <p:txBody>
          <a:bodyPr/>
          <a:lstStyle>
            <a:defPPr>
              <a:defRPr sz="1350" b="0">
                <a:solidFill>
                  <a:srgbClr val="A7B0BA"/>
                </a:solidFill>
                <a:latin typeface="LeadPilot Grotesk"/>
                <a:ea typeface="LeadPilot Grotesk"/>
                <a:cs typeface="LeadPilot Grotesk"/>
              </a:defRPr>
            </a:defPPr>
          </a:lstStyle>
          <a:p>
            <a:pPr>
              <a:defRPr sz="1350" b="0">
                <a:solidFill>
                  <a:srgbClr val="A7B0BA"/>
                </a:solidFill>
                <a:latin typeface="LeadPilot Grotesk"/>
                <a:ea typeface="LeadPilot Grotesk"/>
                <a:cs typeface="LeadPilot Grotesk"/>
              </a:defRPr>
            </a:pPr>
            <a:r>
              <a:rPr sz="2025">
                <a:solidFill>
                  <a:srgbClr val="A7B0BA"/>
                </a:solidFill>
                <a:latin typeface="LeadPilot Grotesk"/>
                <a:ea typeface="LeadPilot Grotesk"/>
                <a:cs typeface="LeadPilot Grotesk"/>
              </a:rPr>
              <a:t>03</a:t>
            </a:r>
          </a:p>
        </p:txBody>
      </p:sp>
      <p:sp>
        <p:nvSpPr>
          <p:cNvPr id="3" name="Rechteck 2">
            <a:extLst>
              <a:ext uri="{FF2B5EF4-FFF2-40B4-BE49-F238E27FC236}">
                <a16:creationId xmlns:a16="http://schemas.microsoft.com/office/drawing/2014/main" id="{84E56E33-71E2-4956-BD7C-6E61413DB0B9}"/>
              </a:ext>
            </a:extLst>
          </p:cNvPr>
          <p:cNvSpPr>
            <a:spLocks noGrp="1"/>
          </p:cNvSpPr>
          <p:nvPr/>
        </p:nvSpPr>
        <p:spPr>
          <a:xfrm>
            <a:off x="1028700" y="2171700"/>
            <a:ext cx="16230600" cy="1428750"/>
          </a:xfrm>
          <a:prstGeom prst="rect">
            <a:avLst/>
          </a:prstGeom>
          <a:noFill/>
          <a:ln w="0">
            <a:noFill/>
          </a:ln>
        </p:spPr>
        <p:txBody>
          <a:bodyPr/>
          <a:lstStyle>
            <a:defPPr>
              <a:defRPr sz="3600" b="1">
                <a:solidFill>
                  <a:srgbClr val="FFFFFF"/>
                </a:solidFill>
                <a:latin typeface="LeadPilot Grotesk"/>
                <a:ea typeface="LeadPilot Grotesk"/>
                <a:cs typeface="LeadPilot Grotesk"/>
              </a:defRPr>
            </a:defPPr>
          </a:lstStyle>
          <a:p>
            <a:pPr>
              <a:defRPr sz="3600" b="1">
                <a:solidFill>
                  <a:srgbClr val="FFFFFF"/>
                </a:solidFill>
                <a:latin typeface="LeadPilot Grotesk"/>
                <a:ea typeface="LeadPilot Grotesk"/>
                <a:cs typeface="LeadPilot Grotesk"/>
              </a:defRPr>
            </a:pPr>
            <a:r>
              <a:rPr sz="5400" b="1">
                <a:solidFill>
                  <a:srgbClr val="FFFFFF"/>
                </a:solidFill>
                <a:latin typeface="LeadPilot Grotesk"/>
                <a:ea typeface="LeadPilot Grotesk"/>
                <a:cs typeface="LeadPilot Grotesk"/>
              </a:rPr>
              <a:t>Jeder Messe-Lead hat einen nächsten Schritt</a:t>
            </a:r>
          </a:p>
        </p:txBody>
      </p:sp>
      <p:sp>
        <p:nvSpPr>
          <p:cNvPr id="4" name="Rechteck 3">
            <a:extLst>
              <a:ext uri="{FF2B5EF4-FFF2-40B4-BE49-F238E27FC236}">
                <a16:creationId xmlns:a16="http://schemas.microsoft.com/office/drawing/2014/main" id="{625DF7FE-9DFD-400A-B308-311881142192}"/>
              </a:ext>
            </a:extLst>
          </p:cNvPr>
          <p:cNvSpPr>
            <a:spLocks noGrp="1"/>
          </p:cNvSpPr>
          <p:nvPr/>
        </p:nvSpPr>
        <p:spPr>
          <a:xfrm>
            <a:off x="1028700" y="4371975"/>
            <a:ext cx="7715250" cy="1285875"/>
          </a:xfrm>
          <a:prstGeom prst="rect">
            <a:avLst/>
          </a:prstGeom>
          <a:noFill/>
          <a:ln w="0">
            <a:noFill/>
          </a:ln>
        </p:spPr>
        <p:txBody>
          <a:bodyPr/>
          <a:lstStyle>
            <a:defPPr>
              <a:defRPr sz="2550" b="1">
                <a:solidFill>
                  <a:srgbClr val="00D9C6"/>
                </a:solidFill>
                <a:latin typeface="LeadPilot Grotesk"/>
                <a:ea typeface="LeadPilot Grotesk"/>
                <a:cs typeface="LeadPilot Grotesk"/>
              </a:defRPr>
            </a:defPPr>
          </a:lstStyle>
          <a:p>
            <a:pPr>
              <a:defRPr sz="2550" b="1">
                <a:solidFill>
                  <a:srgbClr val="00D9C6"/>
                </a:solidFill>
                <a:latin typeface="LeadPilot Grotesk"/>
                <a:ea typeface="LeadPilot Grotesk"/>
                <a:cs typeface="LeadPilot Grotesk"/>
              </a:defRPr>
            </a:pPr>
            <a:r>
              <a:rPr sz="3825" b="1" dirty="0" err="1">
                <a:solidFill>
                  <a:srgbClr val="00D9C6"/>
                </a:solidFill>
                <a:latin typeface="LeadPilot Grotesk"/>
                <a:ea typeface="LeadPilot Grotesk"/>
                <a:cs typeface="LeadPilot Grotesk"/>
              </a:rPr>
              <a:t>Nachfassen</a:t>
            </a:r>
            <a:r>
              <a:rPr sz="3825" b="1" dirty="0">
                <a:solidFill>
                  <a:srgbClr val="00D9C6"/>
                </a:solidFill>
                <a:latin typeface="LeadPilot Grotesk"/>
                <a:ea typeface="LeadPilot Grotesk"/>
                <a:cs typeface="LeadPilot Grotesk"/>
              </a:rPr>
              <a:t> </a:t>
            </a:r>
            <a:r>
              <a:rPr sz="3825" b="1" dirty="0" err="1">
                <a:solidFill>
                  <a:srgbClr val="00D9C6"/>
                </a:solidFill>
                <a:latin typeface="LeadPilot Grotesk"/>
                <a:ea typeface="LeadPilot Grotesk"/>
                <a:cs typeface="LeadPilot Grotesk"/>
              </a:rPr>
              <a:t>mit</a:t>
            </a:r>
            <a:r>
              <a:rPr sz="3825" b="1" dirty="0">
                <a:solidFill>
                  <a:srgbClr val="00D9C6"/>
                </a:solidFill>
                <a:latin typeface="LeadPilot Grotesk"/>
                <a:ea typeface="LeadPilot Grotesk"/>
                <a:cs typeface="LeadPilot Grotesk"/>
              </a:rPr>
              <a:t> </a:t>
            </a:r>
            <a:r>
              <a:rPr sz="3825" b="1" dirty="0" err="1">
                <a:solidFill>
                  <a:srgbClr val="00D9C6"/>
                </a:solidFill>
                <a:latin typeface="LeadPilot Grotesk"/>
                <a:ea typeface="LeadPilot Grotesk"/>
                <a:cs typeface="LeadPilot Grotesk"/>
              </a:rPr>
              <a:t>Verantwortung</a:t>
            </a:r>
            <a:endParaRPr sz="3825" b="1" dirty="0">
              <a:solidFill>
                <a:srgbClr val="00D9C6"/>
              </a:solidFill>
              <a:latin typeface="LeadPilot Grotesk"/>
              <a:ea typeface="LeadPilot Grotesk"/>
              <a:cs typeface="LeadPilot Grotesk"/>
            </a:endParaRPr>
          </a:p>
        </p:txBody>
      </p:sp>
      <p:sp>
        <p:nvSpPr>
          <p:cNvPr id="5" name="Rechteck 4">
            <a:extLst>
              <a:ext uri="{FF2B5EF4-FFF2-40B4-BE49-F238E27FC236}">
                <a16:creationId xmlns:a16="http://schemas.microsoft.com/office/drawing/2014/main" id="{B7E65802-138E-4B0B-AD29-F58168C1F819}"/>
              </a:ext>
            </a:extLst>
          </p:cNvPr>
          <p:cNvSpPr>
            <a:spLocks noGrp="1"/>
          </p:cNvSpPr>
          <p:nvPr/>
        </p:nvSpPr>
        <p:spPr>
          <a:xfrm>
            <a:off x="1028700" y="5972175"/>
            <a:ext cx="7715250" cy="1943100"/>
          </a:xfrm>
          <a:prstGeom prst="rect">
            <a:avLst/>
          </a:prstGeom>
          <a:noFill/>
          <a:ln w="0">
            <a:noFill/>
          </a:ln>
        </p:spPr>
        <p:txBody>
          <a:bodyPr/>
          <a:lstStyle>
            <a:defPPr>
              <a:defRPr sz="2100" b="0">
                <a:solidFill>
                  <a:srgbClr val="FFFFFF"/>
                </a:solidFill>
                <a:latin typeface="LeadPilot Grotesk"/>
                <a:ea typeface="LeadPilot Grotesk"/>
                <a:cs typeface="LeadPilot Grotesk"/>
              </a:defRPr>
            </a:defPPr>
          </a:lstStyle>
          <a:p>
            <a:pPr>
              <a:defRPr sz="2100" b="0">
                <a:solidFill>
                  <a:srgbClr val="FFFFFF"/>
                </a:solidFill>
                <a:latin typeface="LeadPilot Grotesk"/>
                <a:ea typeface="LeadPilot Grotesk"/>
                <a:cs typeface="LeadPilot Grotesk"/>
              </a:defRPr>
            </a:pPr>
            <a:r>
              <a:rPr sz="3150">
                <a:solidFill>
                  <a:srgbClr val="FFFFFF"/>
                </a:solidFill>
                <a:latin typeface="LeadPilot Grotesk"/>
                <a:ea typeface="LeadPilot Grotesk"/>
                <a:cs typeface="LeadPilot Grotesk"/>
              </a:rPr>
              <a:t>LeadPilot ordnet jeder Anfrage einen</a:t>
            </a:r>
          </a:p>
          <a:p>
            <a:pPr>
              <a:defRPr sz="2100" b="0">
                <a:solidFill>
                  <a:srgbClr val="FFFFFF"/>
                </a:solidFill>
                <a:latin typeface="LeadPilot Grotesk"/>
                <a:ea typeface="LeadPilot Grotesk"/>
                <a:cs typeface="LeadPilot Grotesk"/>
              </a:defRPr>
            </a:pPr>
            <a:r>
              <a:rPr sz="3150">
                <a:solidFill>
                  <a:srgbClr val="FFFFFF"/>
                </a:solidFill>
                <a:latin typeface="LeadPilot Grotesk"/>
                <a:ea typeface="LeadPilot Grotesk"/>
                <a:cs typeface="LeadPilot Grotesk"/>
              </a:rPr>
              <a:t>Verantwortlichen und einen fälligen</a:t>
            </a:r>
          </a:p>
          <a:p>
            <a:pPr>
              <a:defRPr sz="2100" b="0">
                <a:solidFill>
                  <a:srgbClr val="FFFFFF"/>
                </a:solidFill>
                <a:latin typeface="LeadPilot Grotesk"/>
                <a:ea typeface="LeadPilot Grotesk"/>
                <a:cs typeface="LeadPilot Grotesk"/>
              </a:defRPr>
            </a:pPr>
            <a:r>
              <a:rPr sz="3150">
                <a:solidFill>
                  <a:srgbClr val="FFFFFF"/>
                </a:solidFill>
                <a:latin typeface="LeadPilot Grotesk"/>
                <a:ea typeface="LeadPilot Grotesk"/>
                <a:cs typeface="LeadPilot Grotesk"/>
              </a:rPr>
              <a:t>nächsten Schritt zu.</a:t>
            </a:r>
          </a:p>
        </p:txBody>
      </p:sp>
      <p:sp>
        <p:nvSpPr>
          <p:cNvPr id="6" name="Rechteck 5">
            <a:extLst>
              <a:ext uri="{FF2B5EF4-FFF2-40B4-BE49-F238E27FC236}">
                <a16:creationId xmlns:a16="http://schemas.microsoft.com/office/drawing/2014/main" id="{55802BD4-12D4-429F-8048-92B16BB21D37}"/>
              </a:ext>
            </a:extLst>
          </p:cNvPr>
          <p:cNvSpPr>
            <a:spLocks noGrp="1"/>
          </p:cNvSpPr>
          <p:nvPr/>
        </p:nvSpPr>
        <p:spPr>
          <a:xfrm>
            <a:off x="1028700" y="8343900"/>
            <a:ext cx="7715250" cy="685800"/>
          </a:xfrm>
          <a:prstGeom prst="rect">
            <a:avLst/>
          </a:prstGeom>
          <a:noFill/>
          <a:ln w="0">
            <a:noFill/>
          </a:ln>
        </p:spPr>
        <p:txBody>
          <a:bodyPr/>
          <a:lstStyle>
            <a:defPPr>
              <a:defRPr sz="1950" b="0">
                <a:solidFill>
                  <a:srgbClr val="A7B0BA"/>
                </a:solidFill>
                <a:latin typeface="LeadPilot Grotesk"/>
                <a:ea typeface="LeadPilot Grotesk"/>
                <a:cs typeface="LeadPilot Grotesk"/>
              </a:defRPr>
            </a:defPPr>
          </a:lstStyle>
          <a:p>
            <a:pPr>
              <a:defRPr sz="1950" b="0">
                <a:solidFill>
                  <a:srgbClr val="A7B0BA"/>
                </a:solidFill>
                <a:latin typeface="LeadPilot Grotesk"/>
                <a:ea typeface="LeadPilot Grotesk"/>
                <a:cs typeface="LeadPilot Grotesk"/>
              </a:defRPr>
            </a:pPr>
            <a:r>
              <a:rPr sz="2925">
                <a:solidFill>
                  <a:srgbClr val="A7B0BA"/>
                </a:solidFill>
                <a:latin typeface="LeadPilot Grotesk"/>
                <a:ea typeface="LeadPilot Grotesk"/>
                <a:cs typeface="LeadPilot Grotesk"/>
              </a:rPr>
              <a:t>Sie sehen, was noch offen ist.</a:t>
            </a:r>
          </a:p>
        </p:txBody>
      </p:sp>
      <p:sp>
        <p:nvSpPr>
          <p:cNvPr id="7" name="Rechteck 6">
            <a:extLst>
              <a:ext uri="{FF2B5EF4-FFF2-40B4-BE49-F238E27FC236}">
                <a16:creationId xmlns:a16="http://schemas.microsoft.com/office/drawing/2014/main" id="{EE1A3C07-141B-4403-A059-0A04157E6510}"/>
              </a:ext>
            </a:extLst>
          </p:cNvPr>
          <p:cNvSpPr>
            <a:spLocks noGrp="1"/>
          </p:cNvSpPr>
          <p:nvPr/>
        </p:nvSpPr>
        <p:spPr>
          <a:xfrm>
            <a:off x="10058400" y="4371975"/>
            <a:ext cx="7143750" cy="1285875"/>
          </a:xfrm>
          <a:prstGeom prst="rect">
            <a:avLst/>
          </a:prstGeom>
          <a:noFill/>
          <a:ln w="0">
            <a:noFill/>
          </a:ln>
        </p:spPr>
        <p:txBody>
          <a:bodyPr/>
          <a:lstStyle>
            <a:defPPr>
              <a:defRPr sz="2550" b="1">
                <a:solidFill>
                  <a:srgbClr val="00D9C6"/>
                </a:solidFill>
                <a:latin typeface="LeadPilot Grotesk"/>
                <a:ea typeface="LeadPilot Grotesk"/>
                <a:cs typeface="LeadPilot Grotesk"/>
              </a:defRPr>
            </a:defPPr>
          </a:lstStyle>
          <a:p>
            <a:pPr>
              <a:defRPr sz="2550" b="1">
                <a:solidFill>
                  <a:srgbClr val="00D9C6"/>
                </a:solidFill>
                <a:latin typeface="LeadPilot Grotesk"/>
                <a:ea typeface="LeadPilot Grotesk"/>
                <a:cs typeface="LeadPilot Grotesk"/>
              </a:defRPr>
            </a:pPr>
            <a:r>
              <a:rPr sz="3825" b="1" dirty="0">
                <a:solidFill>
                  <a:srgbClr val="00D9C6"/>
                </a:solidFill>
                <a:latin typeface="LeadPilot Grotesk"/>
                <a:ea typeface="LeadPilot Grotesk"/>
                <a:cs typeface="LeadPilot Grotesk"/>
              </a:rPr>
              <a:t>Forecast </a:t>
            </a:r>
            <a:r>
              <a:rPr sz="3825" b="1" dirty="0" err="1">
                <a:solidFill>
                  <a:srgbClr val="00D9C6"/>
                </a:solidFill>
                <a:latin typeface="LeadPilot Grotesk"/>
                <a:ea typeface="LeadPilot Grotesk"/>
                <a:cs typeface="LeadPilot Grotesk"/>
              </a:rPr>
              <a:t>aus</a:t>
            </a:r>
            <a:r>
              <a:rPr sz="3825" b="1" dirty="0">
                <a:solidFill>
                  <a:srgbClr val="00D9C6"/>
                </a:solidFill>
                <a:latin typeface="LeadPilot Grotesk"/>
                <a:ea typeface="LeadPilot Grotesk"/>
                <a:cs typeface="LeadPilot Grotesk"/>
              </a:rPr>
              <a:t> </a:t>
            </a:r>
            <a:r>
              <a:rPr sz="3825" b="1" dirty="0" err="1">
                <a:solidFill>
                  <a:srgbClr val="00D9C6"/>
                </a:solidFill>
                <a:latin typeface="LeadPilot Grotesk"/>
                <a:ea typeface="LeadPilot Grotesk"/>
                <a:cs typeface="LeadPilot Grotesk"/>
              </a:rPr>
              <a:t>laufenden</a:t>
            </a:r>
            <a:r>
              <a:rPr sz="3825" b="1" dirty="0">
                <a:solidFill>
                  <a:srgbClr val="00D9C6"/>
                </a:solidFill>
                <a:latin typeface="LeadPilot Grotesk"/>
                <a:ea typeface="LeadPilot Grotesk"/>
                <a:cs typeface="LeadPilot Grotesk"/>
              </a:rPr>
              <a:t> Deals</a:t>
            </a:r>
          </a:p>
        </p:txBody>
      </p:sp>
      <p:sp>
        <p:nvSpPr>
          <p:cNvPr id="8" name="Rechteck 7">
            <a:extLst>
              <a:ext uri="{FF2B5EF4-FFF2-40B4-BE49-F238E27FC236}">
                <a16:creationId xmlns:a16="http://schemas.microsoft.com/office/drawing/2014/main" id="{E9FAC00E-E12F-4CFE-A01C-DBB92C3F5D1E}"/>
              </a:ext>
            </a:extLst>
          </p:cNvPr>
          <p:cNvSpPr>
            <a:spLocks noGrp="1"/>
          </p:cNvSpPr>
          <p:nvPr/>
        </p:nvSpPr>
        <p:spPr>
          <a:xfrm>
            <a:off x="10058400" y="5972175"/>
            <a:ext cx="7143750" cy="1943100"/>
          </a:xfrm>
          <a:prstGeom prst="rect">
            <a:avLst/>
          </a:prstGeom>
          <a:noFill/>
          <a:ln w="0">
            <a:noFill/>
          </a:ln>
        </p:spPr>
        <p:txBody>
          <a:bodyPr/>
          <a:lstStyle>
            <a:defPPr>
              <a:defRPr sz="2100" b="0">
                <a:solidFill>
                  <a:srgbClr val="FFFFFF"/>
                </a:solidFill>
                <a:latin typeface="LeadPilot Grotesk"/>
                <a:ea typeface="LeadPilot Grotesk"/>
                <a:cs typeface="LeadPilot Grotesk"/>
              </a:defRPr>
            </a:defPPr>
          </a:lstStyle>
          <a:p>
            <a:pPr>
              <a:defRPr sz="2100" b="0">
                <a:solidFill>
                  <a:srgbClr val="FFFFFF"/>
                </a:solidFill>
                <a:latin typeface="LeadPilot Grotesk"/>
                <a:ea typeface="LeadPilot Grotesk"/>
                <a:cs typeface="LeadPilot Grotesk"/>
              </a:defRPr>
            </a:pPr>
            <a:r>
              <a:rPr sz="3150" dirty="0">
                <a:solidFill>
                  <a:srgbClr val="FFFFFF"/>
                </a:solidFill>
                <a:latin typeface="LeadPilot Grotesk"/>
                <a:ea typeface="LeadPilot Grotesk"/>
                <a:cs typeface="LeadPilot Grotesk"/>
              </a:rPr>
              <a:t>Das Dashboard </a:t>
            </a:r>
            <a:r>
              <a:rPr sz="3150" dirty="0" err="1">
                <a:solidFill>
                  <a:srgbClr val="FFFFFF"/>
                </a:solidFill>
                <a:latin typeface="LeadPilot Grotesk"/>
                <a:ea typeface="LeadPilot Grotesk"/>
                <a:cs typeface="LeadPilot Grotesk"/>
              </a:rPr>
              <a:t>bündelt</a:t>
            </a:r>
            <a:r>
              <a:rPr sz="3150" dirty="0">
                <a:solidFill>
                  <a:srgbClr val="FFFFFF"/>
                </a:solidFill>
                <a:latin typeface="LeadPilot Grotesk"/>
                <a:ea typeface="LeadPilot Grotesk"/>
                <a:cs typeface="LeadPilot Grotesk"/>
              </a:rPr>
              <a:t> den Stand</a:t>
            </a:r>
          </a:p>
          <a:p>
            <a:pPr>
              <a:defRPr sz="2100" b="0">
                <a:solidFill>
                  <a:srgbClr val="FFFFFF"/>
                </a:solidFill>
                <a:latin typeface="LeadPilot Grotesk"/>
                <a:ea typeface="LeadPilot Grotesk"/>
                <a:cs typeface="LeadPilot Grotesk"/>
              </a:defRPr>
            </a:pPr>
            <a:r>
              <a:rPr sz="3150" dirty="0" err="1">
                <a:solidFill>
                  <a:srgbClr val="FFFFFF"/>
                </a:solidFill>
                <a:latin typeface="LeadPilot Grotesk"/>
                <a:ea typeface="LeadPilot Grotesk"/>
                <a:cs typeface="LeadPilot Grotesk"/>
              </a:rPr>
              <a:t>Ihrer</a:t>
            </a:r>
            <a:r>
              <a:rPr sz="3150" dirty="0">
                <a:solidFill>
                  <a:srgbClr val="FFFFFF"/>
                </a:solidFill>
                <a:latin typeface="LeadPilot Grotesk"/>
                <a:ea typeface="LeadPilot Grotesk"/>
                <a:cs typeface="LeadPilot Grotesk"/>
              </a:rPr>
              <a:t> </a:t>
            </a:r>
            <a:r>
              <a:rPr sz="3150" dirty="0" err="1">
                <a:solidFill>
                  <a:srgbClr val="FFFFFF"/>
                </a:solidFill>
                <a:latin typeface="LeadPilot Grotesk"/>
                <a:ea typeface="LeadPilot Grotesk"/>
                <a:cs typeface="LeadPilot Grotesk"/>
              </a:rPr>
              <a:t>Verkaufschancen</a:t>
            </a:r>
            <a:r>
              <a:rPr sz="3150" dirty="0">
                <a:solidFill>
                  <a:srgbClr val="FFFFFF"/>
                </a:solidFill>
                <a:latin typeface="LeadPilot Grotesk"/>
                <a:ea typeface="LeadPilot Grotesk"/>
                <a:cs typeface="LeadPilot Grotesk"/>
              </a:rPr>
              <a:t> und den</a:t>
            </a:r>
          </a:p>
          <a:p>
            <a:pPr>
              <a:defRPr sz="2100" b="0">
                <a:solidFill>
                  <a:srgbClr val="FFFFFF"/>
                </a:solidFill>
                <a:latin typeface="LeadPilot Grotesk"/>
                <a:ea typeface="LeadPilot Grotesk"/>
                <a:cs typeface="LeadPilot Grotesk"/>
              </a:defRPr>
            </a:pPr>
            <a:r>
              <a:rPr sz="3150" dirty="0" err="1">
                <a:solidFill>
                  <a:srgbClr val="FFFFFF"/>
                </a:solidFill>
                <a:latin typeface="LeadPilot Grotesk"/>
                <a:ea typeface="LeadPilot Grotesk"/>
                <a:cs typeface="LeadPilot Grotesk"/>
              </a:rPr>
              <a:t>aktuellen</a:t>
            </a:r>
            <a:r>
              <a:rPr sz="3150" dirty="0">
                <a:solidFill>
                  <a:srgbClr val="FFFFFF"/>
                </a:solidFill>
                <a:latin typeface="LeadPilot Grotesk"/>
                <a:ea typeface="LeadPilot Grotesk"/>
                <a:cs typeface="LeadPilot Grotesk"/>
              </a:rPr>
              <a:t> Forecast.</a:t>
            </a:r>
          </a:p>
        </p:txBody>
      </p:sp>
      <p:sp>
        <p:nvSpPr>
          <p:cNvPr id="9" name="Rechteck 8">
            <a:extLst>
              <a:ext uri="{FF2B5EF4-FFF2-40B4-BE49-F238E27FC236}">
                <a16:creationId xmlns:a16="http://schemas.microsoft.com/office/drawing/2014/main" id="{EE5284F5-9D49-4C5F-8203-EF1632939170}"/>
              </a:ext>
            </a:extLst>
          </p:cNvPr>
          <p:cNvSpPr>
            <a:spLocks noGrp="1"/>
          </p:cNvSpPr>
          <p:nvPr/>
        </p:nvSpPr>
        <p:spPr>
          <a:xfrm>
            <a:off x="10058400" y="8343900"/>
            <a:ext cx="7143750" cy="685800"/>
          </a:xfrm>
          <a:prstGeom prst="rect">
            <a:avLst/>
          </a:prstGeom>
          <a:noFill/>
          <a:ln w="0">
            <a:noFill/>
          </a:ln>
        </p:spPr>
        <p:txBody>
          <a:bodyPr/>
          <a:lstStyle>
            <a:defPPr>
              <a:defRPr sz="1950" b="0">
                <a:solidFill>
                  <a:srgbClr val="A7B0BA"/>
                </a:solidFill>
                <a:latin typeface="LeadPilot Grotesk"/>
                <a:ea typeface="LeadPilot Grotesk"/>
                <a:cs typeface="LeadPilot Grotesk"/>
              </a:defRPr>
            </a:defPPr>
          </a:lstStyle>
          <a:p>
            <a:pPr>
              <a:defRPr sz="1950" b="0">
                <a:solidFill>
                  <a:srgbClr val="A7B0BA"/>
                </a:solidFill>
                <a:latin typeface="LeadPilot Grotesk"/>
                <a:ea typeface="LeadPilot Grotesk"/>
                <a:cs typeface="LeadPilot Grotesk"/>
              </a:defRPr>
            </a:pPr>
            <a:r>
              <a:rPr sz="2925">
                <a:solidFill>
                  <a:srgbClr val="A7B0BA"/>
                </a:solidFill>
                <a:latin typeface="LeadPilot Grotesk"/>
                <a:ea typeface="LeadPilot Grotesk"/>
                <a:cs typeface="LeadPilot Grotesk"/>
              </a:rPr>
              <a:t>Sie sparen das Zusammentragen.</a:t>
            </a:r>
          </a:p>
        </p:txBody>
      </p:sp>
      <p:pic>
        <p:nvPicPr>
          <p:cNvPr id="11" name="Grafik 10">
            <a:extLst>
              <a:ext uri="{FF2B5EF4-FFF2-40B4-BE49-F238E27FC236}">
                <a16:creationId xmlns:a16="http://schemas.microsoft.com/office/drawing/2014/main" id="{A913AF4D-FACD-4EC1-B18E-F01E4A36B3B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0125" y="225318"/>
            <a:ext cx="2930838" cy="1317732"/>
          </a:xfrm>
          <a:prstGeom prst="rect">
            <a:avLst/>
          </a:prstGeom>
        </p:spPr>
      </p:pic>
    </p:spTree>
    <p:extLst>
      <p:ext uri="{BB962C8B-B14F-4D97-AF65-F5344CB8AC3E}">
        <p14:creationId xmlns:p14="http://schemas.microsoft.com/office/powerpoint/2010/main" val="132072539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hteck 1">
            <a:extLst>
              <a:ext uri="{FF2B5EF4-FFF2-40B4-BE49-F238E27FC236}">
                <a16:creationId xmlns:a16="http://schemas.microsoft.com/office/drawing/2014/main" id="{4EC808F3-56FB-4316-AE8C-9B2D2A63FAC2}"/>
              </a:ext>
            </a:extLst>
          </p:cNvPr>
          <p:cNvSpPr>
            <a:spLocks noGrp="1"/>
          </p:cNvSpPr>
          <p:nvPr/>
        </p:nvSpPr>
        <p:spPr>
          <a:xfrm>
            <a:off x="16430625" y="685800"/>
            <a:ext cx="857250" cy="457200"/>
          </a:xfrm>
          <a:prstGeom prst="rect">
            <a:avLst/>
          </a:prstGeom>
          <a:noFill/>
          <a:ln w="0">
            <a:noFill/>
          </a:ln>
        </p:spPr>
        <p:txBody>
          <a:bodyPr/>
          <a:lstStyle>
            <a:defPPr>
              <a:defRPr sz="1350" b="0">
                <a:solidFill>
                  <a:srgbClr val="A7B0BA"/>
                </a:solidFill>
                <a:latin typeface="LeadPilot Grotesk"/>
                <a:ea typeface="LeadPilot Grotesk"/>
                <a:cs typeface="LeadPilot Grotesk"/>
              </a:defRPr>
            </a:defPPr>
          </a:lstStyle>
          <a:p>
            <a:pPr>
              <a:defRPr sz="1350" b="0">
                <a:solidFill>
                  <a:srgbClr val="A7B0BA"/>
                </a:solidFill>
                <a:latin typeface="LeadPilot Grotesk"/>
                <a:ea typeface="LeadPilot Grotesk"/>
                <a:cs typeface="LeadPilot Grotesk"/>
              </a:defRPr>
            </a:pPr>
            <a:r>
              <a:rPr sz="2025">
                <a:solidFill>
                  <a:srgbClr val="A7B0BA"/>
                </a:solidFill>
                <a:latin typeface="LeadPilot Grotesk"/>
                <a:ea typeface="LeadPilot Grotesk"/>
                <a:cs typeface="LeadPilot Grotesk"/>
              </a:rPr>
              <a:t>04</a:t>
            </a:r>
          </a:p>
        </p:txBody>
      </p:sp>
      <p:sp>
        <p:nvSpPr>
          <p:cNvPr id="3" name="Rechteck 2">
            <a:extLst>
              <a:ext uri="{FF2B5EF4-FFF2-40B4-BE49-F238E27FC236}">
                <a16:creationId xmlns:a16="http://schemas.microsoft.com/office/drawing/2014/main" id="{6ABE5DB3-5F16-49B2-B338-8E4727D65806}"/>
              </a:ext>
            </a:extLst>
          </p:cNvPr>
          <p:cNvSpPr>
            <a:spLocks noGrp="1"/>
          </p:cNvSpPr>
          <p:nvPr/>
        </p:nvSpPr>
        <p:spPr>
          <a:xfrm>
            <a:off x="1028700" y="9372600"/>
            <a:ext cx="15716250" cy="514350"/>
          </a:xfrm>
          <a:prstGeom prst="rect">
            <a:avLst/>
          </a:prstGeom>
          <a:noFill/>
          <a:ln w="0">
            <a:noFill/>
          </a:ln>
        </p:spPr>
        <p:txBody>
          <a:bodyPr/>
          <a:lstStyle>
            <a:defPPr>
              <a:defRPr sz="1200" b="0">
                <a:solidFill>
                  <a:srgbClr val="A7B0BA"/>
                </a:solidFill>
                <a:latin typeface="LeadPilot Grotesk"/>
                <a:ea typeface="LeadPilot Grotesk"/>
                <a:cs typeface="LeadPilot Grotesk"/>
              </a:defRPr>
            </a:defPPr>
          </a:lstStyle>
          <a:p>
            <a:pPr>
              <a:defRPr sz="1200" b="0">
                <a:solidFill>
                  <a:srgbClr val="A7B0BA"/>
                </a:solidFill>
                <a:latin typeface="LeadPilot Grotesk"/>
                <a:ea typeface="LeadPilot Grotesk"/>
                <a:cs typeface="LeadPilot Grotesk"/>
              </a:defRPr>
            </a:pPr>
            <a:r>
              <a:rPr>
                <a:solidFill>
                  <a:srgbClr val="A7B0BA"/>
                </a:solidFill>
                <a:latin typeface="LeadPilot Grotesk"/>
                <a:ea typeface="LeadPilot Grotesk"/>
                <a:cs typeface="LeadPilot Grotesk"/>
              </a:rPr>
              <a:t>Prüfziele für die Testphase, keine belegten Kundenergebnisse</a:t>
            </a:r>
          </a:p>
        </p:txBody>
      </p:sp>
      <p:sp>
        <p:nvSpPr>
          <p:cNvPr id="4" name="Rechteck 3">
            <a:extLst>
              <a:ext uri="{FF2B5EF4-FFF2-40B4-BE49-F238E27FC236}">
                <a16:creationId xmlns:a16="http://schemas.microsoft.com/office/drawing/2014/main" id="{EED494E2-5074-41FC-B4CF-ADC38F678B44}"/>
              </a:ext>
            </a:extLst>
          </p:cNvPr>
          <p:cNvSpPr>
            <a:spLocks noGrp="1"/>
          </p:cNvSpPr>
          <p:nvPr/>
        </p:nvSpPr>
        <p:spPr>
          <a:xfrm>
            <a:off x="1028700" y="2171700"/>
            <a:ext cx="16230600" cy="1428750"/>
          </a:xfrm>
          <a:prstGeom prst="rect">
            <a:avLst/>
          </a:prstGeom>
          <a:noFill/>
          <a:ln w="0">
            <a:noFill/>
          </a:ln>
        </p:spPr>
        <p:txBody>
          <a:bodyPr/>
          <a:lstStyle>
            <a:defPPr>
              <a:defRPr sz="3600" b="1">
                <a:solidFill>
                  <a:srgbClr val="FFFFFF"/>
                </a:solidFill>
                <a:latin typeface="LeadPilot Grotesk"/>
                <a:ea typeface="LeadPilot Grotesk"/>
                <a:cs typeface="LeadPilot Grotesk"/>
              </a:defRPr>
            </a:defPPr>
          </a:lstStyle>
          <a:p>
            <a:pPr>
              <a:defRPr sz="3600" b="1">
                <a:solidFill>
                  <a:srgbClr val="FFFFFF"/>
                </a:solidFill>
                <a:latin typeface="LeadPilot Grotesk"/>
                <a:ea typeface="LeadPilot Grotesk"/>
                <a:cs typeface="LeadPilot Grotesk"/>
              </a:defRPr>
            </a:pPr>
            <a:r>
              <a:rPr sz="5400" b="1">
                <a:solidFill>
                  <a:srgbClr val="FFFFFF"/>
                </a:solidFill>
                <a:latin typeface="LeadPilot Grotesk"/>
                <a:ea typeface="LeadPilot Grotesk"/>
                <a:cs typeface="LeadPilot Grotesk"/>
              </a:rPr>
              <a:t>Der Nutzen zeigt sich an Ihrer Messe-Liste</a:t>
            </a:r>
          </a:p>
        </p:txBody>
      </p:sp>
      <p:sp>
        <p:nvSpPr>
          <p:cNvPr id="5" name="Rechteck 4">
            <a:extLst>
              <a:ext uri="{FF2B5EF4-FFF2-40B4-BE49-F238E27FC236}">
                <a16:creationId xmlns:a16="http://schemas.microsoft.com/office/drawing/2014/main" id="{BD679534-2672-4C25-8641-F4F21BFC0A93}"/>
              </a:ext>
            </a:extLst>
          </p:cNvPr>
          <p:cNvSpPr>
            <a:spLocks noGrp="1"/>
          </p:cNvSpPr>
          <p:nvPr/>
        </p:nvSpPr>
        <p:spPr>
          <a:xfrm>
            <a:off x="1028700" y="4229100"/>
            <a:ext cx="6858000" cy="1600200"/>
          </a:xfrm>
          <a:prstGeom prst="rect">
            <a:avLst/>
          </a:prstGeom>
          <a:noFill/>
          <a:ln w="0">
            <a:noFill/>
          </a:ln>
        </p:spPr>
        <p:txBody>
          <a:bodyPr/>
          <a:lstStyle>
            <a:defPPr>
              <a:defRPr sz="6300" b="1">
                <a:solidFill>
                  <a:srgbClr val="00D9C6"/>
                </a:solidFill>
                <a:latin typeface="LeadPilot Grotesk"/>
                <a:ea typeface="LeadPilot Grotesk"/>
                <a:cs typeface="LeadPilot Grotesk"/>
              </a:defRPr>
            </a:defPPr>
          </a:lstStyle>
          <a:p>
            <a:pPr>
              <a:defRPr sz="6300" b="1">
                <a:solidFill>
                  <a:srgbClr val="00D9C6"/>
                </a:solidFill>
                <a:latin typeface="LeadPilot Grotesk"/>
                <a:ea typeface="LeadPilot Grotesk"/>
                <a:cs typeface="LeadPilot Grotesk"/>
              </a:defRPr>
            </a:pPr>
            <a:r>
              <a:rPr sz="9450" b="1">
                <a:solidFill>
                  <a:srgbClr val="00D9C6"/>
                </a:solidFill>
                <a:latin typeface="LeadPilot Grotesk"/>
                <a:ea typeface="LeadPilot Grotesk"/>
                <a:cs typeface="LeadPilot Grotesk"/>
              </a:rPr>
              <a:t>14 Tage</a:t>
            </a:r>
          </a:p>
        </p:txBody>
      </p:sp>
      <p:sp>
        <p:nvSpPr>
          <p:cNvPr id="6" name="Rechteck 5">
            <a:extLst>
              <a:ext uri="{FF2B5EF4-FFF2-40B4-BE49-F238E27FC236}">
                <a16:creationId xmlns:a16="http://schemas.microsoft.com/office/drawing/2014/main" id="{50C26225-257C-49A2-986E-361347D389F9}"/>
              </a:ext>
            </a:extLst>
          </p:cNvPr>
          <p:cNvSpPr>
            <a:spLocks noGrp="1"/>
          </p:cNvSpPr>
          <p:nvPr/>
        </p:nvSpPr>
        <p:spPr>
          <a:xfrm>
            <a:off x="1028700" y="6057900"/>
            <a:ext cx="7429500" cy="1000125"/>
          </a:xfrm>
          <a:prstGeom prst="rect">
            <a:avLst/>
          </a:prstGeom>
          <a:noFill/>
          <a:ln w="0">
            <a:noFill/>
          </a:ln>
        </p:spPr>
        <p:txBody>
          <a:bodyPr/>
          <a:lstStyle>
            <a:defPPr>
              <a:defRPr sz="2250" b="1">
                <a:solidFill>
                  <a:srgbClr val="FFFFFF"/>
                </a:solidFill>
                <a:latin typeface="LeadPilot Grotesk"/>
                <a:ea typeface="LeadPilot Grotesk"/>
                <a:cs typeface="LeadPilot Grotesk"/>
              </a:defRPr>
            </a:defPPr>
          </a:lstStyle>
          <a:p>
            <a:pPr>
              <a:defRPr sz="2250" b="1">
                <a:solidFill>
                  <a:srgbClr val="FFFFFF"/>
                </a:solidFill>
                <a:latin typeface="LeadPilot Grotesk"/>
                <a:ea typeface="LeadPilot Grotesk"/>
                <a:cs typeface="LeadPilot Grotesk"/>
              </a:defRPr>
            </a:pPr>
            <a:r>
              <a:rPr sz="3375" b="1">
                <a:solidFill>
                  <a:srgbClr val="FFFFFF"/>
                </a:solidFill>
                <a:latin typeface="LeadPilot Grotesk"/>
                <a:ea typeface="LeadPilot Grotesk"/>
                <a:cs typeface="LeadPilot Grotesk"/>
              </a:rPr>
              <a:t>Testphase mit Ihrem Team</a:t>
            </a:r>
          </a:p>
        </p:txBody>
      </p:sp>
      <p:sp>
        <p:nvSpPr>
          <p:cNvPr id="7" name="Rechteck 6">
            <a:extLst>
              <a:ext uri="{FF2B5EF4-FFF2-40B4-BE49-F238E27FC236}">
                <a16:creationId xmlns:a16="http://schemas.microsoft.com/office/drawing/2014/main" id="{ACB0662F-2E11-4094-ADCA-C567830E2DDA}"/>
              </a:ext>
            </a:extLst>
          </p:cNvPr>
          <p:cNvSpPr>
            <a:spLocks noGrp="1"/>
          </p:cNvSpPr>
          <p:nvPr/>
        </p:nvSpPr>
        <p:spPr>
          <a:xfrm>
            <a:off x="1028700" y="7372350"/>
            <a:ext cx="7715250" cy="1285875"/>
          </a:xfrm>
          <a:prstGeom prst="rect">
            <a:avLst/>
          </a:prstGeom>
          <a:noFill/>
          <a:ln w="0">
            <a:noFill/>
          </a:ln>
        </p:spPr>
        <p:txBody>
          <a:bodyPr/>
          <a:lstStyle>
            <a:defPPr>
              <a:defRPr sz="1950" b="0">
                <a:solidFill>
                  <a:srgbClr val="A7B0BA"/>
                </a:solidFill>
                <a:latin typeface="LeadPilot Grotesk"/>
                <a:ea typeface="LeadPilot Grotesk"/>
                <a:cs typeface="LeadPilot Grotesk"/>
              </a:defRPr>
            </a:defPPr>
          </a:lstStyle>
          <a:p>
            <a:pPr>
              <a:defRPr sz="1950" b="0">
                <a:solidFill>
                  <a:srgbClr val="A7B0BA"/>
                </a:solidFill>
                <a:latin typeface="LeadPilot Grotesk"/>
                <a:ea typeface="LeadPilot Grotesk"/>
                <a:cs typeface="LeadPilot Grotesk"/>
              </a:defRPr>
            </a:pPr>
            <a:r>
              <a:rPr sz="2925">
                <a:solidFill>
                  <a:srgbClr val="A7B0BA"/>
                </a:solidFill>
                <a:latin typeface="LeadPilot Grotesk"/>
                <a:ea typeface="LeadPilot Grotesk"/>
                <a:cs typeface="LeadPilot Grotesk"/>
              </a:rPr>
              <a:t>Eine Messe-Liste als Start.</a:t>
            </a:r>
          </a:p>
          <a:p>
            <a:pPr>
              <a:defRPr sz="1950" b="0">
                <a:solidFill>
                  <a:srgbClr val="A7B0BA"/>
                </a:solidFill>
                <a:latin typeface="LeadPilot Grotesk"/>
                <a:ea typeface="LeadPilot Grotesk"/>
                <a:cs typeface="LeadPilot Grotesk"/>
              </a:defRPr>
            </a:pPr>
            <a:r>
              <a:rPr sz="2925">
                <a:solidFill>
                  <a:srgbClr val="A7B0BA"/>
                </a:solidFill>
                <a:latin typeface="LeadPilot Grotesk"/>
                <a:ea typeface="LeadPilot Grotesk"/>
                <a:cs typeface="LeadPilot Grotesk"/>
              </a:rPr>
              <a:t>Der Innendienst arbeitet von Anfang an mit.</a:t>
            </a:r>
          </a:p>
        </p:txBody>
      </p:sp>
      <p:sp>
        <p:nvSpPr>
          <p:cNvPr id="8" name="Rechteck 7">
            <a:extLst>
              <a:ext uri="{FF2B5EF4-FFF2-40B4-BE49-F238E27FC236}">
                <a16:creationId xmlns:a16="http://schemas.microsoft.com/office/drawing/2014/main" id="{357EFC67-A933-402F-9F55-CB07BF8C58A0}"/>
              </a:ext>
            </a:extLst>
          </p:cNvPr>
          <p:cNvSpPr>
            <a:spLocks noGrp="1"/>
          </p:cNvSpPr>
          <p:nvPr/>
        </p:nvSpPr>
        <p:spPr>
          <a:xfrm>
            <a:off x="10058400" y="4229100"/>
            <a:ext cx="7143750" cy="771525"/>
          </a:xfrm>
          <a:prstGeom prst="rect">
            <a:avLst/>
          </a:prstGeom>
          <a:noFill/>
          <a:ln w="0">
            <a:noFill/>
          </a:ln>
        </p:spPr>
        <p:txBody>
          <a:bodyPr/>
          <a:lstStyle>
            <a:defPPr>
              <a:defRPr sz="2400" b="1">
                <a:solidFill>
                  <a:srgbClr val="FFFFFF"/>
                </a:solidFill>
                <a:latin typeface="LeadPilot Grotesk"/>
                <a:ea typeface="LeadPilot Grotesk"/>
                <a:cs typeface="LeadPilot Grotesk"/>
              </a:defRPr>
            </a:defPPr>
          </a:lstStyle>
          <a:p>
            <a:pPr>
              <a:defRPr sz="2400" b="1">
                <a:solidFill>
                  <a:srgbClr val="FFFFFF"/>
                </a:solidFill>
                <a:latin typeface="LeadPilot Grotesk"/>
                <a:ea typeface="LeadPilot Grotesk"/>
                <a:cs typeface="LeadPilot Grotesk"/>
              </a:defRPr>
            </a:pPr>
            <a:r>
              <a:rPr sz="3600" b="1">
                <a:solidFill>
                  <a:srgbClr val="FFFFFF"/>
                </a:solidFill>
                <a:latin typeface="LeadPilot Grotesk"/>
                <a:ea typeface="LeadPilot Grotesk"/>
                <a:cs typeface="LeadPilot Grotesk"/>
              </a:rPr>
              <a:t>Nachfassen prüfen</a:t>
            </a:r>
          </a:p>
        </p:txBody>
      </p:sp>
      <p:sp>
        <p:nvSpPr>
          <p:cNvPr id="9" name="Rechteck 8">
            <a:extLst>
              <a:ext uri="{FF2B5EF4-FFF2-40B4-BE49-F238E27FC236}">
                <a16:creationId xmlns:a16="http://schemas.microsoft.com/office/drawing/2014/main" id="{32D94512-3B38-4B94-A039-6C63F770DA7B}"/>
              </a:ext>
            </a:extLst>
          </p:cNvPr>
          <p:cNvSpPr>
            <a:spLocks noGrp="1"/>
          </p:cNvSpPr>
          <p:nvPr/>
        </p:nvSpPr>
        <p:spPr>
          <a:xfrm>
            <a:off x="10058400" y="5200650"/>
            <a:ext cx="7143750" cy="1314450"/>
          </a:xfrm>
          <a:prstGeom prst="rect">
            <a:avLst/>
          </a:prstGeom>
          <a:noFill/>
          <a:ln w="0">
            <a:noFill/>
          </a:ln>
        </p:spPr>
        <p:txBody>
          <a:bodyPr/>
          <a:lstStyle>
            <a:defPPr>
              <a:defRPr sz="2100" b="0">
                <a:solidFill>
                  <a:srgbClr val="FFFFFF"/>
                </a:solidFill>
                <a:latin typeface="LeadPilot Grotesk"/>
                <a:ea typeface="LeadPilot Grotesk"/>
                <a:cs typeface="LeadPilot Grotesk"/>
              </a:defRPr>
            </a:defPPr>
          </a:lstStyle>
          <a:p>
            <a:pPr>
              <a:defRPr sz="2100" b="0">
                <a:solidFill>
                  <a:srgbClr val="FFFFFF"/>
                </a:solidFill>
                <a:latin typeface="LeadPilot Grotesk"/>
                <a:ea typeface="LeadPilot Grotesk"/>
                <a:cs typeface="LeadPilot Grotesk"/>
              </a:defRPr>
            </a:pPr>
            <a:r>
              <a:rPr sz="3150">
                <a:solidFill>
                  <a:srgbClr val="FFFFFF"/>
                </a:solidFill>
                <a:latin typeface="LeadPilot Grotesk"/>
                <a:ea typeface="LeadPilot Grotesk"/>
                <a:cs typeface="LeadPilot Grotesk"/>
              </a:rPr>
              <a:t>Wie viele Anfragen erreicht Ihr Team</a:t>
            </a:r>
          </a:p>
          <a:p>
            <a:pPr>
              <a:defRPr sz="2100" b="0">
                <a:solidFill>
                  <a:srgbClr val="FFFFFF"/>
                </a:solidFill>
                <a:latin typeface="LeadPilot Grotesk"/>
                <a:ea typeface="LeadPilot Grotesk"/>
                <a:cs typeface="LeadPilot Grotesk"/>
              </a:defRPr>
            </a:pPr>
            <a:r>
              <a:rPr sz="3150">
                <a:solidFill>
                  <a:srgbClr val="FFFFFF"/>
                </a:solidFill>
                <a:latin typeface="LeadPilot Grotesk"/>
                <a:ea typeface="LeadPilot Grotesk"/>
                <a:cs typeface="LeadPilot Grotesk"/>
              </a:rPr>
              <a:t>innerhalb von 48 Stunden?</a:t>
            </a:r>
          </a:p>
        </p:txBody>
      </p:sp>
      <p:sp>
        <p:nvSpPr>
          <p:cNvPr id="10" name="Rechteck 9">
            <a:extLst>
              <a:ext uri="{FF2B5EF4-FFF2-40B4-BE49-F238E27FC236}">
                <a16:creationId xmlns:a16="http://schemas.microsoft.com/office/drawing/2014/main" id="{64939392-6E17-4247-9BC0-1556985156F7}"/>
              </a:ext>
            </a:extLst>
          </p:cNvPr>
          <p:cNvSpPr>
            <a:spLocks noGrp="1"/>
          </p:cNvSpPr>
          <p:nvPr/>
        </p:nvSpPr>
        <p:spPr>
          <a:xfrm>
            <a:off x="10058400" y="6886575"/>
            <a:ext cx="7143750" cy="771525"/>
          </a:xfrm>
          <a:prstGeom prst="rect">
            <a:avLst/>
          </a:prstGeom>
          <a:noFill/>
          <a:ln w="0">
            <a:noFill/>
          </a:ln>
        </p:spPr>
        <p:txBody>
          <a:bodyPr/>
          <a:lstStyle>
            <a:defPPr>
              <a:defRPr sz="2400" b="1">
                <a:solidFill>
                  <a:srgbClr val="FFFFFF"/>
                </a:solidFill>
                <a:latin typeface="LeadPilot Grotesk"/>
                <a:ea typeface="LeadPilot Grotesk"/>
                <a:cs typeface="LeadPilot Grotesk"/>
              </a:defRPr>
            </a:defPPr>
          </a:lstStyle>
          <a:p>
            <a:pPr>
              <a:defRPr sz="2400" b="1">
                <a:solidFill>
                  <a:srgbClr val="FFFFFF"/>
                </a:solidFill>
                <a:latin typeface="LeadPilot Grotesk"/>
                <a:ea typeface="LeadPilot Grotesk"/>
                <a:cs typeface="LeadPilot Grotesk"/>
              </a:defRPr>
            </a:pPr>
            <a:r>
              <a:rPr sz="3600" b="1">
                <a:solidFill>
                  <a:srgbClr val="FFFFFF"/>
                </a:solidFill>
                <a:latin typeface="LeadPilot Grotesk"/>
                <a:ea typeface="LeadPilot Grotesk"/>
                <a:cs typeface="LeadPilot Grotesk"/>
              </a:rPr>
              <a:t>Forecast-Aufwand vergleichen</a:t>
            </a:r>
          </a:p>
        </p:txBody>
      </p:sp>
      <p:sp>
        <p:nvSpPr>
          <p:cNvPr id="11" name="Rechteck 10">
            <a:extLst>
              <a:ext uri="{FF2B5EF4-FFF2-40B4-BE49-F238E27FC236}">
                <a16:creationId xmlns:a16="http://schemas.microsoft.com/office/drawing/2014/main" id="{1C464A5E-B391-497E-ABEF-17EA20A8646D}"/>
              </a:ext>
            </a:extLst>
          </p:cNvPr>
          <p:cNvSpPr>
            <a:spLocks noGrp="1"/>
          </p:cNvSpPr>
          <p:nvPr/>
        </p:nvSpPr>
        <p:spPr>
          <a:xfrm>
            <a:off x="10058400" y="7858125"/>
            <a:ext cx="7143750" cy="1228725"/>
          </a:xfrm>
          <a:prstGeom prst="rect">
            <a:avLst/>
          </a:prstGeom>
          <a:noFill/>
          <a:ln w="0">
            <a:noFill/>
          </a:ln>
        </p:spPr>
        <p:txBody>
          <a:bodyPr/>
          <a:lstStyle>
            <a:defPPr>
              <a:defRPr sz="2100" b="0">
                <a:solidFill>
                  <a:srgbClr val="FFFFFF"/>
                </a:solidFill>
                <a:latin typeface="LeadPilot Grotesk"/>
                <a:ea typeface="LeadPilot Grotesk"/>
                <a:cs typeface="LeadPilot Grotesk"/>
              </a:defRPr>
            </a:defPPr>
          </a:lstStyle>
          <a:p>
            <a:pPr>
              <a:defRPr sz="2100" b="0">
                <a:solidFill>
                  <a:srgbClr val="FFFFFF"/>
                </a:solidFill>
                <a:latin typeface="LeadPilot Grotesk"/>
                <a:ea typeface="LeadPilot Grotesk"/>
                <a:cs typeface="LeadPilot Grotesk"/>
              </a:defRPr>
            </a:pPr>
            <a:r>
              <a:rPr sz="3150">
                <a:solidFill>
                  <a:srgbClr val="FFFFFF"/>
                </a:solidFill>
                <a:latin typeface="LeadPilot Grotesk"/>
                <a:ea typeface="LeadPilot Grotesk"/>
                <a:cs typeface="LeadPilot Grotesk"/>
              </a:rPr>
              <a:t>Wie viel Zeit brauchen Sie freitags</a:t>
            </a:r>
          </a:p>
          <a:p>
            <a:pPr>
              <a:defRPr sz="2100" b="0">
                <a:solidFill>
                  <a:srgbClr val="FFFFFF"/>
                </a:solidFill>
                <a:latin typeface="LeadPilot Grotesk"/>
                <a:ea typeface="LeadPilot Grotesk"/>
                <a:cs typeface="LeadPilot Grotesk"/>
              </a:defRPr>
            </a:pPr>
            <a:r>
              <a:rPr sz="3150">
                <a:solidFill>
                  <a:srgbClr val="FFFFFF"/>
                </a:solidFill>
                <a:latin typeface="LeadPilot Grotesk"/>
                <a:ea typeface="LeadPilot Grotesk"/>
                <a:cs typeface="LeadPilot Grotesk"/>
              </a:rPr>
              <a:t>gegenüber den bisherigen 3 Stunden?</a:t>
            </a:r>
          </a:p>
        </p:txBody>
      </p:sp>
      <p:pic>
        <p:nvPicPr>
          <p:cNvPr id="13" name="Grafik 12">
            <a:extLst>
              <a:ext uri="{FF2B5EF4-FFF2-40B4-BE49-F238E27FC236}">
                <a16:creationId xmlns:a16="http://schemas.microsoft.com/office/drawing/2014/main" id="{69F74C9A-E857-5EAB-EEC7-9E0788AD4A6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0125" y="225318"/>
            <a:ext cx="2930838" cy="1317732"/>
          </a:xfrm>
          <a:prstGeom prst="rect">
            <a:avLst/>
          </a:prstGeom>
        </p:spPr>
      </p:pic>
    </p:spTree>
    <p:extLst>
      <p:ext uri="{BB962C8B-B14F-4D97-AF65-F5344CB8AC3E}">
        <p14:creationId xmlns:p14="http://schemas.microsoft.com/office/powerpoint/2010/main" val="92326444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hteck 1">
            <a:extLst>
              <a:ext uri="{FF2B5EF4-FFF2-40B4-BE49-F238E27FC236}">
                <a16:creationId xmlns:a16="http://schemas.microsoft.com/office/drawing/2014/main" id="{FBEE7C93-261D-4AE0-A256-5A2FC7695CF6}"/>
              </a:ext>
            </a:extLst>
          </p:cNvPr>
          <p:cNvSpPr>
            <a:spLocks noGrp="1"/>
          </p:cNvSpPr>
          <p:nvPr/>
        </p:nvSpPr>
        <p:spPr>
          <a:xfrm>
            <a:off x="16430625" y="685800"/>
            <a:ext cx="857250" cy="457200"/>
          </a:xfrm>
          <a:prstGeom prst="rect">
            <a:avLst/>
          </a:prstGeom>
          <a:noFill/>
          <a:ln w="0">
            <a:noFill/>
          </a:ln>
        </p:spPr>
        <p:txBody>
          <a:bodyPr/>
          <a:lstStyle>
            <a:defPPr>
              <a:defRPr sz="1350" b="0">
                <a:solidFill>
                  <a:srgbClr val="A7B0BA"/>
                </a:solidFill>
                <a:latin typeface="LeadPilot Grotesk"/>
                <a:ea typeface="LeadPilot Grotesk"/>
                <a:cs typeface="LeadPilot Grotesk"/>
              </a:defRPr>
            </a:defPPr>
          </a:lstStyle>
          <a:p>
            <a:pPr>
              <a:defRPr sz="1350" b="0">
                <a:solidFill>
                  <a:srgbClr val="A7B0BA"/>
                </a:solidFill>
                <a:latin typeface="LeadPilot Grotesk"/>
                <a:ea typeface="LeadPilot Grotesk"/>
                <a:cs typeface="LeadPilot Grotesk"/>
              </a:defRPr>
            </a:pPr>
            <a:r>
              <a:rPr sz="2025">
                <a:solidFill>
                  <a:srgbClr val="A7B0BA"/>
                </a:solidFill>
                <a:latin typeface="LeadPilot Grotesk"/>
                <a:ea typeface="LeadPilot Grotesk"/>
                <a:cs typeface="LeadPilot Grotesk"/>
              </a:rPr>
              <a:t>05</a:t>
            </a:r>
          </a:p>
        </p:txBody>
      </p:sp>
      <p:sp>
        <p:nvSpPr>
          <p:cNvPr id="3" name="Rechteck 2">
            <a:extLst>
              <a:ext uri="{FF2B5EF4-FFF2-40B4-BE49-F238E27FC236}">
                <a16:creationId xmlns:a16="http://schemas.microsoft.com/office/drawing/2014/main" id="{67F1AE51-8C46-40D7-B024-24CF1BD4396D}"/>
              </a:ext>
            </a:extLst>
          </p:cNvPr>
          <p:cNvSpPr>
            <a:spLocks noGrp="1"/>
          </p:cNvSpPr>
          <p:nvPr/>
        </p:nvSpPr>
        <p:spPr>
          <a:xfrm>
            <a:off x="1028700" y="9372600"/>
            <a:ext cx="15716250" cy="514350"/>
          </a:xfrm>
          <a:prstGeom prst="rect">
            <a:avLst/>
          </a:prstGeom>
          <a:noFill/>
          <a:ln w="0">
            <a:noFill/>
          </a:ln>
        </p:spPr>
        <p:txBody>
          <a:bodyPr/>
          <a:lstStyle>
            <a:defPPr>
              <a:defRPr sz="1200" b="0">
                <a:solidFill>
                  <a:srgbClr val="A7B0BA"/>
                </a:solidFill>
                <a:latin typeface="LeadPilot Grotesk"/>
                <a:ea typeface="LeadPilot Grotesk"/>
                <a:cs typeface="LeadPilot Grotesk"/>
              </a:defRPr>
            </a:defPPr>
          </a:lstStyle>
          <a:p>
            <a:pPr>
              <a:defRPr sz="1200" b="0">
                <a:solidFill>
                  <a:srgbClr val="A7B0BA"/>
                </a:solidFill>
                <a:latin typeface="LeadPilot Grotesk"/>
                <a:ea typeface="LeadPilot Grotesk"/>
                <a:cs typeface="LeadPilot Grotesk"/>
              </a:defRPr>
            </a:pPr>
            <a:r>
              <a:rPr dirty="0" err="1">
                <a:solidFill>
                  <a:srgbClr val="A7B0BA"/>
                </a:solidFill>
                <a:latin typeface="LeadPilot Grotesk"/>
                <a:ea typeface="LeadPilot Grotesk"/>
                <a:cs typeface="LeadPilot Grotesk"/>
              </a:rPr>
              <a:t>Fiktives</a:t>
            </a:r>
            <a:r>
              <a:rPr dirty="0">
                <a:solidFill>
                  <a:srgbClr val="A7B0BA"/>
                </a:solidFill>
                <a:latin typeface="LeadPilot Grotesk"/>
                <a:ea typeface="LeadPilot Grotesk"/>
                <a:cs typeface="LeadPilot Grotesk"/>
              </a:rPr>
              <a:t> </a:t>
            </a:r>
            <a:r>
              <a:rPr dirty="0" err="1">
                <a:solidFill>
                  <a:srgbClr val="A7B0BA"/>
                </a:solidFill>
                <a:latin typeface="LeadPilot Grotesk"/>
                <a:ea typeface="LeadPilot Grotesk"/>
                <a:cs typeface="LeadPilot Grotesk"/>
              </a:rPr>
              <a:t>Angebot</a:t>
            </a:r>
            <a:r>
              <a:rPr dirty="0">
                <a:solidFill>
                  <a:srgbClr val="A7B0BA"/>
                </a:solidFill>
                <a:latin typeface="LeadPilot Grotesk"/>
                <a:ea typeface="LeadPilot Grotesk"/>
                <a:cs typeface="LeadPilot Grotesk"/>
              </a:rPr>
              <a:t> </a:t>
            </a:r>
            <a:r>
              <a:rPr dirty="0" err="1">
                <a:solidFill>
                  <a:srgbClr val="A7B0BA"/>
                </a:solidFill>
                <a:latin typeface="LeadPilot Grotesk"/>
                <a:ea typeface="LeadPilot Grotesk"/>
                <a:cs typeface="LeadPilot Grotesk"/>
              </a:rPr>
              <a:t>laut</a:t>
            </a:r>
            <a:r>
              <a:rPr dirty="0">
                <a:solidFill>
                  <a:srgbClr val="A7B0BA"/>
                </a:solidFill>
                <a:latin typeface="LeadPilot Grotesk"/>
                <a:ea typeface="LeadPilot Grotesk"/>
                <a:cs typeface="LeadPilot Grotesk"/>
              </a:rPr>
              <a:t> Pitch-Dossier. Growth: </a:t>
            </a:r>
            <a:r>
              <a:rPr dirty="0" err="1">
                <a:solidFill>
                  <a:srgbClr val="A7B0BA"/>
                </a:solidFill>
                <a:latin typeface="LeadPilot Grotesk"/>
                <a:ea typeface="LeadPilot Grotesk"/>
                <a:cs typeface="LeadPilot Grotesk"/>
              </a:rPr>
              <a:t>zusätzliche</a:t>
            </a:r>
            <a:r>
              <a:rPr dirty="0">
                <a:solidFill>
                  <a:srgbClr val="A7B0BA"/>
                </a:solidFill>
                <a:latin typeface="LeadPilot Grotesk"/>
                <a:ea typeface="LeadPilot Grotesk"/>
                <a:cs typeface="LeadPilot Grotesk"/>
              </a:rPr>
              <a:t> Onboarding-</a:t>
            </a:r>
            <a:r>
              <a:rPr dirty="0" err="1">
                <a:solidFill>
                  <a:srgbClr val="A7B0BA"/>
                </a:solidFill>
                <a:latin typeface="LeadPilot Grotesk"/>
                <a:ea typeface="LeadPilot Grotesk"/>
                <a:cs typeface="LeadPilot Grotesk"/>
              </a:rPr>
              <a:t>Gebühr</a:t>
            </a:r>
            <a:r>
              <a:rPr dirty="0">
                <a:solidFill>
                  <a:srgbClr val="A7B0BA"/>
                </a:solidFill>
                <a:latin typeface="LeadPilot Grotesk"/>
                <a:ea typeface="LeadPilot Grotesk"/>
                <a:cs typeface="LeadPilot Grotesk"/>
              </a:rPr>
              <a:t>, </a:t>
            </a:r>
            <a:r>
              <a:rPr dirty="0" err="1">
                <a:solidFill>
                  <a:srgbClr val="A7B0BA"/>
                </a:solidFill>
                <a:latin typeface="LeadPilot Grotesk"/>
                <a:ea typeface="LeadPilot Grotesk"/>
                <a:cs typeface="LeadPilot Grotesk"/>
              </a:rPr>
              <a:t>Höhe</a:t>
            </a:r>
            <a:r>
              <a:rPr dirty="0">
                <a:solidFill>
                  <a:srgbClr val="A7B0BA"/>
                </a:solidFill>
                <a:latin typeface="LeadPilot Grotesk"/>
                <a:ea typeface="LeadPilot Grotesk"/>
                <a:cs typeface="LeadPilot Grotesk"/>
              </a:rPr>
              <a:t> </a:t>
            </a:r>
            <a:r>
              <a:rPr dirty="0" err="1">
                <a:solidFill>
                  <a:srgbClr val="A7B0BA"/>
                </a:solidFill>
                <a:latin typeface="LeadPilot Grotesk"/>
                <a:ea typeface="LeadPilot Grotesk"/>
                <a:cs typeface="LeadPilot Grotesk"/>
              </a:rPr>
              <a:t>offen</a:t>
            </a:r>
            <a:r>
              <a:rPr dirty="0">
                <a:solidFill>
                  <a:srgbClr val="A7B0BA"/>
                </a:solidFill>
                <a:latin typeface="LeadPilot Grotesk"/>
                <a:ea typeface="LeadPilot Grotesk"/>
                <a:cs typeface="LeadPilot Grotesk"/>
              </a:rPr>
              <a:t>.</a:t>
            </a:r>
          </a:p>
        </p:txBody>
      </p:sp>
      <p:sp>
        <p:nvSpPr>
          <p:cNvPr id="4" name="Rechteck 3">
            <a:extLst>
              <a:ext uri="{FF2B5EF4-FFF2-40B4-BE49-F238E27FC236}">
                <a16:creationId xmlns:a16="http://schemas.microsoft.com/office/drawing/2014/main" id="{ED843E83-0AA7-4350-A482-9778245CE54E}"/>
              </a:ext>
            </a:extLst>
          </p:cNvPr>
          <p:cNvSpPr>
            <a:spLocks noGrp="1"/>
          </p:cNvSpPr>
          <p:nvPr/>
        </p:nvSpPr>
        <p:spPr>
          <a:xfrm>
            <a:off x="1028700" y="2171700"/>
            <a:ext cx="16230600" cy="1285875"/>
          </a:xfrm>
          <a:prstGeom prst="rect">
            <a:avLst/>
          </a:prstGeom>
          <a:noFill/>
          <a:ln w="0">
            <a:noFill/>
          </a:ln>
        </p:spPr>
        <p:txBody>
          <a:bodyPr/>
          <a:lstStyle>
            <a:defPPr>
              <a:defRPr sz="3600" b="1">
                <a:solidFill>
                  <a:srgbClr val="FFFFFF"/>
                </a:solidFill>
                <a:latin typeface="LeadPilot Grotesk"/>
                <a:ea typeface="LeadPilot Grotesk"/>
                <a:cs typeface="LeadPilot Grotesk"/>
              </a:defRPr>
            </a:defPPr>
          </a:lstStyle>
          <a:p>
            <a:pPr>
              <a:defRPr sz="3600" b="1">
                <a:solidFill>
                  <a:srgbClr val="FFFFFF"/>
                </a:solidFill>
                <a:latin typeface="LeadPilot Grotesk"/>
                <a:ea typeface="LeadPilot Grotesk"/>
                <a:cs typeface="LeadPilot Grotesk"/>
              </a:defRPr>
            </a:pPr>
            <a:r>
              <a:rPr sz="5400" b="1">
                <a:solidFill>
                  <a:srgbClr val="FFFFFF"/>
                </a:solidFill>
                <a:latin typeface="LeadPilot Grotesk"/>
                <a:ea typeface="LeadPilot Grotesk"/>
                <a:cs typeface="LeadPilot Grotesk"/>
              </a:rPr>
              <a:t>Ihre nächste Messe-Liste als Startpunkt</a:t>
            </a:r>
          </a:p>
        </p:txBody>
      </p:sp>
      <p:sp>
        <p:nvSpPr>
          <p:cNvPr id="5" name="Rechteck 4">
            <a:extLst>
              <a:ext uri="{FF2B5EF4-FFF2-40B4-BE49-F238E27FC236}">
                <a16:creationId xmlns:a16="http://schemas.microsoft.com/office/drawing/2014/main" id="{73686AAC-D5C3-4CA4-BA54-5886914B3641}"/>
              </a:ext>
            </a:extLst>
          </p:cNvPr>
          <p:cNvSpPr>
            <a:spLocks noGrp="1"/>
          </p:cNvSpPr>
          <p:nvPr/>
        </p:nvSpPr>
        <p:spPr>
          <a:xfrm>
            <a:off x="1028700" y="4029075"/>
            <a:ext cx="8286750" cy="771525"/>
          </a:xfrm>
          <a:prstGeom prst="rect">
            <a:avLst/>
          </a:prstGeom>
          <a:noFill/>
          <a:ln w="0">
            <a:noFill/>
          </a:ln>
        </p:spPr>
        <p:txBody>
          <a:bodyPr/>
          <a:lstStyle>
            <a:defPPr>
              <a:defRPr sz="2250" b="1">
                <a:solidFill>
                  <a:srgbClr val="FFFFFF"/>
                </a:solidFill>
                <a:latin typeface="LeadPilot Grotesk"/>
                <a:ea typeface="LeadPilot Grotesk"/>
                <a:cs typeface="LeadPilot Grotesk"/>
              </a:defRPr>
            </a:defPPr>
          </a:lstStyle>
          <a:p>
            <a:pPr>
              <a:defRPr sz="2250" b="1">
                <a:solidFill>
                  <a:srgbClr val="FFFFFF"/>
                </a:solidFill>
                <a:latin typeface="LeadPilot Grotesk"/>
                <a:ea typeface="LeadPilot Grotesk"/>
                <a:cs typeface="LeadPilot Grotesk"/>
              </a:defRPr>
            </a:pPr>
            <a:r>
              <a:rPr sz="3375" b="1" dirty="0">
                <a:solidFill>
                  <a:srgbClr val="FFFFFF"/>
                </a:solidFill>
                <a:latin typeface="LeadPilot Grotesk"/>
                <a:ea typeface="LeadPilot Grotesk"/>
                <a:cs typeface="LeadPilot Grotesk"/>
              </a:rPr>
              <a:t>Starter für </a:t>
            </a:r>
            <a:r>
              <a:rPr sz="3375" b="1" dirty="0" err="1">
                <a:solidFill>
                  <a:srgbClr val="FFFFFF"/>
                </a:solidFill>
                <a:latin typeface="LeadPilot Grotesk"/>
                <a:ea typeface="LeadPilot Grotesk"/>
                <a:cs typeface="LeadPilot Grotesk"/>
              </a:rPr>
              <a:t>Ihr</a:t>
            </a:r>
            <a:r>
              <a:rPr sz="3375" b="1" dirty="0">
                <a:solidFill>
                  <a:srgbClr val="FFFFFF"/>
                </a:solidFill>
                <a:latin typeface="LeadPilot Grotesk"/>
                <a:ea typeface="LeadPilot Grotesk"/>
                <a:cs typeface="LeadPilot Grotesk"/>
              </a:rPr>
              <a:t> 7er-Team</a:t>
            </a:r>
          </a:p>
        </p:txBody>
      </p:sp>
      <p:sp>
        <p:nvSpPr>
          <p:cNvPr id="6" name="Rechteck 5">
            <a:extLst>
              <a:ext uri="{FF2B5EF4-FFF2-40B4-BE49-F238E27FC236}">
                <a16:creationId xmlns:a16="http://schemas.microsoft.com/office/drawing/2014/main" id="{08B065CD-0906-424D-AAFC-9D5D686081B9}"/>
              </a:ext>
            </a:extLst>
          </p:cNvPr>
          <p:cNvSpPr>
            <a:spLocks noGrp="1"/>
          </p:cNvSpPr>
          <p:nvPr/>
        </p:nvSpPr>
        <p:spPr>
          <a:xfrm>
            <a:off x="1028700" y="4972050"/>
            <a:ext cx="8858250" cy="1257300"/>
          </a:xfrm>
          <a:prstGeom prst="rect">
            <a:avLst/>
          </a:prstGeom>
          <a:noFill/>
          <a:ln w="0">
            <a:noFill/>
          </a:ln>
        </p:spPr>
        <p:txBody>
          <a:bodyPr/>
          <a:lstStyle>
            <a:defPPr>
              <a:defRPr sz="4650" b="1">
                <a:solidFill>
                  <a:srgbClr val="00D9C6"/>
                </a:solidFill>
                <a:latin typeface="LeadPilot Grotesk"/>
                <a:ea typeface="LeadPilot Grotesk"/>
                <a:cs typeface="LeadPilot Grotesk"/>
              </a:defRPr>
            </a:defPPr>
          </a:lstStyle>
          <a:p>
            <a:pPr>
              <a:defRPr sz="4650" b="1">
                <a:solidFill>
                  <a:srgbClr val="00D9C6"/>
                </a:solidFill>
                <a:latin typeface="LeadPilot Grotesk"/>
                <a:ea typeface="LeadPilot Grotesk"/>
                <a:cs typeface="LeadPilot Grotesk"/>
              </a:defRPr>
            </a:pPr>
            <a:r>
              <a:rPr sz="6975" b="1">
                <a:solidFill>
                  <a:srgbClr val="00D9C6"/>
                </a:solidFill>
                <a:latin typeface="LeadPilot Grotesk"/>
                <a:ea typeface="LeadPilot Grotesk"/>
                <a:cs typeface="LeadPilot Grotesk"/>
              </a:rPr>
              <a:t>343 € / Monat</a:t>
            </a:r>
          </a:p>
        </p:txBody>
      </p:sp>
      <p:sp>
        <p:nvSpPr>
          <p:cNvPr id="7" name="Rechteck 6">
            <a:extLst>
              <a:ext uri="{FF2B5EF4-FFF2-40B4-BE49-F238E27FC236}">
                <a16:creationId xmlns:a16="http://schemas.microsoft.com/office/drawing/2014/main" id="{F1C090FF-ADE3-4ACC-A7A5-B9CD5402EF73}"/>
              </a:ext>
            </a:extLst>
          </p:cNvPr>
          <p:cNvSpPr>
            <a:spLocks noGrp="1"/>
          </p:cNvSpPr>
          <p:nvPr/>
        </p:nvSpPr>
        <p:spPr>
          <a:xfrm>
            <a:off x="1028700" y="6572250"/>
            <a:ext cx="8286750" cy="1314450"/>
          </a:xfrm>
          <a:prstGeom prst="rect">
            <a:avLst/>
          </a:prstGeom>
          <a:noFill/>
          <a:ln w="0">
            <a:noFill/>
          </a:ln>
        </p:spPr>
        <p:txBody>
          <a:bodyPr/>
          <a:lstStyle>
            <a:defPPr>
              <a:defRPr sz="2025" b="0">
                <a:solidFill>
                  <a:srgbClr val="FFFFFF"/>
                </a:solidFill>
                <a:latin typeface="LeadPilot Grotesk"/>
                <a:ea typeface="LeadPilot Grotesk"/>
                <a:cs typeface="LeadPilot Grotesk"/>
              </a:defRPr>
            </a:defPPr>
          </a:lstStyle>
          <a:p>
            <a:pPr>
              <a:defRPr sz="2025" b="0">
                <a:solidFill>
                  <a:srgbClr val="FFFFFF"/>
                </a:solidFill>
                <a:latin typeface="LeadPilot Grotesk"/>
                <a:ea typeface="LeadPilot Grotesk"/>
                <a:cs typeface="LeadPilot Grotesk"/>
              </a:defRPr>
            </a:pPr>
            <a:r>
              <a:rPr sz="3038" dirty="0">
                <a:solidFill>
                  <a:srgbClr val="FFFFFF"/>
                </a:solidFill>
                <a:latin typeface="LeadPilot Grotesk"/>
                <a:ea typeface="LeadPilot Grotesk"/>
                <a:cs typeface="LeadPilot Grotesk"/>
              </a:rPr>
              <a:t>7 × 49 € pro </a:t>
            </a:r>
            <a:r>
              <a:rPr sz="3038" dirty="0" err="1">
                <a:solidFill>
                  <a:srgbClr val="FFFFFF"/>
                </a:solidFill>
                <a:latin typeface="LeadPilot Grotesk"/>
                <a:ea typeface="LeadPilot Grotesk"/>
                <a:cs typeface="LeadPilot Grotesk"/>
              </a:rPr>
              <a:t>Nutzer</a:t>
            </a:r>
            <a:r>
              <a:rPr sz="3038" dirty="0">
                <a:solidFill>
                  <a:srgbClr val="FFFFFF"/>
                </a:solidFill>
                <a:latin typeface="LeadPilot Grotesk"/>
                <a:ea typeface="LeadPilot Grotesk"/>
                <a:cs typeface="LeadPilot Grotesk"/>
              </a:rPr>
              <a:t> und Monat</a:t>
            </a:r>
          </a:p>
          <a:p>
            <a:pPr>
              <a:defRPr sz="2025" b="0">
                <a:solidFill>
                  <a:srgbClr val="FFFFFF"/>
                </a:solidFill>
                <a:latin typeface="LeadPilot Grotesk"/>
                <a:ea typeface="LeadPilot Grotesk"/>
                <a:cs typeface="LeadPilot Grotesk"/>
              </a:defRPr>
            </a:pPr>
            <a:r>
              <a:rPr sz="3038" dirty="0" err="1">
                <a:solidFill>
                  <a:srgbClr val="FFFFFF"/>
                </a:solidFill>
                <a:latin typeface="LeadPilot Grotesk"/>
                <a:ea typeface="LeadPilot Grotesk"/>
                <a:cs typeface="LeadPilot Grotesk"/>
              </a:rPr>
              <a:t>Monatlich</a:t>
            </a:r>
            <a:r>
              <a:rPr sz="3038" dirty="0">
                <a:solidFill>
                  <a:srgbClr val="FFFFFF"/>
                </a:solidFill>
                <a:latin typeface="LeadPilot Grotesk"/>
                <a:ea typeface="LeadPilot Grotesk"/>
                <a:cs typeface="LeadPilot Grotesk"/>
              </a:rPr>
              <a:t> </a:t>
            </a:r>
            <a:r>
              <a:rPr sz="3038" dirty="0" err="1">
                <a:solidFill>
                  <a:srgbClr val="FFFFFF"/>
                </a:solidFill>
                <a:latin typeface="LeadPilot Grotesk"/>
                <a:ea typeface="LeadPilot Grotesk"/>
                <a:cs typeface="LeadPilot Grotesk"/>
              </a:rPr>
              <a:t>kündbar</a:t>
            </a:r>
            <a:endParaRPr sz="3038" dirty="0">
              <a:solidFill>
                <a:srgbClr val="FFFFFF"/>
              </a:solidFill>
              <a:latin typeface="LeadPilot Grotesk"/>
              <a:ea typeface="LeadPilot Grotesk"/>
              <a:cs typeface="LeadPilot Grotesk"/>
            </a:endParaRPr>
          </a:p>
        </p:txBody>
      </p:sp>
      <p:sp>
        <p:nvSpPr>
          <p:cNvPr id="8" name="Rechteck 7">
            <a:extLst>
              <a:ext uri="{FF2B5EF4-FFF2-40B4-BE49-F238E27FC236}">
                <a16:creationId xmlns:a16="http://schemas.microsoft.com/office/drawing/2014/main" id="{D9910FFE-178B-4F53-8CBC-1BBE9B63CCE5}"/>
              </a:ext>
            </a:extLst>
          </p:cNvPr>
          <p:cNvSpPr>
            <a:spLocks noGrp="1"/>
          </p:cNvSpPr>
          <p:nvPr/>
        </p:nvSpPr>
        <p:spPr>
          <a:xfrm>
            <a:off x="10629900" y="4171950"/>
            <a:ext cx="6572250" cy="657225"/>
          </a:xfrm>
          <a:prstGeom prst="rect">
            <a:avLst/>
          </a:prstGeom>
          <a:noFill/>
          <a:ln w="0">
            <a:noFill/>
          </a:ln>
        </p:spPr>
        <p:txBody>
          <a:bodyPr/>
          <a:lstStyle>
            <a:defPPr>
              <a:defRPr sz="2025" b="1">
                <a:solidFill>
                  <a:srgbClr val="FFFFFF"/>
                </a:solidFill>
                <a:latin typeface="LeadPilot Grotesk"/>
                <a:ea typeface="LeadPilot Grotesk"/>
                <a:cs typeface="LeadPilot Grotesk"/>
              </a:defRPr>
            </a:defPPr>
          </a:lstStyle>
          <a:p>
            <a:pPr>
              <a:defRPr sz="2025" b="1">
                <a:solidFill>
                  <a:srgbClr val="FFFFFF"/>
                </a:solidFill>
                <a:latin typeface="LeadPilot Grotesk"/>
                <a:ea typeface="LeadPilot Grotesk"/>
                <a:cs typeface="LeadPilot Grotesk"/>
              </a:defRPr>
            </a:pPr>
            <a:r>
              <a:rPr sz="3038" b="1" dirty="0">
                <a:solidFill>
                  <a:srgbClr val="FFFFFF"/>
                </a:solidFill>
                <a:latin typeface="LeadPilot Grotesk"/>
                <a:ea typeface="LeadPilot Grotesk"/>
                <a:cs typeface="LeadPilot Grotesk"/>
              </a:rPr>
              <a:t>Growth </a:t>
            </a:r>
            <a:r>
              <a:rPr sz="3038" b="1" dirty="0" err="1">
                <a:solidFill>
                  <a:srgbClr val="FFFFFF"/>
                </a:solidFill>
                <a:latin typeface="LeadPilot Grotesk"/>
                <a:ea typeface="LeadPilot Grotesk"/>
                <a:cs typeface="LeadPilot Grotesk"/>
              </a:rPr>
              <a:t>mit</a:t>
            </a:r>
            <a:r>
              <a:rPr sz="3038" b="1" dirty="0">
                <a:solidFill>
                  <a:srgbClr val="FFFFFF"/>
                </a:solidFill>
                <a:latin typeface="LeadPilot Grotesk"/>
                <a:ea typeface="LeadPilot Grotesk"/>
                <a:cs typeface="LeadPilot Grotesk"/>
              </a:rPr>
              <a:t> KI-Scoring</a:t>
            </a:r>
          </a:p>
        </p:txBody>
      </p:sp>
      <p:sp>
        <p:nvSpPr>
          <p:cNvPr id="9" name="Rechteck 8">
            <a:extLst>
              <a:ext uri="{FF2B5EF4-FFF2-40B4-BE49-F238E27FC236}">
                <a16:creationId xmlns:a16="http://schemas.microsoft.com/office/drawing/2014/main" id="{B630D25B-35AE-477C-8AA2-569F60B907EC}"/>
              </a:ext>
            </a:extLst>
          </p:cNvPr>
          <p:cNvSpPr>
            <a:spLocks noGrp="1"/>
          </p:cNvSpPr>
          <p:nvPr/>
        </p:nvSpPr>
        <p:spPr>
          <a:xfrm>
            <a:off x="10629900" y="5057775"/>
            <a:ext cx="6572250" cy="1000125"/>
          </a:xfrm>
          <a:prstGeom prst="rect">
            <a:avLst/>
          </a:prstGeom>
          <a:noFill/>
          <a:ln w="0">
            <a:noFill/>
          </a:ln>
        </p:spPr>
        <p:txBody>
          <a:bodyPr/>
          <a:lstStyle>
            <a:defPPr>
              <a:defRPr sz="3150" b="1">
                <a:solidFill>
                  <a:srgbClr val="FFFFFF"/>
                </a:solidFill>
                <a:latin typeface="LeadPilot Grotesk"/>
                <a:ea typeface="LeadPilot Grotesk"/>
                <a:cs typeface="LeadPilot Grotesk"/>
              </a:defRPr>
            </a:defPPr>
          </a:lstStyle>
          <a:p>
            <a:pPr>
              <a:defRPr sz="3150" b="1">
                <a:solidFill>
                  <a:srgbClr val="FFFFFF"/>
                </a:solidFill>
                <a:latin typeface="LeadPilot Grotesk"/>
                <a:ea typeface="LeadPilot Grotesk"/>
                <a:cs typeface="LeadPilot Grotesk"/>
              </a:defRPr>
            </a:pPr>
            <a:r>
              <a:rPr sz="4725" b="1">
                <a:solidFill>
                  <a:srgbClr val="FFFFFF"/>
                </a:solidFill>
                <a:latin typeface="LeadPilot Grotesk"/>
                <a:ea typeface="LeadPilot Grotesk"/>
                <a:cs typeface="LeadPilot Grotesk"/>
              </a:rPr>
              <a:t>623 € / Monat</a:t>
            </a:r>
          </a:p>
        </p:txBody>
      </p:sp>
      <p:sp>
        <p:nvSpPr>
          <p:cNvPr id="10" name="Rechteck 9">
            <a:extLst>
              <a:ext uri="{FF2B5EF4-FFF2-40B4-BE49-F238E27FC236}">
                <a16:creationId xmlns:a16="http://schemas.microsoft.com/office/drawing/2014/main" id="{CD37D999-87D3-49EE-8417-59AFF557710E}"/>
              </a:ext>
            </a:extLst>
          </p:cNvPr>
          <p:cNvSpPr>
            <a:spLocks noGrp="1"/>
          </p:cNvSpPr>
          <p:nvPr/>
        </p:nvSpPr>
        <p:spPr>
          <a:xfrm>
            <a:off x="10629900" y="6343650"/>
            <a:ext cx="6572250" cy="714375"/>
          </a:xfrm>
          <a:prstGeom prst="rect">
            <a:avLst/>
          </a:prstGeom>
          <a:noFill/>
          <a:ln w="0">
            <a:noFill/>
          </a:ln>
        </p:spPr>
        <p:txBody>
          <a:bodyPr/>
          <a:lstStyle>
            <a:defPPr>
              <a:defRPr sz="1725" b="0">
                <a:solidFill>
                  <a:srgbClr val="A7B0BA"/>
                </a:solidFill>
                <a:latin typeface="LeadPilot Grotesk"/>
                <a:ea typeface="LeadPilot Grotesk"/>
                <a:cs typeface="LeadPilot Grotesk"/>
              </a:defRPr>
            </a:defPPr>
          </a:lstStyle>
          <a:p>
            <a:pPr>
              <a:defRPr sz="1725" b="0">
                <a:solidFill>
                  <a:srgbClr val="A7B0BA"/>
                </a:solidFill>
                <a:latin typeface="LeadPilot Grotesk"/>
                <a:ea typeface="LeadPilot Grotesk"/>
                <a:cs typeface="LeadPilot Grotesk"/>
              </a:defRPr>
            </a:pPr>
            <a:r>
              <a:rPr sz="2588" dirty="0">
                <a:solidFill>
                  <a:srgbClr val="A7B0BA"/>
                </a:solidFill>
                <a:latin typeface="LeadPilot Grotesk"/>
                <a:ea typeface="LeadPilot Grotesk"/>
                <a:cs typeface="LeadPilot Grotesk"/>
              </a:rPr>
              <a:t>7 × 89 € pro </a:t>
            </a:r>
            <a:r>
              <a:rPr sz="2588" dirty="0" err="1">
                <a:solidFill>
                  <a:srgbClr val="A7B0BA"/>
                </a:solidFill>
                <a:latin typeface="LeadPilot Grotesk"/>
                <a:ea typeface="LeadPilot Grotesk"/>
                <a:cs typeface="LeadPilot Grotesk"/>
              </a:rPr>
              <a:t>Nutzer</a:t>
            </a:r>
            <a:r>
              <a:rPr sz="2588" dirty="0">
                <a:solidFill>
                  <a:srgbClr val="A7B0BA"/>
                </a:solidFill>
                <a:latin typeface="LeadPilot Grotesk"/>
                <a:ea typeface="LeadPilot Grotesk"/>
                <a:cs typeface="LeadPilot Grotesk"/>
              </a:rPr>
              <a:t> und Monat</a:t>
            </a:r>
          </a:p>
        </p:txBody>
      </p:sp>
      <p:sp>
        <p:nvSpPr>
          <p:cNvPr id="11" name="Rechteck 10">
            <a:extLst>
              <a:ext uri="{FF2B5EF4-FFF2-40B4-BE49-F238E27FC236}">
                <a16:creationId xmlns:a16="http://schemas.microsoft.com/office/drawing/2014/main" id="{6DD36FC3-4E7C-4741-AA73-50FB86D2AC54}"/>
              </a:ext>
            </a:extLst>
          </p:cNvPr>
          <p:cNvSpPr>
            <a:spLocks noGrp="1"/>
          </p:cNvSpPr>
          <p:nvPr/>
        </p:nvSpPr>
        <p:spPr>
          <a:xfrm>
            <a:off x="1028700" y="8115300"/>
            <a:ext cx="16230600" cy="800100"/>
          </a:xfrm>
          <a:prstGeom prst="rect">
            <a:avLst/>
          </a:prstGeom>
          <a:noFill/>
          <a:ln w="0">
            <a:noFill/>
          </a:ln>
        </p:spPr>
        <p:txBody>
          <a:bodyPr/>
          <a:lstStyle>
            <a:defPPr>
              <a:defRPr sz="2400" b="1">
                <a:solidFill>
                  <a:srgbClr val="FF7A3D"/>
                </a:solidFill>
                <a:latin typeface="LeadPilot Grotesk"/>
                <a:ea typeface="LeadPilot Grotesk"/>
                <a:cs typeface="LeadPilot Grotesk"/>
              </a:defRPr>
            </a:defPPr>
          </a:lstStyle>
          <a:p>
            <a:pPr>
              <a:defRPr sz="2400" b="1">
                <a:solidFill>
                  <a:srgbClr val="FF7A3D"/>
                </a:solidFill>
                <a:latin typeface="LeadPilot Grotesk"/>
                <a:ea typeface="LeadPilot Grotesk"/>
                <a:cs typeface="LeadPilot Grotesk"/>
              </a:defRPr>
            </a:pPr>
            <a:r>
              <a:rPr sz="3600" b="1">
                <a:solidFill>
                  <a:srgbClr val="FF7A3D"/>
                </a:solidFill>
                <a:latin typeface="LeadPilot Grotesk"/>
                <a:ea typeface="LeadPilot Grotesk"/>
                <a:cs typeface="LeadPilot Grotesk"/>
              </a:rPr>
              <a:t>30 Minuten Demo mit Ihrer letzten Messe-Liste</a:t>
            </a:r>
          </a:p>
        </p:txBody>
      </p:sp>
      <p:sp>
        <p:nvSpPr>
          <p:cNvPr id="12" name="Rechteck 11">
            <a:extLst>
              <a:ext uri="{FF2B5EF4-FFF2-40B4-BE49-F238E27FC236}">
                <a16:creationId xmlns:a16="http://schemas.microsoft.com/office/drawing/2014/main" id="{5B5948F3-D8C4-4F8E-BA8E-F0C1CC9FAD94}"/>
              </a:ext>
            </a:extLst>
          </p:cNvPr>
          <p:cNvSpPr>
            <a:spLocks noGrp="1"/>
          </p:cNvSpPr>
          <p:nvPr/>
        </p:nvSpPr>
        <p:spPr>
          <a:xfrm>
            <a:off x="1028700" y="8858250"/>
            <a:ext cx="16230600" cy="571500"/>
          </a:xfrm>
          <a:prstGeom prst="rect">
            <a:avLst/>
          </a:prstGeom>
          <a:noFill/>
          <a:ln w="0">
            <a:noFill/>
          </a:ln>
        </p:spPr>
        <p:txBody>
          <a:bodyPr/>
          <a:lstStyle>
            <a:defPPr>
              <a:defRPr sz="1950" b="0">
                <a:solidFill>
                  <a:srgbClr val="FFFFFF"/>
                </a:solidFill>
                <a:latin typeface="LeadPilot Grotesk"/>
                <a:ea typeface="LeadPilot Grotesk"/>
                <a:cs typeface="LeadPilot Grotesk"/>
              </a:defRPr>
            </a:defPPr>
          </a:lstStyle>
          <a:p>
            <a:pPr>
              <a:defRPr sz="1950" b="0">
                <a:solidFill>
                  <a:srgbClr val="FFFFFF"/>
                </a:solidFill>
                <a:latin typeface="LeadPilot Grotesk"/>
                <a:ea typeface="LeadPilot Grotesk"/>
                <a:cs typeface="LeadPilot Grotesk"/>
              </a:defRPr>
            </a:pPr>
            <a:r>
              <a:rPr sz="2925" dirty="0">
                <a:solidFill>
                  <a:srgbClr val="FFFFFF"/>
                </a:solidFill>
                <a:latin typeface="LeadPilot Grotesk"/>
                <a:ea typeface="LeadPilot Grotesk"/>
                <a:cs typeface="LeadPilot Grotesk"/>
              </a:rPr>
              <a:t>Herr Hartwig, </a:t>
            </a:r>
            <a:r>
              <a:rPr sz="2925" dirty="0" err="1">
                <a:solidFill>
                  <a:srgbClr val="FFFFFF"/>
                </a:solidFill>
                <a:latin typeface="LeadPilot Grotesk"/>
                <a:ea typeface="LeadPilot Grotesk"/>
                <a:cs typeface="LeadPilot Grotesk"/>
              </a:rPr>
              <a:t>passt</a:t>
            </a:r>
            <a:r>
              <a:rPr sz="2925" dirty="0">
                <a:solidFill>
                  <a:srgbClr val="FFFFFF"/>
                </a:solidFill>
                <a:latin typeface="LeadPilot Grotesk"/>
                <a:ea typeface="LeadPilot Grotesk"/>
                <a:cs typeface="LeadPilot Grotesk"/>
              </a:rPr>
              <a:t> Ihnen Dienstag um 10 Uhr?</a:t>
            </a:r>
          </a:p>
        </p:txBody>
      </p:sp>
      <p:pic>
        <p:nvPicPr>
          <p:cNvPr id="14" name="Grafik 13">
            <a:extLst>
              <a:ext uri="{FF2B5EF4-FFF2-40B4-BE49-F238E27FC236}">
                <a16:creationId xmlns:a16="http://schemas.microsoft.com/office/drawing/2014/main" id="{425A1D7B-6993-CCD2-62A1-B814321A9B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0125" y="225318"/>
            <a:ext cx="2930838" cy="1317732"/>
          </a:xfrm>
          <a:prstGeom prst="rect">
            <a:avLst/>
          </a:prstGeom>
        </p:spPr>
      </p:pic>
    </p:spTree>
    <p:extLst>
      <p:ext uri="{BB962C8B-B14F-4D97-AF65-F5344CB8AC3E}">
        <p14:creationId xmlns:p14="http://schemas.microsoft.com/office/powerpoint/2010/main" val="127702666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Grafik 7">
            <a:extLst>
              <a:ext uri="{FF2B5EF4-FFF2-40B4-BE49-F238E27FC236}">
                <a16:creationId xmlns:a16="http://schemas.microsoft.com/office/drawing/2014/main" id="{0E828400-861F-4AF5-8ED7-9AE4393022D8}"/>
              </a:ext>
            </a:extLst>
          </p:cNvPr>
          <p:cNvPicPr>
            <a:picLocks noChangeAspect="1"/>
          </p:cNvPicPr>
          <p:nvPr/>
        </p:nvPicPr>
        <p:blipFill>
          <a:blip r:embed="rId3"/>
          <a:srcRect l="10733" t="27167" r="11033" b="39967"/>
          <a:stretch/>
        </p:blipFill>
        <p:spPr>
          <a:xfrm>
            <a:off x="14573250" y="457201"/>
            <a:ext cx="2686050" cy="1128713"/>
          </a:xfrm>
          <a:prstGeom prst="rect">
            <a:avLst/>
          </a:prstGeom>
        </p:spPr>
      </p:pic>
      <p:sp>
        <p:nvSpPr>
          <p:cNvPr id="2" name="Rechteck 1">
            <a:extLst>
              <a:ext uri="{FF2B5EF4-FFF2-40B4-BE49-F238E27FC236}">
                <a16:creationId xmlns:a16="http://schemas.microsoft.com/office/drawing/2014/main" id="{14551701-EBB7-4A4E-8998-F16B4BF84AAE}"/>
              </a:ext>
            </a:extLst>
          </p:cNvPr>
          <p:cNvSpPr>
            <a:spLocks noGrp="1"/>
          </p:cNvSpPr>
          <p:nvPr/>
        </p:nvSpPr>
        <p:spPr>
          <a:xfrm>
            <a:off x="1028700" y="800100"/>
            <a:ext cx="857250" cy="457200"/>
          </a:xfrm>
          <a:prstGeom prst="rect">
            <a:avLst/>
          </a:prstGeom>
          <a:noFill/>
          <a:ln w="0">
            <a:noFill/>
          </a:ln>
        </p:spPr>
        <p:txBody>
          <a:bodyPr/>
          <a:lstStyle>
            <a:defPPr>
              <a:defRPr sz="1350" b="0">
                <a:solidFill>
                  <a:srgbClr val="A7B0BA"/>
                </a:solidFill>
                <a:latin typeface="LeadPilot Grotesk"/>
                <a:ea typeface="LeadPilot Grotesk"/>
                <a:cs typeface="LeadPilot Grotesk"/>
              </a:defRPr>
            </a:defPPr>
          </a:lstStyle>
          <a:p>
            <a:pPr>
              <a:defRPr sz="1350" b="0">
                <a:solidFill>
                  <a:srgbClr val="A7B0BA"/>
                </a:solidFill>
                <a:latin typeface="LeadPilot Grotesk"/>
                <a:ea typeface="LeadPilot Grotesk"/>
                <a:cs typeface="LeadPilot Grotesk"/>
              </a:defRPr>
            </a:pPr>
            <a:r>
              <a:rPr sz="2025">
                <a:solidFill>
                  <a:srgbClr val="A7B0BA"/>
                </a:solidFill>
                <a:latin typeface="LeadPilot Grotesk"/>
                <a:ea typeface="LeadPilot Grotesk"/>
                <a:cs typeface="LeadPilot Grotesk"/>
              </a:rPr>
              <a:t>01</a:t>
            </a:r>
          </a:p>
        </p:txBody>
      </p:sp>
      <p:sp>
        <p:nvSpPr>
          <p:cNvPr id="3" name="Rechteck 2">
            <a:extLst>
              <a:ext uri="{FF2B5EF4-FFF2-40B4-BE49-F238E27FC236}">
                <a16:creationId xmlns:a16="http://schemas.microsoft.com/office/drawing/2014/main" id="{019A31E4-A6AD-4E59-B338-24843E1EE97D}"/>
              </a:ext>
            </a:extLst>
          </p:cNvPr>
          <p:cNvSpPr>
            <a:spLocks noGrp="1"/>
          </p:cNvSpPr>
          <p:nvPr/>
        </p:nvSpPr>
        <p:spPr>
          <a:xfrm>
            <a:off x="1028700" y="9372600"/>
            <a:ext cx="15716250" cy="514350"/>
          </a:xfrm>
          <a:prstGeom prst="rect">
            <a:avLst/>
          </a:prstGeom>
          <a:noFill/>
          <a:ln w="0">
            <a:noFill/>
          </a:ln>
        </p:spPr>
        <p:txBody>
          <a:bodyPr/>
          <a:lstStyle>
            <a:defPPr>
              <a:defRPr sz="1200" b="0">
                <a:solidFill>
                  <a:srgbClr val="A7B0BA"/>
                </a:solidFill>
                <a:latin typeface="LeadPilot Grotesk"/>
                <a:ea typeface="LeadPilot Grotesk"/>
                <a:cs typeface="LeadPilot Grotesk"/>
              </a:defRPr>
            </a:defPPr>
          </a:lstStyle>
          <a:p>
            <a:pPr>
              <a:defRPr sz="1200" b="0">
                <a:solidFill>
                  <a:srgbClr val="A7B0BA"/>
                </a:solidFill>
                <a:latin typeface="LeadPilot Grotesk"/>
                <a:ea typeface="LeadPilot Grotesk"/>
                <a:cs typeface="LeadPilot Grotesk"/>
              </a:defRPr>
            </a:pPr>
            <a:r>
              <a:rPr>
                <a:solidFill>
                  <a:srgbClr val="A7B0BA"/>
                </a:solidFill>
                <a:latin typeface="LeadPilot Grotesk"/>
                <a:ea typeface="LeadPilot Grotesk"/>
                <a:cs typeface="LeadPilot Grotesk"/>
              </a:rPr>
              <a:t>Fiktives Kundenszenario: Jens Hartwig, Weidner Antriebstechnik GmbH</a:t>
            </a:r>
          </a:p>
        </p:txBody>
      </p:sp>
      <p:sp>
        <p:nvSpPr>
          <p:cNvPr id="4" name="Rechteck 3">
            <a:extLst>
              <a:ext uri="{FF2B5EF4-FFF2-40B4-BE49-F238E27FC236}">
                <a16:creationId xmlns:a16="http://schemas.microsoft.com/office/drawing/2014/main" id="{16DA70F8-41BC-4915-9D8C-701D592FD9A0}"/>
              </a:ext>
            </a:extLst>
          </p:cNvPr>
          <p:cNvSpPr>
            <a:spLocks noGrp="1"/>
          </p:cNvSpPr>
          <p:nvPr/>
        </p:nvSpPr>
        <p:spPr>
          <a:xfrm>
            <a:off x="1028700" y="2171700"/>
            <a:ext cx="16230600" cy="2286000"/>
          </a:xfrm>
          <a:prstGeom prst="rect">
            <a:avLst/>
          </a:prstGeom>
          <a:noFill/>
          <a:ln w="0">
            <a:noFill/>
          </a:ln>
        </p:spPr>
        <p:txBody>
          <a:bodyPr/>
          <a:lstStyle>
            <a:defPPr>
              <a:defRPr sz="4500" b="1">
                <a:solidFill>
                  <a:srgbClr val="FFFFFF"/>
                </a:solidFill>
                <a:latin typeface="LeadPilot Grotesk"/>
                <a:ea typeface="LeadPilot Grotesk"/>
                <a:cs typeface="LeadPilot Grotesk"/>
              </a:defRPr>
            </a:defPPr>
          </a:lstStyle>
          <a:p>
            <a:pPr>
              <a:defRPr sz="4500" b="1">
                <a:solidFill>
                  <a:srgbClr val="FFFFFF"/>
                </a:solidFill>
                <a:latin typeface="LeadPilot Grotesk"/>
                <a:ea typeface="LeadPilot Grotesk"/>
                <a:cs typeface="LeadPilot Grotesk"/>
              </a:defRPr>
            </a:pPr>
            <a:r>
              <a:rPr sz="6750" b="1">
                <a:solidFill>
                  <a:srgbClr val="FFFFFF"/>
                </a:solidFill>
                <a:latin typeface="LeadPilot Grotesk"/>
                <a:ea typeface="LeadPilot Grotesk"/>
                <a:cs typeface="LeadPilot Grotesk"/>
              </a:rPr>
              <a:t>Nach der Messe beginnt</a:t>
            </a:r>
          </a:p>
          <a:p>
            <a:pPr>
              <a:defRPr sz="4500" b="1">
                <a:solidFill>
                  <a:srgbClr val="FFFFFF"/>
                </a:solidFill>
                <a:latin typeface="LeadPilot Grotesk"/>
                <a:ea typeface="LeadPilot Grotesk"/>
                <a:cs typeface="LeadPilot Grotesk"/>
              </a:defRPr>
            </a:pPr>
            <a:r>
              <a:rPr sz="6750" b="1">
                <a:solidFill>
                  <a:srgbClr val="FFFFFF"/>
                </a:solidFill>
                <a:latin typeface="LeadPilot Grotesk"/>
                <a:ea typeface="LeadPilot Grotesk"/>
                <a:cs typeface="LeadPilot Grotesk"/>
              </a:rPr>
              <a:t>der entscheidende Teil</a:t>
            </a:r>
          </a:p>
        </p:txBody>
      </p:sp>
      <p:sp>
        <p:nvSpPr>
          <p:cNvPr id="5" name="Rechteck 4">
            <a:extLst>
              <a:ext uri="{FF2B5EF4-FFF2-40B4-BE49-F238E27FC236}">
                <a16:creationId xmlns:a16="http://schemas.microsoft.com/office/drawing/2014/main" id="{B8AEC45C-C321-47D0-A394-533723BB9C7D}"/>
              </a:ext>
            </a:extLst>
          </p:cNvPr>
          <p:cNvSpPr>
            <a:spLocks noGrp="1"/>
          </p:cNvSpPr>
          <p:nvPr/>
        </p:nvSpPr>
        <p:spPr>
          <a:xfrm>
            <a:off x="1028700" y="5086350"/>
            <a:ext cx="11430000" cy="1028700"/>
          </a:xfrm>
          <a:prstGeom prst="rect">
            <a:avLst/>
          </a:prstGeom>
          <a:noFill/>
          <a:ln w="0">
            <a:noFill/>
          </a:ln>
        </p:spPr>
        <p:txBody>
          <a:bodyPr/>
          <a:lstStyle>
            <a:defPPr>
              <a:defRPr sz="3300" b="1">
                <a:solidFill>
                  <a:srgbClr val="00D9C6"/>
                </a:solidFill>
                <a:latin typeface="LeadPilot Grotesk"/>
                <a:ea typeface="LeadPilot Grotesk"/>
                <a:cs typeface="LeadPilot Grotesk"/>
              </a:defRPr>
            </a:defPPr>
          </a:lstStyle>
          <a:p>
            <a:pPr>
              <a:defRPr sz="3300" b="1">
                <a:solidFill>
                  <a:srgbClr val="00D9C6"/>
                </a:solidFill>
                <a:latin typeface="LeadPilot Grotesk"/>
                <a:ea typeface="LeadPilot Grotesk"/>
                <a:cs typeface="LeadPilot Grotesk"/>
              </a:defRPr>
            </a:pPr>
            <a:r>
              <a:rPr sz="4950" b="1">
                <a:solidFill>
                  <a:srgbClr val="00D9C6"/>
                </a:solidFill>
                <a:latin typeface="LeadPilot Grotesk"/>
                <a:ea typeface="LeadPilot Grotesk"/>
                <a:cs typeface="LeadPilot Grotesk"/>
              </a:rPr>
              <a:t>„Leads haben wir genug.“</a:t>
            </a:r>
          </a:p>
        </p:txBody>
      </p:sp>
      <p:sp>
        <p:nvSpPr>
          <p:cNvPr id="6" name="Rechteck 5">
            <a:extLst>
              <a:ext uri="{FF2B5EF4-FFF2-40B4-BE49-F238E27FC236}">
                <a16:creationId xmlns:a16="http://schemas.microsoft.com/office/drawing/2014/main" id="{39EF33BF-383A-4280-A3B9-CA5D3B7B6D63}"/>
              </a:ext>
            </a:extLst>
          </p:cNvPr>
          <p:cNvSpPr>
            <a:spLocks noGrp="1"/>
          </p:cNvSpPr>
          <p:nvPr/>
        </p:nvSpPr>
        <p:spPr>
          <a:xfrm>
            <a:off x="1028700" y="6515100"/>
            <a:ext cx="11430000" cy="1428750"/>
          </a:xfrm>
          <a:prstGeom prst="rect">
            <a:avLst/>
          </a:prstGeom>
          <a:noFill/>
          <a:ln w="0">
            <a:noFill/>
          </a:ln>
        </p:spPr>
        <p:txBody>
          <a:bodyPr/>
          <a:lstStyle>
            <a:defPPr>
              <a:defRPr sz="2250" b="0">
                <a:solidFill>
                  <a:srgbClr val="FFFFFF"/>
                </a:solidFill>
                <a:latin typeface="LeadPilot Grotesk"/>
                <a:ea typeface="LeadPilot Grotesk"/>
                <a:cs typeface="LeadPilot Grotesk"/>
              </a:defRPr>
            </a:defPPr>
          </a:lstStyle>
          <a:p>
            <a:pPr>
              <a:defRPr sz="2250" b="0">
                <a:solidFill>
                  <a:srgbClr val="FFFFFF"/>
                </a:solidFill>
                <a:latin typeface="LeadPilot Grotesk"/>
                <a:ea typeface="LeadPilot Grotesk"/>
                <a:cs typeface="LeadPilot Grotesk"/>
              </a:defRPr>
            </a:pPr>
            <a:r>
              <a:rPr sz="3375">
                <a:solidFill>
                  <a:srgbClr val="FFFFFF"/>
                </a:solidFill>
                <a:latin typeface="LeadPilot Grotesk"/>
                <a:ea typeface="LeadPilot Grotesk"/>
                <a:cs typeface="LeadPilot Grotesk"/>
              </a:rPr>
              <a:t>Doch erst sechs Wochen später sehen Sie,</a:t>
            </a:r>
          </a:p>
          <a:p>
            <a:pPr>
              <a:defRPr sz="2250" b="0">
                <a:solidFill>
                  <a:srgbClr val="FFFFFF"/>
                </a:solidFill>
                <a:latin typeface="LeadPilot Grotesk"/>
                <a:ea typeface="LeadPilot Grotesk"/>
                <a:cs typeface="LeadPilot Grotesk"/>
              </a:defRPr>
            </a:pPr>
            <a:r>
              <a:rPr sz="3375">
                <a:solidFill>
                  <a:srgbClr val="FFFFFF"/>
                </a:solidFill>
                <a:latin typeface="LeadPilot Grotesk"/>
                <a:ea typeface="LeadPilot Grotesk"/>
                <a:cs typeface="LeadPilot Grotesk"/>
              </a:rPr>
              <a:t>welche Anfragen niemand angerufen hat.</a:t>
            </a:r>
          </a:p>
        </p:txBody>
      </p:sp>
      <p:pic>
        <p:nvPicPr>
          <p:cNvPr id="7" name="Grafik 6">
            <a:extLst>
              <a:ext uri="{FF2B5EF4-FFF2-40B4-BE49-F238E27FC236}">
                <a16:creationId xmlns:a16="http://schemas.microsoft.com/office/drawing/2014/main" id="{089BF53C-168E-4A3F-85EF-6FA4EE19C465}"/>
              </a:ext>
            </a:extLst>
          </p:cNvPr>
          <p:cNvPicPr>
            <a:picLocks noChangeAspect="1"/>
          </p:cNvPicPr>
          <p:nvPr/>
        </p:nvPicPr>
        <p:blipFill>
          <a:blip r:embed="rId4"/>
          <a:srcRect l="14000" t="16000" r="14000" b="16000"/>
          <a:stretch/>
        </p:blipFill>
        <p:spPr>
          <a:xfrm>
            <a:off x="11641874" y="3846987"/>
            <a:ext cx="5617427" cy="4582638"/>
          </a:xfrm>
          <a:prstGeom prst="rect">
            <a:avLst/>
          </a:prstGeom>
        </p:spPr>
      </p:pic>
    </p:spTree>
    <p:extLst>
      <p:ext uri="{BB962C8B-B14F-4D97-AF65-F5344CB8AC3E}">
        <p14:creationId xmlns:p14="http://schemas.microsoft.com/office/powerpoint/2010/main" val="2395282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Grafik 10">
            <a:extLst>
              <a:ext uri="{FF2B5EF4-FFF2-40B4-BE49-F238E27FC236}">
                <a16:creationId xmlns:a16="http://schemas.microsoft.com/office/drawing/2014/main" id="{2EC19E81-9DC8-42FA-A01A-F4B3D09D4432}"/>
              </a:ext>
            </a:extLst>
          </p:cNvPr>
          <p:cNvPicPr>
            <a:picLocks noChangeAspect="1"/>
          </p:cNvPicPr>
          <p:nvPr/>
        </p:nvPicPr>
        <p:blipFill>
          <a:blip r:embed="rId3"/>
          <a:srcRect l="10733" t="27167" r="11033" b="39967"/>
          <a:stretch/>
        </p:blipFill>
        <p:spPr>
          <a:xfrm>
            <a:off x="14573250" y="457201"/>
            <a:ext cx="2686050" cy="1128713"/>
          </a:xfrm>
          <a:prstGeom prst="rect">
            <a:avLst/>
          </a:prstGeom>
        </p:spPr>
      </p:pic>
      <p:sp>
        <p:nvSpPr>
          <p:cNvPr id="2" name="Rechteck 1">
            <a:extLst>
              <a:ext uri="{FF2B5EF4-FFF2-40B4-BE49-F238E27FC236}">
                <a16:creationId xmlns:a16="http://schemas.microsoft.com/office/drawing/2014/main" id="{057F08F5-9B72-42DE-A331-4DC5D45FE7AF}"/>
              </a:ext>
            </a:extLst>
          </p:cNvPr>
          <p:cNvSpPr>
            <a:spLocks noGrp="1"/>
          </p:cNvSpPr>
          <p:nvPr/>
        </p:nvSpPr>
        <p:spPr>
          <a:xfrm>
            <a:off x="1028700" y="800100"/>
            <a:ext cx="857250" cy="457200"/>
          </a:xfrm>
          <a:prstGeom prst="rect">
            <a:avLst/>
          </a:prstGeom>
          <a:noFill/>
          <a:ln w="0">
            <a:noFill/>
          </a:ln>
        </p:spPr>
        <p:txBody>
          <a:bodyPr/>
          <a:lstStyle>
            <a:defPPr>
              <a:defRPr sz="1350" b="0">
                <a:solidFill>
                  <a:srgbClr val="A7B0BA"/>
                </a:solidFill>
                <a:latin typeface="LeadPilot Grotesk"/>
                <a:ea typeface="LeadPilot Grotesk"/>
                <a:cs typeface="LeadPilot Grotesk"/>
              </a:defRPr>
            </a:defPPr>
          </a:lstStyle>
          <a:p>
            <a:pPr>
              <a:defRPr sz="1350" b="0">
                <a:solidFill>
                  <a:srgbClr val="A7B0BA"/>
                </a:solidFill>
                <a:latin typeface="LeadPilot Grotesk"/>
                <a:ea typeface="LeadPilot Grotesk"/>
                <a:cs typeface="LeadPilot Grotesk"/>
              </a:defRPr>
            </a:pPr>
            <a:r>
              <a:rPr sz="2025">
                <a:solidFill>
                  <a:srgbClr val="A7B0BA"/>
                </a:solidFill>
                <a:latin typeface="LeadPilot Grotesk"/>
                <a:ea typeface="LeadPilot Grotesk"/>
                <a:cs typeface="LeadPilot Grotesk"/>
              </a:rPr>
              <a:t>02</a:t>
            </a:r>
          </a:p>
        </p:txBody>
      </p:sp>
      <p:sp>
        <p:nvSpPr>
          <p:cNvPr id="3" name="Rechteck 2">
            <a:extLst>
              <a:ext uri="{FF2B5EF4-FFF2-40B4-BE49-F238E27FC236}">
                <a16:creationId xmlns:a16="http://schemas.microsoft.com/office/drawing/2014/main" id="{5C69FA57-12CA-4731-920C-D470DC1E438E}"/>
              </a:ext>
            </a:extLst>
          </p:cNvPr>
          <p:cNvSpPr>
            <a:spLocks noGrp="1"/>
          </p:cNvSpPr>
          <p:nvPr/>
        </p:nvSpPr>
        <p:spPr>
          <a:xfrm>
            <a:off x="1028700" y="9372600"/>
            <a:ext cx="15716250" cy="514350"/>
          </a:xfrm>
          <a:prstGeom prst="rect">
            <a:avLst/>
          </a:prstGeom>
          <a:noFill/>
          <a:ln w="0">
            <a:noFill/>
          </a:ln>
        </p:spPr>
        <p:txBody>
          <a:bodyPr/>
          <a:lstStyle>
            <a:defPPr>
              <a:defRPr sz="1200" b="0">
                <a:solidFill>
                  <a:srgbClr val="A7B0BA"/>
                </a:solidFill>
                <a:latin typeface="LeadPilot Grotesk"/>
                <a:ea typeface="LeadPilot Grotesk"/>
                <a:cs typeface="LeadPilot Grotesk"/>
              </a:defRPr>
            </a:defPPr>
          </a:lstStyle>
          <a:p>
            <a:pPr>
              <a:defRPr sz="1200" b="0">
                <a:solidFill>
                  <a:srgbClr val="A7B0BA"/>
                </a:solidFill>
                <a:latin typeface="LeadPilot Grotesk"/>
                <a:ea typeface="LeadPilot Grotesk"/>
                <a:cs typeface="LeadPilot Grotesk"/>
              </a:defRPr>
            </a:pPr>
            <a:r>
              <a:rPr>
                <a:solidFill>
                  <a:srgbClr val="A7B0BA"/>
                </a:solidFill>
                <a:latin typeface="LeadPilot Grotesk"/>
                <a:ea typeface="LeadPilot Grotesk"/>
                <a:cs typeface="LeadPilot Grotesk"/>
              </a:rPr>
              <a:t>Szenario-Schätzungen aus dem Dossier, keine nachgewiesenen Verluste oder Einsparungen</a:t>
            </a:r>
          </a:p>
        </p:txBody>
      </p:sp>
      <p:sp>
        <p:nvSpPr>
          <p:cNvPr id="4" name="Rechteck 3">
            <a:extLst>
              <a:ext uri="{FF2B5EF4-FFF2-40B4-BE49-F238E27FC236}">
                <a16:creationId xmlns:a16="http://schemas.microsoft.com/office/drawing/2014/main" id="{A7A63B02-5FAA-4B1F-8161-46139BF009E1}"/>
              </a:ext>
            </a:extLst>
          </p:cNvPr>
          <p:cNvSpPr>
            <a:spLocks noGrp="1"/>
          </p:cNvSpPr>
          <p:nvPr/>
        </p:nvSpPr>
        <p:spPr>
          <a:xfrm>
            <a:off x="1028700" y="2171700"/>
            <a:ext cx="16230600" cy="1285875"/>
          </a:xfrm>
          <a:prstGeom prst="rect">
            <a:avLst/>
          </a:prstGeom>
          <a:noFill/>
          <a:ln w="0">
            <a:noFill/>
          </a:ln>
        </p:spPr>
        <p:txBody>
          <a:bodyPr/>
          <a:lstStyle>
            <a:defPPr>
              <a:defRPr sz="3600" b="1">
                <a:solidFill>
                  <a:srgbClr val="FFFFFF"/>
                </a:solidFill>
                <a:latin typeface="LeadPilot Grotesk"/>
                <a:ea typeface="LeadPilot Grotesk"/>
                <a:cs typeface="LeadPilot Grotesk"/>
              </a:defRPr>
            </a:defPPr>
          </a:lstStyle>
          <a:p>
            <a:pPr>
              <a:defRPr sz="3600" b="1">
                <a:solidFill>
                  <a:srgbClr val="FFFFFF"/>
                </a:solidFill>
                <a:latin typeface="LeadPilot Grotesk"/>
                <a:ea typeface="LeadPilot Grotesk"/>
                <a:cs typeface="LeadPilot Grotesk"/>
              </a:defRPr>
            </a:pPr>
            <a:r>
              <a:rPr sz="5400" b="1">
                <a:solidFill>
                  <a:srgbClr val="FFFFFF"/>
                </a:solidFill>
                <a:latin typeface="LeadPilot Grotesk"/>
                <a:ea typeface="LeadPilot Grotesk"/>
                <a:cs typeface="LeadPilot Grotesk"/>
              </a:rPr>
              <a:t>Was liegengebliebene Anfragen kosten</a:t>
            </a:r>
          </a:p>
        </p:txBody>
      </p:sp>
      <p:sp>
        <p:nvSpPr>
          <p:cNvPr id="5" name="Rechteck 4">
            <a:extLst>
              <a:ext uri="{FF2B5EF4-FFF2-40B4-BE49-F238E27FC236}">
                <a16:creationId xmlns:a16="http://schemas.microsoft.com/office/drawing/2014/main" id="{621EE2A0-F981-43F5-8335-5B6AE2046206}"/>
              </a:ext>
            </a:extLst>
          </p:cNvPr>
          <p:cNvSpPr>
            <a:spLocks noGrp="1"/>
          </p:cNvSpPr>
          <p:nvPr/>
        </p:nvSpPr>
        <p:spPr>
          <a:xfrm>
            <a:off x="1028700" y="4200525"/>
            <a:ext cx="8001000" cy="1571625"/>
          </a:xfrm>
          <a:prstGeom prst="rect">
            <a:avLst/>
          </a:prstGeom>
          <a:noFill/>
          <a:ln w="0">
            <a:noFill/>
          </a:ln>
        </p:spPr>
        <p:txBody>
          <a:bodyPr/>
          <a:lstStyle>
            <a:defPPr>
              <a:defRPr sz="6300" b="1">
                <a:solidFill>
                  <a:srgbClr val="FF7A3D"/>
                </a:solidFill>
                <a:latin typeface="LeadPilot Grotesk"/>
                <a:ea typeface="LeadPilot Grotesk"/>
                <a:cs typeface="LeadPilot Grotesk"/>
              </a:defRPr>
            </a:defPPr>
          </a:lstStyle>
          <a:p>
            <a:pPr>
              <a:defRPr sz="6300" b="1">
                <a:solidFill>
                  <a:srgbClr val="FF7A3D"/>
                </a:solidFill>
                <a:latin typeface="LeadPilot Grotesk"/>
                <a:ea typeface="LeadPilot Grotesk"/>
                <a:cs typeface="LeadPilot Grotesk"/>
              </a:defRPr>
            </a:pPr>
            <a:r>
              <a:rPr sz="9450" b="1" dirty="0">
                <a:solidFill>
                  <a:srgbClr val="FF7A3D"/>
                </a:solidFill>
                <a:latin typeface="LeadPilot Grotesk"/>
                <a:ea typeface="LeadPilot Grotesk"/>
                <a:cs typeface="LeadPilot Grotesk"/>
              </a:rPr>
              <a:t>150.000 €</a:t>
            </a:r>
          </a:p>
        </p:txBody>
      </p:sp>
      <p:sp>
        <p:nvSpPr>
          <p:cNvPr id="6" name="Rechteck 5">
            <a:extLst>
              <a:ext uri="{FF2B5EF4-FFF2-40B4-BE49-F238E27FC236}">
                <a16:creationId xmlns:a16="http://schemas.microsoft.com/office/drawing/2014/main" id="{E1727CE5-C88A-4E31-B2F4-48C2C5A44F91}"/>
              </a:ext>
            </a:extLst>
          </p:cNvPr>
          <p:cNvSpPr>
            <a:spLocks noGrp="1"/>
          </p:cNvSpPr>
          <p:nvPr/>
        </p:nvSpPr>
        <p:spPr>
          <a:xfrm>
            <a:off x="1028700" y="5943600"/>
            <a:ext cx="7429500" cy="685800"/>
          </a:xfrm>
          <a:prstGeom prst="rect">
            <a:avLst/>
          </a:prstGeom>
          <a:noFill/>
          <a:ln w="0">
            <a:noFill/>
          </a:ln>
        </p:spPr>
        <p:txBody>
          <a:bodyPr/>
          <a:lstStyle>
            <a:defPPr>
              <a:defRPr sz="2100" b="1">
                <a:solidFill>
                  <a:srgbClr val="FFFFFF"/>
                </a:solidFill>
                <a:latin typeface="LeadPilot Grotesk"/>
                <a:ea typeface="LeadPilot Grotesk"/>
                <a:cs typeface="LeadPilot Grotesk"/>
              </a:defRPr>
            </a:defPPr>
          </a:lstStyle>
          <a:p>
            <a:pPr>
              <a:defRPr sz="2100" b="1">
                <a:solidFill>
                  <a:srgbClr val="FFFFFF"/>
                </a:solidFill>
                <a:latin typeface="LeadPilot Grotesk"/>
                <a:ea typeface="LeadPilot Grotesk"/>
                <a:cs typeface="LeadPilot Grotesk"/>
              </a:defRPr>
            </a:pPr>
            <a:r>
              <a:rPr sz="3150" b="1">
                <a:solidFill>
                  <a:srgbClr val="FFFFFF"/>
                </a:solidFill>
                <a:latin typeface="LeadPilot Grotesk"/>
                <a:ea typeface="LeadPilot Grotesk"/>
                <a:cs typeface="LeadPilot Grotesk"/>
              </a:rPr>
              <a:t>möglicher Erstumsatz pro Jahr</a:t>
            </a:r>
          </a:p>
        </p:txBody>
      </p:sp>
      <p:sp>
        <p:nvSpPr>
          <p:cNvPr id="7" name="Rechteck 6">
            <a:extLst>
              <a:ext uri="{FF2B5EF4-FFF2-40B4-BE49-F238E27FC236}">
                <a16:creationId xmlns:a16="http://schemas.microsoft.com/office/drawing/2014/main" id="{5C82470C-C6FF-4964-9B7A-7C14342A18F9}"/>
              </a:ext>
            </a:extLst>
          </p:cNvPr>
          <p:cNvSpPr>
            <a:spLocks noGrp="1"/>
          </p:cNvSpPr>
          <p:nvPr/>
        </p:nvSpPr>
        <p:spPr>
          <a:xfrm>
            <a:off x="1028700" y="6915150"/>
            <a:ext cx="7658100" cy="1371600"/>
          </a:xfrm>
          <a:prstGeom prst="rect">
            <a:avLst/>
          </a:prstGeom>
          <a:noFill/>
          <a:ln w="0">
            <a:noFill/>
          </a:ln>
        </p:spPr>
        <p:txBody>
          <a:bodyPr/>
          <a:lstStyle>
            <a:defPPr>
              <a:defRPr sz="1800" b="0">
                <a:solidFill>
                  <a:srgbClr val="A7B0BA"/>
                </a:solidFill>
                <a:latin typeface="LeadPilot Grotesk"/>
                <a:ea typeface="LeadPilot Grotesk"/>
                <a:cs typeface="LeadPilot Grotesk"/>
              </a:defRPr>
            </a:defPPr>
          </a:lstStyle>
          <a:p>
            <a:pPr>
              <a:defRPr sz="1800" b="0">
                <a:solidFill>
                  <a:srgbClr val="A7B0BA"/>
                </a:solidFill>
                <a:latin typeface="LeadPilot Grotesk"/>
                <a:ea typeface="LeadPilot Grotesk"/>
                <a:cs typeface="LeadPilot Grotesk"/>
              </a:defRPr>
            </a:pPr>
            <a:r>
              <a:rPr sz="2700">
                <a:solidFill>
                  <a:srgbClr val="A7B0BA"/>
                </a:solidFill>
                <a:latin typeface="LeadPilot Grotesk"/>
                <a:ea typeface="LeadPilot Grotesk"/>
                <a:cs typeface="LeadPilot Grotesk"/>
              </a:rPr>
              <a:t>3 Messen × 2 Aufträge × 25.000 €</a:t>
            </a:r>
          </a:p>
          <a:p>
            <a:pPr>
              <a:defRPr sz="1800" b="0">
                <a:solidFill>
                  <a:srgbClr val="A7B0BA"/>
                </a:solidFill>
                <a:latin typeface="LeadPilot Grotesk"/>
                <a:ea typeface="LeadPilot Grotesk"/>
                <a:cs typeface="LeadPilot Grotesk"/>
              </a:defRPr>
            </a:pPr>
            <a:r>
              <a:rPr sz="2700">
                <a:solidFill>
                  <a:srgbClr val="A7B0BA"/>
                </a:solidFill>
                <a:latin typeface="LeadPilot Grotesk"/>
                <a:ea typeface="LeadPilot Grotesk"/>
                <a:cs typeface="LeadPilot Grotesk"/>
              </a:rPr>
              <a:t>Potenzial aus liegengebliebenen Leads</a:t>
            </a:r>
          </a:p>
        </p:txBody>
      </p:sp>
      <p:sp>
        <p:nvSpPr>
          <p:cNvPr id="8" name="Rechteck 7">
            <a:extLst>
              <a:ext uri="{FF2B5EF4-FFF2-40B4-BE49-F238E27FC236}">
                <a16:creationId xmlns:a16="http://schemas.microsoft.com/office/drawing/2014/main" id="{C2AF9DDF-1256-4022-8F5F-6F7B32E09ECC}"/>
              </a:ext>
            </a:extLst>
          </p:cNvPr>
          <p:cNvSpPr>
            <a:spLocks noGrp="1"/>
          </p:cNvSpPr>
          <p:nvPr/>
        </p:nvSpPr>
        <p:spPr>
          <a:xfrm>
            <a:off x="10058400" y="4200525"/>
            <a:ext cx="7143750" cy="1571625"/>
          </a:xfrm>
          <a:prstGeom prst="rect">
            <a:avLst/>
          </a:prstGeom>
          <a:noFill/>
          <a:ln w="0">
            <a:noFill/>
          </a:ln>
        </p:spPr>
        <p:txBody>
          <a:bodyPr/>
          <a:lstStyle>
            <a:defPPr>
              <a:defRPr sz="6300" b="1">
                <a:solidFill>
                  <a:srgbClr val="00D9C6"/>
                </a:solidFill>
                <a:latin typeface="LeadPilot Grotesk"/>
                <a:ea typeface="LeadPilot Grotesk"/>
                <a:cs typeface="LeadPilot Grotesk"/>
              </a:defRPr>
            </a:defPPr>
          </a:lstStyle>
          <a:p>
            <a:pPr>
              <a:defRPr sz="6300" b="1">
                <a:solidFill>
                  <a:srgbClr val="00D9C6"/>
                </a:solidFill>
                <a:latin typeface="LeadPilot Grotesk"/>
                <a:ea typeface="LeadPilot Grotesk"/>
                <a:cs typeface="LeadPilot Grotesk"/>
              </a:defRPr>
            </a:pPr>
            <a:r>
              <a:rPr sz="9450" b="1" dirty="0">
                <a:solidFill>
                  <a:srgbClr val="00D9C6"/>
                </a:solidFill>
                <a:latin typeface="LeadPilot Grotesk"/>
                <a:ea typeface="LeadPilot Grotesk"/>
                <a:cs typeface="LeadPilot Grotesk"/>
              </a:rPr>
              <a:t>150 Std.</a:t>
            </a:r>
          </a:p>
        </p:txBody>
      </p:sp>
      <p:sp>
        <p:nvSpPr>
          <p:cNvPr id="9" name="Rechteck 8">
            <a:extLst>
              <a:ext uri="{FF2B5EF4-FFF2-40B4-BE49-F238E27FC236}">
                <a16:creationId xmlns:a16="http://schemas.microsoft.com/office/drawing/2014/main" id="{20A0B098-A01D-4578-ACF3-41941971CB89}"/>
              </a:ext>
            </a:extLst>
          </p:cNvPr>
          <p:cNvSpPr>
            <a:spLocks noGrp="1"/>
          </p:cNvSpPr>
          <p:nvPr/>
        </p:nvSpPr>
        <p:spPr>
          <a:xfrm>
            <a:off x="10058400" y="5943600"/>
            <a:ext cx="7143750" cy="1000125"/>
          </a:xfrm>
          <a:prstGeom prst="rect">
            <a:avLst/>
          </a:prstGeom>
          <a:noFill/>
          <a:ln w="0">
            <a:noFill/>
          </a:ln>
        </p:spPr>
        <p:txBody>
          <a:bodyPr/>
          <a:lstStyle>
            <a:defPPr>
              <a:defRPr sz="2100" b="1">
                <a:solidFill>
                  <a:srgbClr val="FFFFFF"/>
                </a:solidFill>
                <a:latin typeface="LeadPilot Grotesk"/>
                <a:ea typeface="LeadPilot Grotesk"/>
                <a:cs typeface="LeadPilot Grotesk"/>
              </a:defRPr>
            </a:defPPr>
          </a:lstStyle>
          <a:p>
            <a:pPr>
              <a:defRPr sz="2100" b="1">
                <a:solidFill>
                  <a:srgbClr val="FFFFFF"/>
                </a:solidFill>
                <a:latin typeface="LeadPilot Grotesk"/>
                <a:ea typeface="LeadPilot Grotesk"/>
                <a:cs typeface="LeadPilot Grotesk"/>
              </a:defRPr>
            </a:pPr>
            <a:r>
              <a:rPr sz="3150" b="1">
                <a:solidFill>
                  <a:srgbClr val="FFFFFF"/>
                </a:solidFill>
                <a:latin typeface="LeadPilot Grotesk"/>
                <a:ea typeface="LeadPilot Grotesk"/>
                <a:cs typeface="LeadPilot Grotesk"/>
              </a:rPr>
              <a:t>jährlicher Aufwand für den Forecast</a:t>
            </a:r>
          </a:p>
        </p:txBody>
      </p:sp>
      <p:sp>
        <p:nvSpPr>
          <p:cNvPr id="10" name="Rechteck 9">
            <a:extLst>
              <a:ext uri="{FF2B5EF4-FFF2-40B4-BE49-F238E27FC236}">
                <a16:creationId xmlns:a16="http://schemas.microsoft.com/office/drawing/2014/main" id="{BBA018B4-E985-47E0-86F8-453CDB836E66}"/>
              </a:ext>
            </a:extLst>
          </p:cNvPr>
          <p:cNvSpPr>
            <a:spLocks noGrp="1"/>
          </p:cNvSpPr>
          <p:nvPr/>
        </p:nvSpPr>
        <p:spPr>
          <a:xfrm>
            <a:off x="10058400" y="7286625"/>
            <a:ext cx="7143750" cy="1143000"/>
          </a:xfrm>
          <a:prstGeom prst="rect">
            <a:avLst/>
          </a:prstGeom>
          <a:noFill/>
          <a:ln w="0">
            <a:noFill/>
          </a:ln>
        </p:spPr>
        <p:txBody>
          <a:bodyPr/>
          <a:lstStyle>
            <a:defPPr>
              <a:defRPr sz="1800" b="0">
                <a:solidFill>
                  <a:srgbClr val="A7B0BA"/>
                </a:solidFill>
                <a:latin typeface="LeadPilot Grotesk"/>
                <a:ea typeface="LeadPilot Grotesk"/>
                <a:cs typeface="LeadPilot Grotesk"/>
              </a:defRPr>
            </a:defPPr>
          </a:lstStyle>
          <a:p>
            <a:pPr>
              <a:defRPr sz="1800" b="0">
                <a:solidFill>
                  <a:srgbClr val="A7B0BA"/>
                </a:solidFill>
                <a:latin typeface="LeadPilot Grotesk"/>
                <a:ea typeface="LeadPilot Grotesk"/>
                <a:cs typeface="LeadPilot Grotesk"/>
              </a:defRPr>
            </a:pPr>
            <a:r>
              <a:rPr sz="2700">
                <a:solidFill>
                  <a:srgbClr val="A7B0BA"/>
                </a:solidFill>
                <a:latin typeface="LeadPilot Grotesk"/>
                <a:ea typeface="LeadPilot Grotesk"/>
                <a:cs typeface="LeadPilot Grotesk"/>
              </a:rPr>
              <a:t>3 Stunden pro Freitag × 50 Wochen</a:t>
            </a:r>
          </a:p>
          <a:p>
            <a:pPr>
              <a:defRPr sz="1800" b="0">
                <a:solidFill>
                  <a:srgbClr val="A7B0BA"/>
                </a:solidFill>
                <a:latin typeface="LeadPilot Grotesk"/>
                <a:ea typeface="LeadPilot Grotesk"/>
                <a:cs typeface="LeadPilot Grotesk"/>
              </a:defRPr>
            </a:pPr>
            <a:r>
              <a:rPr sz="2700">
                <a:solidFill>
                  <a:srgbClr val="A7B0BA"/>
                </a:solidFill>
                <a:latin typeface="LeadPilot Grotesk"/>
                <a:ea typeface="LeadPilot Grotesk"/>
                <a:cs typeface="LeadPilot Grotesk"/>
              </a:rPr>
              <a:t>Zeit, die Ihnen beim Kunden fehlt</a:t>
            </a:r>
          </a:p>
        </p:txBody>
      </p:sp>
    </p:spTree>
    <p:extLst>
      <p:ext uri="{BB962C8B-B14F-4D97-AF65-F5344CB8AC3E}">
        <p14:creationId xmlns:p14="http://schemas.microsoft.com/office/powerpoint/2010/main" val="196100593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Grafik 9">
            <a:extLst>
              <a:ext uri="{FF2B5EF4-FFF2-40B4-BE49-F238E27FC236}">
                <a16:creationId xmlns:a16="http://schemas.microsoft.com/office/drawing/2014/main" id="{D72B3D19-2039-4846-8FFD-19952B6C4ECC}"/>
              </a:ext>
            </a:extLst>
          </p:cNvPr>
          <p:cNvPicPr>
            <a:picLocks noChangeAspect="1"/>
          </p:cNvPicPr>
          <p:nvPr/>
        </p:nvPicPr>
        <p:blipFill>
          <a:blip r:embed="rId3"/>
          <a:srcRect l="10733" t="27167" r="11033" b="39967"/>
          <a:stretch/>
        </p:blipFill>
        <p:spPr>
          <a:xfrm>
            <a:off x="14573250" y="457201"/>
            <a:ext cx="2686050" cy="1128713"/>
          </a:xfrm>
          <a:prstGeom prst="rect">
            <a:avLst/>
          </a:prstGeom>
        </p:spPr>
      </p:pic>
      <p:sp>
        <p:nvSpPr>
          <p:cNvPr id="2" name="Rechteck 1">
            <a:extLst>
              <a:ext uri="{FF2B5EF4-FFF2-40B4-BE49-F238E27FC236}">
                <a16:creationId xmlns:a16="http://schemas.microsoft.com/office/drawing/2014/main" id="{83316AB3-C36A-4FBB-BF1F-023FB35D3705}"/>
              </a:ext>
            </a:extLst>
          </p:cNvPr>
          <p:cNvSpPr>
            <a:spLocks noGrp="1"/>
          </p:cNvSpPr>
          <p:nvPr/>
        </p:nvSpPr>
        <p:spPr>
          <a:xfrm>
            <a:off x="1028700" y="800100"/>
            <a:ext cx="857250" cy="457200"/>
          </a:xfrm>
          <a:prstGeom prst="rect">
            <a:avLst/>
          </a:prstGeom>
          <a:noFill/>
          <a:ln w="0">
            <a:noFill/>
          </a:ln>
        </p:spPr>
        <p:txBody>
          <a:bodyPr/>
          <a:lstStyle>
            <a:defPPr>
              <a:defRPr sz="1350" b="0">
                <a:solidFill>
                  <a:srgbClr val="A7B0BA"/>
                </a:solidFill>
                <a:latin typeface="LeadPilot Grotesk"/>
                <a:ea typeface="LeadPilot Grotesk"/>
                <a:cs typeface="LeadPilot Grotesk"/>
              </a:defRPr>
            </a:defPPr>
          </a:lstStyle>
          <a:p>
            <a:pPr>
              <a:defRPr sz="1350" b="0">
                <a:solidFill>
                  <a:srgbClr val="A7B0BA"/>
                </a:solidFill>
                <a:latin typeface="LeadPilot Grotesk"/>
                <a:ea typeface="LeadPilot Grotesk"/>
                <a:cs typeface="LeadPilot Grotesk"/>
              </a:defRPr>
            </a:pPr>
            <a:r>
              <a:rPr sz="2025">
                <a:solidFill>
                  <a:srgbClr val="A7B0BA"/>
                </a:solidFill>
                <a:latin typeface="LeadPilot Grotesk"/>
                <a:ea typeface="LeadPilot Grotesk"/>
                <a:cs typeface="LeadPilot Grotesk"/>
              </a:rPr>
              <a:t>03</a:t>
            </a:r>
          </a:p>
        </p:txBody>
      </p:sp>
      <p:sp>
        <p:nvSpPr>
          <p:cNvPr id="3" name="Rechteck 2">
            <a:extLst>
              <a:ext uri="{FF2B5EF4-FFF2-40B4-BE49-F238E27FC236}">
                <a16:creationId xmlns:a16="http://schemas.microsoft.com/office/drawing/2014/main" id="{9E97CDF3-4CAD-4F6D-890D-CF406AEA8860}"/>
              </a:ext>
            </a:extLst>
          </p:cNvPr>
          <p:cNvSpPr>
            <a:spLocks noGrp="1"/>
          </p:cNvSpPr>
          <p:nvPr/>
        </p:nvSpPr>
        <p:spPr>
          <a:xfrm>
            <a:off x="1028700" y="2171700"/>
            <a:ext cx="16230600" cy="1428750"/>
          </a:xfrm>
          <a:prstGeom prst="rect">
            <a:avLst/>
          </a:prstGeom>
          <a:noFill/>
          <a:ln w="0">
            <a:noFill/>
          </a:ln>
        </p:spPr>
        <p:txBody>
          <a:bodyPr/>
          <a:lstStyle>
            <a:defPPr>
              <a:defRPr sz="3600" b="1">
                <a:solidFill>
                  <a:srgbClr val="FFFFFF"/>
                </a:solidFill>
                <a:latin typeface="LeadPilot Grotesk"/>
                <a:ea typeface="LeadPilot Grotesk"/>
                <a:cs typeface="LeadPilot Grotesk"/>
              </a:defRPr>
            </a:defPPr>
          </a:lstStyle>
          <a:p>
            <a:pPr>
              <a:defRPr sz="3600" b="1">
                <a:solidFill>
                  <a:srgbClr val="FFFFFF"/>
                </a:solidFill>
                <a:latin typeface="LeadPilot Grotesk"/>
                <a:ea typeface="LeadPilot Grotesk"/>
                <a:cs typeface="LeadPilot Grotesk"/>
              </a:defRPr>
            </a:pPr>
            <a:r>
              <a:rPr sz="5400" b="1">
                <a:solidFill>
                  <a:srgbClr val="FFFFFF"/>
                </a:solidFill>
                <a:latin typeface="LeadPilot Grotesk"/>
                <a:ea typeface="LeadPilot Grotesk"/>
                <a:cs typeface="LeadPilot Grotesk"/>
              </a:rPr>
              <a:t>Jeder Messe-Lead hat einen nächsten Schritt</a:t>
            </a:r>
          </a:p>
        </p:txBody>
      </p:sp>
      <p:sp>
        <p:nvSpPr>
          <p:cNvPr id="4" name="Rechteck 3">
            <a:extLst>
              <a:ext uri="{FF2B5EF4-FFF2-40B4-BE49-F238E27FC236}">
                <a16:creationId xmlns:a16="http://schemas.microsoft.com/office/drawing/2014/main" id="{9B078EF1-4C49-4B60-A7B8-EAAF68DB03D5}"/>
              </a:ext>
            </a:extLst>
          </p:cNvPr>
          <p:cNvSpPr>
            <a:spLocks noGrp="1"/>
          </p:cNvSpPr>
          <p:nvPr/>
        </p:nvSpPr>
        <p:spPr>
          <a:xfrm>
            <a:off x="1028700" y="4371975"/>
            <a:ext cx="7715250" cy="1285875"/>
          </a:xfrm>
          <a:prstGeom prst="rect">
            <a:avLst/>
          </a:prstGeom>
          <a:noFill/>
          <a:ln w="0">
            <a:noFill/>
          </a:ln>
        </p:spPr>
        <p:txBody>
          <a:bodyPr/>
          <a:lstStyle>
            <a:defPPr>
              <a:defRPr sz="2550" b="1">
                <a:solidFill>
                  <a:srgbClr val="00D9C6"/>
                </a:solidFill>
                <a:latin typeface="LeadPilot Grotesk"/>
                <a:ea typeface="LeadPilot Grotesk"/>
                <a:cs typeface="LeadPilot Grotesk"/>
              </a:defRPr>
            </a:defPPr>
          </a:lstStyle>
          <a:p>
            <a:pPr>
              <a:defRPr sz="2550" b="1">
                <a:solidFill>
                  <a:srgbClr val="00D9C6"/>
                </a:solidFill>
                <a:latin typeface="LeadPilot Grotesk"/>
                <a:ea typeface="LeadPilot Grotesk"/>
                <a:cs typeface="LeadPilot Grotesk"/>
              </a:defRPr>
            </a:pPr>
            <a:r>
              <a:rPr sz="3825" b="1">
                <a:solidFill>
                  <a:srgbClr val="00D9C6"/>
                </a:solidFill>
                <a:latin typeface="LeadPilot Grotesk"/>
                <a:ea typeface="LeadPilot Grotesk"/>
                <a:cs typeface="LeadPilot Grotesk"/>
              </a:rPr>
              <a:t>Nachfassen mit Verantwortung</a:t>
            </a:r>
          </a:p>
        </p:txBody>
      </p:sp>
      <p:sp>
        <p:nvSpPr>
          <p:cNvPr id="5" name="Rechteck 4">
            <a:extLst>
              <a:ext uri="{FF2B5EF4-FFF2-40B4-BE49-F238E27FC236}">
                <a16:creationId xmlns:a16="http://schemas.microsoft.com/office/drawing/2014/main" id="{C35F8AE0-57B0-4252-A88F-9596F68E1486}"/>
              </a:ext>
            </a:extLst>
          </p:cNvPr>
          <p:cNvSpPr>
            <a:spLocks noGrp="1"/>
          </p:cNvSpPr>
          <p:nvPr/>
        </p:nvSpPr>
        <p:spPr>
          <a:xfrm>
            <a:off x="1028700" y="5972175"/>
            <a:ext cx="7715250" cy="1943100"/>
          </a:xfrm>
          <a:prstGeom prst="rect">
            <a:avLst/>
          </a:prstGeom>
          <a:noFill/>
          <a:ln w="0">
            <a:noFill/>
          </a:ln>
        </p:spPr>
        <p:txBody>
          <a:bodyPr/>
          <a:lstStyle>
            <a:defPPr>
              <a:defRPr sz="2100" b="0">
                <a:solidFill>
                  <a:srgbClr val="FFFFFF"/>
                </a:solidFill>
                <a:latin typeface="LeadPilot Grotesk"/>
                <a:ea typeface="LeadPilot Grotesk"/>
                <a:cs typeface="LeadPilot Grotesk"/>
              </a:defRPr>
            </a:defPPr>
          </a:lstStyle>
          <a:p>
            <a:pPr>
              <a:defRPr sz="2100" b="0">
                <a:solidFill>
                  <a:srgbClr val="FFFFFF"/>
                </a:solidFill>
                <a:latin typeface="LeadPilot Grotesk"/>
                <a:ea typeface="LeadPilot Grotesk"/>
                <a:cs typeface="LeadPilot Grotesk"/>
              </a:defRPr>
            </a:pPr>
            <a:r>
              <a:rPr sz="3150">
                <a:solidFill>
                  <a:srgbClr val="FFFFFF"/>
                </a:solidFill>
                <a:latin typeface="LeadPilot Grotesk"/>
                <a:ea typeface="LeadPilot Grotesk"/>
                <a:cs typeface="LeadPilot Grotesk"/>
              </a:rPr>
              <a:t>LeadPilot ordnet jeder Anfrage einen</a:t>
            </a:r>
          </a:p>
          <a:p>
            <a:pPr>
              <a:defRPr sz="2100" b="0">
                <a:solidFill>
                  <a:srgbClr val="FFFFFF"/>
                </a:solidFill>
                <a:latin typeface="LeadPilot Grotesk"/>
                <a:ea typeface="LeadPilot Grotesk"/>
                <a:cs typeface="LeadPilot Grotesk"/>
              </a:defRPr>
            </a:pPr>
            <a:r>
              <a:rPr sz="3150">
                <a:solidFill>
                  <a:srgbClr val="FFFFFF"/>
                </a:solidFill>
                <a:latin typeface="LeadPilot Grotesk"/>
                <a:ea typeface="LeadPilot Grotesk"/>
                <a:cs typeface="LeadPilot Grotesk"/>
              </a:rPr>
              <a:t>Verantwortlichen und einen fälligen</a:t>
            </a:r>
          </a:p>
          <a:p>
            <a:pPr>
              <a:defRPr sz="2100" b="0">
                <a:solidFill>
                  <a:srgbClr val="FFFFFF"/>
                </a:solidFill>
                <a:latin typeface="LeadPilot Grotesk"/>
                <a:ea typeface="LeadPilot Grotesk"/>
                <a:cs typeface="LeadPilot Grotesk"/>
              </a:defRPr>
            </a:pPr>
            <a:r>
              <a:rPr sz="3150">
                <a:solidFill>
                  <a:srgbClr val="FFFFFF"/>
                </a:solidFill>
                <a:latin typeface="LeadPilot Grotesk"/>
                <a:ea typeface="LeadPilot Grotesk"/>
                <a:cs typeface="LeadPilot Grotesk"/>
              </a:rPr>
              <a:t>nächsten Schritt zu.</a:t>
            </a:r>
          </a:p>
        </p:txBody>
      </p:sp>
      <p:sp>
        <p:nvSpPr>
          <p:cNvPr id="6" name="Rechteck 5">
            <a:extLst>
              <a:ext uri="{FF2B5EF4-FFF2-40B4-BE49-F238E27FC236}">
                <a16:creationId xmlns:a16="http://schemas.microsoft.com/office/drawing/2014/main" id="{999632F2-9430-4358-8537-2A79729583F2}"/>
              </a:ext>
            </a:extLst>
          </p:cNvPr>
          <p:cNvSpPr>
            <a:spLocks noGrp="1"/>
          </p:cNvSpPr>
          <p:nvPr/>
        </p:nvSpPr>
        <p:spPr>
          <a:xfrm>
            <a:off x="1028700" y="8343900"/>
            <a:ext cx="7715250" cy="685800"/>
          </a:xfrm>
          <a:prstGeom prst="rect">
            <a:avLst/>
          </a:prstGeom>
          <a:noFill/>
          <a:ln w="0">
            <a:noFill/>
          </a:ln>
        </p:spPr>
        <p:txBody>
          <a:bodyPr/>
          <a:lstStyle>
            <a:defPPr>
              <a:defRPr sz="1950" b="0">
                <a:solidFill>
                  <a:srgbClr val="A7B0BA"/>
                </a:solidFill>
                <a:latin typeface="LeadPilot Grotesk"/>
                <a:ea typeface="LeadPilot Grotesk"/>
                <a:cs typeface="LeadPilot Grotesk"/>
              </a:defRPr>
            </a:defPPr>
          </a:lstStyle>
          <a:p>
            <a:pPr>
              <a:defRPr sz="1950" b="0">
                <a:solidFill>
                  <a:srgbClr val="A7B0BA"/>
                </a:solidFill>
                <a:latin typeface="LeadPilot Grotesk"/>
                <a:ea typeface="LeadPilot Grotesk"/>
                <a:cs typeface="LeadPilot Grotesk"/>
              </a:defRPr>
            </a:pPr>
            <a:r>
              <a:rPr sz="2925">
                <a:solidFill>
                  <a:srgbClr val="A7B0BA"/>
                </a:solidFill>
                <a:latin typeface="LeadPilot Grotesk"/>
                <a:ea typeface="LeadPilot Grotesk"/>
                <a:cs typeface="LeadPilot Grotesk"/>
              </a:rPr>
              <a:t>Sie sehen, was noch offen ist.</a:t>
            </a:r>
          </a:p>
        </p:txBody>
      </p:sp>
      <p:sp>
        <p:nvSpPr>
          <p:cNvPr id="7" name="Rechteck 6">
            <a:extLst>
              <a:ext uri="{FF2B5EF4-FFF2-40B4-BE49-F238E27FC236}">
                <a16:creationId xmlns:a16="http://schemas.microsoft.com/office/drawing/2014/main" id="{42970E31-C4FB-47FF-9E66-4AAFB1A4F56F}"/>
              </a:ext>
            </a:extLst>
          </p:cNvPr>
          <p:cNvSpPr>
            <a:spLocks noGrp="1"/>
          </p:cNvSpPr>
          <p:nvPr/>
        </p:nvSpPr>
        <p:spPr>
          <a:xfrm>
            <a:off x="10058400" y="4371975"/>
            <a:ext cx="7143750" cy="1285875"/>
          </a:xfrm>
          <a:prstGeom prst="rect">
            <a:avLst/>
          </a:prstGeom>
          <a:noFill/>
          <a:ln w="0">
            <a:noFill/>
          </a:ln>
        </p:spPr>
        <p:txBody>
          <a:bodyPr/>
          <a:lstStyle>
            <a:defPPr>
              <a:defRPr sz="2550" b="1">
                <a:solidFill>
                  <a:srgbClr val="00D9C6"/>
                </a:solidFill>
                <a:latin typeface="LeadPilot Grotesk"/>
                <a:ea typeface="LeadPilot Grotesk"/>
                <a:cs typeface="LeadPilot Grotesk"/>
              </a:defRPr>
            </a:defPPr>
          </a:lstStyle>
          <a:p>
            <a:pPr>
              <a:defRPr sz="2550" b="1">
                <a:solidFill>
                  <a:srgbClr val="00D9C6"/>
                </a:solidFill>
                <a:latin typeface="LeadPilot Grotesk"/>
                <a:ea typeface="LeadPilot Grotesk"/>
                <a:cs typeface="LeadPilot Grotesk"/>
              </a:defRPr>
            </a:pPr>
            <a:r>
              <a:rPr sz="3825" b="1">
                <a:solidFill>
                  <a:srgbClr val="00D9C6"/>
                </a:solidFill>
                <a:latin typeface="LeadPilot Grotesk"/>
                <a:ea typeface="LeadPilot Grotesk"/>
                <a:cs typeface="LeadPilot Grotesk"/>
              </a:rPr>
              <a:t>Forecast aus laufenden Deals</a:t>
            </a:r>
          </a:p>
        </p:txBody>
      </p:sp>
      <p:sp>
        <p:nvSpPr>
          <p:cNvPr id="8" name="Rechteck 7">
            <a:extLst>
              <a:ext uri="{FF2B5EF4-FFF2-40B4-BE49-F238E27FC236}">
                <a16:creationId xmlns:a16="http://schemas.microsoft.com/office/drawing/2014/main" id="{1759E6D7-17F3-492A-AC22-5FAD34647F6A}"/>
              </a:ext>
            </a:extLst>
          </p:cNvPr>
          <p:cNvSpPr>
            <a:spLocks noGrp="1"/>
          </p:cNvSpPr>
          <p:nvPr/>
        </p:nvSpPr>
        <p:spPr>
          <a:xfrm>
            <a:off x="10058400" y="5972175"/>
            <a:ext cx="7143750" cy="1943100"/>
          </a:xfrm>
          <a:prstGeom prst="rect">
            <a:avLst/>
          </a:prstGeom>
          <a:noFill/>
          <a:ln w="0">
            <a:noFill/>
          </a:ln>
        </p:spPr>
        <p:txBody>
          <a:bodyPr/>
          <a:lstStyle>
            <a:defPPr>
              <a:defRPr sz="2100" b="0">
                <a:solidFill>
                  <a:srgbClr val="FFFFFF"/>
                </a:solidFill>
                <a:latin typeface="LeadPilot Grotesk"/>
                <a:ea typeface="LeadPilot Grotesk"/>
                <a:cs typeface="LeadPilot Grotesk"/>
              </a:defRPr>
            </a:defPPr>
          </a:lstStyle>
          <a:p>
            <a:pPr>
              <a:defRPr sz="2100" b="0">
                <a:solidFill>
                  <a:srgbClr val="FFFFFF"/>
                </a:solidFill>
                <a:latin typeface="LeadPilot Grotesk"/>
                <a:ea typeface="LeadPilot Grotesk"/>
                <a:cs typeface="LeadPilot Grotesk"/>
              </a:defRPr>
            </a:pPr>
            <a:r>
              <a:rPr sz="3150">
                <a:solidFill>
                  <a:srgbClr val="FFFFFF"/>
                </a:solidFill>
                <a:latin typeface="LeadPilot Grotesk"/>
                <a:ea typeface="LeadPilot Grotesk"/>
                <a:cs typeface="LeadPilot Grotesk"/>
              </a:rPr>
              <a:t>Das Dashboard bündelt den Stand</a:t>
            </a:r>
          </a:p>
          <a:p>
            <a:pPr>
              <a:defRPr sz="2100" b="0">
                <a:solidFill>
                  <a:srgbClr val="FFFFFF"/>
                </a:solidFill>
                <a:latin typeface="LeadPilot Grotesk"/>
                <a:ea typeface="LeadPilot Grotesk"/>
                <a:cs typeface="LeadPilot Grotesk"/>
              </a:defRPr>
            </a:pPr>
            <a:r>
              <a:rPr sz="3150">
                <a:solidFill>
                  <a:srgbClr val="FFFFFF"/>
                </a:solidFill>
                <a:latin typeface="LeadPilot Grotesk"/>
                <a:ea typeface="LeadPilot Grotesk"/>
                <a:cs typeface="LeadPilot Grotesk"/>
              </a:rPr>
              <a:t>Ihrer Verkaufschancen und den</a:t>
            </a:r>
          </a:p>
          <a:p>
            <a:pPr>
              <a:defRPr sz="2100" b="0">
                <a:solidFill>
                  <a:srgbClr val="FFFFFF"/>
                </a:solidFill>
                <a:latin typeface="LeadPilot Grotesk"/>
                <a:ea typeface="LeadPilot Grotesk"/>
                <a:cs typeface="LeadPilot Grotesk"/>
              </a:defRPr>
            </a:pPr>
            <a:r>
              <a:rPr sz="3150">
                <a:solidFill>
                  <a:srgbClr val="FFFFFF"/>
                </a:solidFill>
                <a:latin typeface="LeadPilot Grotesk"/>
                <a:ea typeface="LeadPilot Grotesk"/>
                <a:cs typeface="LeadPilot Grotesk"/>
              </a:rPr>
              <a:t>aktuellen Forecast.</a:t>
            </a:r>
          </a:p>
        </p:txBody>
      </p:sp>
      <p:sp>
        <p:nvSpPr>
          <p:cNvPr id="9" name="Rechteck 8">
            <a:extLst>
              <a:ext uri="{FF2B5EF4-FFF2-40B4-BE49-F238E27FC236}">
                <a16:creationId xmlns:a16="http://schemas.microsoft.com/office/drawing/2014/main" id="{EA8FA0AC-FD44-4F5A-913F-82248001EA53}"/>
              </a:ext>
            </a:extLst>
          </p:cNvPr>
          <p:cNvSpPr>
            <a:spLocks noGrp="1"/>
          </p:cNvSpPr>
          <p:nvPr/>
        </p:nvSpPr>
        <p:spPr>
          <a:xfrm>
            <a:off x="10058400" y="8343900"/>
            <a:ext cx="7143750" cy="685800"/>
          </a:xfrm>
          <a:prstGeom prst="rect">
            <a:avLst/>
          </a:prstGeom>
          <a:noFill/>
          <a:ln w="0">
            <a:noFill/>
          </a:ln>
        </p:spPr>
        <p:txBody>
          <a:bodyPr/>
          <a:lstStyle>
            <a:defPPr>
              <a:defRPr sz="1950" b="0">
                <a:solidFill>
                  <a:srgbClr val="A7B0BA"/>
                </a:solidFill>
                <a:latin typeface="LeadPilot Grotesk"/>
                <a:ea typeface="LeadPilot Grotesk"/>
                <a:cs typeface="LeadPilot Grotesk"/>
              </a:defRPr>
            </a:defPPr>
          </a:lstStyle>
          <a:p>
            <a:pPr>
              <a:defRPr sz="1950" b="0">
                <a:solidFill>
                  <a:srgbClr val="A7B0BA"/>
                </a:solidFill>
                <a:latin typeface="LeadPilot Grotesk"/>
                <a:ea typeface="LeadPilot Grotesk"/>
                <a:cs typeface="LeadPilot Grotesk"/>
              </a:defRPr>
            </a:pPr>
            <a:r>
              <a:rPr sz="2925">
                <a:solidFill>
                  <a:srgbClr val="A7B0BA"/>
                </a:solidFill>
                <a:latin typeface="LeadPilot Grotesk"/>
                <a:ea typeface="LeadPilot Grotesk"/>
                <a:cs typeface="LeadPilot Grotesk"/>
              </a:rPr>
              <a:t>Sie sparen das Zusammentragen.</a:t>
            </a:r>
          </a:p>
        </p:txBody>
      </p:sp>
    </p:spTree>
    <p:extLst>
      <p:ext uri="{BB962C8B-B14F-4D97-AF65-F5344CB8AC3E}">
        <p14:creationId xmlns:p14="http://schemas.microsoft.com/office/powerpoint/2010/main" val="190716109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Grafik 11">
            <a:extLst>
              <a:ext uri="{FF2B5EF4-FFF2-40B4-BE49-F238E27FC236}">
                <a16:creationId xmlns:a16="http://schemas.microsoft.com/office/drawing/2014/main" id="{99D69522-98A4-4AA3-A82B-715B4F722134}"/>
              </a:ext>
            </a:extLst>
          </p:cNvPr>
          <p:cNvPicPr>
            <a:picLocks noChangeAspect="1"/>
          </p:cNvPicPr>
          <p:nvPr/>
        </p:nvPicPr>
        <p:blipFill>
          <a:blip r:embed="rId3"/>
          <a:srcRect l="10733" t="27167" r="11033" b="39967"/>
          <a:stretch/>
        </p:blipFill>
        <p:spPr>
          <a:xfrm>
            <a:off x="14573250" y="457201"/>
            <a:ext cx="2686050" cy="1128713"/>
          </a:xfrm>
          <a:prstGeom prst="rect">
            <a:avLst/>
          </a:prstGeom>
        </p:spPr>
      </p:pic>
      <p:sp>
        <p:nvSpPr>
          <p:cNvPr id="2" name="Rechteck 1">
            <a:extLst>
              <a:ext uri="{FF2B5EF4-FFF2-40B4-BE49-F238E27FC236}">
                <a16:creationId xmlns:a16="http://schemas.microsoft.com/office/drawing/2014/main" id="{B4752B7D-B81C-4B2A-BFF3-FB2891857998}"/>
              </a:ext>
            </a:extLst>
          </p:cNvPr>
          <p:cNvSpPr>
            <a:spLocks noGrp="1"/>
          </p:cNvSpPr>
          <p:nvPr/>
        </p:nvSpPr>
        <p:spPr>
          <a:xfrm>
            <a:off x="1028700" y="800100"/>
            <a:ext cx="857250" cy="457200"/>
          </a:xfrm>
          <a:prstGeom prst="rect">
            <a:avLst/>
          </a:prstGeom>
          <a:noFill/>
          <a:ln w="0">
            <a:noFill/>
          </a:ln>
        </p:spPr>
        <p:txBody>
          <a:bodyPr/>
          <a:lstStyle>
            <a:defPPr>
              <a:defRPr sz="1350" b="0">
                <a:solidFill>
                  <a:srgbClr val="A7B0BA"/>
                </a:solidFill>
                <a:latin typeface="LeadPilot Grotesk"/>
                <a:ea typeface="LeadPilot Grotesk"/>
                <a:cs typeface="LeadPilot Grotesk"/>
              </a:defRPr>
            </a:defPPr>
          </a:lstStyle>
          <a:p>
            <a:pPr>
              <a:defRPr sz="1350" b="0">
                <a:solidFill>
                  <a:srgbClr val="A7B0BA"/>
                </a:solidFill>
                <a:latin typeface="LeadPilot Grotesk"/>
                <a:ea typeface="LeadPilot Grotesk"/>
                <a:cs typeface="LeadPilot Grotesk"/>
              </a:defRPr>
            </a:pPr>
            <a:r>
              <a:rPr sz="2025">
                <a:solidFill>
                  <a:srgbClr val="A7B0BA"/>
                </a:solidFill>
                <a:latin typeface="LeadPilot Grotesk"/>
                <a:ea typeface="LeadPilot Grotesk"/>
                <a:cs typeface="LeadPilot Grotesk"/>
              </a:rPr>
              <a:t>04</a:t>
            </a:r>
          </a:p>
        </p:txBody>
      </p:sp>
      <p:sp>
        <p:nvSpPr>
          <p:cNvPr id="3" name="Rechteck 2">
            <a:extLst>
              <a:ext uri="{FF2B5EF4-FFF2-40B4-BE49-F238E27FC236}">
                <a16:creationId xmlns:a16="http://schemas.microsoft.com/office/drawing/2014/main" id="{FB581C71-7189-4A95-86BE-B312C8DAA3DB}"/>
              </a:ext>
            </a:extLst>
          </p:cNvPr>
          <p:cNvSpPr>
            <a:spLocks noGrp="1"/>
          </p:cNvSpPr>
          <p:nvPr/>
        </p:nvSpPr>
        <p:spPr>
          <a:xfrm>
            <a:off x="1028700" y="9372600"/>
            <a:ext cx="15716250" cy="514350"/>
          </a:xfrm>
          <a:prstGeom prst="rect">
            <a:avLst/>
          </a:prstGeom>
          <a:noFill/>
          <a:ln w="0">
            <a:noFill/>
          </a:ln>
        </p:spPr>
        <p:txBody>
          <a:bodyPr/>
          <a:lstStyle>
            <a:defPPr>
              <a:defRPr sz="1200" b="0">
                <a:solidFill>
                  <a:srgbClr val="A7B0BA"/>
                </a:solidFill>
                <a:latin typeface="LeadPilot Grotesk"/>
                <a:ea typeface="LeadPilot Grotesk"/>
                <a:cs typeface="LeadPilot Grotesk"/>
              </a:defRPr>
            </a:defPPr>
          </a:lstStyle>
          <a:p>
            <a:pPr>
              <a:defRPr sz="1200" b="0">
                <a:solidFill>
                  <a:srgbClr val="A7B0BA"/>
                </a:solidFill>
                <a:latin typeface="LeadPilot Grotesk"/>
                <a:ea typeface="LeadPilot Grotesk"/>
                <a:cs typeface="LeadPilot Grotesk"/>
              </a:defRPr>
            </a:pPr>
            <a:r>
              <a:rPr>
                <a:solidFill>
                  <a:srgbClr val="A7B0BA"/>
                </a:solidFill>
                <a:latin typeface="LeadPilot Grotesk"/>
                <a:ea typeface="LeadPilot Grotesk"/>
                <a:cs typeface="LeadPilot Grotesk"/>
              </a:rPr>
              <a:t>Prüfziele für die Testphase, keine belegten Kundenergebnisse</a:t>
            </a:r>
          </a:p>
        </p:txBody>
      </p:sp>
      <p:sp>
        <p:nvSpPr>
          <p:cNvPr id="4" name="Rechteck 3">
            <a:extLst>
              <a:ext uri="{FF2B5EF4-FFF2-40B4-BE49-F238E27FC236}">
                <a16:creationId xmlns:a16="http://schemas.microsoft.com/office/drawing/2014/main" id="{BF3FAC52-AAB9-49AF-8D09-B62456F35CA0}"/>
              </a:ext>
            </a:extLst>
          </p:cNvPr>
          <p:cNvSpPr>
            <a:spLocks noGrp="1"/>
          </p:cNvSpPr>
          <p:nvPr/>
        </p:nvSpPr>
        <p:spPr>
          <a:xfrm>
            <a:off x="1028700" y="2171700"/>
            <a:ext cx="16230600" cy="1428750"/>
          </a:xfrm>
          <a:prstGeom prst="rect">
            <a:avLst/>
          </a:prstGeom>
          <a:noFill/>
          <a:ln w="0">
            <a:noFill/>
          </a:ln>
        </p:spPr>
        <p:txBody>
          <a:bodyPr/>
          <a:lstStyle>
            <a:defPPr>
              <a:defRPr sz="3600" b="1">
                <a:solidFill>
                  <a:srgbClr val="FFFFFF"/>
                </a:solidFill>
                <a:latin typeface="LeadPilot Grotesk"/>
                <a:ea typeface="LeadPilot Grotesk"/>
                <a:cs typeface="LeadPilot Grotesk"/>
              </a:defRPr>
            </a:defPPr>
          </a:lstStyle>
          <a:p>
            <a:pPr>
              <a:defRPr sz="3600" b="1">
                <a:solidFill>
                  <a:srgbClr val="FFFFFF"/>
                </a:solidFill>
                <a:latin typeface="LeadPilot Grotesk"/>
                <a:ea typeface="LeadPilot Grotesk"/>
                <a:cs typeface="LeadPilot Grotesk"/>
              </a:defRPr>
            </a:pPr>
            <a:r>
              <a:rPr sz="5400" b="1">
                <a:solidFill>
                  <a:srgbClr val="FFFFFF"/>
                </a:solidFill>
                <a:latin typeface="LeadPilot Grotesk"/>
                <a:ea typeface="LeadPilot Grotesk"/>
                <a:cs typeface="LeadPilot Grotesk"/>
              </a:rPr>
              <a:t>Der Nutzen zeigt sich an Ihrer Messe-Liste</a:t>
            </a:r>
          </a:p>
        </p:txBody>
      </p:sp>
      <p:sp>
        <p:nvSpPr>
          <p:cNvPr id="5" name="Rechteck 4">
            <a:extLst>
              <a:ext uri="{FF2B5EF4-FFF2-40B4-BE49-F238E27FC236}">
                <a16:creationId xmlns:a16="http://schemas.microsoft.com/office/drawing/2014/main" id="{3209D127-3968-4BFB-9DFD-3230F3FE1ADA}"/>
              </a:ext>
            </a:extLst>
          </p:cNvPr>
          <p:cNvSpPr>
            <a:spLocks noGrp="1"/>
          </p:cNvSpPr>
          <p:nvPr/>
        </p:nvSpPr>
        <p:spPr>
          <a:xfrm>
            <a:off x="1028700" y="4229100"/>
            <a:ext cx="6858000" cy="1600200"/>
          </a:xfrm>
          <a:prstGeom prst="rect">
            <a:avLst/>
          </a:prstGeom>
          <a:noFill/>
          <a:ln w="0">
            <a:noFill/>
          </a:ln>
        </p:spPr>
        <p:txBody>
          <a:bodyPr/>
          <a:lstStyle>
            <a:defPPr>
              <a:defRPr sz="6300" b="1">
                <a:solidFill>
                  <a:srgbClr val="00D9C6"/>
                </a:solidFill>
                <a:latin typeface="LeadPilot Grotesk"/>
                <a:ea typeface="LeadPilot Grotesk"/>
                <a:cs typeface="LeadPilot Grotesk"/>
              </a:defRPr>
            </a:defPPr>
          </a:lstStyle>
          <a:p>
            <a:pPr>
              <a:defRPr sz="6300" b="1">
                <a:solidFill>
                  <a:srgbClr val="00D9C6"/>
                </a:solidFill>
                <a:latin typeface="LeadPilot Grotesk"/>
                <a:ea typeface="LeadPilot Grotesk"/>
                <a:cs typeface="LeadPilot Grotesk"/>
              </a:defRPr>
            </a:pPr>
            <a:r>
              <a:rPr sz="9450" b="1">
                <a:solidFill>
                  <a:srgbClr val="00D9C6"/>
                </a:solidFill>
                <a:latin typeface="LeadPilot Grotesk"/>
                <a:ea typeface="LeadPilot Grotesk"/>
                <a:cs typeface="LeadPilot Grotesk"/>
              </a:rPr>
              <a:t>14 Tage</a:t>
            </a:r>
          </a:p>
        </p:txBody>
      </p:sp>
      <p:sp>
        <p:nvSpPr>
          <p:cNvPr id="6" name="Rechteck 5">
            <a:extLst>
              <a:ext uri="{FF2B5EF4-FFF2-40B4-BE49-F238E27FC236}">
                <a16:creationId xmlns:a16="http://schemas.microsoft.com/office/drawing/2014/main" id="{7FE98708-AC5A-4741-A425-C4AD4A29A6E1}"/>
              </a:ext>
            </a:extLst>
          </p:cNvPr>
          <p:cNvSpPr>
            <a:spLocks noGrp="1"/>
          </p:cNvSpPr>
          <p:nvPr/>
        </p:nvSpPr>
        <p:spPr>
          <a:xfrm>
            <a:off x="1028700" y="6057900"/>
            <a:ext cx="7429500" cy="1000125"/>
          </a:xfrm>
          <a:prstGeom prst="rect">
            <a:avLst/>
          </a:prstGeom>
          <a:noFill/>
          <a:ln w="0">
            <a:noFill/>
          </a:ln>
        </p:spPr>
        <p:txBody>
          <a:bodyPr/>
          <a:lstStyle>
            <a:defPPr>
              <a:defRPr sz="2250" b="1">
                <a:solidFill>
                  <a:srgbClr val="FFFFFF"/>
                </a:solidFill>
                <a:latin typeface="LeadPilot Grotesk"/>
                <a:ea typeface="LeadPilot Grotesk"/>
                <a:cs typeface="LeadPilot Grotesk"/>
              </a:defRPr>
            </a:defPPr>
          </a:lstStyle>
          <a:p>
            <a:pPr>
              <a:defRPr sz="2250" b="1">
                <a:solidFill>
                  <a:srgbClr val="FFFFFF"/>
                </a:solidFill>
                <a:latin typeface="LeadPilot Grotesk"/>
                <a:ea typeface="LeadPilot Grotesk"/>
                <a:cs typeface="LeadPilot Grotesk"/>
              </a:defRPr>
            </a:pPr>
            <a:r>
              <a:rPr sz="3375" b="1">
                <a:solidFill>
                  <a:srgbClr val="FFFFFF"/>
                </a:solidFill>
                <a:latin typeface="LeadPilot Grotesk"/>
                <a:ea typeface="LeadPilot Grotesk"/>
                <a:cs typeface="LeadPilot Grotesk"/>
              </a:rPr>
              <a:t>Testphase mit Ihrem Team</a:t>
            </a:r>
          </a:p>
        </p:txBody>
      </p:sp>
      <p:sp>
        <p:nvSpPr>
          <p:cNvPr id="7" name="Rechteck 6">
            <a:extLst>
              <a:ext uri="{FF2B5EF4-FFF2-40B4-BE49-F238E27FC236}">
                <a16:creationId xmlns:a16="http://schemas.microsoft.com/office/drawing/2014/main" id="{83DED1EE-40B3-4261-8C01-CDBD42925614}"/>
              </a:ext>
            </a:extLst>
          </p:cNvPr>
          <p:cNvSpPr>
            <a:spLocks noGrp="1"/>
          </p:cNvSpPr>
          <p:nvPr/>
        </p:nvSpPr>
        <p:spPr>
          <a:xfrm>
            <a:off x="1028700" y="7372350"/>
            <a:ext cx="7715250" cy="1285875"/>
          </a:xfrm>
          <a:prstGeom prst="rect">
            <a:avLst/>
          </a:prstGeom>
          <a:noFill/>
          <a:ln w="0">
            <a:noFill/>
          </a:ln>
        </p:spPr>
        <p:txBody>
          <a:bodyPr/>
          <a:lstStyle>
            <a:defPPr>
              <a:defRPr sz="1950" b="0">
                <a:solidFill>
                  <a:srgbClr val="A7B0BA"/>
                </a:solidFill>
                <a:latin typeface="LeadPilot Grotesk"/>
                <a:ea typeface="LeadPilot Grotesk"/>
                <a:cs typeface="LeadPilot Grotesk"/>
              </a:defRPr>
            </a:defPPr>
          </a:lstStyle>
          <a:p>
            <a:pPr>
              <a:defRPr sz="1950" b="0">
                <a:solidFill>
                  <a:srgbClr val="A7B0BA"/>
                </a:solidFill>
                <a:latin typeface="LeadPilot Grotesk"/>
                <a:ea typeface="LeadPilot Grotesk"/>
                <a:cs typeface="LeadPilot Grotesk"/>
              </a:defRPr>
            </a:pPr>
            <a:r>
              <a:rPr sz="2925">
                <a:solidFill>
                  <a:srgbClr val="A7B0BA"/>
                </a:solidFill>
                <a:latin typeface="LeadPilot Grotesk"/>
                <a:ea typeface="LeadPilot Grotesk"/>
                <a:cs typeface="LeadPilot Grotesk"/>
              </a:rPr>
              <a:t>Eine Messe-Liste als Start.</a:t>
            </a:r>
          </a:p>
          <a:p>
            <a:pPr>
              <a:defRPr sz="1950" b="0">
                <a:solidFill>
                  <a:srgbClr val="A7B0BA"/>
                </a:solidFill>
                <a:latin typeface="LeadPilot Grotesk"/>
                <a:ea typeface="LeadPilot Grotesk"/>
                <a:cs typeface="LeadPilot Grotesk"/>
              </a:defRPr>
            </a:pPr>
            <a:r>
              <a:rPr sz="2925">
                <a:solidFill>
                  <a:srgbClr val="A7B0BA"/>
                </a:solidFill>
                <a:latin typeface="LeadPilot Grotesk"/>
                <a:ea typeface="LeadPilot Grotesk"/>
                <a:cs typeface="LeadPilot Grotesk"/>
              </a:rPr>
              <a:t>Der Innendienst arbeitet von Anfang an mit.</a:t>
            </a:r>
          </a:p>
        </p:txBody>
      </p:sp>
      <p:sp>
        <p:nvSpPr>
          <p:cNvPr id="8" name="Rechteck 7">
            <a:extLst>
              <a:ext uri="{FF2B5EF4-FFF2-40B4-BE49-F238E27FC236}">
                <a16:creationId xmlns:a16="http://schemas.microsoft.com/office/drawing/2014/main" id="{8C036CCD-23BE-4C30-AC56-0CA91BA39763}"/>
              </a:ext>
            </a:extLst>
          </p:cNvPr>
          <p:cNvSpPr>
            <a:spLocks noGrp="1"/>
          </p:cNvSpPr>
          <p:nvPr/>
        </p:nvSpPr>
        <p:spPr>
          <a:xfrm>
            <a:off x="10058400" y="4229100"/>
            <a:ext cx="7143750" cy="771525"/>
          </a:xfrm>
          <a:prstGeom prst="rect">
            <a:avLst/>
          </a:prstGeom>
          <a:noFill/>
          <a:ln w="0">
            <a:noFill/>
          </a:ln>
        </p:spPr>
        <p:txBody>
          <a:bodyPr/>
          <a:lstStyle>
            <a:defPPr>
              <a:defRPr sz="2400" b="1">
                <a:solidFill>
                  <a:srgbClr val="FFFFFF"/>
                </a:solidFill>
                <a:latin typeface="LeadPilot Grotesk"/>
                <a:ea typeface="LeadPilot Grotesk"/>
                <a:cs typeface="LeadPilot Grotesk"/>
              </a:defRPr>
            </a:defPPr>
          </a:lstStyle>
          <a:p>
            <a:pPr>
              <a:defRPr sz="2400" b="1">
                <a:solidFill>
                  <a:srgbClr val="FFFFFF"/>
                </a:solidFill>
                <a:latin typeface="LeadPilot Grotesk"/>
                <a:ea typeface="LeadPilot Grotesk"/>
                <a:cs typeface="LeadPilot Grotesk"/>
              </a:defRPr>
            </a:pPr>
            <a:r>
              <a:rPr sz="3600" b="1">
                <a:solidFill>
                  <a:srgbClr val="FFFFFF"/>
                </a:solidFill>
                <a:latin typeface="LeadPilot Grotesk"/>
                <a:ea typeface="LeadPilot Grotesk"/>
                <a:cs typeface="LeadPilot Grotesk"/>
              </a:rPr>
              <a:t>Nachfassen prüfen</a:t>
            </a:r>
          </a:p>
        </p:txBody>
      </p:sp>
      <p:sp>
        <p:nvSpPr>
          <p:cNvPr id="9" name="Rechteck 8">
            <a:extLst>
              <a:ext uri="{FF2B5EF4-FFF2-40B4-BE49-F238E27FC236}">
                <a16:creationId xmlns:a16="http://schemas.microsoft.com/office/drawing/2014/main" id="{4C3506F9-493F-4A98-ACA3-539EC05CFDCB}"/>
              </a:ext>
            </a:extLst>
          </p:cNvPr>
          <p:cNvSpPr>
            <a:spLocks noGrp="1"/>
          </p:cNvSpPr>
          <p:nvPr/>
        </p:nvSpPr>
        <p:spPr>
          <a:xfrm>
            <a:off x="10058400" y="5200650"/>
            <a:ext cx="7143750" cy="1314450"/>
          </a:xfrm>
          <a:prstGeom prst="rect">
            <a:avLst/>
          </a:prstGeom>
          <a:noFill/>
          <a:ln w="0">
            <a:noFill/>
          </a:ln>
        </p:spPr>
        <p:txBody>
          <a:bodyPr/>
          <a:lstStyle>
            <a:defPPr>
              <a:defRPr sz="2100" b="0">
                <a:solidFill>
                  <a:srgbClr val="FFFFFF"/>
                </a:solidFill>
                <a:latin typeface="LeadPilot Grotesk"/>
                <a:ea typeface="LeadPilot Grotesk"/>
                <a:cs typeface="LeadPilot Grotesk"/>
              </a:defRPr>
            </a:defPPr>
          </a:lstStyle>
          <a:p>
            <a:pPr>
              <a:defRPr sz="2100" b="0">
                <a:solidFill>
                  <a:srgbClr val="FFFFFF"/>
                </a:solidFill>
                <a:latin typeface="LeadPilot Grotesk"/>
                <a:ea typeface="LeadPilot Grotesk"/>
                <a:cs typeface="LeadPilot Grotesk"/>
              </a:defRPr>
            </a:pPr>
            <a:r>
              <a:rPr sz="3150">
                <a:solidFill>
                  <a:srgbClr val="FFFFFF"/>
                </a:solidFill>
                <a:latin typeface="LeadPilot Grotesk"/>
                <a:ea typeface="LeadPilot Grotesk"/>
                <a:cs typeface="LeadPilot Grotesk"/>
              </a:rPr>
              <a:t>Wie viele Anfragen erreicht Ihr Team</a:t>
            </a:r>
          </a:p>
          <a:p>
            <a:pPr>
              <a:defRPr sz="2100" b="0">
                <a:solidFill>
                  <a:srgbClr val="FFFFFF"/>
                </a:solidFill>
                <a:latin typeface="LeadPilot Grotesk"/>
                <a:ea typeface="LeadPilot Grotesk"/>
                <a:cs typeface="LeadPilot Grotesk"/>
              </a:defRPr>
            </a:pPr>
            <a:r>
              <a:rPr sz="3150">
                <a:solidFill>
                  <a:srgbClr val="FFFFFF"/>
                </a:solidFill>
                <a:latin typeface="LeadPilot Grotesk"/>
                <a:ea typeface="LeadPilot Grotesk"/>
                <a:cs typeface="LeadPilot Grotesk"/>
              </a:rPr>
              <a:t>innerhalb von 48 Stunden?</a:t>
            </a:r>
          </a:p>
        </p:txBody>
      </p:sp>
      <p:sp>
        <p:nvSpPr>
          <p:cNvPr id="10" name="Rechteck 9">
            <a:extLst>
              <a:ext uri="{FF2B5EF4-FFF2-40B4-BE49-F238E27FC236}">
                <a16:creationId xmlns:a16="http://schemas.microsoft.com/office/drawing/2014/main" id="{57F23384-C239-4B27-9571-BF5FC5899A3F}"/>
              </a:ext>
            </a:extLst>
          </p:cNvPr>
          <p:cNvSpPr>
            <a:spLocks noGrp="1"/>
          </p:cNvSpPr>
          <p:nvPr/>
        </p:nvSpPr>
        <p:spPr>
          <a:xfrm>
            <a:off x="10058400" y="6886575"/>
            <a:ext cx="7143750" cy="771525"/>
          </a:xfrm>
          <a:prstGeom prst="rect">
            <a:avLst/>
          </a:prstGeom>
          <a:noFill/>
          <a:ln w="0">
            <a:noFill/>
          </a:ln>
        </p:spPr>
        <p:txBody>
          <a:bodyPr/>
          <a:lstStyle>
            <a:defPPr>
              <a:defRPr sz="2400" b="1">
                <a:solidFill>
                  <a:srgbClr val="FFFFFF"/>
                </a:solidFill>
                <a:latin typeface="LeadPilot Grotesk"/>
                <a:ea typeface="LeadPilot Grotesk"/>
                <a:cs typeface="LeadPilot Grotesk"/>
              </a:defRPr>
            </a:defPPr>
          </a:lstStyle>
          <a:p>
            <a:pPr>
              <a:defRPr sz="2400" b="1">
                <a:solidFill>
                  <a:srgbClr val="FFFFFF"/>
                </a:solidFill>
                <a:latin typeface="LeadPilot Grotesk"/>
                <a:ea typeface="LeadPilot Grotesk"/>
                <a:cs typeface="LeadPilot Grotesk"/>
              </a:defRPr>
            </a:pPr>
            <a:r>
              <a:rPr sz="3600" b="1">
                <a:solidFill>
                  <a:srgbClr val="FFFFFF"/>
                </a:solidFill>
                <a:latin typeface="LeadPilot Grotesk"/>
                <a:ea typeface="LeadPilot Grotesk"/>
                <a:cs typeface="LeadPilot Grotesk"/>
              </a:rPr>
              <a:t>Forecast-Aufwand vergleichen</a:t>
            </a:r>
          </a:p>
        </p:txBody>
      </p:sp>
      <p:sp>
        <p:nvSpPr>
          <p:cNvPr id="11" name="Rechteck 10">
            <a:extLst>
              <a:ext uri="{FF2B5EF4-FFF2-40B4-BE49-F238E27FC236}">
                <a16:creationId xmlns:a16="http://schemas.microsoft.com/office/drawing/2014/main" id="{8A378C2A-E012-4B8B-AF70-E08BB00073FC}"/>
              </a:ext>
            </a:extLst>
          </p:cNvPr>
          <p:cNvSpPr>
            <a:spLocks noGrp="1"/>
          </p:cNvSpPr>
          <p:nvPr/>
        </p:nvSpPr>
        <p:spPr>
          <a:xfrm>
            <a:off x="10058400" y="7858125"/>
            <a:ext cx="7143750" cy="1228725"/>
          </a:xfrm>
          <a:prstGeom prst="rect">
            <a:avLst/>
          </a:prstGeom>
          <a:noFill/>
          <a:ln w="0">
            <a:noFill/>
          </a:ln>
        </p:spPr>
        <p:txBody>
          <a:bodyPr/>
          <a:lstStyle>
            <a:defPPr>
              <a:defRPr sz="2100" b="0">
                <a:solidFill>
                  <a:srgbClr val="FFFFFF"/>
                </a:solidFill>
                <a:latin typeface="LeadPilot Grotesk"/>
                <a:ea typeface="LeadPilot Grotesk"/>
                <a:cs typeface="LeadPilot Grotesk"/>
              </a:defRPr>
            </a:defPPr>
          </a:lstStyle>
          <a:p>
            <a:pPr>
              <a:defRPr sz="2100" b="0">
                <a:solidFill>
                  <a:srgbClr val="FFFFFF"/>
                </a:solidFill>
                <a:latin typeface="LeadPilot Grotesk"/>
                <a:ea typeface="LeadPilot Grotesk"/>
                <a:cs typeface="LeadPilot Grotesk"/>
              </a:defRPr>
            </a:pPr>
            <a:r>
              <a:rPr sz="3150">
                <a:solidFill>
                  <a:srgbClr val="FFFFFF"/>
                </a:solidFill>
                <a:latin typeface="LeadPilot Grotesk"/>
                <a:ea typeface="LeadPilot Grotesk"/>
                <a:cs typeface="LeadPilot Grotesk"/>
              </a:rPr>
              <a:t>Wie viel Zeit brauchen Sie freitags</a:t>
            </a:r>
          </a:p>
          <a:p>
            <a:pPr>
              <a:defRPr sz="2100" b="0">
                <a:solidFill>
                  <a:srgbClr val="FFFFFF"/>
                </a:solidFill>
                <a:latin typeface="LeadPilot Grotesk"/>
                <a:ea typeface="LeadPilot Grotesk"/>
                <a:cs typeface="LeadPilot Grotesk"/>
              </a:defRPr>
            </a:pPr>
            <a:r>
              <a:rPr sz="3150">
                <a:solidFill>
                  <a:srgbClr val="FFFFFF"/>
                </a:solidFill>
                <a:latin typeface="LeadPilot Grotesk"/>
                <a:ea typeface="LeadPilot Grotesk"/>
                <a:cs typeface="LeadPilot Grotesk"/>
              </a:rPr>
              <a:t>gegenüber den bisherigen 3 Stunden?</a:t>
            </a:r>
          </a:p>
        </p:txBody>
      </p:sp>
    </p:spTree>
    <p:extLst>
      <p:ext uri="{BB962C8B-B14F-4D97-AF65-F5344CB8AC3E}">
        <p14:creationId xmlns:p14="http://schemas.microsoft.com/office/powerpoint/2010/main" val="66981203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Grafik 13">
            <a:extLst>
              <a:ext uri="{FF2B5EF4-FFF2-40B4-BE49-F238E27FC236}">
                <a16:creationId xmlns:a16="http://schemas.microsoft.com/office/drawing/2014/main" id="{4FC697B8-9CB1-4D26-827F-A9FE92AF64F2}"/>
              </a:ext>
            </a:extLst>
          </p:cNvPr>
          <p:cNvPicPr>
            <a:picLocks noChangeAspect="1"/>
          </p:cNvPicPr>
          <p:nvPr/>
        </p:nvPicPr>
        <p:blipFill>
          <a:blip r:embed="rId3"/>
          <a:srcRect l="10733" t="27167" r="11033" b="39967"/>
          <a:stretch/>
        </p:blipFill>
        <p:spPr>
          <a:xfrm>
            <a:off x="14573250" y="457201"/>
            <a:ext cx="2686050" cy="1128713"/>
          </a:xfrm>
          <a:prstGeom prst="rect">
            <a:avLst/>
          </a:prstGeom>
        </p:spPr>
      </p:pic>
      <p:sp>
        <p:nvSpPr>
          <p:cNvPr id="2" name="Rechteck 1">
            <a:extLst>
              <a:ext uri="{FF2B5EF4-FFF2-40B4-BE49-F238E27FC236}">
                <a16:creationId xmlns:a16="http://schemas.microsoft.com/office/drawing/2014/main" id="{C99DCEA1-528F-4D6B-8E9A-6188BEB07459}"/>
              </a:ext>
            </a:extLst>
          </p:cNvPr>
          <p:cNvSpPr>
            <a:spLocks noGrp="1"/>
          </p:cNvSpPr>
          <p:nvPr/>
        </p:nvSpPr>
        <p:spPr>
          <a:xfrm>
            <a:off x="1028700" y="800100"/>
            <a:ext cx="857250" cy="457200"/>
          </a:xfrm>
          <a:prstGeom prst="rect">
            <a:avLst/>
          </a:prstGeom>
          <a:noFill/>
          <a:ln w="0">
            <a:noFill/>
          </a:ln>
        </p:spPr>
        <p:txBody>
          <a:bodyPr/>
          <a:lstStyle>
            <a:defPPr>
              <a:defRPr sz="1350" b="0">
                <a:solidFill>
                  <a:srgbClr val="A7B0BA"/>
                </a:solidFill>
                <a:latin typeface="LeadPilot Grotesk"/>
                <a:ea typeface="LeadPilot Grotesk"/>
                <a:cs typeface="LeadPilot Grotesk"/>
              </a:defRPr>
            </a:defPPr>
          </a:lstStyle>
          <a:p>
            <a:pPr>
              <a:defRPr sz="1350" b="0">
                <a:solidFill>
                  <a:srgbClr val="A7B0BA"/>
                </a:solidFill>
                <a:latin typeface="LeadPilot Grotesk"/>
                <a:ea typeface="LeadPilot Grotesk"/>
                <a:cs typeface="LeadPilot Grotesk"/>
              </a:defRPr>
            </a:pPr>
            <a:r>
              <a:rPr sz="2025">
                <a:solidFill>
                  <a:srgbClr val="A7B0BA"/>
                </a:solidFill>
                <a:latin typeface="LeadPilot Grotesk"/>
                <a:ea typeface="LeadPilot Grotesk"/>
                <a:cs typeface="LeadPilot Grotesk"/>
              </a:rPr>
              <a:t>05</a:t>
            </a:r>
          </a:p>
        </p:txBody>
      </p:sp>
      <p:sp>
        <p:nvSpPr>
          <p:cNvPr id="3" name="Rechteck 2">
            <a:extLst>
              <a:ext uri="{FF2B5EF4-FFF2-40B4-BE49-F238E27FC236}">
                <a16:creationId xmlns:a16="http://schemas.microsoft.com/office/drawing/2014/main" id="{70CD668C-806B-49F3-8868-A34F561BBDA7}"/>
              </a:ext>
            </a:extLst>
          </p:cNvPr>
          <p:cNvSpPr>
            <a:spLocks noGrp="1"/>
          </p:cNvSpPr>
          <p:nvPr/>
        </p:nvSpPr>
        <p:spPr>
          <a:xfrm>
            <a:off x="1028700" y="9372600"/>
            <a:ext cx="15716250" cy="514350"/>
          </a:xfrm>
          <a:prstGeom prst="rect">
            <a:avLst/>
          </a:prstGeom>
          <a:noFill/>
          <a:ln w="0">
            <a:noFill/>
          </a:ln>
        </p:spPr>
        <p:txBody>
          <a:bodyPr/>
          <a:lstStyle>
            <a:defPPr>
              <a:defRPr sz="1200" b="0">
                <a:solidFill>
                  <a:srgbClr val="A7B0BA"/>
                </a:solidFill>
                <a:latin typeface="LeadPilot Grotesk"/>
                <a:ea typeface="LeadPilot Grotesk"/>
                <a:cs typeface="LeadPilot Grotesk"/>
              </a:defRPr>
            </a:defPPr>
          </a:lstStyle>
          <a:p>
            <a:pPr>
              <a:defRPr sz="1200" b="0">
                <a:solidFill>
                  <a:srgbClr val="A7B0BA"/>
                </a:solidFill>
                <a:latin typeface="LeadPilot Grotesk"/>
                <a:ea typeface="LeadPilot Grotesk"/>
                <a:cs typeface="LeadPilot Grotesk"/>
              </a:defRPr>
            </a:pPr>
            <a:r>
              <a:rPr>
                <a:solidFill>
                  <a:srgbClr val="A7B0BA"/>
                </a:solidFill>
                <a:latin typeface="LeadPilot Grotesk"/>
                <a:ea typeface="LeadPilot Grotesk"/>
                <a:cs typeface="LeadPilot Grotesk"/>
              </a:rPr>
              <a:t>Fiktives Angebot laut Pitch-Dossier. Growth: zusätzliche Onboarding-Gebühr, Höhe offen.</a:t>
            </a:r>
          </a:p>
        </p:txBody>
      </p:sp>
      <p:sp>
        <p:nvSpPr>
          <p:cNvPr id="4" name="Rechteck 3">
            <a:extLst>
              <a:ext uri="{FF2B5EF4-FFF2-40B4-BE49-F238E27FC236}">
                <a16:creationId xmlns:a16="http://schemas.microsoft.com/office/drawing/2014/main" id="{4D6F1A31-647F-40B6-83A3-F3735F667613}"/>
              </a:ext>
            </a:extLst>
          </p:cNvPr>
          <p:cNvSpPr>
            <a:spLocks noGrp="1"/>
          </p:cNvSpPr>
          <p:nvPr/>
        </p:nvSpPr>
        <p:spPr>
          <a:xfrm>
            <a:off x="1028700" y="2171700"/>
            <a:ext cx="16230600" cy="1285875"/>
          </a:xfrm>
          <a:prstGeom prst="rect">
            <a:avLst/>
          </a:prstGeom>
          <a:noFill/>
          <a:ln w="0">
            <a:noFill/>
          </a:ln>
        </p:spPr>
        <p:txBody>
          <a:bodyPr/>
          <a:lstStyle>
            <a:defPPr>
              <a:defRPr sz="3600" b="1">
                <a:solidFill>
                  <a:srgbClr val="FFFFFF"/>
                </a:solidFill>
                <a:latin typeface="LeadPilot Grotesk"/>
                <a:ea typeface="LeadPilot Grotesk"/>
                <a:cs typeface="LeadPilot Grotesk"/>
              </a:defRPr>
            </a:defPPr>
          </a:lstStyle>
          <a:p>
            <a:pPr>
              <a:defRPr sz="3600" b="1">
                <a:solidFill>
                  <a:srgbClr val="FFFFFF"/>
                </a:solidFill>
                <a:latin typeface="LeadPilot Grotesk"/>
                <a:ea typeface="LeadPilot Grotesk"/>
                <a:cs typeface="LeadPilot Grotesk"/>
              </a:defRPr>
            </a:pPr>
            <a:r>
              <a:rPr sz="5400" b="1">
                <a:solidFill>
                  <a:srgbClr val="FFFFFF"/>
                </a:solidFill>
                <a:latin typeface="LeadPilot Grotesk"/>
                <a:ea typeface="LeadPilot Grotesk"/>
                <a:cs typeface="LeadPilot Grotesk"/>
              </a:rPr>
              <a:t>Ihre nächste Messe-Liste als Startpunkt</a:t>
            </a:r>
          </a:p>
        </p:txBody>
      </p:sp>
      <p:sp>
        <p:nvSpPr>
          <p:cNvPr id="5" name="Rechteck 4">
            <a:extLst>
              <a:ext uri="{FF2B5EF4-FFF2-40B4-BE49-F238E27FC236}">
                <a16:creationId xmlns:a16="http://schemas.microsoft.com/office/drawing/2014/main" id="{A2E15A0E-C7FC-453A-9FBC-CF45BF3DAF5B}"/>
              </a:ext>
            </a:extLst>
          </p:cNvPr>
          <p:cNvSpPr>
            <a:spLocks noGrp="1"/>
          </p:cNvSpPr>
          <p:nvPr/>
        </p:nvSpPr>
        <p:spPr>
          <a:xfrm>
            <a:off x="1028700" y="4029075"/>
            <a:ext cx="4758324" cy="771525"/>
          </a:xfrm>
          <a:prstGeom prst="rect">
            <a:avLst/>
          </a:prstGeom>
          <a:noFill/>
          <a:ln w="0">
            <a:noFill/>
          </a:ln>
        </p:spPr>
        <p:txBody>
          <a:bodyPr/>
          <a:lstStyle>
            <a:defPPr>
              <a:defRPr sz="2250" b="1">
                <a:solidFill>
                  <a:srgbClr val="FFFFFF"/>
                </a:solidFill>
                <a:latin typeface="LeadPilot Grotesk"/>
                <a:ea typeface="LeadPilot Grotesk"/>
                <a:cs typeface="LeadPilot Grotesk"/>
              </a:defRPr>
            </a:defPPr>
          </a:lstStyle>
          <a:p>
            <a:pPr>
              <a:defRPr sz="2250" b="1">
                <a:solidFill>
                  <a:srgbClr val="FFFFFF"/>
                </a:solidFill>
                <a:latin typeface="LeadPilot Grotesk"/>
                <a:ea typeface="LeadPilot Grotesk"/>
                <a:cs typeface="LeadPilot Grotesk"/>
              </a:defRPr>
            </a:pPr>
            <a:r>
              <a:rPr sz="3375" b="1" dirty="0">
                <a:solidFill>
                  <a:srgbClr val="FFFFFF"/>
                </a:solidFill>
                <a:latin typeface="LeadPilot Grotesk"/>
                <a:ea typeface="LeadPilot Grotesk"/>
                <a:cs typeface="LeadPilot Grotesk"/>
              </a:rPr>
              <a:t>Starter für </a:t>
            </a:r>
            <a:r>
              <a:rPr sz="3375" b="1" dirty="0" err="1">
                <a:solidFill>
                  <a:srgbClr val="FFFFFF"/>
                </a:solidFill>
                <a:latin typeface="LeadPilot Grotesk"/>
                <a:ea typeface="LeadPilot Grotesk"/>
                <a:cs typeface="LeadPilot Grotesk"/>
              </a:rPr>
              <a:t>Ihr</a:t>
            </a:r>
            <a:r>
              <a:rPr sz="3375" b="1" dirty="0">
                <a:solidFill>
                  <a:srgbClr val="FFFFFF"/>
                </a:solidFill>
                <a:latin typeface="LeadPilot Grotesk"/>
                <a:ea typeface="LeadPilot Grotesk"/>
                <a:cs typeface="LeadPilot Grotesk"/>
              </a:rPr>
              <a:t> 7er-Team</a:t>
            </a:r>
          </a:p>
        </p:txBody>
      </p:sp>
      <p:sp>
        <p:nvSpPr>
          <p:cNvPr id="6" name="Rechteck 5">
            <a:extLst>
              <a:ext uri="{FF2B5EF4-FFF2-40B4-BE49-F238E27FC236}">
                <a16:creationId xmlns:a16="http://schemas.microsoft.com/office/drawing/2014/main" id="{3A8FE0C5-D795-41F5-9D0B-D03BAF7AC6AD}"/>
              </a:ext>
            </a:extLst>
          </p:cNvPr>
          <p:cNvSpPr>
            <a:spLocks noGrp="1"/>
          </p:cNvSpPr>
          <p:nvPr/>
        </p:nvSpPr>
        <p:spPr>
          <a:xfrm>
            <a:off x="1028700" y="4972050"/>
            <a:ext cx="8858250" cy="1257300"/>
          </a:xfrm>
          <a:prstGeom prst="rect">
            <a:avLst/>
          </a:prstGeom>
          <a:noFill/>
          <a:ln w="0">
            <a:noFill/>
          </a:ln>
        </p:spPr>
        <p:txBody>
          <a:bodyPr/>
          <a:lstStyle>
            <a:defPPr>
              <a:defRPr sz="4650" b="1">
                <a:solidFill>
                  <a:srgbClr val="00D9C6"/>
                </a:solidFill>
                <a:latin typeface="LeadPilot Grotesk"/>
                <a:ea typeface="LeadPilot Grotesk"/>
                <a:cs typeface="LeadPilot Grotesk"/>
              </a:defRPr>
            </a:defPPr>
          </a:lstStyle>
          <a:p>
            <a:pPr>
              <a:defRPr sz="4650" b="1">
                <a:solidFill>
                  <a:srgbClr val="00D9C6"/>
                </a:solidFill>
                <a:latin typeface="LeadPilot Grotesk"/>
                <a:ea typeface="LeadPilot Grotesk"/>
                <a:cs typeface="LeadPilot Grotesk"/>
              </a:defRPr>
            </a:pPr>
            <a:r>
              <a:rPr sz="6975" b="1">
                <a:solidFill>
                  <a:srgbClr val="00D9C6"/>
                </a:solidFill>
                <a:latin typeface="LeadPilot Grotesk"/>
                <a:ea typeface="LeadPilot Grotesk"/>
                <a:cs typeface="LeadPilot Grotesk"/>
              </a:rPr>
              <a:t>343 € / Monat</a:t>
            </a:r>
          </a:p>
        </p:txBody>
      </p:sp>
      <p:sp>
        <p:nvSpPr>
          <p:cNvPr id="7" name="Rechteck 6">
            <a:extLst>
              <a:ext uri="{FF2B5EF4-FFF2-40B4-BE49-F238E27FC236}">
                <a16:creationId xmlns:a16="http://schemas.microsoft.com/office/drawing/2014/main" id="{BD5167CA-6C8C-4D35-B4CA-5509BD2B769E}"/>
              </a:ext>
            </a:extLst>
          </p:cNvPr>
          <p:cNvSpPr>
            <a:spLocks noGrp="1"/>
          </p:cNvSpPr>
          <p:nvPr/>
        </p:nvSpPr>
        <p:spPr>
          <a:xfrm>
            <a:off x="1028700" y="6572250"/>
            <a:ext cx="8286750" cy="1314450"/>
          </a:xfrm>
          <a:prstGeom prst="rect">
            <a:avLst/>
          </a:prstGeom>
          <a:noFill/>
          <a:ln w="0">
            <a:noFill/>
          </a:ln>
        </p:spPr>
        <p:txBody>
          <a:bodyPr/>
          <a:lstStyle>
            <a:defPPr>
              <a:defRPr sz="2025" b="0">
                <a:solidFill>
                  <a:srgbClr val="FFFFFF"/>
                </a:solidFill>
                <a:latin typeface="LeadPilot Grotesk"/>
                <a:ea typeface="LeadPilot Grotesk"/>
                <a:cs typeface="LeadPilot Grotesk"/>
              </a:defRPr>
            </a:defPPr>
          </a:lstStyle>
          <a:p>
            <a:pPr>
              <a:defRPr sz="2025" b="0">
                <a:solidFill>
                  <a:srgbClr val="FFFFFF"/>
                </a:solidFill>
                <a:latin typeface="LeadPilot Grotesk"/>
                <a:ea typeface="LeadPilot Grotesk"/>
                <a:cs typeface="LeadPilot Grotesk"/>
              </a:defRPr>
            </a:pPr>
            <a:r>
              <a:rPr sz="3038" dirty="0">
                <a:solidFill>
                  <a:srgbClr val="FFFFFF"/>
                </a:solidFill>
                <a:latin typeface="LeadPilot Grotesk"/>
                <a:ea typeface="LeadPilot Grotesk"/>
                <a:cs typeface="LeadPilot Grotesk"/>
              </a:rPr>
              <a:t>7 × 49 € pro </a:t>
            </a:r>
            <a:r>
              <a:rPr sz="3038" dirty="0" err="1">
                <a:solidFill>
                  <a:srgbClr val="FFFFFF"/>
                </a:solidFill>
                <a:latin typeface="LeadPilot Grotesk"/>
                <a:ea typeface="LeadPilot Grotesk"/>
                <a:cs typeface="LeadPilot Grotesk"/>
              </a:rPr>
              <a:t>Nutzer</a:t>
            </a:r>
            <a:r>
              <a:rPr sz="3038" dirty="0">
                <a:solidFill>
                  <a:srgbClr val="FFFFFF"/>
                </a:solidFill>
                <a:latin typeface="LeadPilot Grotesk"/>
                <a:ea typeface="LeadPilot Grotesk"/>
                <a:cs typeface="LeadPilot Grotesk"/>
              </a:rPr>
              <a:t> und Monat</a:t>
            </a:r>
          </a:p>
          <a:p>
            <a:pPr>
              <a:defRPr sz="2025" b="0">
                <a:solidFill>
                  <a:srgbClr val="FFFFFF"/>
                </a:solidFill>
                <a:latin typeface="LeadPilot Grotesk"/>
                <a:ea typeface="LeadPilot Grotesk"/>
                <a:cs typeface="LeadPilot Grotesk"/>
              </a:defRPr>
            </a:pPr>
            <a:r>
              <a:rPr sz="3038" dirty="0" err="1">
                <a:solidFill>
                  <a:srgbClr val="FFFFFF"/>
                </a:solidFill>
                <a:latin typeface="LeadPilot Grotesk"/>
                <a:ea typeface="LeadPilot Grotesk"/>
                <a:cs typeface="LeadPilot Grotesk"/>
              </a:rPr>
              <a:t>Monatlich</a:t>
            </a:r>
            <a:r>
              <a:rPr sz="3038" dirty="0">
                <a:solidFill>
                  <a:srgbClr val="FFFFFF"/>
                </a:solidFill>
                <a:latin typeface="LeadPilot Grotesk"/>
                <a:ea typeface="LeadPilot Grotesk"/>
                <a:cs typeface="LeadPilot Grotesk"/>
              </a:rPr>
              <a:t> </a:t>
            </a:r>
            <a:r>
              <a:rPr sz="3038" dirty="0" err="1">
                <a:solidFill>
                  <a:srgbClr val="FFFFFF"/>
                </a:solidFill>
                <a:latin typeface="LeadPilot Grotesk"/>
                <a:ea typeface="LeadPilot Grotesk"/>
                <a:cs typeface="LeadPilot Grotesk"/>
              </a:rPr>
              <a:t>kündbar</a:t>
            </a:r>
            <a:endParaRPr sz="3038" dirty="0">
              <a:solidFill>
                <a:srgbClr val="FFFFFF"/>
              </a:solidFill>
              <a:latin typeface="LeadPilot Grotesk"/>
              <a:ea typeface="LeadPilot Grotesk"/>
              <a:cs typeface="LeadPilot Grotesk"/>
            </a:endParaRPr>
          </a:p>
        </p:txBody>
      </p:sp>
      <p:sp>
        <p:nvSpPr>
          <p:cNvPr id="8" name="Rechteck 7">
            <a:extLst>
              <a:ext uri="{FF2B5EF4-FFF2-40B4-BE49-F238E27FC236}">
                <a16:creationId xmlns:a16="http://schemas.microsoft.com/office/drawing/2014/main" id="{1D843038-8942-46AE-9CCA-B50CC1720892}"/>
              </a:ext>
            </a:extLst>
          </p:cNvPr>
          <p:cNvSpPr>
            <a:spLocks noGrp="1"/>
          </p:cNvSpPr>
          <p:nvPr/>
        </p:nvSpPr>
        <p:spPr>
          <a:xfrm>
            <a:off x="8686800" y="4171950"/>
            <a:ext cx="4572000" cy="657225"/>
          </a:xfrm>
          <a:prstGeom prst="rect">
            <a:avLst/>
          </a:prstGeom>
          <a:noFill/>
          <a:ln w="0">
            <a:noFill/>
          </a:ln>
        </p:spPr>
        <p:txBody>
          <a:bodyPr/>
          <a:lstStyle>
            <a:defPPr>
              <a:defRPr sz="2025" b="1">
                <a:solidFill>
                  <a:srgbClr val="FFFFFF"/>
                </a:solidFill>
                <a:latin typeface="LeadPilot Grotesk"/>
                <a:ea typeface="LeadPilot Grotesk"/>
                <a:cs typeface="LeadPilot Grotesk"/>
              </a:defRPr>
            </a:defPPr>
          </a:lstStyle>
          <a:p>
            <a:pPr>
              <a:defRPr sz="2025" b="1">
                <a:solidFill>
                  <a:srgbClr val="FFFFFF"/>
                </a:solidFill>
                <a:latin typeface="LeadPilot Grotesk"/>
                <a:ea typeface="LeadPilot Grotesk"/>
                <a:cs typeface="LeadPilot Grotesk"/>
              </a:defRPr>
            </a:pPr>
            <a:r>
              <a:rPr sz="3038" b="1" dirty="0">
                <a:solidFill>
                  <a:srgbClr val="FFFFFF"/>
                </a:solidFill>
                <a:latin typeface="LeadPilot Grotesk"/>
                <a:ea typeface="LeadPilot Grotesk"/>
                <a:cs typeface="LeadPilot Grotesk"/>
              </a:rPr>
              <a:t>Growth </a:t>
            </a:r>
            <a:r>
              <a:rPr sz="3038" b="1" dirty="0" err="1">
                <a:solidFill>
                  <a:srgbClr val="FFFFFF"/>
                </a:solidFill>
                <a:latin typeface="LeadPilot Grotesk"/>
                <a:ea typeface="LeadPilot Grotesk"/>
                <a:cs typeface="LeadPilot Grotesk"/>
              </a:rPr>
              <a:t>mit</a:t>
            </a:r>
            <a:r>
              <a:rPr sz="3038" b="1" dirty="0">
                <a:solidFill>
                  <a:srgbClr val="FFFFFF"/>
                </a:solidFill>
                <a:latin typeface="LeadPilot Grotesk"/>
                <a:ea typeface="LeadPilot Grotesk"/>
                <a:cs typeface="LeadPilot Grotesk"/>
              </a:rPr>
              <a:t> KI-Scoring</a:t>
            </a:r>
          </a:p>
        </p:txBody>
      </p:sp>
      <p:sp>
        <p:nvSpPr>
          <p:cNvPr id="9" name="Rechteck 8">
            <a:extLst>
              <a:ext uri="{FF2B5EF4-FFF2-40B4-BE49-F238E27FC236}">
                <a16:creationId xmlns:a16="http://schemas.microsoft.com/office/drawing/2014/main" id="{A42B6F41-8E81-46DD-B288-A90C2161BDA6}"/>
              </a:ext>
            </a:extLst>
          </p:cNvPr>
          <p:cNvSpPr>
            <a:spLocks noGrp="1"/>
          </p:cNvSpPr>
          <p:nvPr/>
        </p:nvSpPr>
        <p:spPr>
          <a:xfrm>
            <a:off x="8686800" y="5057775"/>
            <a:ext cx="4572000" cy="1000125"/>
          </a:xfrm>
          <a:prstGeom prst="rect">
            <a:avLst/>
          </a:prstGeom>
          <a:noFill/>
          <a:ln w="0">
            <a:noFill/>
          </a:ln>
        </p:spPr>
        <p:txBody>
          <a:bodyPr/>
          <a:lstStyle>
            <a:defPPr>
              <a:defRPr sz="3150" b="1">
                <a:solidFill>
                  <a:srgbClr val="FFFFFF"/>
                </a:solidFill>
                <a:latin typeface="LeadPilot Grotesk"/>
                <a:ea typeface="LeadPilot Grotesk"/>
                <a:cs typeface="LeadPilot Grotesk"/>
              </a:defRPr>
            </a:defPPr>
          </a:lstStyle>
          <a:p>
            <a:pPr>
              <a:defRPr sz="3150" b="1">
                <a:solidFill>
                  <a:srgbClr val="FFFFFF"/>
                </a:solidFill>
                <a:latin typeface="LeadPilot Grotesk"/>
                <a:ea typeface="LeadPilot Grotesk"/>
                <a:cs typeface="LeadPilot Grotesk"/>
              </a:defRPr>
            </a:pPr>
            <a:r>
              <a:rPr sz="4725" b="1">
                <a:solidFill>
                  <a:srgbClr val="FFFFFF"/>
                </a:solidFill>
                <a:latin typeface="LeadPilot Grotesk"/>
                <a:ea typeface="LeadPilot Grotesk"/>
                <a:cs typeface="LeadPilot Grotesk"/>
              </a:rPr>
              <a:t>623 € / Monat</a:t>
            </a:r>
          </a:p>
        </p:txBody>
      </p:sp>
      <p:sp>
        <p:nvSpPr>
          <p:cNvPr id="10" name="Rechteck 9">
            <a:extLst>
              <a:ext uri="{FF2B5EF4-FFF2-40B4-BE49-F238E27FC236}">
                <a16:creationId xmlns:a16="http://schemas.microsoft.com/office/drawing/2014/main" id="{F7629741-7367-480B-94DC-C24561987B02}"/>
              </a:ext>
            </a:extLst>
          </p:cNvPr>
          <p:cNvSpPr>
            <a:spLocks noGrp="1"/>
          </p:cNvSpPr>
          <p:nvPr/>
        </p:nvSpPr>
        <p:spPr>
          <a:xfrm>
            <a:off x="8686800" y="6343650"/>
            <a:ext cx="4572000" cy="1000125"/>
          </a:xfrm>
          <a:prstGeom prst="rect">
            <a:avLst/>
          </a:prstGeom>
          <a:noFill/>
          <a:ln w="0">
            <a:noFill/>
          </a:ln>
        </p:spPr>
        <p:txBody>
          <a:bodyPr/>
          <a:lstStyle>
            <a:defPPr>
              <a:defRPr sz="1725" b="0">
                <a:solidFill>
                  <a:srgbClr val="A7B0BA"/>
                </a:solidFill>
                <a:latin typeface="LeadPilot Grotesk"/>
                <a:ea typeface="LeadPilot Grotesk"/>
                <a:cs typeface="LeadPilot Grotesk"/>
              </a:defRPr>
            </a:defPPr>
          </a:lstStyle>
          <a:p>
            <a:pPr>
              <a:defRPr sz="1725" b="0">
                <a:solidFill>
                  <a:srgbClr val="A7B0BA"/>
                </a:solidFill>
                <a:latin typeface="LeadPilot Grotesk"/>
                <a:ea typeface="LeadPilot Grotesk"/>
                <a:cs typeface="LeadPilot Grotesk"/>
              </a:defRPr>
            </a:pPr>
            <a:r>
              <a:rPr sz="2588">
                <a:solidFill>
                  <a:srgbClr val="A7B0BA"/>
                </a:solidFill>
                <a:latin typeface="LeadPilot Grotesk"/>
                <a:ea typeface="LeadPilot Grotesk"/>
                <a:cs typeface="LeadPilot Grotesk"/>
              </a:rPr>
              <a:t>7 × 89 € pro Nutzer</a:t>
            </a:r>
          </a:p>
          <a:p>
            <a:pPr>
              <a:defRPr sz="1725" b="0">
                <a:solidFill>
                  <a:srgbClr val="A7B0BA"/>
                </a:solidFill>
                <a:latin typeface="LeadPilot Grotesk"/>
                <a:ea typeface="LeadPilot Grotesk"/>
                <a:cs typeface="LeadPilot Grotesk"/>
              </a:defRPr>
            </a:pPr>
            <a:r>
              <a:rPr sz="2588">
                <a:solidFill>
                  <a:srgbClr val="A7B0BA"/>
                </a:solidFill>
                <a:latin typeface="LeadPilot Grotesk"/>
                <a:ea typeface="LeadPilot Grotesk"/>
                <a:cs typeface="LeadPilot Grotesk"/>
              </a:rPr>
              <a:t>und Monat</a:t>
            </a:r>
          </a:p>
        </p:txBody>
      </p:sp>
      <p:pic>
        <p:nvPicPr>
          <p:cNvPr id="11" name="Grafik 10">
            <a:extLst>
              <a:ext uri="{FF2B5EF4-FFF2-40B4-BE49-F238E27FC236}">
                <a16:creationId xmlns:a16="http://schemas.microsoft.com/office/drawing/2014/main" id="{1D593F22-7BAD-4439-9636-E80577F3CBE0}"/>
              </a:ext>
            </a:extLst>
          </p:cNvPr>
          <p:cNvPicPr>
            <a:picLocks noChangeAspect="1"/>
          </p:cNvPicPr>
          <p:nvPr/>
        </p:nvPicPr>
        <p:blipFill>
          <a:blip r:embed="rId4"/>
          <a:srcRect l="14000" t="16000" r="14000" b="16000"/>
          <a:stretch/>
        </p:blipFill>
        <p:spPr>
          <a:xfrm>
            <a:off x="13448370" y="4729163"/>
            <a:ext cx="3810930" cy="3028950"/>
          </a:xfrm>
          <a:prstGeom prst="rect">
            <a:avLst/>
          </a:prstGeom>
        </p:spPr>
      </p:pic>
      <p:sp>
        <p:nvSpPr>
          <p:cNvPr id="12" name="Rechteck 11">
            <a:extLst>
              <a:ext uri="{FF2B5EF4-FFF2-40B4-BE49-F238E27FC236}">
                <a16:creationId xmlns:a16="http://schemas.microsoft.com/office/drawing/2014/main" id="{854D203F-72D2-4954-8DC0-B8E9BAEB6452}"/>
              </a:ext>
            </a:extLst>
          </p:cNvPr>
          <p:cNvSpPr>
            <a:spLocks noGrp="1"/>
          </p:cNvSpPr>
          <p:nvPr/>
        </p:nvSpPr>
        <p:spPr>
          <a:xfrm>
            <a:off x="1028700" y="8115300"/>
            <a:ext cx="16230600" cy="800100"/>
          </a:xfrm>
          <a:prstGeom prst="rect">
            <a:avLst/>
          </a:prstGeom>
          <a:noFill/>
          <a:ln w="0">
            <a:noFill/>
          </a:ln>
        </p:spPr>
        <p:txBody>
          <a:bodyPr/>
          <a:lstStyle>
            <a:defPPr>
              <a:defRPr sz="2400" b="1">
                <a:solidFill>
                  <a:srgbClr val="FF7A3D"/>
                </a:solidFill>
                <a:latin typeface="LeadPilot Grotesk"/>
                <a:ea typeface="LeadPilot Grotesk"/>
                <a:cs typeface="LeadPilot Grotesk"/>
              </a:defRPr>
            </a:defPPr>
          </a:lstStyle>
          <a:p>
            <a:pPr>
              <a:defRPr sz="2400" b="1">
                <a:solidFill>
                  <a:srgbClr val="FF7A3D"/>
                </a:solidFill>
                <a:latin typeface="LeadPilot Grotesk"/>
                <a:ea typeface="LeadPilot Grotesk"/>
                <a:cs typeface="LeadPilot Grotesk"/>
              </a:defRPr>
            </a:pPr>
            <a:r>
              <a:rPr sz="3600" b="1">
                <a:solidFill>
                  <a:srgbClr val="FF7A3D"/>
                </a:solidFill>
                <a:latin typeface="LeadPilot Grotesk"/>
                <a:ea typeface="LeadPilot Grotesk"/>
                <a:cs typeface="LeadPilot Grotesk"/>
              </a:rPr>
              <a:t>30 Minuten Demo mit Ihrer letzten Messe-Liste</a:t>
            </a:r>
          </a:p>
        </p:txBody>
      </p:sp>
      <p:sp>
        <p:nvSpPr>
          <p:cNvPr id="13" name="Rechteck 12">
            <a:extLst>
              <a:ext uri="{FF2B5EF4-FFF2-40B4-BE49-F238E27FC236}">
                <a16:creationId xmlns:a16="http://schemas.microsoft.com/office/drawing/2014/main" id="{A8FCC544-F96F-4BC9-91D9-602E57F04E7E}"/>
              </a:ext>
            </a:extLst>
          </p:cNvPr>
          <p:cNvSpPr>
            <a:spLocks noGrp="1"/>
          </p:cNvSpPr>
          <p:nvPr/>
        </p:nvSpPr>
        <p:spPr>
          <a:xfrm>
            <a:off x="1028700" y="8858250"/>
            <a:ext cx="16230600" cy="571500"/>
          </a:xfrm>
          <a:prstGeom prst="rect">
            <a:avLst/>
          </a:prstGeom>
          <a:noFill/>
          <a:ln w="0">
            <a:noFill/>
          </a:ln>
        </p:spPr>
        <p:txBody>
          <a:bodyPr/>
          <a:lstStyle>
            <a:defPPr>
              <a:defRPr sz="1950" b="0">
                <a:solidFill>
                  <a:srgbClr val="FFFFFF"/>
                </a:solidFill>
                <a:latin typeface="LeadPilot Grotesk"/>
                <a:ea typeface="LeadPilot Grotesk"/>
                <a:cs typeface="LeadPilot Grotesk"/>
              </a:defRPr>
            </a:defPPr>
          </a:lstStyle>
          <a:p>
            <a:pPr>
              <a:defRPr sz="1950" b="0">
                <a:solidFill>
                  <a:srgbClr val="FFFFFF"/>
                </a:solidFill>
                <a:latin typeface="LeadPilot Grotesk"/>
                <a:ea typeface="LeadPilot Grotesk"/>
                <a:cs typeface="LeadPilot Grotesk"/>
              </a:defRPr>
            </a:pPr>
            <a:r>
              <a:rPr sz="2925">
                <a:solidFill>
                  <a:srgbClr val="FFFFFF"/>
                </a:solidFill>
                <a:latin typeface="LeadPilot Grotesk"/>
                <a:ea typeface="LeadPilot Grotesk"/>
                <a:cs typeface="LeadPilot Grotesk"/>
              </a:rPr>
              <a:t>Herr Hartwig, passt Ihnen Dienstag um 10 Uhr?</a:t>
            </a:r>
          </a:p>
        </p:txBody>
      </p:sp>
    </p:spTree>
    <p:extLst>
      <p:ext uri="{BB962C8B-B14F-4D97-AF65-F5344CB8AC3E}">
        <p14:creationId xmlns:p14="http://schemas.microsoft.com/office/powerpoint/2010/main" val="167227377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1219200" y="1219201"/>
            <a:ext cx="16325088" cy="335162"/>
          </a:xfrm>
          <a:prstGeom prst="rect">
            <a:avLst/>
          </a:prstGeom>
          <a:noFill/>
          <a:ln/>
        </p:spPr>
        <p:txBody>
          <a:bodyPr wrap="square" lIns="0" tIns="0" rIns="0" bIns="0" rtlCol="0" anchor="t">
            <a:normAutofit/>
          </a:bodyPr>
          <a:lstStyle/>
          <a:p>
            <a:pPr>
              <a:lnSpc>
                <a:spcPts val="2340"/>
              </a:lnSpc>
            </a:pPr>
            <a:r>
              <a:rPr lang="en-US" b="1" kern="0" spc="150" dirty="0">
                <a:solidFill>
                  <a:srgbClr val="00D9C6"/>
                </a:solidFill>
                <a:latin typeface="Inter" pitchFamily="34" charset="0"/>
                <a:ea typeface="Inter" pitchFamily="34" charset="-122"/>
                <a:cs typeface="Inter" pitchFamily="34" charset="-120"/>
              </a:rPr>
              <a:t>WEIDNER ANTRIEBSTECHNIK · NACH DER MESSE</a:t>
            </a:r>
            <a:endParaRPr lang="en-US" dirty="0"/>
          </a:p>
        </p:txBody>
      </p:sp>
      <p:sp>
        <p:nvSpPr>
          <p:cNvPr id="3" name="Text 1"/>
          <p:cNvSpPr>
            <a:spLocks noGrp="1"/>
          </p:cNvSpPr>
          <p:nvPr>
            <p:ph type="title"/>
          </p:nvPr>
        </p:nvSpPr>
        <p:spPr>
          <a:xfrm>
            <a:off x="1219200" y="3048000"/>
            <a:ext cx="9222105" cy="2552700"/>
          </a:xfrm>
          <a:prstGeom prst="rect">
            <a:avLst/>
          </a:prstGeom>
          <a:noFill/>
          <a:ln/>
        </p:spPr>
        <p:txBody>
          <a:bodyPr vert="horz" wrap="square" lIns="0" tIns="0" rIns="0" bIns="0" rtlCol="0" anchor="t">
            <a:normAutofit/>
          </a:bodyPr>
          <a:lstStyle/>
          <a:p>
            <a:pPr>
              <a:lnSpc>
                <a:spcPts val="6600"/>
              </a:lnSpc>
            </a:pPr>
            <a:r>
              <a:rPr lang="en-US" b="1" kern="0" spc="-75" dirty="0"/>
              <a:t>60 Anfragen auf der Messe. </a:t>
            </a:r>
            <a:r>
              <a:rPr lang="en-US" b="1" kern="0" spc="-75" dirty="0">
                <a:solidFill>
                  <a:srgbClr val="FF7A3D"/>
                </a:solidFill>
              </a:rPr>
              <a:t>Ein Drittel</a:t>
            </a:r>
            <a:r>
              <a:rPr lang="en-US" b="1" kern="0" spc="-75" dirty="0"/>
              <a:t> versandet im Excel.</a:t>
            </a:r>
            <a:endParaRPr lang="en-US" dirty="0"/>
          </a:p>
        </p:txBody>
      </p:sp>
      <p:sp>
        <p:nvSpPr>
          <p:cNvPr id="4" name="Text 2"/>
          <p:cNvSpPr/>
          <p:nvPr/>
        </p:nvSpPr>
        <p:spPr>
          <a:xfrm>
            <a:off x="1219200" y="5867400"/>
            <a:ext cx="9222105" cy="495300"/>
          </a:xfrm>
          <a:prstGeom prst="rect">
            <a:avLst/>
          </a:prstGeom>
          <a:noFill/>
          <a:ln/>
        </p:spPr>
        <p:txBody>
          <a:bodyPr wrap="square" lIns="0" tIns="0" rIns="0" bIns="0" rtlCol="0" anchor="t">
            <a:normAutofit/>
          </a:bodyPr>
          <a:lstStyle/>
          <a:p>
            <a:pPr>
              <a:lnSpc>
                <a:spcPts val="3600"/>
              </a:lnSpc>
            </a:pPr>
            <a:r>
              <a:rPr lang="en-US" sz="2400" dirty="0">
                <a:solidFill>
                  <a:srgbClr val="A7B0BA"/>
                </a:solidFill>
                <a:latin typeface="Inter" pitchFamily="34" charset="0"/>
                <a:ea typeface="Inter" pitchFamily="34" charset="-122"/>
                <a:cs typeface="Inter" pitchFamily="34" charset="-120"/>
              </a:rPr>
              <a:t>Wer ruft diese 20 Anfragen zurück?</a:t>
            </a:r>
            <a:endParaRPr lang="en-US" sz="2400" dirty="0"/>
          </a:p>
        </p:txBody>
      </p:sp>
      <p:sp>
        <p:nvSpPr>
          <p:cNvPr id="5" name="Shape 3"/>
          <p:cNvSpPr/>
          <p:nvPr/>
        </p:nvSpPr>
        <p:spPr>
          <a:xfrm>
            <a:off x="10782300" y="2512814"/>
            <a:ext cx="457200" cy="457200"/>
          </a:xfrm>
          <a:prstGeom prst="roundRect">
            <a:avLst>
              <a:gd name="adj" fmla="val 50000"/>
            </a:avLst>
          </a:prstGeom>
          <a:solidFill>
            <a:srgbClr val="00D9C6"/>
          </a:solidFill>
          <a:ln/>
        </p:spPr>
      </p:sp>
      <p:sp>
        <p:nvSpPr>
          <p:cNvPr id="6" name="Shape 4"/>
          <p:cNvSpPr/>
          <p:nvPr/>
        </p:nvSpPr>
        <p:spPr>
          <a:xfrm>
            <a:off x="11430000" y="2512814"/>
            <a:ext cx="457200" cy="457200"/>
          </a:xfrm>
          <a:prstGeom prst="roundRect">
            <a:avLst>
              <a:gd name="adj" fmla="val 50000"/>
            </a:avLst>
          </a:prstGeom>
          <a:solidFill>
            <a:srgbClr val="00D9C6"/>
          </a:solidFill>
          <a:ln/>
        </p:spPr>
      </p:sp>
      <p:sp>
        <p:nvSpPr>
          <p:cNvPr id="7" name="Shape 5"/>
          <p:cNvSpPr/>
          <p:nvPr/>
        </p:nvSpPr>
        <p:spPr>
          <a:xfrm>
            <a:off x="12077700" y="2512814"/>
            <a:ext cx="457200" cy="457200"/>
          </a:xfrm>
          <a:prstGeom prst="roundRect">
            <a:avLst>
              <a:gd name="adj" fmla="val 50000"/>
            </a:avLst>
          </a:prstGeom>
          <a:solidFill>
            <a:srgbClr val="00D9C6"/>
          </a:solidFill>
          <a:ln/>
        </p:spPr>
      </p:sp>
      <p:sp>
        <p:nvSpPr>
          <p:cNvPr id="8" name="Shape 6"/>
          <p:cNvSpPr/>
          <p:nvPr/>
        </p:nvSpPr>
        <p:spPr>
          <a:xfrm>
            <a:off x="12725400" y="2512814"/>
            <a:ext cx="457200" cy="457200"/>
          </a:xfrm>
          <a:prstGeom prst="roundRect">
            <a:avLst>
              <a:gd name="adj" fmla="val 50000"/>
            </a:avLst>
          </a:prstGeom>
          <a:solidFill>
            <a:srgbClr val="00D9C6"/>
          </a:solidFill>
          <a:ln/>
        </p:spPr>
      </p:sp>
      <p:sp>
        <p:nvSpPr>
          <p:cNvPr id="9" name="Shape 7"/>
          <p:cNvSpPr/>
          <p:nvPr/>
        </p:nvSpPr>
        <p:spPr>
          <a:xfrm>
            <a:off x="13373100" y="2512814"/>
            <a:ext cx="457200" cy="457200"/>
          </a:xfrm>
          <a:prstGeom prst="roundRect">
            <a:avLst>
              <a:gd name="adj" fmla="val 50000"/>
            </a:avLst>
          </a:prstGeom>
          <a:solidFill>
            <a:srgbClr val="00D9C6"/>
          </a:solidFill>
          <a:ln/>
        </p:spPr>
      </p:sp>
      <p:sp>
        <p:nvSpPr>
          <p:cNvPr id="10" name="Shape 8"/>
          <p:cNvSpPr/>
          <p:nvPr/>
        </p:nvSpPr>
        <p:spPr>
          <a:xfrm>
            <a:off x="14020800" y="2512814"/>
            <a:ext cx="457200" cy="457200"/>
          </a:xfrm>
          <a:prstGeom prst="roundRect">
            <a:avLst>
              <a:gd name="adj" fmla="val 50000"/>
            </a:avLst>
          </a:prstGeom>
          <a:solidFill>
            <a:srgbClr val="00D9C6"/>
          </a:solidFill>
          <a:ln/>
        </p:spPr>
      </p:sp>
      <p:sp>
        <p:nvSpPr>
          <p:cNvPr id="11" name="Shape 9"/>
          <p:cNvSpPr/>
          <p:nvPr/>
        </p:nvSpPr>
        <p:spPr>
          <a:xfrm>
            <a:off x="14668500" y="2512814"/>
            <a:ext cx="457200" cy="457200"/>
          </a:xfrm>
          <a:prstGeom prst="roundRect">
            <a:avLst>
              <a:gd name="adj" fmla="val 50000"/>
            </a:avLst>
          </a:prstGeom>
          <a:solidFill>
            <a:srgbClr val="00D9C6"/>
          </a:solidFill>
          <a:ln/>
        </p:spPr>
      </p:sp>
      <p:sp>
        <p:nvSpPr>
          <p:cNvPr id="12" name="Shape 10"/>
          <p:cNvSpPr/>
          <p:nvPr/>
        </p:nvSpPr>
        <p:spPr>
          <a:xfrm>
            <a:off x="15316200" y="2512814"/>
            <a:ext cx="457200" cy="457200"/>
          </a:xfrm>
          <a:prstGeom prst="roundRect">
            <a:avLst>
              <a:gd name="adj" fmla="val 50000"/>
            </a:avLst>
          </a:prstGeom>
          <a:solidFill>
            <a:srgbClr val="00D9C6"/>
          </a:solidFill>
          <a:ln/>
        </p:spPr>
      </p:sp>
      <p:sp>
        <p:nvSpPr>
          <p:cNvPr id="13" name="Shape 11"/>
          <p:cNvSpPr/>
          <p:nvPr/>
        </p:nvSpPr>
        <p:spPr>
          <a:xfrm>
            <a:off x="15963900" y="2512814"/>
            <a:ext cx="457200" cy="457200"/>
          </a:xfrm>
          <a:prstGeom prst="roundRect">
            <a:avLst>
              <a:gd name="adj" fmla="val 50000"/>
            </a:avLst>
          </a:prstGeom>
          <a:solidFill>
            <a:srgbClr val="00D9C6"/>
          </a:solidFill>
          <a:ln/>
        </p:spPr>
      </p:sp>
      <p:sp>
        <p:nvSpPr>
          <p:cNvPr id="14" name="Shape 12"/>
          <p:cNvSpPr/>
          <p:nvPr/>
        </p:nvSpPr>
        <p:spPr>
          <a:xfrm>
            <a:off x="16611600" y="2512814"/>
            <a:ext cx="457200" cy="457200"/>
          </a:xfrm>
          <a:prstGeom prst="roundRect">
            <a:avLst>
              <a:gd name="adj" fmla="val 50000"/>
            </a:avLst>
          </a:prstGeom>
          <a:solidFill>
            <a:srgbClr val="00D9C6"/>
          </a:solidFill>
          <a:ln/>
        </p:spPr>
      </p:sp>
      <p:sp>
        <p:nvSpPr>
          <p:cNvPr id="15" name="Shape 13"/>
          <p:cNvSpPr/>
          <p:nvPr/>
        </p:nvSpPr>
        <p:spPr>
          <a:xfrm>
            <a:off x="10782300" y="3160514"/>
            <a:ext cx="457200" cy="457200"/>
          </a:xfrm>
          <a:prstGeom prst="roundRect">
            <a:avLst>
              <a:gd name="adj" fmla="val 50000"/>
            </a:avLst>
          </a:prstGeom>
          <a:solidFill>
            <a:srgbClr val="00D9C6"/>
          </a:solidFill>
          <a:ln/>
        </p:spPr>
      </p:sp>
      <p:sp>
        <p:nvSpPr>
          <p:cNvPr id="16" name="Shape 14"/>
          <p:cNvSpPr/>
          <p:nvPr/>
        </p:nvSpPr>
        <p:spPr>
          <a:xfrm>
            <a:off x="11430000" y="3160514"/>
            <a:ext cx="457200" cy="457200"/>
          </a:xfrm>
          <a:prstGeom prst="roundRect">
            <a:avLst>
              <a:gd name="adj" fmla="val 50000"/>
            </a:avLst>
          </a:prstGeom>
          <a:solidFill>
            <a:srgbClr val="00D9C6"/>
          </a:solidFill>
          <a:ln/>
        </p:spPr>
      </p:sp>
      <p:sp>
        <p:nvSpPr>
          <p:cNvPr id="17" name="Shape 15"/>
          <p:cNvSpPr/>
          <p:nvPr/>
        </p:nvSpPr>
        <p:spPr>
          <a:xfrm>
            <a:off x="12077700" y="3160514"/>
            <a:ext cx="457200" cy="457200"/>
          </a:xfrm>
          <a:prstGeom prst="roundRect">
            <a:avLst>
              <a:gd name="adj" fmla="val 50000"/>
            </a:avLst>
          </a:prstGeom>
          <a:solidFill>
            <a:srgbClr val="00D9C6"/>
          </a:solidFill>
          <a:ln/>
        </p:spPr>
      </p:sp>
      <p:sp>
        <p:nvSpPr>
          <p:cNvPr id="18" name="Shape 16"/>
          <p:cNvSpPr/>
          <p:nvPr/>
        </p:nvSpPr>
        <p:spPr>
          <a:xfrm>
            <a:off x="12725400" y="3160514"/>
            <a:ext cx="457200" cy="457200"/>
          </a:xfrm>
          <a:prstGeom prst="roundRect">
            <a:avLst>
              <a:gd name="adj" fmla="val 50000"/>
            </a:avLst>
          </a:prstGeom>
          <a:solidFill>
            <a:srgbClr val="00D9C6"/>
          </a:solidFill>
          <a:ln/>
        </p:spPr>
      </p:sp>
      <p:sp>
        <p:nvSpPr>
          <p:cNvPr id="19" name="Shape 17"/>
          <p:cNvSpPr/>
          <p:nvPr/>
        </p:nvSpPr>
        <p:spPr>
          <a:xfrm>
            <a:off x="13373100" y="3160514"/>
            <a:ext cx="457200" cy="457200"/>
          </a:xfrm>
          <a:prstGeom prst="roundRect">
            <a:avLst>
              <a:gd name="adj" fmla="val 50000"/>
            </a:avLst>
          </a:prstGeom>
          <a:solidFill>
            <a:srgbClr val="00D9C6"/>
          </a:solidFill>
          <a:ln/>
        </p:spPr>
      </p:sp>
      <p:sp>
        <p:nvSpPr>
          <p:cNvPr id="20" name="Shape 18"/>
          <p:cNvSpPr/>
          <p:nvPr/>
        </p:nvSpPr>
        <p:spPr>
          <a:xfrm>
            <a:off x="14020800" y="3160514"/>
            <a:ext cx="457200" cy="457200"/>
          </a:xfrm>
          <a:prstGeom prst="roundRect">
            <a:avLst>
              <a:gd name="adj" fmla="val 50000"/>
            </a:avLst>
          </a:prstGeom>
          <a:solidFill>
            <a:srgbClr val="00D9C6"/>
          </a:solidFill>
          <a:ln/>
        </p:spPr>
      </p:sp>
      <p:sp>
        <p:nvSpPr>
          <p:cNvPr id="21" name="Shape 19"/>
          <p:cNvSpPr/>
          <p:nvPr/>
        </p:nvSpPr>
        <p:spPr>
          <a:xfrm>
            <a:off x="14668500" y="3160514"/>
            <a:ext cx="457200" cy="457200"/>
          </a:xfrm>
          <a:prstGeom prst="roundRect">
            <a:avLst>
              <a:gd name="adj" fmla="val 50000"/>
            </a:avLst>
          </a:prstGeom>
          <a:solidFill>
            <a:srgbClr val="00D9C6"/>
          </a:solidFill>
          <a:ln/>
        </p:spPr>
      </p:sp>
      <p:sp>
        <p:nvSpPr>
          <p:cNvPr id="22" name="Shape 20"/>
          <p:cNvSpPr/>
          <p:nvPr/>
        </p:nvSpPr>
        <p:spPr>
          <a:xfrm>
            <a:off x="15316200" y="3160514"/>
            <a:ext cx="457200" cy="457200"/>
          </a:xfrm>
          <a:prstGeom prst="roundRect">
            <a:avLst>
              <a:gd name="adj" fmla="val 50000"/>
            </a:avLst>
          </a:prstGeom>
          <a:solidFill>
            <a:srgbClr val="00D9C6"/>
          </a:solidFill>
          <a:ln/>
        </p:spPr>
      </p:sp>
      <p:sp>
        <p:nvSpPr>
          <p:cNvPr id="23" name="Shape 21"/>
          <p:cNvSpPr/>
          <p:nvPr/>
        </p:nvSpPr>
        <p:spPr>
          <a:xfrm>
            <a:off x="15963900" y="3160514"/>
            <a:ext cx="457200" cy="457200"/>
          </a:xfrm>
          <a:prstGeom prst="roundRect">
            <a:avLst>
              <a:gd name="adj" fmla="val 50000"/>
            </a:avLst>
          </a:prstGeom>
          <a:solidFill>
            <a:srgbClr val="00D9C6"/>
          </a:solidFill>
          <a:ln/>
        </p:spPr>
      </p:sp>
      <p:sp>
        <p:nvSpPr>
          <p:cNvPr id="24" name="Shape 22"/>
          <p:cNvSpPr/>
          <p:nvPr/>
        </p:nvSpPr>
        <p:spPr>
          <a:xfrm>
            <a:off x="16611600" y="3160514"/>
            <a:ext cx="457200" cy="457200"/>
          </a:xfrm>
          <a:prstGeom prst="roundRect">
            <a:avLst>
              <a:gd name="adj" fmla="val 50000"/>
            </a:avLst>
          </a:prstGeom>
          <a:solidFill>
            <a:srgbClr val="00D9C6"/>
          </a:solidFill>
          <a:ln/>
        </p:spPr>
      </p:sp>
      <p:sp>
        <p:nvSpPr>
          <p:cNvPr id="25" name="Shape 23"/>
          <p:cNvSpPr/>
          <p:nvPr/>
        </p:nvSpPr>
        <p:spPr>
          <a:xfrm>
            <a:off x="10782300" y="3808214"/>
            <a:ext cx="457200" cy="457200"/>
          </a:xfrm>
          <a:prstGeom prst="roundRect">
            <a:avLst>
              <a:gd name="adj" fmla="val 50000"/>
            </a:avLst>
          </a:prstGeom>
          <a:solidFill>
            <a:srgbClr val="00D9C6"/>
          </a:solidFill>
          <a:ln/>
        </p:spPr>
      </p:sp>
      <p:sp>
        <p:nvSpPr>
          <p:cNvPr id="26" name="Shape 24"/>
          <p:cNvSpPr/>
          <p:nvPr/>
        </p:nvSpPr>
        <p:spPr>
          <a:xfrm>
            <a:off x="11430000" y="3808214"/>
            <a:ext cx="457200" cy="457200"/>
          </a:xfrm>
          <a:prstGeom prst="roundRect">
            <a:avLst>
              <a:gd name="adj" fmla="val 50000"/>
            </a:avLst>
          </a:prstGeom>
          <a:solidFill>
            <a:srgbClr val="00D9C6"/>
          </a:solidFill>
          <a:ln/>
        </p:spPr>
      </p:sp>
      <p:sp>
        <p:nvSpPr>
          <p:cNvPr id="27" name="Shape 25"/>
          <p:cNvSpPr/>
          <p:nvPr/>
        </p:nvSpPr>
        <p:spPr>
          <a:xfrm>
            <a:off x="12077700" y="3808214"/>
            <a:ext cx="457200" cy="457200"/>
          </a:xfrm>
          <a:prstGeom prst="roundRect">
            <a:avLst>
              <a:gd name="adj" fmla="val 50000"/>
            </a:avLst>
          </a:prstGeom>
          <a:solidFill>
            <a:srgbClr val="00D9C6"/>
          </a:solidFill>
          <a:ln/>
        </p:spPr>
      </p:sp>
      <p:sp>
        <p:nvSpPr>
          <p:cNvPr id="28" name="Shape 26"/>
          <p:cNvSpPr/>
          <p:nvPr/>
        </p:nvSpPr>
        <p:spPr>
          <a:xfrm>
            <a:off x="12725400" y="3808214"/>
            <a:ext cx="457200" cy="457200"/>
          </a:xfrm>
          <a:prstGeom prst="roundRect">
            <a:avLst>
              <a:gd name="adj" fmla="val 50000"/>
            </a:avLst>
          </a:prstGeom>
          <a:solidFill>
            <a:srgbClr val="00D9C6"/>
          </a:solidFill>
          <a:ln/>
        </p:spPr>
      </p:sp>
      <p:sp>
        <p:nvSpPr>
          <p:cNvPr id="29" name="Shape 27"/>
          <p:cNvSpPr/>
          <p:nvPr/>
        </p:nvSpPr>
        <p:spPr>
          <a:xfrm>
            <a:off x="13373100" y="3808214"/>
            <a:ext cx="457200" cy="457200"/>
          </a:xfrm>
          <a:prstGeom prst="roundRect">
            <a:avLst>
              <a:gd name="adj" fmla="val 50000"/>
            </a:avLst>
          </a:prstGeom>
          <a:solidFill>
            <a:srgbClr val="00D9C6"/>
          </a:solidFill>
          <a:ln/>
        </p:spPr>
      </p:sp>
      <p:sp>
        <p:nvSpPr>
          <p:cNvPr id="30" name="Shape 28"/>
          <p:cNvSpPr/>
          <p:nvPr/>
        </p:nvSpPr>
        <p:spPr>
          <a:xfrm>
            <a:off x="14020800" y="3808214"/>
            <a:ext cx="457200" cy="457200"/>
          </a:xfrm>
          <a:prstGeom prst="roundRect">
            <a:avLst>
              <a:gd name="adj" fmla="val 50000"/>
            </a:avLst>
          </a:prstGeom>
          <a:solidFill>
            <a:srgbClr val="00D9C6"/>
          </a:solidFill>
          <a:ln/>
        </p:spPr>
      </p:sp>
      <p:sp>
        <p:nvSpPr>
          <p:cNvPr id="31" name="Shape 29"/>
          <p:cNvSpPr/>
          <p:nvPr/>
        </p:nvSpPr>
        <p:spPr>
          <a:xfrm>
            <a:off x="14668500" y="3808214"/>
            <a:ext cx="457200" cy="457200"/>
          </a:xfrm>
          <a:prstGeom prst="roundRect">
            <a:avLst>
              <a:gd name="adj" fmla="val 50000"/>
            </a:avLst>
          </a:prstGeom>
          <a:solidFill>
            <a:srgbClr val="00D9C6"/>
          </a:solidFill>
          <a:ln/>
        </p:spPr>
      </p:sp>
      <p:sp>
        <p:nvSpPr>
          <p:cNvPr id="32" name="Shape 30"/>
          <p:cNvSpPr/>
          <p:nvPr/>
        </p:nvSpPr>
        <p:spPr>
          <a:xfrm>
            <a:off x="15316200" y="3808214"/>
            <a:ext cx="457200" cy="457200"/>
          </a:xfrm>
          <a:prstGeom prst="roundRect">
            <a:avLst>
              <a:gd name="adj" fmla="val 50000"/>
            </a:avLst>
          </a:prstGeom>
          <a:solidFill>
            <a:srgbClr val="00D9C6"/>
          </a:solidFill>
          <a:ln/>
        </p:spPr>
      </p:sp>
      <p:sp>
        <p:nvSpPr>
          <p:cNvPr id="33" name="Shape 31"/>
          <p:cNvSpPr/>
          <p:nvPr/>
        </p:nvSpPr>
        <p:spPr>
          <a:xfrm>
            <a:off x="15963900" y="3808214"/>
            <a:ext cx="457200" cy="457200"/>
          </a:xfrm>
          <a:prstGeom prst="roundRect">
            <a:avLst>
              <a:gd name="adj" fmla="val 50000"/>
            </a:avLst>
          </a:prstGeom>
          <a:solidFill>
            <a:srgbClr val="00D9C6"/>
          </a:solidFill>
          <a:ln/>
        </p:spPr>
      </p:sp>
      <p:sp>
        <p:nvSpPr>
          <p:cNvPr id="34" name="Shape 32"/>
          <p:cNvSpPr/>
          <p:nvPr/>
        </p:nvSpPr>
        <p:spPr>
          <a:xfrm>
            <a:off x="16611600" y="3808214"/>
            <a:ext cx="457200" cy="457200"/>
          </a:xfrm>
          <a:prstGeom prst="roundRect">
            <a:avLst>
              <a:gd name="adj" fmla="val 50000"/>
            </a:avLst>
          </a:prstGeom>
          <a:solidFill>
            <a:srgbClr val="00D9C6"/>
          </a:solidFill>
          <a:ln/>
        </p:spPr>
      </p:sp>
      <p:sp>
        <p:nvSpPr>
          <p:cNvPr id="35" name="Shape 33"/>
          <p:cNvSpPr/>
          <p:nvPr/>
        </p:nvSpPr>
        <p:spPr>
          <a:xfrm>
            <a:off x="10782300" y="4455914"/>
            <a:ext cx="457200" cy="457200"/>
          </a:xfrm>
          <a:prstGeom prst="roundRect">
            <a:avLst>
              <a:gd name="adj" fmla="val 50000"/>
            </a:avLst>
          </a:prstGeom>
          <a:solidFill>
            <a:srgbClr val="00D9C6"/>
          </a:solidFill>
          <a:ln/>
        </p:spPr>
      </p:sp>
      <p:sp>
        <p:nvSpPr>
          <p:cNvPr id="36" name="Shape 34"/>
          <p:cNvSpPr/>
          <p:nvPr/>
        </p:nvSpPr>
        <p:spPr>
          <a:xfrm>
            <a:off x="11430000" y="4455914"/>
            <a:ext cx="457200" cy="457200"/>
          </a:xfrm>
          <a:prstGeom prst="roundRect">
            <a:avLst>
              <a:gd name="adj" fmla="val 50000"/>
            </a:avLst>
          </a:prstGeom>
          <a:solidFill>
            <a:srgbClr val="00D9C6"/>
          </a:solidFill>
          <a:ln/>
        </p:spPr>
      </p:sp>
      <p:sp>
        <p:nvSpPr>
          <p:cNvPr id="37" name="Shape 35"/>
          <p:cNvSpPr/>
          <p:nvPr/>
        </p:nvSpPr>
        <p:spPr>
          <a:xfrm>
            <a:off x="12077700" y="4455914"/>
            <a:ext cx="457200" cy="457200"/>
          </a:xfrm>
          <a:prstGeom prst="roundRect">
            <a:avLst>
              <a:gd name="adj" fmla="val 50000"/>
            </a:avLst>
          </a:prstGeom>
          <a:solidFill>
            <a:srgbClr val="00D9C6"/>
          </a:solidFill>
          <a:ln/>
        </p:spPr>
      </p:sp>
      <p:sp>
        <p:nvSpPr>
          <p:cNvPr id="38" name="Shape 36"/>
          <p:cNvSpPr/>
          <p:nvPr/>
        </p:nvSpPr>
        <p:spPr>
          <a:xfrm>
            <a:off x="12725400" y="4455914"/>
            <a:ext cx="457200" cy="457200"/>
          </a:xfrm>
          <a:prstGeom prst="roundRect">
            <a:avLst>
              <a:gd name="adj" fmla="val 50000"/>
            </a:avLst>
          </a:prstGeom>
          <a:solidFill>
            <a:srgbClr val="00D9C6"/>
          </a:solidFill>
          <a:ln/>
        </p:spPr>
      </p:sp>
      <p:sp>
        <p:nvSpPr>
          <p:cNvPr id="39" name="Shape 37"/>
          <p:cNvSpPr/>
          <p:nvPr/>
        </p:nvSpPr>
        <p:spPr>
          <a:xfrm>
            <a:off x="13373100" y="4455914"/>
            <a:ext cx="457200" cy="457200"/>
          </a:xfrm>
          <a:prstGeom prst="roundRect">
            <a:avLst>
              <a:gd name="adj" fmla="val 50000"/>
            </a:avLst>
          </a:prstGeom>
          <a:solidFill>
            <a:srgbClr val="00D9C6"/>
          </a:solidFill>
          <a:ln/>
        </p:spPr>
      </p:sp>
      <p:sp>
        <p:nvSpPr>
          <p:cNvPr id="40" name="Shape 38"/>
          <p:cNvSpPr/>
          <p:nvPr/>
        </p:nvSpPr>
        <p:spPr>
          <a:xfrm>
            <a:off x="14020800" y="4455914"/>
            <a:ext cx="457200" cy="457200"/>
          </a:xfrm>
          <a:prstGeom prst="roundRect">
            <a:avLst>
              <a:gd name="adj" fmla="val 50000"/>
            </a:avLst>
          </a:prstGeom>
          <a:solidFill>
            <a:srgbClr val="00D9C6"/>
          </a:solidFill>
          <a:ln/>
        </p:spPr>
      </p:sp>
      <p:sp>
        <p:nvSpPr>
          <p:cNvPr id="41" name="Shape 39"/>
          <p:cNvSpPr/>
          <p:nvPr/>
        </p:nvSpPr>
        <p:spPr>
          <a:xfrm>
            <a:off x="14668500" y="4455914"/>
            <a:ext cx="457200" cy="457200"/>
          </a:xfrm>
          <a:prstGeom prst="roundRect">
            <a:avLst>
              <a:gd name="adj" fmla="val 50000"/>
            </a:avLst>
          </a:prstGeom>
          <a:solidFill>
            <a:srgbClr val="00D9C6"/>
          </a:solidFill>
          <a:ln/>
        </p:spPr>
      </p:sp>
      <p:sp>
        <p:nvSpPr>
          <p:cNvPr id="42" name="Shape 40"/>
          <p:cNvSpPr/>
          <p:nvPr/>
        </p:nvSpPr>
        <p:spPr>
          <a:xfrm>
            <a:off x="15316200" y="4455914"/>
            <a:ext cx="457200" cy="457200"/>
          </a:xfrm>
          <a:prstGeom prst="roundRect">
            <a:avLst>
              <a:gd name="adj" fmla="val 50000"/>
            </a:avLst>
          </a:prstGeom>
          <a:solidFill>
            <a:srgbClr val="00D9C6"/>
          </a:solidFill>
          <a:ln/>
        </p:spPr>
      </p:sp>
      <p:sp>
        <p:nvSpPr>
          <p:cNvPr id="43" name="Shape 41"/>
          <p:cNvSpPr/>
          <p:nvPr/>
        </p:nvSpPr>
        <p:spPr>
          <a:xfrm>
            <a:off x="15963900" y="4455914"/>
            <a:ext cx="457200" cy="457200"/>
          </a:xfrm>
          <a:prstGeom prst="roundRect">
            <a:avLst>
              <a:gd name="adj" fmla="val 50000"/>
            </a:avLst>
          </a:prstGeom>
          <a:solidFill>
            <a:srgbClr val="00D9C6"/>
          </a:solidFill>
          <a:ln/>
        </p:spPr>
      </p:sp>
      <p:sp>
        <p:nvSpPr>
          <p:cNvPr id="44" name="Shape 42"/>
          <p:cNvSpPr/>
          <p:nvPr/>
        </p:nvSpPr>
        <p:spPr>
          <a:xfrm>
            <a:off x="16611600" y="4455914"/>
            <a:ext cx="457200" cy="457200"/>
          </a:xfrm>
          <a:prstGeom prst="roundRect">
            <a:avLst>
              <a:gd name="adj" fmla="val 50000"/>
            </a:avLst>
          </a:prstGeom>
          <a:solidFill>
            <a:srgbClr val="00D9C6"/>
          </a:solidFill>
          <a:ln/>
        </p:spPr>
      </p:sp>
      <p:sp>
        <p:nvSpPr>
          <p:cNvPr id="45" name="Shape 43"/>
          <p:cNvSpPr/>
          <p:nvPr/>
        </p:nvSpPr>
        <p:spPr>
          <a:xfrm>
            <a:off x="10801350" y="5122664"/>
            <a:ext cx="419100" cy="419100"/>
          </a:xfrm>
          <a:prstGeom prst="roundRect">
            <a:avLst>
              <a:gd name="adj" fmla="val 50000"/>
            </a:avLst>
          </a:prstGeom>
          <a:noFill/>
          <a:ln w="25400">
            <a:solidFill>
              <a:srgbClr val="FF7A3D"/>
            </a:solidFill>
            <a:prstDash val="solid"/>
          </a:ln>
        </p:spPr>
      </p:sp>
      <p:sp>
        <p:nvSpPr>
          <p:cNvPr id="46" name="Shape 44"/>
          <p:cNvSpPr/>
          <p:nvPr/>
        </p:nvSpPr>
        <p:spPr>
          <a:xfrm>
            <a:off x="11449050" y="5122664"/>
            <a:ext cx="419100" cy="419100"/>
          </a:xfrm>
          <a:prstGeom prst="roundRect">
            <a:avLst>
              <a:gd name="adj" fmla="val 50000"/>
            </a:avLst>
          </a:prstGeom>
          <a:noFill/>
          <a:ln w="25400">
            <a:solidFill>
              <a:srgbClr val="FF7A3D"/>
            </a:solidFill>
            <a:prstDash val="solid"/>
          </a:ln>
        </p:spPr>
      </p:sp>
      <p:sp>
        <p:nvSpPr>
          <p:cNvPr id="47" name="Shape 45"/>
          <p:cNvSpPr/>
          <p:nvPr/>
        </p:nvSpPr>
        <p:spPr>
          <a:xfrm>
            <a:off x="12096750" y="5122664"/>
            <a:ext cx="419100" cy="419100"/>
          </a:xfrm>
          <a:prstGeom prst="roundRect">
            <a:avLst>
              <a:gd name="adj" fmla="val 50000"/>
            </a:avLst>
          </a:prstGeom>
          <a:noFill/>
          <a:ln w="25400">
            <a:solidFill>
              <a:srgbClr val="FF7A3D"/>
            </a:solidFill>
            <a:prstDash val="solid"/>
          </a:ln>
        </p:spPr>
      </p:sp>
      <p:sp>
        <p:nvSpPr>
          <p:cNvPr id="48" name="Shape 46"/>
          <p:cNvSpPr/>
          <p:nvPr/>
        </p:nvSpPr>
        <p:spPr>
          <a:xfrm>
            <a:off x="12744450" y="5122664"/>
            <a:ext cx="419100" cy="419100"/>
          </a:xfrm>
          <a:prstGeom prst="roundRect">
            <a:avLst>
              <a:gd name="adj" fmla="val 50000"/>
            </a:avLst>
          </a:prstGeom>
          <a:noFill/>
          <a:ln w="25400">
            <a:solidFill>
              <a:srgbClr val="FF7A3D"/>
            </a:solidFill>
            <a:prstDash val="solid"/>
          </a:ln>
        </p:spPr>
      </p:sp>
      <p:sp>
        <p:nvSpPr>
          <p:cNvPr id="49" name="Shape 47"/>
          <p:cNvSpPr/>
          <p:nvPr/>
        </p:nvSpPr>
        <p:spPr>
          <a:xfrm>
            <a:off x="13392150" y="5122664"/>
            <a:ext cx="419100" cy="419100"/>
          </a:xfrm>
          <a:prstGeom prst="roundRect">
            <a:avLst>
              <a:gd name="adj" fmla="val 50000"/>
            </a:avLst>
          </a:prstGeom>
          <a:noFill/>
          <a:ln w="25400">
            <a:solidFill>
              <a:srgbClr val="FF7A3D"/>
            </a:solidFill>
            <a:prstDash val="solid"/>
          </a:ln>
        </p:spPr>
      </p:sp>
      <p:sp>
        <p:nvSpPr>
          <p:cNvPr id="50" name="Shape 48"/>
          <p:cNvSpPr/>
          <p:nvPr/>
        </p:nvSpPr>
        <p:spPr>
          <a:xfrm>
            <a:off x="14039850" y="5122664"/>
            <a:ext cx="419100" cy="419100"/>
          </a:xfrm>
          <a:prstGeom prst="roundRect">
            <a:avLst>
              <a:gd name="adj" fmla="val 50000"/>
            </a:avLst>
          </a:prstGeom>
          <a:noFill/>
          <a:ln w="25400">
            <a:solidFill>
              <a:srgbClr val="FF7A3D"/>
            </a:solidFill>
            <a:prstDash val="solid"/>
          </a:ln>
        </p:spPr>
      </p:sp>
      <p:sp>
        <p:nvSpPr>
          <p:cNvPr id="51" name="Shape 49"/>
          <p:cNvSpPr/>
          <p:nvPr/>
        </p:nvSpPr>
        <p:spPr>
          <a:xfrm>
            <a:off x="14687550" y="5122664"/>
            <a:ext cx="419100" cy="419100"/>
          </a:xfrm>
          <a:prstGeom prst="roundRect">
            <a:avLst>
              <a:gd name="adj" fmla="val 50000"/>
            </a:avLst>
          </a:prstGeom>
          <a:noFill/>
          <a:ln w="25400">
            <a:solidFill>
              <a:srgbClr val="FF7A3D"/>
            </a:solidFill>
            <a:prstDash val="solid"/>
          </a:ln>
        </p:spPr>
      </p:sp>
      <p:sp>
        <p:nvSpPr>
          <p:cNvPr id="52" name="Shape 50"/>
          <p:cNvSpPr/>
          <p:nvPr/>
        </p:nvSpPr>
        <p:spPr>
          <a:xfrm>
            <a:off x="15335250" y="5122664"/>
            <a:ext cx="419100" cy="419100"/>
          </a:xfrm>
          <a:prstGeom prst="roundRect">
            <a:avLst>
              <a:gd name="adj" fmla="val 50000"/>
            </a:avLst>
          </a:prstGeom>
          <a:noFill/>
          <a:ln w="25400">
            <a:solidFill>
              <a:srgbClr val="FF7A3D"/>
            </a:solidFill>
            <a:prstDash val="solid"/>
          </a:ln>
        </p:spPr>
      </p:sp>
      <p:sp>
        <p:nvSpPr>
          <p:cNvPr id="53" name="Shape 51"/>
          <p:cNvSpPr/>
          <p:nvPr/>
        </p:nvSpPr>
        <p:spPr>
          <a:xfrm>
            <a:off x="15982950" y="5122664"/>
            <a:ext cx="419100" cy="419100"/>
          </a:xfrm>
          <a:prstGeom prst="roundRect">
            <a:avLst>
              <a:gd name="adj" fmla="val 50000"/>
            </a:avLst>
          </a:prstGeom>
          <a:noFill/>
          <a:ln w="25400">
            <a:solidFill>
              <a:srgbClr val="FF7A3D"/>
            </a:solidFill>
            <a:prstDash val="solid"/>
          </a:ln>
        </p:spPr>
      </p:sp>
      <p:sp>
        <p:nvSpPr>
          <p:cNvPr id="54" name="Shape 52"/>
          <p:cNvSpPr/>
          <p:nvPr/>
        </p:nvSpPr>
        <p:spPr>
          <a:xfrm>
            <a:off x="16630650" y="5122664"/>
            <a:ext cx="419100" cy="419100"/>
          </a:xfrm>
          <a:prstGeom prst="roundRect">
            <a:avLst>
              <a:gd name="adj" fmla="val 50000"/>
            </a:avLst>
          </a:prstGeom>
          <a:noFill/>
          <a:ln w="25400">
            <a:solidFill>
              <a:srgbClr val="FF7A3D"/>
            </a:solidFill>
            <a:prstDash val="solid"/>
          </a:ln>
        </p:spPr>
      </p:sp>
      <p:sp>
        <p:nvSpPr>
          <p:cNvPr id="55" name="Shape 53"/>
          <p:cNvSpPr/>
          <p:nvPr/>
        </p:nvSpPr>
        <p:spPr>
          <a:xfrm>
            <a:off x="10801350" y="5770364"/>
            <a:ext cx="419100" cy="419100"/>
          </a:xfrm>
          <a:prstGeom prst="roundRect">
            <a:avLst>
              <a:gd name="adj" fmla="val 50000"/>
            </a:avLst>
          </a:prstGeom>
          <a:noFill/>
          <a:ln w="25400">
            <a:solidFill>
              <a:srgbClr val="FF7A3D"/>
            </a:solidFill>
            <a:prstDash val="solid"/>
          </a:ln>
        </p:spPr>
      </p:sp>
      <p:sp>
        <p:nvSpPr>
          <p:cNvPr id="56" name="Shape 54"/>
          <p:cNvSpPr/>
          <p:nvPr/>
        </p:nvSpPr>
        <p:spPr>
          <a:xfrm>
            <a:off x="11449050" y="5770364"/>
            <a:ext cx="419100" cy="419100"/>
          </a:xfrm>
          <a:prstGeom prst="roundRect">
            <a:avLst>
              <a:gd name="adj" fmla="val 50000"/>
            </a:avLst>
          </a:prstGeom>
          <a:noFill/>
          <a:ln w="25400">
            <a:solidFill>
              <a:srgbClr val="FF7A3D"/>
            </a:solidFill>
            <a:prstDash val="solid"/>
          </a:ln>
        </p:spPr>
      </p:sp>
      <p:sp>
        <p:nvSpPr>
          <p:cNvPr id="57" name="Shape 55"/>
          <p:cNvSpPr/>
          <p:nvPr/>
        </p:nvSpPr>
        <p:spPr>
          <a:xfrm>
            <a:off x="12096750" y="5770364"/>
            <a:ext cx="419100" cy="419100"/>
          </a:xfrm>
          <a:prstGeom prst="roundRect">
            <a:avLst>
              <a:gd name="adj" fmla="val 50000"/>
            </a:avLst>
          </a:prstGeom>
          <a:noFill/>
          <a:ln w="25400">
            <a:solidFill>
              <a:srgbClr val="FF7A3D"/>
            </a:solidFill>
            <a:prstDash val="solid"/>
          </a:ln>
        </p:spPr>
      </p:sp>
      <p:sp>
        <p:nvSpPr>
          <p:cNvPr id="58" name="Shape 56"/>
          <p:cNvSpPr/>
          <p:nvPr/>
        </p:nvSpPr>
        <p:spPr>
          <a:xfrm>
            <a:off x="12744450" y="5770364"/>
            <a:ext cx="419100" cy="419100"/>
          </a:xfrm>
          <a:prstGeom prst="roundRect">
            <a:avLst>
              <a:gd name="adj" fmla="val 50000"/>
            </a:avLst>
          </a:prstGeom>
          <a:noFill/>
          <a:ln w="25400">
            <a:solidFill>
              <a:srgbClr val="FF7A3D"/>
            </a:solidFill>
            <a:prstDash val="solid"/>
          </a:ln>
        </p:spPr>
      </p:sp>
      <p:sp>
        <p:nvSpPr>
          <p:cNvPr id="59" name="Shape 57"/>
          <p:cNvSpPr/>
          <p:nvPr/>
        </p:nvSpPr>
        <p:spPr>
          <a:xfrm>
            <a:off x="13392150" y="5770364"/>
            <a:ext cx="419100" cy="419100"/>
          </a:xfrm>
          <a:prstGeom prst="roundRect">
            <a:avLst>
              <a:gd name="adj" fmla="val 50000"/>
            </a:avLst>
          </a:prstGeom>
          <a:noFill/>
          <a:ln w="25400">
            <a:solidFill>
              <a:srgbClr val="FF7A3D"/>
            </a:solidFill>
            <a:prstDash val="solid"/>
          </a:ln>
        </p:spPr>
      </p:sp>
      <p:sp>
        <p:nvSpPr>
          <p:cNvPr id="60" name="Shape 58"/>
          <p:cNvSpPr/>
          <p:nvPr/>
        </p:nvSpPr>
        <p:spPr>
          <a:xfrm>
            <a:off x="14039850" y="5770364"/>
            <a:ext cx="419100" cy="419100"/>
          </a:xfrm>
          <a:prstGeom prst="roundRect">
            <a:avLst>
              <a:gd name="adj" fmla="val 50000"/>
            </a:avLst>
          </a:prstGeom>
          <a:noFill/>
          <a:ln w="25400">
            <a:solidFill>
              <a:srgbClr val="FF7A3D"/>
            </a:solidFill>
            <a:prstDash val="solid"/>
          </a:ln>
        </p:spPr>
      </p:sp>
      <p:sp>
        <p:nvSpPr>
          <p:cNvPr id="61" name="Shape 59"/>
          <p:cNvSpPr/>
          <p:nvPr/>
        </p:nvSpPr>
        <p:spPr>
          <a:xfrm>
            <a:off x="14687550" y="5770364"/>
            <a:ext cx="419100" cy="419100"/>
          </a:xfrm>
          <a:prstGeom prst="roundRect">
            <a:avLst>
              <a:gd name="adj" fmla="val 50000"/>
            </a:avLst>
          </a:prstGeom>
          <a:noFill/>
          <a:ln w="25400">
            <a:solidFill>
              <a:srgbClr val="FF7A3D"/>
            </a:solidFill>
            <a:prstDash val="solid"/>
          </a:ln>
        </p:spPr>
      </p:sp>
      <p:sp>
        <p:nvSpPr>
          <p:cNvPr id="62" name="Shape 60"/>
          <p:cNvSpPr/>
          <p:nvPr/>
        </p:nvSpPr>
        <p:spPr>
          <a:xfrm>
            <a:off x="15335250" y="5770364"/>
            <a:ext cx="419100" cy="419100"/>
          </a:xfrm>
          <a:prstGeom prst="roundRect">
            <a:avLst>
              <a:gd name="adj" fmla="val 50000"/>
            </a:avLst>
          </a:prstGeom>
          <a:noFill/>
          <a:ln w="25400">
            <a:solidFill>
              <a:srgbClr val="FF7A3D"/>
            </a:solidFill>
            <a:prstDash val="solid"/>
          </a:ln>
        </p:spPr>
      </p:sp>
      <p:sp>
        <p:nvSpPr>
          <p:cNvPr id="63" name="Shape 61"/>
          <p:cNvSpPr/>
          <p:nvPr/>
        </p:nvSpPr>
        <p:spPr>
          <a:xfrm>
            <a:off x="15982950" y="5770364"/>
            <a:ext cx="419100" cy="419100"/>
          </a:xfrm>
          <a:prstGeom prst="roundRect">
            <a:avLst>
              <a:gd name="adj" fmla="val 50000"/>
            </a:avLst>
          </a:prstGeom>
          <a:noFill/>
          <a:ln w="25400">
            <a:solidFill>
              <a:srgbClr val="FF7A3D"/>
            </a:solidFill>
            <a:prstDash val="solid"/>
          </a:ln>
        </p:spPr>
      </p:sp>
      <p:sp>
        <p:nvSpPr>
          <p:cNvPr id="64" name="Shape 62"/>
          <p:cNvSpPr/>
          <p:nvPr/>
        </p:nvSpPr>
        <p:spPr>
          <a:xfrm>
            <a:off x="16630650" y="5770364"/>
            <a:ext cx="419100" cy="419100"/>
          </a:xfrm>
          <a:prstGeom prst="roundRect">
            <a:avLst>
              <a:gd name="adj" fmla="val 50000"/>
            </a:avLst>
          </a:prstGeom>
          <a:noFill/>
          <a:ln w="25400">
            <a:solidFill>
              <a:srgbClr val="FF7A3D"/>
            </a:solidFill>
            <a:prstDash val="solid"/>
          </a:ln>
        </p:spPr>
      </p:sp>
      <p:sp>
        <p:nvSpPr>
          <p:cNvPr id="65" name="Shape 63"/>
          <p:cNvSpPr/>
          <p:nvPr/>
        </p:nvSpPr>
        <p:spPr>
          <a:xfrm>
            <a:off x="10782300" y="6572250"/>
            <a:ext cx="228600" cy="228600"/>
          </a:xfrm>
          <a:prstGeom prst="roundRect">
            <a:avLst>
              <a:gd name="adj" fmla="val 50000"/>
            </a:avLst>
          </a:prstGeom>
          <a:solidFill>
            <a:srgbClr val="00D9C6"/>
          </a:solidFill>
          <a:ln/>
        </p:spPr>
      </p:sp>
      <p:sp>
        <p:nvSpPr>
          <p:cNvPr id="66" name="Text 64"/>
          <p:cNvSpPr/>
          <p:nvPr/>
        </p:nvSpPr>
        <p:spPr>
          <a:xfrm>
            <a:off x="11125200" y="6513314"/>
            <a:ext cx="2042577" cy="384720"/>
          </a:xfrm>
          <a:prstGeom prst="rect">
            <a:avLst/>
          </a:prstGeom>
          <a:noFill/>
          <a:ln/>
        </p:spPr>
        <p:txBody>
          <a:bodyPr wrap="square" lIns="0" tIns="0" rIns="0" bIns="0" rtlCol="0" anchor="t">
            <a:normAutofit/>
          </a:bodyPr>
          <a:lstStyle/>
          <a:p>
            <a:pPr>
              <a:lnSpc>
                <a:spcPts val="2730"/>
              </a:lnSpc>
            </a:pPr>
            <a:r>
              <a:rPr lang="en-US" sz="2100" dirty="0">
                <a:solidFill>
                  <a:srgbClr val="A7B0BA"/>
                </a:solidFill>
                <a:latin typeface="Inter" pitchFamily="34" charset="0"/>
                <a:ea typeface="Inter" pitchFamily="34" charset="-122"/>
                <a:cs typeface="Inter" pitchFamily="34" charset="-120"/>
              </a:rPr>
              <a:t>40 bearbeitet</a:t>
            </a:r>
            <a:endParaRPr lang="en-US" sz="2100" dirty="0"/>
          </a:p>
        </p:txBody>
      </p:sp>
      <p:sp>
        <p:nvSpPr>
          <p:cNvPr id="67" name="Shape 65"/>
          <p:cNvSpPr/>
          <p:nvPr/>
        </p:nvSpPr>
        <p:spPr>
          <a:xfrm>
            <a:off x="13222635" y="6586538"/>
            <a:ext cx="200025" cy="200025"/>
          </a:xfrm>
          <a:prstGeom prst="roundRect">
            <a:avLst>
              <a:gd name="adj" fmla="val 50000"/>
            </a:avLst>
          </a:prstGeom>
          <a:noFill/>
          <a:ln w="19050">
            <a:solidFill>
              <a:srgbClr val="FF7A3D"/>
            </a:solidFill>
            <a:prstDash val="solid"/>
          </a:ln>
        </p:spPr>
      </p:sp>
      <p:sp>
        <p:nvSpPr>
          <p:cNvPr id="68" name="Text 66"/>
          <p:cNvSpPr/>
          <p:nvPr/>
        </p:nvSpPr>
        <p:spPr>
          <a:xfrm>
            <a:off x="13551248" y="6513314"/>
            <a:ext cx="1992749" cy="384720"/>
          </a:xfrm>
          <a:prstGeom prst="rect">
            <a:avLst/>
          </a:prstGeom>
          <a:noFill/>
          <a:ln/>
        </p:spPr>
        <p:txBody>
          <a:bodyPr wrap="square" lIns="0" tIns="0" rIns="0" bIns="0" rtlCol="0" anchor="t">
            <a:normAutofit/>
          </a:bodyPr>
          <a:lstStyle/>
          <a:p>
            <a:pPr>
              <a:lnSpc>
                <a:spcPts val="2730"/>
              </a:lnSpc>
            </a:pPr>
            <a:r>
              <a:rPr lang="en-US" sz="2100" dirty="0">
                <a:solidFill>
                  <a:srgbClr val="A7B0BA"/>
                </a:solidFill>
                <a:latin typeface="Inter" pitchFamily="34" charset="0"/>
                <a:ea typeface="Inter" pitchFamily="34" charset="-122"/>
                <a:cs typeface="Inter" pitchFamily="34" charset="-120"/>
              </a:rPr>
              <a:t>20 versandet</a:t>
            </a:r>
            <a:endParaRPr lang="en-US" sz="2100" dirty="0"/>
          </a:p>
        </p:txBody>
      </p:sp>
      <p:sp>
        <p:nvSpPr>
          <p:cNvPr id="69" name="Shape 67"/>
          <p:cNvSpPr/>
          <p:nvPr/>
        </p:nvSpPr>
        <p:spPr>
          <a:xfrm>
            <a:off x="1238250" y="7856339"/>
            <a:ext cx="0" cy="906662"/>
          </a:xfrm>
          <a:prstGeom prst="line">
            <a:avLst/>
          </a:prstGeom>
          <a:noFill/>
          <a:ln w="25400">
            <a:solidFill>
              <a:srgbClr val="00D9C6"/>
            </a:solidFill>
            <a:prstDash val="solid"/>
          </a:ln>
        </p:spPr>
      </p:sp>
      <p:sp>
        <p:nvSpPr>
          <p:cNvPr id="70" name="Text 68"/>
          <p:cNvSpPr/>
          <p:nvPr/>
        </p:nvSpPr>
        <p:spPr>
          <a:xfrm>
            <a:off x="1562100" y="7856339"/>
            <a:ext cx="15971901" cy="495300"/>
          </a:xfrm>
          <a:prstGeom prst="rect">
            <a:avLst/>
          </a:prstGeom>
          <a:noFill/>
          <a:ln/>
        </p:spPr>
        <p:txBody>
          <a:bodyPr wrap="square" lIns="0" tIns="0" rIns="0" bIns="0" rtlCol="0" anchor="t">
            <a:normAutofit/>
          </a:bodyPr>
          <a:lstStyle/>
          <a:p>
            <a:pPr>
              <a:lnSpc>
                <a:spcPts val="3600"/>
              </a:lnSpc>
            </a:pPr>
            <a:r>
              <a:rPr lang="en-US" sz="3000" b="1" dirty="0">
                <a:solidFill>
                  <a:srgbClr val="FFFFFF"/>
                </a:solidFill>
                <a:latin typeface="LeadPilot Grotesk" pitchFamily="34" charset="0"/>
                <a:ea typeface="LeadPilot Grotesk" pitchFamily="34" charset="-122"/>
                <a:cs typeface="LeadPilot Grotesk" pitchFamily="34" charset="-120"/>
              </a:rPr>
              <a:t>„Leads haben wir genug.“</a:t>
            </a:r>
            <a:endParaRPr lang="en-US" sz="3000" dirty="0"/>
          </a:p>
        </p:txBody>
      </p:sp>
      <p:sp>
        <p:nvSpPr>
          <p:cNvPr id="71" name="Text 69"/>
          <p:cNvSpPr/>
          <p:nvPr/>
        </p:nvSpPr>
        <p:spPr>
          <a:xfrm>
            <a:off x="1562100" y="8389739"/>
            <a:ext cx="15971901" cy="411362"/>
          </a:xfrm>
          <a:prstGeom prst="rect">
            <a:avLst/>
          </a:prstGeom>
          <a:noFill/>
          <a:ln/>
        </p:spPr>
        <p:txBody>
          <a:bodyPr wrap="square" lIns="0" tIns="0" rIns="0" bIns="0" rtlCol="0" anchor="t">
            <a:normAutofit/>
          </a:bodyPr>
          <a:lstStyle/>
          <a:p>
            <a:pPr>
              <a:lnSpc>
                <a:spcPts val="2940"/>
              </a:lnSpc>
            </a:pPr>
            <a:r>
              <a:rPr lang="en-US" sz="2100" dirty="0">
                <a:solidFill>
                  <a:srgbClr val="A7B0BA"/>
                </a:solidFill>
                <a:latin typeface="Inter" pitchFamily="34" charset="0"/>
                <a:ea typeface="Inter" pitchFamily="34" charset="-122"/>
                <a:cs typeface="Inter" pitchFamily="34" charset="-120"/>
              </a:rPr>
              <a:t>Jens Hartwig, Vertriebsleiter, Weidner Antriebstechnik</a:t>
            </a:r>
            <a:endParaRPr lang="en-US" sz="2100" dirty="0"/>
          </a:p>
        </p:txBody>
      </p:sp>
      <p:sp>
        <p:nvSpPr>
          <p:cNvPr id="72" name="Text 70"/>
          <p:cNvSpPr/>
          <p:nvPr/>
        </p:nvSpPr>
        <p:spPr>
          <a:xfrm>
            <a:off x="1219200" y="9357420"/>
            <a:ext cx="2552700" cy="358080"/>
          </a:xfrm>
          <a:prstGeom prst="rect">
            <a:avLst/>
          </a:prstGeom>
          <a:noFill/>
          <a:ln/>
        </p:spPr>
        <p:txBody>
          <a:bodyPr wrap="square" lIns="0" tIns="0" rIns="0" bIns="0" rtlCol="0" anchor="t">
            <a:normAutofit/>
          </a:bodyPr>
          <a:lstStyle/>
          <a:p>
            <a:pPr>
              <a:lnSpc>
                <a:spcPts val="2520"/>
              </a:lnSpc>
            </a:pPr>
            <a:r>
              <a:rPr lang="en-US" sz="2100" b="1" dirty="0">
                <a:solidFill>
                  <a:srgbClr val="FF7A3D"/>
                </a:solidFill>
                <a:latin typeface="LeadPilot Grotesk" pitchFamily="34" charset="0"/>
                <a:ea typeface="LeadPilot Grotesk" pitchFamily="34" charset="-122"/>
                <a:cs typeface="LeadPilot Grotesk" pitchFamily="34" charset="-120"/>
              </a:rPr>
              <a:t>Lead</a:t>
            </a:r>
            <a:r>
              <a:rPr lang="en-US" sz="2100" b="1" dirty="0">
                <a:solidFill>
                  <a:srgbClr val="00D9C6"/>
                </a:solidFill>
                <a:latin typeface="LeadPilot Grotesk" pitchFamily="34" charset="0"/>
                <a:ea typeface="LeadPilot Grotesk" pitchFamily="34" charset="-122"/>
                <a:cs typeface="LeadPilot Grotesk" pitchFamily="34" charset="-120"/>
              </a:rPr>
              <a:t>Pilot</a:t>
            </a:r>
            <a:endParaRPr lang="en-US" sz="2100" dirty="0"/>
          </a:p>
        </p:txBody>
      </p:sp>
      <p:sp>
        <p:nvSpPr>
          <p:cNvPr id="73" name="Text 71"/>
          <p:cNvSpPr/>
          <p:nvPr/>
        </p:nvSpPr>
        <p:spPr>
          <a:xfrm>
            <a:off x="15468600" y="9357420"/>
            <a:ext cx="1600200" cy="358080"/>
          </a:xfrm>
          <a:prstGeom prst="rect">
            <a:avLst/>
          </a:prstGeom>
          <a:noFill/>
          <a:ln/>
        </p:spPr>
        <p:txBody>
          <a:bodyPr wrap="square" lIns="0" tIns="0" rIns="0" bIns="0" rtlCol="0" anchor="t">
            <a:normAutofit/>
          </a:bodyPr>
          <a:lstStyle/>
          <a:p>
            <a:pPr algn="r">
              <a:lnSpc>
                <a:spcPts val="2520"/>
              </a:lnSpc>
            </a:pPr>
            <a:r>
              <a:rPr lang="en-US" dirty="0">
                <a:solidFill>
                  <a:srgbClr val="A7B0BA"/>
                </a:solidFill>
                <a:latin typeface="Inter" pitchFamily="34" charset="0"/>
                <a:ea typeface="Inter" pitchFamily="34" charset="-122"/>
                <a:cs typeface="Inter" pitchFamily="34" charset="-120"/>
              </a:rPr>
              <a:t>01 / 05</a:t>
            </a:r>
            <a:endParaRPr lang="en-US"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1219200" y="1219201"/>
            <a:ext cx="16325088" cy="335162"/>
          </a:xfrm>
          <a:prstGeom prst="rect">
            <a:avLst/>
          </a:prstGeom>
          <a:noFill/>
          <a:ln/>
        </p:spPr>
        <p:txBody>
          <a:bodyPr wrap="square" lIns="0" tIns="0" rIns="0" bIns="0" rtlCol="0" anchor="t">
            <a:normAutofit/>
          </a:bodyPr>
          <a:lstStyle/>
          <a:p>
            <a:pPr>
              <a:lnSpc>
                <a:spcPts val="2340"/>
              </a:lnSpc>
            </a:pPr>
            <a:r>
              <a:rPr lang="en-US" b="1" kern="0" spc="150" dirty="0">
                <a:solidFill>
                  <a:srgbClr val="00D9C6"/>
                </a:solidFill>
                <a:latin typeface="Inter" pitchFamily="34" charset="0"/>
                <a:ea typeface="Inter" pitchFamily="34" charset="-122"/>
                <a:cs typeface="Inter" pitchFamily="34" charset="-120"/>
              </a:rPr>
              <a:t>WAS DAS KOSTET</a:t>
            </a:r>
            <a:endParaRPr lang="en-US" dirty="0"/>
          </a:p>
        </p:txBody>
      </p:sp>
      <p:sp>
        <p:nvSpPr>
          <p:cNvPr id="3" name="Text 1"/>
          <p:cNvSpPr>
            <a:spLocks noGrp="1"/>
          </p:cNvSpPr>
          <p:nvPr>
            <p:ph type="title"/>
          </p:nvPr>
        </p:nvSpPr>
        <p:spPr>
          <a:xfrm>
            <a:off x="1219200" y="1668662"/>
            <a:ext cx="16325088" cy="876300"/>
          </a:xfrm>
          <a:prstGeom prst="rect">
            <a:avLst/>
          </a:prstGeom>
          <a:noFill/>
          <a:ln/>
        </p:spPr>
        <p:txBody>
          <a:bodyPr vert="horz" wrap="square" lIns="0" tIns="0" rIns="0" bIns="0" rtlCol="0" anchor="t">
            <a:normAutofit/>
          </a:bodyPr>
          <a:lstStyle/>
          <a:p>
            <a:pPr>
              <a:lnSpc>
                <a:spcPts val="6600"/>
              </a:lnSpc>
            </a:pPr>
            <a:r>
              <a:rPr lang="en-US" b="1" kern="0" spc="-75" dirty="0"/>
              <a:t>Das kostet die Nachbereitung heute</a:t>
            </a:r>
            <a:endParaRPr lang="en-US" dirty="0"/>
          </a:p>
        </p:txBody>
      </p:sp>
      <p:sp>
        <p:nvSpPr>
          <p:cNvPr id="4" name="Shape 2"/>
          <p:cNvSpPr/>
          <p:nvPr/>
        </p:nvSpPr>
        <p:spPr>
          <a:xfrm>
            <a:off x="1228725" y="3507136"/>
            <a:ext cx="7762875" cy="3798392"/>
          </a:xfrm>
          <a:prstGeom prst="roundRect">
            <a:avLst>
              <a:gd name="adj" fmla="val 4765"/>
            </a:avLst>
          </a:prstGeom>
          <a:solidFill>
            <a:srgbClr val="123330"/>
          </a:solidFill>
          <a:ln w="12700">
            <a:solidFill>
              <a:srgbClr val="FF7A3D"/>
            </a:solidFill>
            <a:prstDash val="solid"/>
          </a:ln>
          <a:effectLst>
            <a:outerShdw blurRad="127000" dir="60000" algn="bl" rotWithShape="0">
              <a:srgbClr val="FF7A3D">
                <a:alpha val="30000"/>
              </a:srgbClr>
            </a:outerShdw>
          </a:effectLst>
        </p:spPr>
      </p:sp>
      <p:sp>
        <p:nvSpPr>
          <p:cNvPr id="5" name="Text 3"/>
          <p:cNvSpPr/>
          <p:nvPr/>
        </p:nvSpPr>
        <p:spPr>
          <a:xfrm>
            <a:off x="1695451" y="3973861"/>
            <a:ext cx="7034309" cy="335162"/>
          </a:xfrm>
          <a:prstGeom prst="rect">
            <a:avLst/>
          </a:prstGeom>
          <a:noFill/>
          <a:ln/>
        </p:spPr>
        <p:txBody>
          <a:bodyPr wrap="square" lIns="0" tIns="0" rIns="0" bIns="0" rtlCol="0" anchor="t">
            <a:normAutofit/>
          </a:bodyPr>
          <a:lstStyle/>
          <a:p>
            <a:pPr>
              <a:lnSpc>
                <a:spcPts val="2340"/>
              </a:lnSpc>
            </a:pPr>
            <a:r>
              <a:rPr lang="en-US" b="1" kern="0" spc="150" dirty="0">
                <a:solidFill>
                  <a:srgbClr val="A7B0BA"/>
                </a:solidFill>
                <a:latin typeface="Inter" pitchFamily="34" charset="0"/>
                <a:ea typeface="Inter" pitchFamily="34" charset="-122"/>
                <a:cs typeface="Inter" pitchFamily="34" charset="-120"/>
              </a:rPr>
              <a:t>MÖGLICHER ERSTUMSATZ PRO JAHR</a:t>
            </a:r>
            <a:endParaRPr lang="en-US" dirty="0"/>
          </a:p>
        </p:txBody>
      </p:sp>
      <p:sp>
        <p:nvSpPr>
          <p:cNvPr id="6" name="Text 4"/>
          <p:cNvSpPr/>
          <p:nvPr/>
        </p:nvSpPr>
        <p:spPr>
          <a:xfrm>
            <a:off x="1695451" y="4423320"/>
            <a:ext cx="7034309" cy="1295400"/>
          </a:xfrm>
          <a:prstGeom prst="rect">
            <a:avLst/>
          </a:prstGeom>
          <a:noFill/>
          <a:ln/>
        </p:spPr>
        <p:txBody>
          <a:bodyPr wrap="square" lIns="0" tIns="0" rIns="0" bIns="0" rtlCol="0" anchor="t">
            <a:normAutofit/>
          </a:bodyPr>
          <a:lstStyle/>
          <a:p>
            <a:pPr>
              <a:lnSpc>
                <a:spcPts val="9900"/>
              </a:lnSpc>
            </a:pPr>
            <a:r>
              <a:rPr lang="en-US" sz="9000" b="1" kern="0" spc="-75" dirty="0">
                <a:solidFill>
                  <a:srgbClr val="FF7A3D"/>
                </a:solidFill>
                <a:latin typeface="LeadPilot Grotesk" pitchFamily="34" charset="0"/>
                <a:ea typeface="LeadPilot Grotesk" pitchFamily="34" charset="-122"/>
                <a:cs typeface="LeadPilot Grotesk" pitchFamily="34" charset="-120"/>
              </a:rPr>
              <a:t>150.000 €</a:t>
            </a:r>
            <a:endParaRPr lang="en-US" sz="9000" dirty="0"/>
          </a:p>
        </p:txBody>
      </p:sp>
      <p:sp>
        <p:nvSpPr>
          <p:cNvPr id="7" name="Text 5"/>
          <p:cNvSpPr/>
          <p:nvPr/>
        </p:nvSpPr>
        <p:spPr>
          <a:xfrm>
            <a:off x="1695451" y="5833020"/>
            <a:ext cx="7034309" cy="464790"/>
          </a:xfrm>
          <a:prstGeom prst="rect">
            <a:avLst/>
          </a:prstGeom>
          <a:noFill/>
          <a:ln/>
        </p:spPr>
        <p:txBody>
          <a:bodyPr wrap="square" lIns="0" tIns="0" rIns="0" bIns="0" rtlCol="0" anchor="t">
            <a:normAutofit/>
          </a:bodyPr>
          <a:lstStyle/>
          <a:p>
            <a:pPr>
              <a:lnSpc>
                <a:spcPts val="3360"/>
              </a:lnSpc>
            </a:pPr>
            <a:r>
              <a:rPr lang="en-US" sz="2400" dirty="0">
                <a:solidFill>
                  <a:srgbClr val="FFFFFF"/>
                </a:solidFill>
                <a:latin typeface="Inter" pitchFamily="34" charset="0"/>
                <a:ea typeface="Inter" pitchFamily="34" charset="-122"/>
                <a:cs typeface="Inter" pitchFamily="34" charset="-120"/>
              </a:rPr>
              <a:t>3 Messen × 2 Aufträge × 25.000 €</a:t>
            </a:r>
            <a:endParaRPr lang="en-US" sz="2400" dirty="0"/>
          </a:p>
        </p:txBody>
      </p:sp>
      <p:sp>
        <p:nvSpPr>
          <p:cNvPr id="8" name="Text 6"/>
          <p:cNvSpPr/>
          <p:nvPr/>
        </p:nvSpPr>
        <p:spPr>
          <a:xfrm>
            <a:off x="1695451" y="6412112"/>
            <a:ext cx="7034309" cy="464790"/>
          </a:xfrm>
          <a:prstGeom prst="rect">
            <a:avLst/>
          </a:prstGeom>
          <a:noFill/>
          <a:ln/>
        </p:spPr>
        <p:txBody>
          <a:bodyPr wrap="square" lIns="0" tIns="0" rIns="0" bIns="0" rtlCol="0" anchor="t">
            <a:normAutofit/>
          </a:bodyPr>
          <a:lstStyle/>
          <a:p>
            <a:pPr>
              <a:lnSpc>
                <a:spcPts val="3360"/>
              </a:lnSpc>
            </a:pPr>
            <a:r>
              <a:rPr lang="en-US" sz="2400" dirty="0">
                <a:solidFill>
                  <a:srgbClr val="A7B0BA"/>
                </a:solidFill>
                <a:latin typeface="Inter" pitchFamily="34" charset="0"/>
                <a:ea typeface="Inter" pitchFamily="34" charset="-122"/>
                <a:cs typeface="Inter" pitchFamily="34" charset="-120"/>
              </a:rPr>
              <a:t>Potenzial aus Anfragen, die liegen bleiben.</a:t>
            </a:r>
            <a:endParaRPr lang="en-US" sz="2400" dirty="0"/>
          </a:p>
        </p:txBody>
      </p:sp>
      <p:sp>
        <p:nvSpPr>
          <p:cNvPr id="9" name="Shape 7"/>
          <p:cNvSpPr/>
          <p:nvPr/>
        </p:nvSpPr>
        <p:spPr>
          <a:xfrm>
            <a:off x="9310688" y="3502373"/>
            <a:ext cx="7753350" cy="3807917"/>
          </a:xfrm>
          <a:prstGeom prst="roundRect">
            <a:avLst>
              <a:gd name="adj" fmla="val 4878"/>
            </a:avLst>
          </a:prstGeom>
          <a:solidFill>
            <a:srgbClr val="123330"/>
          </a:solidFill>
          <a:ln w="6350">
            <a:solidFill>
              <a:srgbClr val="2A4A43"/>
            </a:solidFill>
            <a:prstDash val="solid"/>
          </a:ln>
        </p:spPr>
      </p:sp>
      <p:sp>
        <p:nvSpPr>
          <p:cNvPr id="10" name="Text 8"/>
          <p:cNvSpPr/>
          <p:nvPr/>
        </p:nvSpPr>
        <p:spPr>
          <a:xfrm>
            <a:off x="9772651" y="3964336"/>
            <a:ext cx="7034309" cy="335162"/>
          </a:xfrm>
          <a:prstGeom prst="rect">
            <a:avLst/>
          </a:prstGeom>
          <a:noFill/>
          <a:ln/>
        </p:spPr>
        <p:txBody>
          <a:bodyPr wrap="square" lIns="0" tIns="0" rIns="0" bIns="0" rtlCol="0" anchor="t">
            <a:normAutofit/>
          </a:bodyPr>
          <a:lstStyle/>
          <a:p>
            <a:pPr>
              <a:lnSpc>
                <a:spcPts val="2340"/>
              </a:lnSpc>
            </a:pPr>
            <a:r>
              <a:rPr lang="en-US" b="1" kern="0" spc="150" dirty="0">
                <a:solidFill>
                  <a:srgbClr val="A7B0BA"/>
                </a:solidFill>
                <a:latin typeface="Inter" pitchFamily="34" charset="0"/>
                <a:ea typeface="Inter" pitchFamily="34" charset="-122"/>
                <a:cs typeface="Inter" pitchFamily="34" charset="-120"/>
              </a:rPr>
              <a:t>AUFWAND FÜR DEN FORECAST PRO JAHR</a:t>
            </a:r>
            <a:endParaRPr lang="en-US" dirty="0"/>
          </a:p>
        </p:txBody>
      </p:sp>
      <p:sp>
        <p:nvSpPr>
          <p:cNvPr id="11" name="Text 9"/>
          <p:cNvSpPr/>
          <p:nvPr/>
        </p:nvSpPr>
        <p:spPr>
          <a:xfrm>
            <a:off x="9772651" y="4413795"/>
            <a:ext cx="7034309" cy="1295400"/>
          </a:xfrm>
          <a:prstGeom prst="rect">
            <a:avLst/>
          </a:prstGeom>
          <a:noFill/>
          <a:ln/>
        </p:spPr>
        <p:txBody>
          <a:bodyPr wrap="square" lIns="0" tIns="0" rIns="0" bIns="0" rtlCol="0" anchor="t">
            <a:normAutofit/>
          </a:bodyPr>
          <a:lstStyle/>
          <a:p>
            <a:pPr>
              <a:lnSpc>
                <a:spcPts val="9900"/>
              </a:lnSpc>
            </a:pPr>
            <a:r>
              <a:rPr lang="en-US" sz="9000" b="1" kern="0" spc="-75" dirty="0">
                <a:solidFill>
                  <a:srgbClr val="FFFFFF"/>
                </a:solidFill>
                <a:latin typeface="LeadPilot Grotesk" pitchFamily="34" charset="0"/>
                <a:ea typeface="LeadPilot Grotesk" pitchFamily="34" charset="-122"/>
                <a:cs typeface="LeadPilot Grotesk" pitchFamily="34" charset="-120"/>
              </a:rPr>
              <a:t>150 Std.</a:t>
            </a:r>
            <a:endParaRPr lang="en-US" sz="9000" dirty="0"/>
          </a:p>
        </p:txBody>
      </p:sp>
      <p:sp>
        <p:nvSpPr>
          <p:cNvPr id="12" name="Text 10"/>
          <p:cNvSpPr/>
          <p:nvPr/>
        </p:nvSpPr>
        <p:spPr>
          <a:xfrm>
            <a:off x="9772651" y="5823495"/>
            <a:ext cx="7034309" cy="464790"/>
          </a:xfrm>
          <a:prstGeom prst="rect">
            <a:avLst/>
          </a:prstGeom>
          <a:noFill/>
          <a:ln/>
        </p:spPr>
        <p:txBody>
          <a:bodyPr wrap="square" lIns="0" tIns="0" rIns="0" bIns="0" rtlCol="0" anchor="t">
            <a:normAutofit/>
          </a:bodyPr>
          <a:lstStyle/>
          <a:p>
            <a:pPr>
              <a:lnSpc>
                <a:spcPts val="3360"/>
              </a:lnSpc>
            </a:pPr>
            <a:r>
              <a:rPr lang="en-US" sz="2400" dirty="0">
                <a:solidFill>
                  <a:srgbClr val="FFFFFF"/>
                </a:solidFill>
                <a:latin typeface="Inter" pitchFamily="34" charset="0"/>
                <a:ea typeface="Inter" pitchFamily="34" charset="-122"/>
                <a:cs typeface="Inter" pitchFamily="34" charset="-120"/>
              </a:rPr>
              <a:t>3 Stunden pro Freitag × 50 Wochen</a:t>
            </a:r>
            <a:endParaRPr lang="en-US" sz="2400" dirty="0"/>
          </a:p>
        </p:txBody>
      </p:sp>
      <p:sp>
        <p:nvSpPr>
          <p:cNvPr id="13" name="Text 11"/>
          <p:cNvSpPr/>
          <p:nvPr/>
        </p:nvSpPr>
        <p:spPr>
          <a:xfrm>
            <a:off x="9772651" y="6402587"/>
            <a:ext cx="7034309" cy="464790"/>
          </a:xfrm>
          <a:prstGeom prst="rect">
            <a:avLst/>
          </a:prstGeom>
          <a:noFill/>
          <a:ln/>
        </p:spPr>
        <p:txBody>
          <a:bodyPr wrap="square" lIns="0" tIns="0" rIns="0" bIns="0" rtlCol="0" anchor="t">
            <a:normAutofit/>
          </a:bodyPr>
          <a:lstStyle/>
          <a:p>
            <a:pPr>
              <a:lnSpc>
                <a:spcPts val="3360"/>
              </a:lnSpc>
            </a:pPr>
            <a:r>
              <a:rPr lang="en-US" sz="2400" dirty="0">
                <a:solidFill>
                  <a:srgbClr val="A7B0BA"/>
                </a:solidFill>
                <a:latin typeface="Inter" pitchFamily="34" charset="0"/>
                <a:ea typeface="Inter" pitchFamily="34" charset="-122"/>
                <a:cs typeface="Inter" pitchFamily="34" charset="-120"/>
              </a:rPr>
              <a:t>Zeit für Excel statt für Kunden.</a:t>
            </a:r>
            <a:endParaRPr lang="en-US" sz="2400" dirty="0"/>
          </a:p>
        </p:txBody>
      </p:sp>
      <p:sp>
        <p:nvSpPr>
          <p:cNvPr id="14" name="Text 12"/>
          <p:cNvSpPr/>
          <p:nvPr/>
        </p:nvSpPr>
        <p:spPr>
          <a:xfrm>
            <a:off x="1219200" y="8305800"/>
            <a:ext cx="16325088" cy="495300"/>
          </a:xfrm>
          <a:prstGeom prst="rect">
            <a:avLst/>
          </a:prstGeom>
          <a:noFill/>
          <a:ln/>
        </p:spPr>
        <p:txBody>
          <a:bodyPr wrap="square" lIns="0" tIns="0" rIns="0" bIns="0" rtlCol="0" anchor="t">
            <a:normAutofit/>
          </a:bodyPr>
          <a:lstStyle/>
          <a:p>
            <a:pPr>
              <a:lnSpc>
                <a:spcPts val="3600"/>
              </a:lnSpc>
            </a:pPr>
            <a:r>
              <a:rPr lang="en-US" sz="3000" b="1" dirty="0">
                <a:solidFill>
                  <a:srgbClr val="FFFFFF"/>
                </a:solidFill>
                <a:latin typeface="LeadPilot Grotesk" pitchFamily="34" charset="0"/>
                <a:ea typeface="LeadPilot Grotesk" pitchFamily="34" charset="-122"/>
                <a:cs typeface="LeadPilot Grotesk" pitchFamily="34" charset="-120"/>
              </a:rPr>
              <a:t>Drei Stunden jeden Freitag für ein Bauchgefühl.</a:t>
            </a:r>
            <a:endParaRPr lang="en-US" sz="3000" dirty="0"/>
          </a:p>
        </p:txBody>
      </p:sp>
      <p:sp>
        <p:nvSpPr>
          <p:cNvPr id="15" name="Text 13"/>
          <p:cNvSpPr/>
          <p:nvPr/>
        </p:nvSpPr>
        <p:spPr>
          <a:xfrm>
            <a:off x="1219200" y="9357420"/>
            <a:ext cx="2552700" cy="358080"/>
          </a:xfrm>
          <a:prstGeom prst="rect">
            <a:avLst/>
          </a:prstGeom>
          <a:noFill/>
          <a:ln/>
        </p:spPr>
        <p:txBody>
          <a:bodyPr wrap="square" lIns="0" tIns="0" rIns="0" bIns="0" rtlCol="0" anchor="t">
            <a:normAutofit/>
          </a:bodyPr>
          <a:lstStyle/>
          <a:p>
            <a:pPr>
              <a:lnSpc>
                <a:spcPts val="2520"/>
              </a:lnSpc>
            </a:pPr>
            <a:r>
              <a:rPr lang="en-US" sz="2100" b="1" dirty="0">
                <a:solidFill>
                  <a:srgbClr val="FF7A3D"/>
                </a:solidFill>
                <a:latin typeface="LeadPilot Grotesk" pitchFamily="34" charset="0"/>
                <a:ea typeface="LeadPilot Grotesk" pitchFamily="34" charset="-122"/>
                <a:cs typeface="LeadPilot Grotesk" pitchFamily="34" charset="-120"/>
              </a:rPr>
              <a:t>Lead</a:t>
            </a:r>
            <a:r>
              <a:rPr lang="en-US" sz="2100" b="1" dirty="0">
                <a:solidFill>
                  <a:srgbClr val="00D9C6"/>
                </a:solidFill>
                <a:latin typeface="LeadPilot Grotesk" pitchFamily="34" charset="0"/>
                <a:ea typeface="LeadPilot Grotesk" pitchFamily="34" charset="-122"/>
                <a:cs typeface="LeadPilot Grotesk" pitchFamily="34" charset="-120"/>
              </a:rPr>
              <a:t>Pilot</a:t>
            </a:r>
            <a:endParaRPr lang="en-US" sz="2100" dirty="0"/>
          </a:p>
        </p:txBody>
      </p:sp>
      <p:sp>
        <p:nvSpPr>
          <p:cNvPr id="16" name="Text 14"/>
          <p:cNvSpPr/>
          <p:nvPr/>
        </p:nvSpPr>
        <p:spPr>
          <a:xfrm>
            <a:off x="4191001" y="9357420"/>
            <a:ext cx="10301288" cy="358080"/>
          </a:xfrm>
          <a:prstGeom prst="rect">
            <a:avLst/>
          </a:prstGeom>
          <a:noFill/>
          <a:ln/>
        </p:spPr>
        <p:txBody>
          <a:bodyPr wrap="square" lIns="0" tIns="0" rIns="0" bIns="0" rtlCol="0" anchor="t">
            <a:normAutofit/>
          </a:bodyPr>
          <a:lstStyle/>
          <a:p>
            <a:pPr>
              <a:lnSpc>
                <a:spcPts val="2520"/>
              </a:lnSpc>
            </a:pPr>
            <a:r>
              <a:rPr lang="en-US" dirty="0">
                <a:solidFill>
                  <a:srgbClr val="A7B0BA"/>
                </a:solidFill>
                <a:latin typeface="Inter" pitchFamily="34" charset="0"/>
                <a:ea typeface="Inter" pitchFamily="34" charset="-122"/>
                <a:cs typeface="Inter" pitchFamily="34" charset="-120"/>
              </a:rPr>
              <a:t>Szenario-Schätzung aus dem Pitch-Dossier, kein nachgewiesener Verlust.</a:t>
            </a:r>
            <a:endParaRPr lang="en-US" dirty="0"/>
          </a:p>
        </p:txBody>
      </p:sp>
      <p:sp>
        <p:nvSpPr>
          <p:cNvPr id="17" name="Text 15"/>
          <p:cNvSpPr/>
          <p:nvPr/>
        </p:nvSpPr>
        <p:spPr>
          <a:xfrm>
            <a:off x="15468600" y="9357420"/>
            <a:ext cx="1600200" cy="358080"/>
          </a:xfrm>
          <a:prstGeom prst="rect">
            <a:avLst/>
          </a:prstGeom>
          <a:noFill/>
          <a:ln/>
        </p:spPr>
        <p:txBody>
          <a:bodyPr wrap="square" lIns="0" tIns="0" rIns="0" bIns="0" rtlCol="0" anchor="t">
            <a:normAutofit/>
          </a:bodyPr>
          <a:lstStyle/>
          <a:p>
            <a:pPr algn="r">
              <a:lnSpc>
                <a:spcPts val="2520"/>
              </a:lnSpc>
            </a:pPr>
            <a:r>
              <a:rPr lang="en-US" dirty="0">
                <a:solidFill>
                  <a:srgbClr val="A7B0BA"/>
                </a:solidFill>
                <a:latin typeface="Inter" pitchFamily="34" charset="0"/>
                <a:ea typeface="Inter" pitchFamily="34" charset="-122"/>
                <a:cs typeface="Inter" pitchFamily="34" charset="-120"/>
              </a:rPr>
              <a:t>02 / 05</a:t>
            </a:r>
            <a:endParaRPr lang="en-US"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1219200" y="1219201"/>
            <a:ext cx="16325088" cy="335162"/>
          </a:xfrm>
          <a:prstGeom prst="rect">
            <a:avLst/>
          </a:prstGeom>
          <a:noFill/>
          <a:ln/>
        </p:spPr>
        <p:txBody>
          <a:bodyPr wrap="square" lIns="0" tIns="0" rIns="0" bIns="0" rtlCol="0" anchor="t">
            <a:normAutofit/>
          </a:bodyPr>
          <a:lstStyle/>
          <a:p>
            <a:pPr>
              <a:lnSpc>
                <a:spcPts val="2340"/>
              </a:lnSpc>
            </a:pPr>
            <a:r>
              <a:rPr lang="en-US" b="1" kern="0" spc="150" dirty="0">
                <a:solidFill>
                  <a:srgbClr val="00D9C6"/>
                </a:solidFill>
                <a:latin typeface="Inter" pitchFamily="34" charset="0"/>
                <a:ea typeface="Inter" pitchFamily="34" charset="-122"/>
                <a:cs typeface="Inter" pitchFamily="34" charset="-120"/>
              </a:rPr>
              <a:t>DIE LÖSUNG</a:t>
            </a:r>
            <a:endParaRPr lang="en-US" dirty="0"/>
          </a:p>
        </p:txBody>
      </p:sp>
      <p:sp>
        <p:nvSpPr>
          <p:cNvPr id="3" name="Text 1"/>
          <p:cNvSpPr>
            <a:spLocks noGrp="1"/>
          </p:cNvSpPr>
          <p:nvPr>
            <p:ph type="title"/>
          </p:nvPr>
        </p:nvSpPr>
        <p:spPr>
          <a:xfrm>
            <a:off x="1219200" y="1668662"/>
            <a:ext cx="16325088" cy="876300"/>
          </a:xfrm>
          <a:prstGeom prst="rect">
            <a:avLst/>
          </a:prstGeom>
          <a:noFill/>
          <a:ln/>
        </p:spPr>
        <p:txBody>
          <a:bodyPr vert="horz" wrap="square" lIns="0" tIns="0" rIns="0" bIns="0" rtlCol="0" anchor="t">
            <a:normAutofit/>
          </a:bodyPr>
          <a:lstStyle/>
          <a:p>
            <a:pPr>
              <a:lnSpc>
                <a:spcPts val="6600"/>
              </a:lnSpc>
            </a:pPr>
            <a:r>
              <a:rPr lang="en-US" b="1" kern="0" spc="-75" dirty="0"/>
              <a:t>Nächster Schritt für jeden Lead</a:t>
            </a:r>
            <a:endParaRPr lang="en-US" dirty="0"/>
          </a:p>
        </p:txBody>
      </p:sp>
      <p:sp>
        <p:nvSpPr>
          <p:cNvPr id="4" name="Shape 2"/>
          <p:cNvSpPr/>
          <p:nvPr/>
        </p:nvSpPr>
        <p:spPr>
          <a:xfrm>
            <a:off x="1223963" y="3204271"/>
            <a:ext cx="7762875" cy="3988892"/>
          </a:xfrm>
          <a:prstGeom prst="roundRect">
            <a:avLst>
              <a:gd name="adj" fmla="val 4656"/>
            </a:avLst>
          </a:prstGeom>
          <a:solidFill>
            <a:srgbClr val="123330"/>
          </a:solidFill>
          <a:ln w="6350">
            <a:solidFill>
              <a:srgbClr val="2A4A43"/>
            </a:solidFill>
            <a:prstDash val="solid"/>
          </a:ln>
        </p:spPr>
      </p:sp>
      <p:sp>
        <p:nvSpPr>
          <p:cNvPr id="5" name="Shape 3"/>
          <p:cNvSpPr/>
          <p:nvPr/>
        </p:nvSpPr>
        <p:spPr>
          <a:xfrm>
            <a:off x="1609725" y="3590033"/>
            <a:ext cx="762000" cy="762000"/>
          </a:xfrm>
          <a:prstGeom prst="roundRect">
            <a:avLst>
              <a:gd name="adj" fmla="val 25000"/>
            </a:avLst>
          </a:prstGeom>
          <a:solidFill>
            <a:srgbClr val="00D9C6">
              <a:alpha val="12000"/>
            </a:srgbClr>
          </a:solidFill>
          <a:ln/>
        </p:spPr>
      </p:sp>
      <p:pic>
        <p:nvPicPr>
          <p:cNvPr id="6" name="Image 0" descr="Clock"/>
          <p:cNvPicPr>
            <a:picLocks noChangeAspect="1"/>
          </p:cNvPicPr>
          <p:nvPr/>
        </p:nvPicPr>
        <p:blipFill>
          <a:blip r:embed="rId3"/>
          <a:srcRect/>
          <a:stretch/>
        </p:blipFill>
        <p:spPr>
          <a:xfrm>
            <a:off x="1781175" y="3761483"/>
            <a:ext cx="419100" cy="419100"/>
          </a:xfrm>
          <a:prstGeom prst="rect">
            <a:avLst/>
          </a:prstGeom>
        </p:spPr>
      </p:pic>
      <p:sp>
        <p:nvSpPr>
          <p:cNvPr id="7" name="Text 4"/>
          <p:cNvSpPr/>
          <p:nvPr/>
        </p:nvSpPr>
        <p:spPr>
          <a:xfrm>
            <a:off x="1609726" y="4542533"/>
            <a:ext cx="7201091" cy="495300"/>
          </a:xfrm>
          <a:prstGeom prst="rect">
            <a:avLst/>
          </a:prstGeom>
          <a:noFill/>
          <a:ln/>
        </p:spPr>
        <p:txBody>
          <a:bodyPr wrap="square" lIns="0" tIns="0" rIns="0" bIns="0" rtlCol="0" anchor="t">
            <a:normAutofit/>
          </a:bodyPr>
          <a:lstStyle/>
          <a:p>
            <a:pPr>
              <a:lnSpc>
                <a:spcPts val="3600"/>
              </a:lnSpc>
            </a:pPr>
            <a:r>
              <a:rPr lang="en-US" sz="3000" b="1" dirty="0">
                <a:solidFill>
                  <a:srgbClr val="FFFFFF"/>
                </a:solidFill>
                <a:latin typeface="LeadPilot Grotesk" pitchFamily="34" charset="0"/>
                <a:ea typeface="LeadPilot Grotesk" pitchFamily="34" charset="-122"/>
                <a:cs typeface="LeadPilot Grotesk" pitchFamily="34" charset="-120"/>
              </a:rPr>
              <a:t>Nachfassen in 48 Stunden</a:t>
            </a:r>
            <a:endParaRPr lang="en-US" sz="3000" dirty="0"/>
          </a:p>
        </p:txBody>
      </p:sp>
      <p:sp>
        <p:nvSpPr>
          <p:cNvPr id="8" name="Text 5"/>
          <p:cNvSpPr/>
          <p:nvPr/>
        </p:nvSpPr>
        <p:spPr>
          <a:xfrm>
            <a:off x="1609726" y="5190233"/>
            <a:ext cx="7201091" cy="891480"/>
          </a:xfrm>
          <a:prstGeom prst="rect">
            <a:avLst/>
          </a:prstGeom>
          <a:noFill/>
          <a:ln/>
        </p:spPr>
        <p:txBody>
          <a:bodyPr wrap="square" lIns="0" tIns="0" rIns="0" bIns="0" rtlCol="0" anchor="t">
            <a:normAutofit/>
          </a:bodyPr>
          <a:lstStyle/>
          <a:p>
            <a:pPr>
              <a:lnSpc>
                <a:spcPts val="3360"/>
              </a:lnSpc>
            </a:pPr>
            <a:r>
              <a:rPr lang="en-US" sz="2400" dirty="0">
                <a:solidFill>
                  <a:srgbClr val="FFFFFF"/>
                </a:solidFill>
                <a:latin typeface="Inter" pitchFamily="34" charset="0"/>
                <a:ea typeface="Inter" pitchFamily="34" charset="-122"/>
                <a:cs typeface="Inter" pitchFamily="34" charset="-120"/>
              </a:rPr>
              <a:t>Jede Anfrage bekommt einen Verantwortlichen und einen fälligen nächsten Schritt.</a:t>
            </a:r>
            <a:endParaRPr lang="en-US" sz="2400" dirty="0"/>
          </a:p>
        </p:txBody>
      </p:sp>
      <p:sp>
        <p:nvSpPr>
          <p:cNvPr id="9" name="Shape 6"/>
          <p:cNvSpPr/>
          <p:nvPr/>
        </p:nvSpPr>
        <p:spPr>
          <a:xfrm>
            <a:off x="1609725" y="6238875"/>
            <a:ext cx="6991350" cy="0"/>
          </a:xfrm>
          <a:prstGeom prst="line">
            <a:avLst/>
          </a:prstGeom>
          <a:noFill/>
          <a:ln w="6350">
            <a:solidFill>
              <a:srgbClr val="2A4A43"/>
            </a:solidFill>
            <a:prstDash val="solid"/>
          </a:ln>
        </p:spPr>
      </p:sp>
      <p:sp>
        <p:nvSpPr>
          <p:cNvPr id="10" name="Text 7"/>
          <p:cNvSpPr/>
          <p:nvPr/>
        </p:nvSpPr>
        <p:spPr>
          <a:xfrm>
            <a:off x="1609726" y="6434138"/>
            <a:ext cx="7201091" cy="411362"/>
          </a:xfrm>
          <a:prstGeom prst="rect">
            <a:avLst/>
          </a:prstGeom>
          <a:noFill/>
          <a:ln/>
        </p:spPr>
        <p:txBody>
          <a:bodyPr wrap="square" lIns="0" tIns="0" rIns="0" bIns="0" rtlCol="0" anchor="t">
            <a:normAutofit/>
          </a:bodyPr>
          <a:lstStyle/>
          <a:p>
            <a:pPr>
              <a:lnSpc>
                <a:spcPts val="2940"/>
              </a:lnSpc>
            </a:pPr>
            <a:r>
              <a:rPr lang="en-US" sz="2100" dirty="0">
                <a:solidFill>
                  <a:srgbClr val="A7B0BA"/>
                </a:solidFill>
                <a:latin typeface="Inter" pitchFamily="34" charset="0"/>
                <a:ea typeface="Inter" pitchFamily="34" charset="-122"/>
                <a:cs typeface="Inter" pitchFamily="34" charset="-120"/>
              </a:rPr>
              <a:t>Vorher: Excel-Liste ohne Besitzer</a:t>
            </a:r>
            <a:endParaRPr lang="en-US" sz="2100" dirty="0"/>
          </a:p>
        </p:txBody>
      </p:sp>
      <p:sp>
        <p:nvSpPr>
          <p:cNvPr id="11" name="Shape 8"/>
          <p:cNvSpPr/>
          <p:nvPr/>
        </p:nvSpPr>
        <p:spPr>
          <a:xfrm>
            <a:off x="9301163" y="3204271"/>
            <a:ext cx="7762875" cy="3988892"/>
          </a:xfrm>
          <a:prstGeom prst="roundRect">
            <a:avLst>
              <a:gd name="adj" fmla="val 4656"/>
            </a:avLst>
          </a:prstGeom>
          <a:solidFill>
            <a:srgbClr val="123330"/>
          </a:solidFill>
          <a:ln w="6350">
            <a:solidFill>
              <a:srgbClr val="2A4A43"/>
            </a:solidFill>
            <a:prstDash val="solid"/>
          </a:ln>
        </p:spPr>
      </p:sp>
      <p:sp>
        <p:nvSpPr>
          <p:cNvPr id="12" name="Shape 9"/>
          <p:cNvSpPr/>
          <p:nvPr/>
        </p:nvSpPr>
        <p:spPr>
          <a:xfrm>
            <a:off x="9686925" y="3590033"/>
            <a:ext cx="762000" cy="762000"/>
          </a:xfrm>
          <a:prstGeom prst="roundRect">
            <a:avLst>
              <a:gd name="adj" fmla="val 25000"/>
            </a:avLst>
          </a:prstGeom>
          <a:solidFill>
            <a:srgbClr val="00D9C6">
              <a:alpha val="12000"/>
            </a:srgbClr>
          </a:solidFill>
          <a:ln/>
        </p:spPr>
      </p:sp>
      <p:pic>
        <p:nvPicPr>
          <p:cNvPr id="13" name="Image 1" descr="Chart"/>
          <p:cNvPicPr>
            <a:picLocks noChangeAspect="1"/>
          </p:cNvPicPr>
          <p:nvPr/>
        </p:nvPicPr>
        <p:blipFill>
          <a:blip r:embed="rId4"/>
          <a:srcRect/>
          <a:stretch/>
        </p:blipFill>
        <p:spPr>
          <a:xfrm>
            <a:off x="9858375" y="3761483"/>
            <a:ext cx="419100" cy="419100"/>
          </a:xfrm>
          <a:prstGeom prst="rect">
            <a:avLst/>
          </a:prstGeom>
        </p:spPr>
      </p:pic>
      <p:sp>
        <p:nvSpPr>
          <p:cNvPr id="14" name="Text 10"/>
          <p:cNvSpPr/>
          <p:nvPr/>
        </p:nvSpPr>
        <p:spPr>
          <a:xfrm>
            <a:off x="9686926" y="4542533"/>
            <a:ext cx="7201091" cy="495300"/>
          </a:xfrm>
          <a:prstGeom prst="rect">
            <a:avLst/>
          </a:prstGeom>
          <a:noFill/>
          <a:ln/>
        </p:spPr>
        <p:txBody>
          <a:bodyPr wrap="square" lIns="0" tIns="0" rIns="0" bIns="0" rtlCol="0" anchor="t">
            <a:normAutofit/>
          </a:bodyPr>
          <a:lstStyle/>
          <a:p>
            <a:pPr>
              <a:lnSpc>
                <a:spcPts val="3600"/>
              </a:lnSpc>
            </a:pPr>
            <a:r>
              <a:rPr lang="en-US" sz="3000" b="1" dirty="0">
                <a:solidFill>
                  <a:srgbClr val="FFFFFF"/>
                </a:solidFill>
                <a:latin typeface="LeadPilot Grotesk" pitchFamily="34" charset="0"/>
                <a:ea typeface="LeadPilot Grotesk" pitchFamily="34" charset="-122"/>
                <a:cs typeface="LeadPilot Grotesk" pitchFamily="34" charset="-120"/>
              </a:rPr>
              <a:t>Forecast auf Knopfdruck</a:t>
            </a:r>
            <a:endParaRPr lang="en-US" sz="3000" dirty="0"/>
          </a:p>
        </p:txBody>
      </p:sp>
      <p:sp>
        <p:nvSpPr>
          <p:cNvPr id="15" name="Text 11"/>
          <p:cNvSpPr/>
          <p:nvPr/>
        </p:nvSpPr>
        <p:spPr>
          <a:xfrm>
            <a:off x="9686926" y="5190233"/>
            <a:ext cx="7201091" cy="891480"/>
          </a:xfrm>
          <a:prstGeom prst="rect">
            <a:avLst/>
          </a:prstGeom>
          <a:noFill/>
          <a:ln/>
        </p:spPr>
        <p:txBody>
          <a:bodyPr wrap="square" lIns="0" tIns="0" rIns="0" bIns="0" rtlCol="0" anchor="t">
            <a:normAutofit/>
          </a:bodyPr>
          <a:lstStyle/>
          <a:p>
            <a:pPr>
              <a:lnSpc>
                <a:spcPts val="3360"/>
              </a:lnSpc>
            </a:pPr>
            <a:r>
              <a:rPr lang="en-US" sz="2400" dirty="0">
                <a:solidFill>
                  <a:srgbClr val="FFFFFF"/>
                </a:solidFill>
                <a:latin typeface="Inter" pitchFamily="34" charset="0"/>
                <a:ea typeface="Inter" pitchFamily="34" charset="-122"/>
                <a:cs typeface="Inter" pitchFamily="34" charset="-120"/>
              </a:rPr>
              <a:t>Das Live-Dashboard zeigt Ihre Verkaufschancen. Zusammentragen entfällt.</a:t>
            </a:r>
            <a:endParaRPr lang="en-US" sz="2400" dirty="0"/>
          </a:p>
        </p:txBody>
      </p:sp>
      <p:sp>
        <p:nvSpPr>
          <p:cNvPr id="16" name="Shape 12"/>
          <p:cNvSpPr/>
          <p:nvPr/>
        </p:nvSpPr>
        <p:spPr>
          <a:xfrm>
            <a:off x="9686925" y="6238875"/>
            <a:ext cx="6991350" cy="0"/>
          </a:xfrm>
          <a:prstGeom prst="line">
            <a:avLst/>
          </a:prstGeom>
          <a:noFill/>
          <a:ln w="6350">
            <a:solidFill>
              <a:srgbClr val="2A4A43"/>
            </a:solidFill>
            <a:prstDash val="solid"/>
          </a:ln>
        </p:spPr>
      </p:sp>
      <p:sp>
        <p:nvSpPr>
          <p:cNvPr id="17" name="Text 13"/>
          <p:cNvSpPr/>
          <p:nvPr/>
        </p:nvSpPr>
        <p:spPr>
          <a:xfrm>
            <a:off x="9686926" y="6434138"/>
            <a:ext cx="7201091" cy="411362"/>
          </a:xfrm>
          <a:prstGeom prst="rect">
            <a:avLst/>
          </a:prstGeom>
          <a:noFill/>
          <a:ln/>
        </p:spPr>
        <p:txBody>
          <a:bodyPr wrap="square" lIns="0" tIns="0" rIns="0" bIns="0" rtlCol="0" anchor="t">
            <a:normAutofit/>
          </a:bodyPr>
          <a:lstStyle/>
          <a:p>
            <a:pPr>
              <a:lnSpc>
                <a:spcPts val="2940"/>
              </a:lnSpc>
            </a:pPr>
            <a:r>
              <a:rPr lang="en-US" sz="2100" dirty="0">
                <a:solidFill>
                  <a:srgbClr val="A7B0BA"/>
                </a:solidFill>
                <a:latin typeface="Inter" pitchFamily="34" charset="0"/>
                <a:ea typeface="Inter" pitchFamily="34" charset="-122"/>
                <a:cs typeface="Inter" pitchFamily="34" charset="-120"/>
              </a:rPr>
              <a:t>Vorher: 3 Stunden Excel am Freitag</a:t>
            </a:r>
            <a:endParaRPr lang="en-US" sz="2100" dirty="0"/>
          </a:p>
        </p:txBody>
      </p:sp>
      <p:sp>
        <p:nvSpPr>
          <p:cNvPr id="18" name="Shape 14"/>
          <p:cNvSpPr/>
          <p:nvPr/>
        </p:nvSpPr>
        <p:spPr>
          <a:xfrm>
            <a:off x="1223963" y="7895333"/>
            <a:ext cx="15840075" cy="862905"/>
          </a:xfrm>
          <a:prstGeom prst="roundRect">
            <a:avLst>
              <a:gd name="adj" fmla="val 50000"/>
            </a:avLst>
          </a:prstGeom>
          <a:solidFill>
            <a:srgbClr val="00D9C6">
              <a:alpha val="12000"/>
            </a:srgbClr>
          </a:solidFill>
          <a:ln w="6350">
            <a:solidFill>
              <a:srgbClr val="00D9C6"/>
            </a:solidFill>
            <a:prstDash val="solid"/>
          </a:ln>
        </p:spPr>
      </p:sp>
      <p:pic>
        <p:nvPicPr>
          <p:cNvPr id="19" name="Image 2" descr="Check"/>
          <p:cNvPicPr>
            <a:picLocks noChangeAspect="1"/>
          </p:cNvPicPr>
          <p:nvPr/>
        </p:nvPicPr>
        <p:blipFill>
          <a:blip r:embed="rId5"/>
          <a:srcRect/>
          <a:stretch/>
        </p:blipFill>
        <p:spPr>
          <a:xfrm>
            <a:off x="1685925" y="8136285"/>
            <a:ext cx="381000" cy="381000"/>
          </a:xfrm>
          <a:prstGeom prst="rect">
            <a:avLst/>
          </a:prstGeom>
        </p:spPr>
      </p:pic>
      <p:sp>
        <p:nvSpPr>
          <p:cNvPr id="20" name="Text 15"/>
          <p:cNvSpPr/>
          <p:nvPr/>
        </p:nvSpPr>
        <p:spPr>
          <a:xfrm>
            <a:off x="2295526" y="8128695"/>
            <a:ext cx="9576554" cy="434280"/>
          </a:xfrm>
          <a:prstGeom prst="rect">
            <a:avLst/>
          </a:prstGeom>
          <a:noFill/>
          <a:ln/>
        </p:spPr>
        <p:txBody>
          <a:bodyPr wrap="square" lIns="0" tIns="0" rIns="0" bIns="0" rtlCol="0" anchor="t">
            <a:normAutofit/>
          </a:bodyPr>
          <a:lstStyle/>
          <a:p>
            <a:pPr>
              <a:lnSpc>
                <a:spcPts val="3120"/>
              </a:lnSpc>
            </a:pPr>
            <a:r>
              <a:rPr lang="en-US" sz="2400" dirty="0">
                <a:solidFill>
                  <a:srgbClr val="FFFFFF"/>
                </a:solidFill>
                <a:latin typeface="Inter" pitchFamily="34" charset="0"/>
                <a:ea typeface="Inter" pitchFamily="34" charset="-122"/>
                <a:cs typeface="Inter" pitchFamily="34" charset="-120"/>
              </a:rPr>
              <a:t>Keine 30 Pflichtfelder: Ihr Team trägt nur ein, was zählt.</a:t>
            </a:r>
            <a:endParaRPr lang="en-US" sz="2400" dirty="0"/>
          </a:p>
        </p:txBody>
      </p:sp>
      <p:sp>
        <p:nvSpPr>
          <p:cNvPr id="21" name="Text 16"/>
          <p:cNvSpPr/>
          <p:nvPr/>
        </p:nvSpPr>
        <p:spPr>
          <a:xfrm>
            <a:off x="1219200" y="9357420"/>
            <a:ext cx="2552700" cy="358080"/>
          </a:xfrm>
          <a:prstGeom prst="rect">
            <a:avLst/>
          </a:prstGeom>
          <a:noFill/>
          <a:ln/>
        </p:spPr>
        <p:txBody>
          <a:bodyPr wrap="square" lIns="0" tIns="0" rIns="0" bIns="0" rtlCol="0" anchor="t">
            <a:normAutofit/>
          </a:bodyPr>
          <a:lstStyle/>
          <a:p>
            <a:pPr>
              <a:lnSpc>
                <a:spcPts val="2520"/>
              </a:lnSpc>
            </a:pPr>
            <a:r>
              <a:rPr lang="en-US" sz="2100" b="1" dirty="0">
                <a:solidFill>
                  <a:srgbClr val="FF7A3D"/>
                </a:solidFill>
                <a:latin typeface="LeadPilot Grotesk" pitchFamily="34" charset="0"/>
                <a:ea typeface="LeadPilot Grotesk" pitchFamily="34" charset="-122"/>
                <a:cs typeface="LeadPilot Grotesk" pitchFamily="34" charset="-120"/>
              </a:rPr>
              <a:t>Lead</a:t>
            </a:r>
            <a:r>
              <a:rPr lang="en-US" sz="2100" b="1" dirty="0">
                <a:solidFill>
                  <a:srgbClr val="00D9C6"/>
                </a:solidFill>
                <a:latin typeface="LeadPilot Grotesk" pitchFamily="34" charset="0"/>
                <a:ea typeface="LeadPilot Grotesk" pitchFamily="34" charset="-122"/>
                <a:cs typeface="LeadPilot Grotesk" pitchFamily="34" charset="-120"/>
              </a:rPr>
              <a:t>Pilot</a:t>
            </a:r>
            <a:endParaRPr lang="en-US" sz="2100" dirty="0"/>
          </a:p>
        </p:txBody>
      </p:sp>
      <p:sp>
        <p:nvSpPr>
          <p:cNvPr id="22" name="Text 17"/>
          <p:cNvSpPr/>
          <p:nvPr/>
        </p:nvSpPr>
        <p:spPr>
          <a:xfrm>
            <a:off x="15468600" y="9357420"/>
            <a:ext cx="1600200" cy="358080"/>
          </a:xfrm>
          <a:prstGeom prst="rect">
            <a:avLst/>
          </a:prstGeom>
          <a:noFill/>
          <a:ln/>
        </p:spPr>
        <p:txBody>
          <a:bodyPr wrap="square" lIns="0" tIns="0" rIns="0" bIns="0" rtlCol="0" anchor="t">
            <a:normAutofit/>
          </a:bodyPr>
          <a:lstStyle/>
          <a:p>
            <a:pPr algn="r">
              <a:lnSpc>
                <a:spcPts val="2520"/>
              </a:lnSpc>
            </a:pPr>
            <a:r>
              <a:rPr lang="en-US" dirty="0">
                <a:solidFill>
                  <a:srgbClr val="A7B0BA"/>
                </a:solidFill>
                <a:latin typeface="Inter" pitchFamily="34" charset="0"/>
                <a:ea typeface="Inter" pitchFamily="34" charset="-122"/>
                <a:cs typeface="Inter" pitchFamily="34" charset="-120"/>
              </a:rPr>
              <a:t>03 / 05</a:t>
            </a:r>
            <a:endParaRPr lang="en-US"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1219200" y="1219201"/>
            <a:ext cx="16325088" cy="335162"/>
          </a:xfrm>
          <a:prstGeom prst="rect">
            <a:avLst/>
          </a:prstGeom>
          <a:noFill/>
          <a:ln/>
        </p:spPr>
        <p:txBody>
          <a:bodyPr wrap="square" lIns="0" tIns="0" rIns="0" bIns="0" rtlCol="0" anchor="t">
            <a:normAutofit/>
          </a:bodyPr>
          <a:lstStyle/>
          <a:p>
            <a:pPr>
              <a:lnSpc>
                <a:spcPts val="2340"/>
              </a:lnSpc>
            </a:pPr>
            <a:r>
              <a:rPr lang="en-US" b="1" kern="0" spc="150" dirty="0">
                <a:solidFill>
                  <a:srgbClr val="00D9C6"/>
                </a:solidFill>
                <a:latin typeface="Inter" pitchFamily="34" charset="0"/>
                <a:ea typeface="Inter" pitchFamily="34" charset="-122"/>
                <a:cs typeface="Inter" pitchFamily="34" charset="-120"/>
              </a:rPr>
              <a:t>DER BEWEIS</a:t>
            </a:r>
            <a:endParaRPr lang="en-US" dirty="0"/>
          </a:p>
        </p:txBody>
      </p:sp>
      <p:sp>
        <p:nvSpPr>
          <p:cNvPr id="3" name="Text 1"/>
          <p:cNvSpPr>
            <a:spLocks noGrp="1"/>
          </p:cNvSpPr>
          <p:nvPr>
            <p:ph type="title"/>
          </p:nvPr>
        </p:nvSpPr>
        <p:spPr>
          <a:xfrm>
            <a:off x="1219200" y="1668662"/>
            <a:ext cx="16325088" cy="876300"/>
          </a:xfrm>
          <a:prstGeom prst="rect">
            <a:avLst/>
          </a:prstGeom>
          <a:noFill/>
          <a:ln/>
        </p:spPr>
        <p:txBody>
          <a:bodyPr vert="horz" wrap="square" lIns="0" tIns="0" rIns="0" bIns="0" rtlCol="0" anchor="t">
            <a:normAutofit/>
          </a:bodyPr>
          <a:lstStyle/>
          <a:p>
            <a:pPr>
              <a:lnSpc>
                <a:spcPts val="6600"/>
              </a:lnSpc>
            </a:pPr>
            <a:r>
              <a:rPr lang="en-US" b="1" kern="0" spc="-75" dirty="0"/>
              <a:t>Bewährt bei 66 B2B-Mittelständlern</a:t>
            </a:r>
            <a:endParaRPr lang="en-US" dirty="0"/>
          </a:p>
        </p:txBody>
      </p:sp>
      <p:sp>
        <p:nvSpPr>
          <p:cNvPr id="4" name="Shape 2"/>
          <p:cNvSpPr/>
          <p:nvPr/>
        </p:nvSpPr>
        <p:spPr>
          <a:xfrm>
            <a:off x="1223963" y="3176736"/>
            <a:ext cx="3781425" cy="2828628"/>
          </a:xfrm>
          <a:prstGeom prst="roundRect">
            <a:avLst>
              <a:gd name="adj" fmla="val 6566"/>
            </a:avLst>
          </a:prstGeom>
          <a:solidFill>
            <a:srgbClr val="123330"/>
          </a:solidFill>
          <a:ln w="6350">
            <a:solidFill>
              <a:srgbClr val="2A4A43"/>
            </a:solidFill>
            <a:prstDash val="solid"/>
          </a:ln>
        </p:spPr>
      </p:sp>
      <p:sp>
        <p:nvSpPr>
          <p:cNvPr id="5" name="Text 3"/>
          <p:cNvSpPr/>
          <p:nvPr/>
        </p:nvSpPr>
        <p:spPr>
          <a:xfrm>
            <a:off x="1571625" y="3524399"/>
            <a:ext cx="3178683" cy="876300"/>
          </a:xfrm>
          <a:prstGeom prst="rect">
            <a:avLst/>
          </a:prstGeom>
          <a:noFill/>
          <a:ln/>
        </p:spPr>
        <p:txBody>
          <a:bodyPr wrap="square" lIns="0" tIns="0" rIns="0" bIns="0" rtlCol="0" anchor="t">
            <a:normAutofit/>
          </a:bodyPr>
          <a:lstStyle/>
          <a:p>
            <a:pPr>
              <a:lnSpc>
                <a:spcPts val="6600"/>
              </a:lnSpc>
            </a:pPr>
            <a:r>
              <a:rPr lang="en-US" sz="6000" b="1" dirty="0">
                <a:solidFill>
                  <a:srgbClr val="00D9C6"/>
                </a:solidFill>
                <a:latin typeface="LeadPilot Grotesk" pitchFamily="34" charset="0"/>
                <a:ea typeface="LeadPilot Grotesk" pitchFamily="34" charset="-122"/>
                <a:cs typeface="LeadPilot Grotesk" pitchFamily="34" charset="-120"/>
              </a:rPr>
              <a:t>66</a:t>
            </a:r>
            <a:endParaRPr lang="en-US" sz="6000" dirty="0"/>
          </a:p>
        </p:txBody>
      </p:sp>
      <p:sp>
        <p:nvSpPr>
          <p:cNvPr id="6" name="Text 4"/>
          <p:cNvSpPr/>
          <p:nvPr/>
        </p:nvSpPr>
        <p:spPr>
          <a:xfrm>
            <a:off x="1571625" y="4438799"/>
            <a:ext cx="3178683" cy="434280"/>
          </a:xfrm>
          <a:prstGeom prst="rect">
            <a:avLst/>
          </a:prstGeom>
          <a:noFill/>
          <a:ln/>
        </p:spPr>
        <p:txBody>
          <a:bodyPr wrap="square" lIns="0" tIns="0" rIns="0" bIns="0" rtlCol="0" anchor="t">
            <a:normAutofit/>
          </a:bodyPr>
          <a:lstStyle/>
          <a:p>
            <a:pPr>
              <a:lnSpc>
                <a:spcPts val="3120"/>
              </a:lnSpc>
            </a:pPr>
            <a:r>
              <a:rPr lang="en-US" sz="2400" b="1" dirty="0">
                <a:solidFill>
                  <a:srgbClr val="FFFFFF"/>
                </a:solidFill>
                <a:latin typeface="Inter" pitchFamily="34" charset="0"/>
                <a:ea typeface="Inter" pitchFamily="34" charset="-122"/>
                <a:cs typeface="Inter" pitchFamily="34" charset="-120"/>
              </a:rPr>
              <a:t>Mittelständler</a:t>
            </a:r>
            <a:endParaRPr lang="en-US" sz="2400" dirty="0"/>
          </a:p>
        </p:txBody>
      </p:sp>
      <p:sp>
        <p:nvSpPr>
          <p:cNvPr id="7" name="Text 5"/>
          <p:cNvSpPr/>
          <p:nvPr/>
        </p:nvSpPr>
        <p:spPr>
          <a:xfrm>
            <a:off x="1571625" y="4911181"/>
            <a:ext cx="3178683" cy="784622"/>
          </a:xfrm>
          <a:prstGeom prst="rect">
            <a:avLst/>
          </a:prstGeom>
          <a:noFill/>
          <a:ln/>
        </p:spPr>
        <p:txBody>
          <a:bodyPr wrap="square" lIns="0" tIns="0" rIns="0" bIns="0" rtlCol="0" anchor="t">
            <a:normAutofit/>
          </a:bodyPr>
          <a:lstStyle/>
          <a:p>
            <a:pPr>
              <a:lnSpc>
                <a:spcPts val="2940"/>
              </a:lnSpc>
            </a:pPr>
            <a:r>
              <a:rPr lang="en-US" sz="2100" dirty="0">
                <a:solidFill>
                  <a:srgbClr val="A7B0BA"/>
                </a:solidFill>
                <a:latin typeface="Inter" pitchFamily="34" charset="0"/>
                <a:ea typeface="Inter" pitchFamily="34" charset="-122"/>
                <a:cs typeface="Inter" pitchFamily="34" charset="-120"/>
              </a:rPr>
              <a:t>aus dem B2B nutzen LeadPilot</a:t>
            </a:r>
            <a:endParaRPr lang="en-US" sz="2100" dirty="0"/>
          </a:p>
        </p:txBody>
      </p:sp>
      <p:sp>
        <p:nvSpPr>
          <p:cNvPr id="8" name="Shape 6"/>
          <p:cNvSpPr/>
          <p:nvPr/>
        </p:nvSpPr>
        <p:spPr>
          <a:xfrm>
            <a:off x="5243513" y="3176736"/>
            <a:ext cx="3781425" cy="2828628"/>
          </a:xfrm>
          <a:prstGeom prst="roundRect">
            <a:avLst>
              <a:gd name="adj" fmla="val 6566"/>
            </a:avLst>
          </a:prstGeom>
          <a:solidFill>
            <a:srgbClr val="123330"/>
          </a:solidFill>
          <a:ln w="6350">
            <a:solidFill>
              <a:srgbClr val="2A4A43"/>
            </a:solidFill>
            <a:prstDash val="solid"/>
          </a:ln>
        </p:spPr>
      </p:sp>
      <p:sp>
        <p:nvSpPr>
          <p:cNvPr id="9" name="Text 7"/>
          <p:cNvSpPr/>
          <p:nvPr/>
        </p:nvSpPr>
        <p:spPr>
          <a:xfrm>
            <a:off x="5591175" y="3524399"/>
            <a:ext cx="3178683" cy="876300"/>
          </a:xfrm>
          <a:prstGeom prst="rect">
            <a:avLst/>
          </a:prstGeom>
          <a:noFill/>
          <a:ln/>
        </p:spPr>
        <p:txBody>
          <a:bodyPr wrap="square" lIns="0" tIns="0" rIns="0" bIns="0" rtlCol="0" anchor="t">
            <a:normAutofit/>
          </a:bodyPr>
          <a:lstStyle/>
          <a:p>
            <a:pPr>
              <a:lnSpc>
                <a:spcPts val="6600"/>
              </a:lnSpc>
            </a:pPr>
            <a:r>
              <a:rPr lang="en-US" sz="6000" b="1" dirty="0">
                <a:solidFill>
                  <a:srgbClr val="00D9C6"/>
                </a:solidFill>
                <a:latin typeface="LeadPilot Grotesk" pitchFamily="34" charset="0"/>
                <a:ea typeface="LeadPilot Grotesk" pitchFamily="34" charset="-122"/>
                <a:cs typeface="LeadPilot Grotesk" pitchFamily="34" charset="-120"/>
              </a:rPr>
              <a:t>36 %</a:t>
            </a:r>
            <a:endParaRPr lang="en-US" sz="6000" dirty="0"/>
          </a:p>
        </p:txBody>
      </p:sp>
      <p:sp>
        <p:nvSpPr>
          <p:cNvPr id="10" name="Text 8"/>
          <p:cNvSpPr/>
          <p:nvPr/>
        </p:nvSpPr>
        <p:spPr>
          <a:xfrm>
            <a:off x="5591175" y="4438799"/>
            <a:ext cx="3178683" cy="434280"/>
          </a:xfrm>
          <a:prstGeom prst="rect">
            <a:avLst/>
          </a:prstGeom>
          <a:noFill/>
          <a:ln/>
        </p:spPr>
        <p:txBody>
          <a:bodyPr wrap="square" lIns="0" tIns="0" rIns="0" bIns="0" rtlCol="0" anchor="t">
            <a:normAutofit/>
          </a:bodyPr>
          <a:lstStyle/>
          <a:p>
            <a:pPr>
              <a:lnSpc>
                <a:spcPts val="3120"/>
              </a:lnSpc>
            </a:pPr>
            <a:r>
              <a:rPr lang="en-US" sz="2400" b="1" dirty="0">
                <a:solidFill>
                  <a:srgbClr val="FFFFFF"/>
                </a:solidFill>
                <a:latin typeface="Inter" pitchFamily="34" charset="0"/>
                <a:ea typeface="Inter" pitchFamily="34" charset="-122"/>
                <a:cs typeface="Inter" pitchFamily="34" charset="-120"/>
              </a:rPr>
              <a:t>Maschinenbau</a:t>
            </a:r>
            <a:endParaRPr lang="en-US" sz="2400" dirty="0"/>
          </a:p>
        </p:txBody>
      </p:sp>
      <p:sp>
        <p:nvSpPr>
          <p:cNvPr id="11" name="Text 9"/>
          <p:cNvSpPr/>
          <p:nvPr/>
        </p:nvSpPr>
        <p:spPr>
          <a:xfrm>
            <a:off x="5591175" y="4911181"/>
            <a:ext cx="3178683" cy="411362"/>
          </a:xfrm>
          <a:prstGeom prst="rect">
            <a:avLst/>
          </a:prstGeom>
          <a:noFill/>
          <a:ln/>
        </p:spPr>
        <p:txBody>
          <a:bodyPr wrap="square" lIns="0" tIns="0" rIns="0" bIns="0" rtlCol="0" anchor="t">
            <a:normAutofit/>
          </a:bodyPr>
          <a:lstStyle/>
          <a:p>
            <a:pPr>
              <a:lnSpc>
                <a:spcPts val="2940"/>
              </a:lnSpc>
            </a:pPr>
            <a:r>
              <a:rPr lang="en-US" sz="2100" dirty="0">
                <a:solidFill>
                  <a:srgbClr val="A7B0BA"/>
                </a:solidFill>
                <a:latin typeface="Inter" pitchFamily="34" charset="0"/>
                <a:ea typeface="Inter" pitchFamily="34" charset="-122"/>
                <a:cs typeface="Inter" pitchFamily="34" charset="-120"/>
              </a:rPr>
              <a:t>Ihre Branche</a:t>
            </a:r>
            <a:endParaRPr lang="en-US" sz="2100" dirty="0"/>
          </a:p>
        </p:txBody>
      </p:sp>
      <p:sp>
        <p:nvSpPr>
          <p:cNvPr id="12" name="Shape 10"/>
          <p:cNvSpPr/>
          <p:nvPr/>
        </p:nvSpPr>
        <p:spPr>
          <a:xfrm>
            <a:off x="9263063" y="3176736"/>
            <a:ext cx="3781425" cy="2828628"/>
          </a:xfrm>
          <a:prstGeom prst="roundRect">
            <a:avLst>
              <a:gd name="adj" fmla="val 6566"/>
            </a:avLst>
          </a:prstGeom>
          <a:solidFill>
            <a:srgbClr val="123330"/>
          </a:solidFill>
          <a:ln w="6350">
            <a:solidFill>
              <a:srgbClr val="2A4A43"/>
            </a:solidFill>
            <a:prstDash val="solid"/>
          </a:ln>
        </p:spPr>
      </p:sp>
      <p:sp>
        <p:nvSpPr>
          <p:cNvPr id="13" name="Text 11"/>
          <p:cNvSpPr/>
          <p:nvPr/>
        </p:nvSpPr>
        <p:spPr>
          <a:xfrm>
            <a:off x="9610725" y="3524399"/>
            <a:ext cx="3178683" cy="876300"/>
          </a:xfrm>
          <a:prstGeom prst="rect">
            <a:avLst/>
          </a:prstGeom>
          <a:noFill/>
          <a:ln/>
        </p:spPr>
        <p:txBody>
          <a:bodyPr wrap="square" lIns="0" tIns="0" rIns="0" bIns="0" rtlCol="0" anchor="t">
            <a:normAutofit/>
          </a:bodyPr>
          <a:lstStyle/>
          <a:p>
            <a:pPr>
              <a:lnSpc>
                <a:spcPts val="6600"/>
              </a:lnSpc>
            </a:pPr>
            <a:r>
              <a:rPr lang="en-US" sz="6000" b="1" dirty="0">
                <a:solidFill>
                  <a:srgbClr val="00D9C6"/>
                </a:solidFill>
                <a:latin typeface="LeadPilot Grotesk" pitchFamily="34" charset="0"/>
                <a:ea typeface="LeadPilot Grotesk" pitchFamily="34" charset="-122"/>
                <a:cs typeface="LeadPilot Grotesk" pitchFamily="34" charset="-120"/>
              </a:rPr>
              <a:t>34</a:t>
            </a:r>
            <a:endParaRPr lang="en-US" sz="6000" dirty="0"/>
          </a:p>
        </p:txBody>
      </p:sp>
      <p:sp>
        <p:nvSpPr>
          <p:cNvPr id="14" name="Text 12"/>
          <p:cNvSpPr/>
          <p:nvPr/>
        </p:nvSpPr>
        <p:spPr>
          <a:xfrm>
            <a:off x="9610725" y="4438799"/>
            <a:ext cx="3178683" cy="434280"/>
          </a:xfrm>
          <a:prstGeom prst="rect">
            <a:avLst/>
          </a:prstGeom>
          <a:noFill/>
          <a:ln/>
        </p:spPr>
        <p:txBody>
          <a:bodyPr wrap="square" lIns="0" tIns="0" rIns="0" bIns="0" rtlCol="0" anchor="t">
            <a:normAutofit/>
          </a:bodyPr>
          <a:lstStyle/>
          <a:p>
            <a:pPr>
              <a:lnSpc>
                <a:spcPts val="3120"/>
              </a:lnSpc>
            </a:pPr>
            <a:r>
              <a:rPr lang="en-US" sz="2400" b="1" dirty="0">
                <a:solidFill>
                  <a:srgbClr val="FFFFFF"/>
                </a:solidFill>
                <a:latin typeface="Inter" pitchFamily="34" charset="0"/>
                <a:ea typeface="Inter" pitchFamily="34" charset="-122"/>
                <a:cs typeface="Inter" pitchFamily="34" charset="-120"/>
              </a:rPr>
              <a:t>NPS</a:t>
            </a:r>
            <a:endParaRPr lang="en-US" sz="2400" dirty="0"/>
          </a:p>
        </p:txBody>
      </p:sp>
      <p:sp>
        <p:nvSpPr>
          <p:cNvPr id="15" name="Text 13"/>
          <p:cNvSpPr/>
          <p:nvPr/>
        </p:nvSpPr>
        <p:spPr>
          <a:xfrm>
            <a:off x="9610725" y="4911181"/>
            <a:ext cx="3178683" cy="411362"/>
          </a:xfrm>
          <a:prstGeom prst="rect">
            <a:avLst/>
          </a:prstGeom>
          <a:noFill/>
          <a:ln/>
        </p:spPr>
        <p:txBody>
          <a:bodyPr wrap="square" lIns="0" tIns="0" rIns="0" bIns="0" rtlCol="0" anchor="t">
            <a:normAutofit/>
          </a:bodyPr>
          <a:lstStyle/>
          <a:p>
            <a:pPr>
              <a:lnSpc>
                <a:spcPts val="2940"/>
              </a:lnSpc>
            </a:pPr>
            <a:r>
              <a:rPr lang="en-US" sz="2100" dirty="0">
                <a:solidFill>
                  <a:srgbClr val="A7B0BA"/>
                </a:solidFill>
                <a:latin typeface="Inter" pitchFamily="34" charset="0"/>
                <a:ea typeface="Inter" pitchFamily="34" charset="-122"/>
                <a:cs typeface="Inter" pitchFamily="34" charset="-120"/>
              </a:rPr>
              <a:t>Net Promoter Score</a:t>
            </a:r>
            <a:endParaRPr lang="en-US" sz="2100" dirty="0"/>
          </a:p>
        </p:txBody>
      </p:sp>
      <p:sp>
        <p:nvSpPr>
          <p:cNvPr id="16" name="Shape 14"/>
          <p:cNvSpPr/>
          <p:nvPr/>
        </p:nvSpPr>
        <p:spPr>
          <a:xfrm>
            <a:off x="13282613" y="3176736"/>
            <a:ext cx="3781425" cy="2828628"/>
          </a:xfrm>
          <a:prstGeom prst="roundRect">
            <a:avLst>
              <a:gd name="adj" fmla="val 6566"/>
            </a:avLst>
          </a:prstGeom>
          <a:solidFill>
            <a:srgbClr val="123330"/>
          </a:solidFill>
          <a:ln w="6350">
            <a:solidFill>
              <a:srgbClr val="2A4A43"/>
            </a:solidFill>
            <a:prstDash val="solid"/>
          </a:ln>
        </p:spPr>
      </p:sp>
      <p:sp>
        <p:nvSpPr>
          <p:cNvPr id="17" name="Text 15"/>
          <p:cNvSpPr/>
          <p:nvPr/>
        </p:nvSpPr>
        <p:spPr>
          <a:xfrm>
            <a:off x="13630275" y="3524399"/>
            <a:ext cx="3178683" cy="876300"/>
          </a:xfrm>
          <a:prstGeom prst="rect">
            <a:avLst/>
          </a:prstGeom>
          <a:noFill/>
          <a:ln/>
        </p:spPr>
        <p:txBody>
          <a:bodyPr wrap="square" lIns="0" tIns="0" rIns="0" bIns="0" rtlCol="0" anchor="t">
            <a:normAutofit/>
          </a:bodyPr>
          <a:lstStyle/>
          <a:p>
            <a:pPr>
              <a:lnSpc>
                <a:spcPts val="6600"/>
              </a:lnSpc>
            </a:pPr>
            <a:r>
              <a:rPr lang="en-US" sz="6000" b="1" dirty="0">
                <a:solidFill>
                  <a:srgbClr val="00D9C6"/>
                </a:solidFill>
                <a:latin typeface="LeadPilot Grotesk" pitchFamily="34" charset="0"/>
                <a:ea typeface="LeadPilot Grotesk" pitchFamily="34" charset="-122"/>
                <a:cs typeface="LeadPilot Grotesk" pitchFamily="34" charset="-120"/>
              </a:rPr>
              <a:t>100 %</a:t>
            </a:r>
            <a:endParaRPr lang="en-US" sz="6000" dirty="0"/>
          </a:p>
        </p:txBody>
      </p:sp>
      <p:sp>
        <p:nvSpPr>
          <p:cNvPr id="18" name="Text 16"/>
          <p:cNvSpPr/>
          <p:nvPr/>
        </p:nvSpPr>
        <p:spPr>
          <a:xfrm>
            <a:off x="13630275" y="4438799"/>
            <a:ext cx="3178683" cy="434280"/>
          </a:xfrm>
          <a:prstGeom prst="rect">
            <a:avLst/>
          </a:prstGeom>
          <a:noFill/>
          <a:ln/>
        </p:spPr>
        <p:txBody>
          <a:bodyPr wrap="square" lIns="0" tIns="0" rIns="0" bIns="0" rtlCol="0" anchor="t">
            <a:normAutofit/>
          </a:bodyPr>
          <a:lstStyle/>
          <a:p>
            <a:pPr>
              <a:lnSpc>
                <a:spcPts val="3120"/>
              </a:lnSpc>
            </a:pPr>
            <a:r>
              <a:rPr lang="en-US" sz="2400" b="1" dirty="0">
                <a:solidFill>
                  <a:srgbClr val="FFFFFF"/>
                </a:solidFill>
                <a:latin typeface="Inter" pitchFamily="34" charset="0"/>
                <a:ea typeface="Inter" pitchFamily="34" charset="-122"/>
                <a:cs typeface="Inter" pitchFamily="34" charset="-120"/>
              </a:rPr>
              <a:t>DSGVO-konform</a:t>
            </a:r>
            <a:endParaRPr lang="en-US" sz="2400" dirty="0"/>
          </a:p>
        </p:txBody>
      </p:sp>
      <p:sp>
        <p:nvSpPr>
          <p:cNvPr id="19" name="Text 17"/>
          <p:cNvSpPr/>
          <p:nvPr/>
        </p:nvSpPr>
        <p:spPr>
          <a:xfrm>
            <a:off x="13630275" y="4911181"/>
            <a:ext cx="3178683" cy="411362"/>
          </a:xfrm>
          <a:prstGeom prst="rect">
            <a:avLst/>
          </a:prstGeom>
          <a:noFill/>
          <a:ln/>
        </p:spPr>
        <p:txBody>
          <a:bodyPr wrap="square" lIns="0" tIns="0" rIns="0" bIns="0" rtlCol="0" anchor="t">
            <a:normAutofit/>
          </a:bodyPr>
          <a:lstStyle/>
          <a:p>
            <a:pPr>
              <a:lnSpc>
                <a:spcPts val="2940"/>
              </a:lnSpc>
            </a:pPr>
            <a:r>
              <a:rPr lang="en-US" sz="2100" dirty="0">
                <a:solidFill>
                  <a:srgbClr val="A7B0BA"/>
                </a:solidFill>
                <a:latin typeface="Inter" pitchFamily="34" charset="0"/>
                <a:ea typeface="Inter" pitchFamily="34" charset="-122"/>
                <a:cs typeface="Inter" pitchFamily="34" charset="-120"/>
              </a:rPr>
              <a:t>Hosting in Europa</a:t>
            </a:r>
            <a:endParaRPr lang="en-US" sz="2100" dirty="0"/>
          </a:p>
        </p:txBody>
      </p:sp>
      <p:sp>
        <p:nvSpPr>
          <p:cNvPr id="20" name="Shape 18"/>
          <p:cNvSpPr/>
          <p:nvPr/>
        </p:nvSpPr>
        <p:spPr>
          <a:xfrm>
            <a:off x="1219200" y="6675239"/>
            <a:ext cx="15849600" cy="2087762"/>
          </a:xfrm>
          <a:prstGeom prst="roundRect">
            <a:avLst>
              <a:gd name="adj" fmla="val 5475"/>
            </a:avLst>
          </a:prstGeom>
          <a:solidFill>
            <a:srgbClr val="00D9C6">
              <a:alpha val="12000"/>
            </a:srgbClr>
          </a:solidFill>
          <a:ln/>
        </p:spPr>
      </p:sp>
      <p:sp>
        <p:nvSpPr>
          <p:cNvPr id="21" name="Shape 19"/>
          <p:cNvSpPr/>
          <p:nvPr/>
        </p:nvSpPr>
        <p:spPr>
          <a:xfrm>
            <a:off x="1219200" y="6675239"/>
            <a:ext cx="15849600" cy="2087762"/>
          </a:xfrm>
          <a:custGeom>
            <a:avLst/>
            <a:gdLst/>
            <a:ahLst/>
            <a:cxnLst/>
            <a:rect l="l" t="t" r="r" b="b"/>
            <a:pathLst>
              <a:path w="10566400" h="1391841">
                <a:moveTo>
                  <a:pt x="76200" y="1391841"/>
                </a:moveTo>
                <a:lnTo>
                  <a:pt x="76200" y="1391841"/>
                </a:lnTo>
                <a:arcTo wR="76200" hR="76200" stAng="5400000" swAng="5400000"/>
                <a:lnTo>
                  <a:pt x="0" y="76200"/>
                </a:lnTo>
                <a:arcTo wR="76200" hR="76200" stAng="10800000" swAng="5400000"/>
                <a:lnTo>
                  <a:pt x="76200" y="0"/>
                </a:lnTo>
                <a:arcTo wR="50800" hR="76200" stAng="16200000" swAng="-5400000"/>
                <a:lnTo>
                  <a:pt x="25400" y="1315641"/>
                </a:lnTo>
                <a:arcTo wR="50800" hR="76200" stAng="10800000" swAng="-5400000"/>
                <a:close/>
              </a:path>
            </a:pathLst>
          </a:custGeom>
          <a:solidFill>
            <a:srgbClr val="00D9C6"/>
          </a:solidFill>
          <a:ln/>
        </p:spPr>
      </p:sp>
      <p:sp>
        <p:nvSpPr>
          <p:cNvPr id="22" name="Text 20"/>
          <p:cNvSpPr/>
          <p:nvPr/>
        </p:nvSpPr>
        <p:spPr>
          <a:xfrm>
            <a:off x="1638300" y="7018139"/>
            <a:ext cx="15500985" cy="335162"/>
          </a:xfrm>
          <a:prstGeom prst="rect">
            <a:avLst/>
          </a:prstGeom>
          <a:noFill/>
          <a:ln/>
        </p:spPr>
        <p:txBody>
          <a:bodyPr wrap="square" lIns="0" tIns="0" rIns="0" bIns="0" rtlCol="0" anchor="t">
            <a:normAutofit/>
          </a:bodyPr>
          <a:lstStyle/>
          <a:p>
            <a:pPr>
              <a:lnSpc>
                <a:spcPts val="2340"/>
              </a:lnSpc>
            </a:pPr>
            <a:r>
              <a:rPr lang="en-US" b="1" kern="0" spc="150" dirty="0">
                <a:solidFill>
                  <a:srgbClr val="7CEFE6"/>
                </a:solidFill>
                <a:latin typeface="Inter" pitchFamily="34" charset="0"/>
                <a:ea typeface="Inter" pitchFamily="34" charset="-122"/>
                <a:cs typeface="Inter" pitchFamily="34" charset="-120"/>
              </a:rPr>
              <a:t>BEISPIEL AUS DEM MASCHINENBAU</a:t>
            </a:r>
            <a:endParaRPr lang="en-US" dirty="0"/>
          </a:p>
        </p:txBody>
      </p:sp>
      <p:sp>
        <p:nvSpPr>
          <p:cNvPr id="23" name="Text 21"/>
          <p:cNvSpPr/>
          <p:nvPr/>
        </p:nvSpPr>
        <p:spPr>
          <a:xfrm>
            <a:off x="1638300" y="7467600"/>
            <a:ext cx="15500985" cy="990600"/>
          </a:xfrm>
          <a:prstGeom prst="rect">
            <a:avLst/>
          </a:prstGeom>
          <a:noFill/>
          <a:ln/>
        </p:spPr>
        <p:txBody>
          <a:bodyPr wrap="square" lIns="0" tIns="0" rIns="0" bIns="0" rtlCol="0" anchor="t">
            <a:normAutofit/>
          </a:bodyPr>
          <a:lstStyle/>
          <a:p>
            <a:pPr>
              <a:lnSpc>
                <a:spcPts val="3750"/>
              </a:lnSpc>
            </a:pPr>
            <a:r>
              <a:rPr lang="en-US" sz="3000" b="1" dirty="0">
                <a:solidFill>
                  <a:srgbClr val="FFFFFF"/>
                </a:solidFill>
                <a:latin typeface="LeadPilot Grotesk" pitchFamily="34" charset="0"/>
                <a:ea typeface="LeadPilot Grotesk" pitchFamily="34" charset="-122"/>
                <a:cs typeface="LeadPilot Grotesk" pitchFamily="34" charset="-120"/>
              </a:rPr>
              <a:t>Ein Maschinenbauer mit 6 Vertrieblern verliert keine Anfragen mehr und spart jede Woche Zeit beim Forecast.</a:t>
            </a:r>
            <a:endParaRPr lang="en-US" sz="3000" dirty="0"/>
          </a:p>
        </p:txBody>
      </p:sp>
      <p:sp>
        <p:nvSpPr>
          <p:cNvPr id="24" name="Text 22"/>
          <p:cNvSpPr/>
          <p:nvPr/>
        </p:nvSpPr>
        <p:spPr>
          <a:xfrm>
            <a:off x="1219200" y="9357420"/>
            <a:ext cx="2552700" cy="358080"/>
          </a:xfrm>
          <a:prstGeom prst="rect">
            <a:avLst/>
          </a:prstGeom>
          <a:noFill/>
          <a:ln/>
        </p:spPr>
        <p:txBody>
          <a:bodyPr wrap="square" lIns="0" tIns="0" rIns="0" bIns="0" rtlCol="0" anchor="t">
            <a:normAutofit/>
          </a:bodyPr>
          <a:lstStyle/>
          <a:p>
            <a:pPr>
              <a:lnSpc>
                <a:spcPts val="2520"/>
              </a:lnSpc>
            </a:pPr>
            <a:r>
              <a:rPr lang="en-US" sz="2100" b="1" dirty="0">
                <a:solidFill>
                  <a:srgbClr val="FF7A3D"/>
                </a:solidFill>
                <a:latin typeface="LeadPilot Grotesk" pitchFamily="34" charset="0"/>
                <a:ea typeface="LeadPilot Grotesk" pitchFamily="34" charset="-122"/>
                <a:cs typeface="LeadPilot Grotesk" pitchFamily="34" charset="-120"/>
              </a:rPr>
              <a:t>Lead</a:t>
            </a:r>
            <a:r>
              <a:rPr lang="en-US" sz="2100" b="1" dirty="0">
                <a:solidFill>
                  <a:srgbClr val="00D9C6"/>
                </a:solidFill>
                <a:latin typeface="LeadPilot Grotesk" pitchFamily="34" charset="0"/>
                <a:ea typeface="LeadPilot Grotesk" pitchFamily="34" charset="-122"/>
                <a:cs typeface="LeadPilot Grotesk" pitchFamily="34" charset="-120"/>
              </a:rPr>
              <a:t>Pilot</a:t>
            </a:r>
            <a:endParaRPr lang="en-US" sz="2100" dirty="0"/>
          </a:p>
        </p:txBody>
      </p:sp>
      <p:sp>
        <p:nvSpPr>
          <p:cNvPr id="25" name="Text 23"/>
          <p:cNvSpPr/>
          <p:nvPr/>
        </p:nvSpPr>
        <p:spPr>
          <a:xfrm>
            <a:off x="4191001" y="9357420"/>
            <a:ext cx="10301288" cy="358080"/>
          </a:xfrm>
          <a:prstGeom prst="rect">
            <a:avLst/>
          </a:prstGeom>
          <a:noFill/>
          <a:ln/>
        </p:spPr>
        <p:txBody>
          <a:bodyPr wrap="square" lIns="0" tIns="0" rIns="0" bIns="0" rtlCol="0" anchor="t">
            <a:normAutofit/>
          </a:bodyPr>
          <a:lstStyle/>
          <a:p>
            <a:pPr>
              <a:lnSpc>
                <a:spcPts val="2520"/>
              </a:lnSpc>
            </a:pPr>
            <a:r>
              <a:rPr lang="en-US" dirty="0">
                <a:solidFill>
                  <a:srgbClr val="A7B0BA"/>
                </a:solidFill>
                <a:latin typeface="Inter" pitchFamily="34" charset="0"/>
                <a:ea typeface="Inter" pitchFamily="34" charset="-122"/>
                <a:cs typeface="Inter" pitchFamily="34" charset="-120"/>
              </a:rPr>
              <a:t>Szenario-Kennzahlen aus dem Pitch-Dossier, fiktiv.</a:t>
            </a:r>
            <a:endParaRPr lang="en-US" dirty="0"/>
          </a:p>
        </p:txBody>
      </p:sp>
      <p:sp>
        <p:nvSpPr>
          <p:cNvPr id="26" name="Text 24"/>
          <p:cNvSpPr/>
          <p:nvPr/>
        </p:nvSpPr>
        <p:spPr>
          <a:xfrm>
            <a:off x="15468600" y="9357420"/>
            <a:ext cx="1600200" cy="358080"/>
          </a:xfrm>
          <a:prstGeom prst="rect">
            <a:avLst/>
          </a:prstGeom>
          <a:noFill/>
          <a:ln/>
        </p:spPr>
        <p:txBody>
          <a:bodyPr wrap="square" lIns="0" tIns="0" rIns="0" bIns="0" rtlCol="0" anchor="t">
            <a:normAutofit/>
          </a:bodyPr>
          <a:lstStyle/>
          <a:p>
            <a:pPr algn="r">
              <a:lnSpc>
                <a:spcPts val="2520"/>
              </a:lnSpc>
            </a:pPr>
            <a:r>
              <a:rPr lang="en-US" dirty="0">
                <a:solidFill>
                  <a:srgbClr val="A7B0BA"/>
                </a:solidFill>
                <a:latin typeface="Inter" pitchFamily="34" charset="0"/>
                <a:ea typeface="Inter" pitchFamily="34" charset="-122"/>
                <a:cs typeface="Inter" pitchFamily="34" charset="-120"/>
              </a:rPr>
              <a:t>04 / 05</a:t>
            </a:r>
            <a:endParaRPr lang="en-US"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1219200" y="1219201"/>
            <a:ext cx="16325088" cy="335162"/>
          </a:xfrm>
          <a:prstGeom prst="rect">
            <a:avLst/>
          </a:prstGeom>
          <a:noFill/>
          <a:ln/>
        </p:spPr>
        <p:txBody>
          <a:bodyPr wrap="square" lIns="0" tIns="0" rIns="0" bIns="0" rtlCol="0" anchor="t">
            <a:normAutofit/>
          </a:bodyPr>
          <a:lstStyle/>
          <a:p>
            <a:pPr>
              <a:lnSpc>
                <a:spcPts val="2340"/>
              </a:lnSpc>
            </a:pPr>
            <a:r>
              <a:rPr lang="en-US" b="1" kern="0" spc="150" dirty="0">
                <a:solidFill>
                  <a:srgbClr val="00D9C6"/>
                </a:solidFill>
                <a:latin typeface="Inter" pitchFamily="34" charset="0"/>
                <a:ea typeface="Inter" pitchFamily="34" charset="-122"/>
                <a:cs typeface="Inter" pitchFamily="34" charset="-120"/>
              </a:rPr>
              <a:t>NÄCHSTER SCHRITT</a:t>
            </a:r>
            <a:endParaRPr lang="en-US" dirty="0"/>
          </a:p>
        </p:txBody>
      </p:sp>
      <p:sp>
        <p:nvSpPr>
          <p:cNvPr id="3" name="Text 1"/>
          <p:cNvSpPr>
            <a:spLocks noGrp="1"/>
          </p:cNvSpPr>
          <p:nvPr>
            <p:ph type="title"/>
          </p:nvPr>
        </p:nvSpPr>
        <p:spPr>
          <a:xfrm>
            <a:off x="1219200" y="1668662"/>
            <a:ext cx="16325088" cy="876300"/>
          </a:xfrm>
          <a:prstGeom prst="rect">
            <a:avLst/>
          </a:prstGeom>
          <a:noFill/>
          <a:ln/>
        </p:spPr>
        <p:txBody>
          <a:bodyPr vert="horz" wrap="square" lIns="0" tIns="0" rIns="0" bIns="0" rtlCol="0" anchor="t">
            <a:normAutofit/>
          </a:bodyPr>
          <a:lstStyle/>
          <a:p>
            <a:pPr>
              <a:lnSpc>
                <a:spcPts val="6600"/>
              </a:lnSpc>
            </a:pPr>
            <a:r>
              <a:rPr lang="en-US" b="1" kern="0" spc="-75" dirty="0"/>
              <a:t>Starten wir mit Ihrer Messe-Liste</a:t>
            </a:r>
            <a:endParaRPr lang="en-US" dirty="0"/>
          </a:p>
        </p:txBody>
      </p:sp>
      <p:sp>
        <p:nvSpPr>
          <p:cNvPr id="4" name="Shape 2"/>
          <p:cNvSpPr/>
          <p:nvPr/>
        </p:nvSpPr>
        <p:spPr>
          <a:xfrm>
            <a:off x="1223963" y="3405336"/>
            <a:ext cx="5121176" cy="3468588"/>
          </a:xfrm>
          <a:prstGeom prst="roundRect">
            <a:avLst>
              <a:gd name="adj" fmla="val 5355"/>
            </a:avLst>
          </a:prstGeom>
          <a:solidFill>
            <a:srgbClr val="123330"/>
          </a:solidFill>
          <a:ln w="6350">
            <a:solidFill>
              <a:srgbClr val="2A4A43"/>
            </a:solidFill>
            <a:prstDash val="solid"/>
          </a:ln>
        </p:spPr>
      </p:sp>
      <p:sp>
        <p:nvSpPr>
          <p:cNvPr id="5" name="Text 3"/>
          <p:cNvSpPr/>
          <p:nvPr/>
        </p:nvSpPr>
        <p:spPr>
          <a:xfrm>
            <a:off x="1609725" y="3791099"/>
            <a:ext cx="4480140" cy="335162"/>
          </a:xfrm>
          <a:prstGeom prst="rect">
            <a:avLst/>
          </a:prstGeom>
          <a:noFill/>
          <a:ln/>
        </p:spPr>
        <p:txBody>
          <a:bodyPr wrap="square" lIns="0" tIns="0" rIns="0" bIns="0" rtlCol="0" anchor="t">
            <a:normAutofit/>
          </a:bodyPr>
          <a:lstStyle/>
          <a:p>
            <a:pPr>
              <a:lnSpc>
                <a:spcPts val="2340"/>
              </a:lnSpc>
            </a:pPr>
            <a:r>
              <a:rPr lang="en-US" b="1" kern="0" spc="150" dirty="0">
                <a:solidFill>
                  <a:srgbClr val="A7B0BA"/>
                </a:solidFill>
                <a:latin typeface="Inter" pitchFamily="34" charset="0"/>
                <a:ea typeface="Inter" pitchFamily="34" charset="-122"/>
                <a:cs typeface="Inter" pitchFamily="34" charset="-120"/>
              </a:rPr>
              <a:t>1 · DIENSTAG</a:t>
            </a:r>
            <a:endParaRPr lang="en-US" dirty="0"/>
          </a:p>
        </p:txBody>
      </p:sp>
      <p:sp>
        <p:nvSpPr>
          <p:cNvPr id="6" name="Text 4"/>
          <p:cNvSpPr/>
          <p:nvPr/>
        </p:nvSpPr>
        <p:spPr>
          <a:xfrm>
            <a:off x="1609725" y="4202460"/>
            <a:ext cx="4480140" cy="495300"/>
          </a:xfrm>
          <a:prstGeom prst="rect">
            <a:avLst/>
          </a:prstGeom>
          <a:noFill/>
          <a:ln/>
        </p:spPr>
        <p:txBody>
          <a:bodyPr wrap="square" lIns="0" tIns="0" rIns="0" bIns="0" rtlCol="0" anchor="t">
            <a:normAutofit/>
          </a:bodyPr>
          <a:lstStyle/>
          <a:p>
            <a:pPr>
              <a:lnSpc>
                <a:spcPts val="3600"/>
              </a:lnSpc>
            </a:pPr>
            <a:r>
              <a:rPr lang="en-US" sz="3000" b="1" dirty="0">
                <a:solidFill>
                  <a:srgbClr val="FFFFFF"/>
                </a:solidFill>
                <a:latin typeface="LeadPilot Grotesk" pitchFamily="34" charset="0"/>
                <a:ea typeface="LeadPilot Grotesk" pitchFamily="34" charset="-122"/>
                <a:cs typeface="LeadPilot Grotesk" pitchFamily="34" charset="-120"/>
              </a:rPr>
              <a:t>30 Minuten Demo</a:t>
            </a:r>
            <a:endParaRPr lang="en-US" sz="3000" dirty="0"/>
          </a:p>
        </p:txBody>
      </p:sp>
      <p:sp>
        <p:nvSpPr>
          <p:cNvPr id="7" name="Text 5"/>
          <p:cNvSpPr/>
          <p:nvPr/>
        </p:nvSpPr>
        <p:spPr>
          <a:xfrm>
            <a:off x="1609725" y="4773960"/>
            <a:ext cx="4480140" cy="891480"/>
          </a:xfrm>
          <a:prstGeom prst="rect">
            <a:avLst/>
          </a:prstGeom>
          <a:noFill/>
          <a:ln/>
        </p:spPr>
        <p:txBody>
          <a:bodyPr wrap="square" lIns="0" tIns="0" rIns="0" bIns="0" rtlCol="0" anchor="t">
            <a:normAutofit/>
          </a:bodyPr>
          <a:lstStyle/>
          <a:p>
            <a:pPr>
              <a:lnSpc>
                <a:spcPts val="3360"/>
              </a:lnSpc>
            </a:pPr>
            <a:r>
              <a:rPr lang="en-US" sz="2400" dirty="0">
                <a:solidFill>
                  <a:srgbClr val="FFFFFF"/>
                </a:solidFill>
                <a:latin typeface="Inter" pitchFamily="34" charset="0"/>
                <a:ea typeface="Inter" pitchFamily="34" charset="-122"/>
                <a:cs typeface="Inter" pitchFamily="34" charset="-120"/>
              </a:rPr>
              <a:t>Mit Ihrer letzten Messe-Liste, live in LeadPilot.</a:t>
            </a:r>
            <a:endParaRPr lang="en-US" sz="2400" dirty="0"/>
          </a:p>
        </p:txBody>
      </p:sp>
      <p:sp>
        <p:nvSpPr>
          <p:cNvPr id="8" name="Shape 6"/>
          <p:cNvSpPr/>
          <p:nvPr/>
        </p:nvSpPr>
        <p:spPr>
          <a:xfrm>
            <a:off x="6583263" y="3405336"/>
            <a:ext cx="5121324" cy="3468588"/>
          </a:xfrm>
          <a:prstGeom prst="roundRect">
            <a:avLst>
              <a:gd name="adj" fmla="val 5355"/>
            </a:avLst>
          </a:prstGeom>
          <a:solidFill>
            <a:srgbClr val="123330"/>
          </a:solidFill>
          <a:ln w="6350">
            <a:solidFill>
              <a:srgbClr val="2A4A43"/>
            </a:solidFill>
            <a:prstDash val="solid"/>
          </a:ln>
        </p:spPr>
      </p:sp>
      <p:sp>
        <p:nvSpPr>
          <p:cNvPr id="9" name="Text 7"/>
          <p:cNvSpPr/>
          <p:nvPr/>
        </p:nvSpPr>
        <p:spPr>
          <a:xfrm>
            <a:off x="6969026" y="3791099"/>
            <a:ext cx="4480293" cy="335162"/>
          </a:xfrm>
          <a:prstGeom prst="rect">
            <a:avLst/>
          </a:prstGeom>
          <a:noFill/>
          <a:ln/>
        </p:spPr>
        <p:txBody>
          <a:bodyPr wrap="square" lIns="0" tIns="0" rIns="0" bIns="0" rtlCol="0" anchor="t">
            <a:normAutofit/>
          </a:bodyPr>
          <a:lstStyle/>
          <a:p>
            <a:pPr>
              <a:lnSpc>
                <a:spcPts val="2340"/>
              </a:lnSpc>
            </a:pPr>
            <a:r>
              <a:rPr lang="en-US" b="1" kern="0" spc="150" dirty="0">
                <a:solidFill>
                  <a:srgbClr val="A7B0BA"/>
                </a:solidFill>
                <a:latin typeface="Inter" pitchFamily="34" charset="0"/>
                <a:ea typeface="Inter" pitchFamily="34" charset="-122"/>
                <a:cs typeface="Inter" pitchFamily="34" charset="-120"/>
              </a:rPr>
              <a:t>2 · DANACH</a:t>
            </a:r>
            <a:endParaRPr lang="en-US" dirty="0"/>
          </a:p>
        </p:txBody>
      </p:sp>
      <p:sp>
        <p:nvSpPr>
          <p:cNvPr id="10" name="Text 8"/>
          <p:cNvSpPr/>
          <p:nvPr/>
        </p:nvSpPr>
        <p:spPr>
          <a:xfrm>
            <a:off x="6969026" y="4202460"/>
            <a:ext cx="4480293" cy="495300"/>
          </a:xfrm>
          <a:prstGeom prst="rect">
            <a:avLst/>
          </a:prstGeom>
          <a:noFill/>
          <a:ln/>
        </p:spPr>
        <p:txBody>
          <a:bodyPr wrap="square" lIns="0" tIns="0" rIns="0" bIns="0" rtlCol="0" anchor="t">
            <a:normAutofit/>
          </a:bodyPr>
          <a:lstStyle/>
          <a:p>
            <a:pPr>
              <a:lnSpc>
                <a:spcPts val="3600"/>
              </a:lnSpc>
            </a:pPr>
            <a:r>
              <a:rPr lang="en-US" sz="3000" b="1" dirty="0">
                <a:solidFill>
                  <a:srgbClr val="FFFFFF"/>
                </a:solidFill>
                <a:latin typeface="LeadPilot Grotesk" pitchFamily="34" charset="0"/>
                <a:ea typeface="LeadPilot Grotesk" pitchFamily="34" charset="-122"/>
                <a:cs typeface="LeadPilot Grotesk" pitchFamily="34" charset="-120"/>
              </a:rPr>
              <a:t>14 Tage Test</a:t>
            </a:r>
            <a:endParaRPr lang="en-US" sz="3000" dirty="0"/>
          </a:p>
        </p:txBody>
      </p:sp>
      <p:sp>
        <p:nvSpPr>
          <p:cNvPr id="11" name="Text 9"/>
          <p:cNvSpPr/>
          <p:nvPr/>
        </p:nvSpPr>
        <p:spPr>
          <a:xfrm>
            <a:off x="6969026" y="4773960"/>
            <a:ext cx="4480293" cy="891480"/>
          </a:xfrm>
          <a:prstGeom prst="rect">
            <a:avLst/>
          </a:prstGeom>
          <a:noFill/>
          <a:ln/>
        </p:spPr>
        <p:txBody>
          <a:bodyPr wrap="square" lIns="0" tIns="0" rIns="0" bIns="0" rtlCol="0" anchor="t">
            <a:normAutofit/>
          </a:bodyPr>
          <a:lstStyle/>
          <a:p>
            <a:pPr>
              <a:lnSpc>
                <a:spcPts val="3360"/>
              </a:lnSpc>
            </a:pPr>
            <a:r>
              <a:rPr lang="en-US" sz="2400" dirty="0">
                <a:solidFill>
                  <a:srgbClr val="FFFFFF"/>
                </a:solidFill>
                <a:latin typeface="Inter" pitchFamily="34" charset="0"/>
                <a:ea typeface="Inter" pitchFamily="34" charset="-122"/>
                <a:cs typeface="Inter" pitchFamily="34" charset="-120"/>
              </a:rPr>
              <a:t>Ihr Team arbeitet von Anfang an mit.</a:t>
            </a:r>
            <a:endParaRPr lang="en-US" sz="2400" dirty="0"/>
          </a:p>
        </p:txBody>
      </p:sp>
      <p:sp>
        <p:nvSpPr>
          <p:cNvPr id="12" name="Shape 10"/>
          <p:cNvSpPr/>
          <p:nvPr/>
        </p:nvSpPr>
        <p:spPr>
          <a:xfrm>
            <a:off x="11942714" y="3405336"/>
            <a:ext cx="5121324" cy="3468588"/>
          </a:xfrm>
          <a:prstGeom prst="roundRect">
            <a:avLst>
              <a:gd name="adj" fmla="val 5355"/>
            </a:avLst>
          </a:prstGeom>
          <a:solidFill>
            <a:srgbClr val="123330"/>
          </a:solidFill>
          <a:ln w="6350">
            <a:solidFill>
              <a:srgbClr val="2A4A43"/>
            </a:solidFill>
            <a:prstDash val="solid"/>
          </a:ln>
        </p:spPr>
      </p:sp>
      <p:sp>
        <p:nvSpPr>
          <p:cNvPr id="13" name="Text 11"/>
          <p:cNvSpPr/>
          <p:nvPr/>
        </p:nvSpPr>
        <p:spPr>
          <a:xfrm>
            <a:off x="12328476" y="3791099"/>
            <a:ext cx="4480293" cy="335162"/>
          </a:xfrm>
          <a:prstGeom prst="rect">
            <a:avLst/>
          </a:prstGeom>
          <a:noFill/>
          <a:ln/>
        </p:spPr>
        <p:txBody>
          <a:bodyPr wrap="square" lIns="0" tIns="0" rIns="0" bIns="0" rtlCol="0" anchor="t">
            <a:normAutofit/>
          </a:bodyPr>
          <a:lstStyle/>
          <a:p>
            <a:pPr>
              <a:lnSpc>
                <a:spcPts val="2340"/>
              </a:lnSpc>
            </a:pPr>
            <a:r>
              <a:rPr lang="en-US" b="1" kern="0" spc="150" dirty="0">
                <a:solidFill>
                  <a:srgbClr val="A7B0BA"/>
                </a:solidFill>
                <a:latin typeface="Inter" pitchFamily="34" charset="0"/>
                <a:ea typeface="Inter" pitchFamily="34" charset="-122"/>
                <a:cs typeface="Inter" pitchFamily="34" charset="-120"/>
              </a:rPr>
              <a:t>3 · PREIS</a:t>
            </a:r>
            <a:endParaRPr lang="en-US" dirty="0"/>
          </a:p>
        </p:txBody>
      </p:sp>
      <p:sp>
        <p:nvSpPr>
          <p:cNvPr id="14" name="Text 12"/>
          <p:cNvSpPr/>
          <p:nvPr/>
        </p:nvSpPr>
        <p:spPr>
          <a:xfrm>
            <a:off x="12328476" y="4202460"/>
            <a:ext cx="4480293" cy="495300"/>
          </a:xfrm>
          <a:prstGeom prst="rect">
            <a:avLst/>
          </a:prstGeom>
          <a:noFill/>
          <a:ln/>
        </p:spPr>
        <p:txBody>
          <a:bodyPr wrap="square" lIns="0" tIns="0" rIns="0" bIns="0" rtlCol="0" anchor="t">
            <a:normAutofit/>
          </a:bodyPr>
          <a:lstStyle/>
          <a:p>
            <a:pPr>
              <a:lnSpc>
                <a:spcPts val="3600"/>
              </a:lnSpc>
            </a:pPr>
            <a:r>
              <a:rPr lang="en-US" sz="3000" b="1" dirty="0">
                <a:solidFill>
                  <a:srgbClr val="FFFFFF"/>
                </a:solidFill>
                <a:latin typeface="LeadPilot Grotesk" pitchFamily="34" charset="0"/>
                <a:ea typeface="LeadPilot Grotesk" pitchFamily="34" charset="-122"/>
                <a:cs typeface="LeadPilot Grotesk" pitchFamily="34" charset="-120"/>
              </a:rPr>
              <a:t>ab 343 € / Monat</a:t>
            </a:r>
            <a:endParaRPr lang="en-US" sz="3000" dirty="0"/>
          </a:p>
        </p:txBody>
      </p:sp>
      <p:sp>
        <p:nvSpPr>
          <p:cNvPr id="15" name="Text 13"/>
          <p:cNvSpPr/>
          <p:nvPr/>
        </p:nvSpPr>
        <p:spPr>
          <a:xfrm>
            <a:off x="12328476" y="4773960"/>
            <a:ext cx="4480293" cy="891480"/>
          </a:xfrm>
          <a:prstGeom prst="rect">
            <a:avLst/>
          </a:prstGeom>
          <a:noFill/>
          <a:ln/>
        </p:spPr>
        <p:txBody>
          <a:bodyPr wrap="square" lIns="0" tIns="0" rIns="0" bIns="0" rtlCol="0" anchor="t">
            <a:normAutofit/>
          </a:bodyPr>
          <a:lstStyle/>
          <a:p>
            <a:pPr>
              <a:lnSpc>
                <a:spcPts val="3360"/>
              </a:lnSpc>
            </a:pPr>
            <a:r>
              <a:rPr lang="en-US" sz="2400" dirty="0">
                <a:solidFill>
                  <a:srgbClr val="FFFFFF"/>
                </a:solidFill>
                <a:latin typeface="Inter" pitchFamily="34" charset="0"/>
                <a:ea typeface="Inter" pitchFamily="34" charset="-122"/>
                <a:cs typeface="Inter" pitchFamily="34" charset="-120"/>
              </a:rPr>
              <a:t>Starter für 7 Nutzer, monatlich kündbar.</a:t>
            </a:r>
            <a:endParaRPr lang="en-US" sz="2400" dirty="0"/>
          </a:p>
        </p:txBody>
      </p:sp>
      <p:sp>
        <p:nvSpPr>
          <p:cNvPr id="16" name="Text 14"/>
          <p:cNvSpPr/>
          <p:nvPr/>
        </p:nvSpPr>
        <p:spPr>
          <a:xfrm>
            <a:off x="12328476" y="5741641"/>
            <a:ext cx="4480293" cy="784622"/>
          </a:xfrm>
          <a:prstGeom prst="rect">
            <a:avLst/>
          </a:prstGeom>
          <a:noFill/>
          <a:ln/>
        </p:spPr>
        <p:txBody>
          <a:bodyPr wrap="square" lIns="0" tIns="0" rIns="0" bIns="0" rtlCol="0" anchor="t">
            <a:normAutofit/>
          </a:bodyPr>
          <a:lstStyle/>
          <a:p>
            <a:pPr>
              <a:lnSpc>
                <a:spcPts val="2940"/>
              </a:lnSpc>
            </a:pPr>
            <a:r>
              <a:rPr lang="en-US" sz="2100" dirty="0">
                <a:solidFill>
                  <a:srgbClr val="A7B0BA"/>
                </a:solidFill>
                <a:latin typeface="Inter" pitchFamily="34" charset="0"/>
                <a:ea typeface="Inter" pitchFamily="34" charset="-122"/>
                <a:cs typeface="Inter" pitchFamily="34" charset="-120"/>
              </a:rPr>
              <a:t>Growth mit KI-Scoring: 623 € / Monat.</a:t>
            </a:r>
            <a:endParaRPr lang="en-US" sz="2100" dirty="0"/>
          </a:p>
        </p:txBody>
      </p:sp>
      <p:sp>
        <p:nvSpPr>
          <p:cNvPr id="17" name="Text 15"/>
          <p:cNvSpPr/>
          <p:nvPr/>
        </p:nvSpPr>
        <p:spPr>
          <a:xfrm>
            <a:off x="1219200" y="7772400"/>
            <a:ext cx="15849600" cy="990600"/>
          </a:xfrm>
          <a:prstGeom prst="roundRect">
            <a:avLst>
              <a:gd name="adj" fmla="val 50000"/>
            </a:avLst>
          </a:prstGeom>
          <a:solidFill>
            <a:srgbClr val="FF7A3D"/>
          </a:solidFill>
          <a:ln/>
          <a:effectLst>
            <a:outerShdw blurRad="127000" dir="60000" algn="bl" rotWithShape="0">
              <a:srgbClr val="FF7A3D">
                <a:alpha val="30000"/>
              </a:srgbClr>
            </a:outerShdw>
          </a:effectLst>
        </p:spPr>
        <p:txBody>
          <a:bodyPr wrap="square" lIns="388332" tIns="121632" rIns="0" bIns="83532" rtlCol="0" anchor="t">
            <a:normAutofit/>
          </a:bodyPr>
          <a:lstStyle/>
          <a:p>
            <a:pPr>
              <a:lnSpc>
                <a:spcPts val="3600"/>
              </a:lnSpc>
            </a:pPr>
            <a:r>
              <a:rPr lang="en-US" sz="3000" b="1" dirty="0">
                <a:solidFill>
                  <a:srgbClr val="0B211F"/>
                </a:solidFill>
                <a:latin typeface="LeadPilot Grotesk" pitchFamily="34" charset="0"/>
                <a:ea typeface="LeadPilot Grotesk" pitchFamily="34" charset="-122"/>
                <a:cs typeface="LeadPilot Grotesk" pitchFamily="34" charset="-120"/>
              </a:rPr>
              <a:t>Dienstag, 10 Uhr: Passt Ihnen das, Herr Hartwig?</a:t>
            </a:r>
            <a:endParaRPr lang="en-US" sz="3000" dirty="0"/>
          </a:p>
        </p:txBody>
      </p:sp>
      <p:sp>
        <p:nvSpPr>
          <p:cNvPr id="18" name="Text 16"/>
          <p:cNvSpPr/>
          <p:nvPr/>
        </p:nvSpPr>
        <p:spPr>
          <a:xfrm>
            <a:off x="1219200" y="9357420"/>
            <a:ext cx="2552700" cy="358080"/>
          </a:xfrm>
          <a:prstGeom prst="rect">
            <a:avLst/>
          </a:prstGeom>
          <a:noFill/>
          <a:ln/>
        </p:spPr>
        <p:txBody>
          <a:bodyPr wrap="square" lIns="0" tIns="0" rIns="0" bIns="0" rtlCol="0" anchor="t">
            <a:normAutofit/>
          </a:bodyPr>
          <a:lstStyle/>
          <a:p>
            <a:pPr>
              <a:lnSpc>
                <a:spcPts val="2520"/>
              </a:lnSpc>
            </a:pPr>
            <a:r>
              <a:rPr lang="en-US" sz="2100" b="1" dirty="0">
                <a:solidFill>
                  <a:srgbClr val="FF7A3D"/>
                </a:solidFill>
                <a:latin typeface="LeadPilot Grotesk" pitchFamily="34" charset="0"/>
                <a:ea typeface="LeadPilot Grotesk" pitchFamily="34" charset="-122"/>
                <a:cs typeface="LeadPilot Grotesk" pitchFamily="34" charset="-120"/>
              </a:rPr>
              <a:t>Lead</a:t>
            </a:r>
            <a:r>
              <a:rPr lang="en-US" sz="2100" b="1" dirty="0">
                <a:solidFill>
                  <a:srgbClr val="00D9C6"/>
                </a:solidFill>
                <a:latin typeface="LeadPilot Grotesk" pitchFamily="34" charset="0"/>
                <a:ea typeface="LeadPilot Grotesk" pitchFamily="34" charset="-122"/>
                <a:cs typeface="LeadPilot Grotesk" pitchFamily="34" charset="-120"/>
              </a:rPr>
              <a:t>Pilot</a:t>
            </a:r>
            <a:endParaRPr lang="en-US" sz="2100" dirty="0"/>
          </a:p>
        </p:txBody>
      </p:sp>
      <p:sp>
        <p:nvSpPr>
          <p:cNvPr id="19" name="Text 17"/>
          <p:cNvSpPr/>
          <p:nvPr/>
        </p:nvSpPr>
        <p:spPr>
          <a:xfrm>
            <a:off x="4191001" y="9357420"/>
            <a:ext cx="10301288" cy="358080"/>
          </a:xfrm>
          <a:prstGeom prst="rect">
            <a:avLst/>
          </a:prstGeom>
          <a:noFill/>
          <a:ln/>
        </p:spPr>
        <p:txBody>
          <a:bodyPr wrap="square" lIns="0" tIns="0" rIns="0" bIns="0" rtlCol="0" anchor="t">
            <a:normAutofit/>
          </a:bodyPr>
          <a:lstStyle/>
          <a:p>
            <a:pPr>
              <a:lnSpc>
                <a:spcPts val="2520"/>
              </a:lnSpc>
            </a:pPr>
            <a:r>
              <a:rPr lang="en-US" dirty="0">
                <a:solidFill>
                  <a:srgbClr val="A7B0BA"/>
                </a:solidFill>
                <a:latin typeface="Inter" pitchFamily="34" charset="0"/>
                <a:ea typeface="Inter" pitchFamily="34" charset="-122"/>
                <a:cs typeface="Inter" pitchFamily="34" charset="-120"/>
              </a:rPr>
              <a:t>Fiktives Angebot, Growth zzgl. Onboarding-Gebühr (Höhe offen).</a:t>
            </a:r>
            <a:endParaRPr lang="en-US" dirty="0"/>
          </a:p>
        </p:txBody>
      </p:sp>
      <p:sp>
        <p:nvSpPr>
          <p:cNvPr id="20" name="Text 18"/>
          <p:cNvSpPr/>
          <p:nvPr/>
        </p:nvSpPr>
        <p:spPr>
          <a:xfrm>
            <a:off x="15468600" y="9357420"/>
            <a:ext cx="1600200" cy="358080"/>
          </a:xfrm>
          <a:prstGeom prst="rect">
            <a:avLst/>
          </a:prstGeom>
          <a:noFill/>
          <a:ln/>
        </p:spPr>
        <p:txBody>
          <a:bodyPr wrap="square" lIns="0" tIns="0" rIns="0" bIns="0" rtlCol="0" anchor="t">
            <a:normAutofit/>
          </a:bodyPr>
          <a:lstStyle/>
          <a:p>
            <a:pPr algn="r">
              <a:lnSpc>
                <a:spcPts val="2520"/>
              </a:lnSpc>
            </a:pPr>
            <a:r>
              <a:rPr lang="en-US" dirty="0">
                <a:solidFill>
                  <a:srgbClr val="A7B0BA"/>
                </a:solidFill>
                <a:latin typeface="Inter" pitchFamily="34" charset="0"/>
                <a:ea typeface="Inter" pitchFamily="34" charset="-122"/>
                <a:cs typeface="Inter" pitchFamily="34" charset="-120"/>
              </a:rPr>
              <a:t>05 / 05</a:t>
            </a:r>
            <a:endParaRPr lang="en-US"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p:nvPr/>
        </p:nvSpPr>
        <p:spPr>
          <a:xfrm>
            <a:off x="15240000" y="558800"/>
            <a:ext cx="2032200" cy="508200"/>
          </a:xfrm>
          <a:prstGeom prst="rect">
            <a:avLst/>
          </a:prstGeom>
          <a:noFill/>
          <a:ln>
            <a:noFill/>
          </a:ln>
        </p:spPr>
        <p:txBody>
          <a:bodyPr spcFirstLastPara="1" wrap="square" lIns="182850" tIns="182850" rIns="182850" bIns="182850" anchor="t" anchorCtr="0">
            <a:noAutofit/>
          </a:bodyPr>
          <a:lstStyle/>
          <a:p>
            <a:pPr algn="r"/>
            <a:r>
              <a:rPr lang="de" sz="2200" b="1">
                <a:solidFill>
                  <a:srgbClr val="00D9C6"/>
                </a:solidFill>
                <a:latin typeface="Inter"/>
                <a:ea typeface="Inter"/>
                <a:cs typeface="Inter"/>
                <a:sym typeface="Inter"/>
              </a:rPr>
              <a:t>LeadPilot</a:t>
            </a:r>
            <a:endParaRPr sz="2200" b="1">
              <a:solidFill>
                <a:srgbClr val="00D9C6"/>
              </a:solidFill>
              <a:latin typeface="Inter"/>
              <a:ea typeface="Inter"/>
              <a:cs typeface="Inter"/>
              <a:sym typeface="Inter"/>
            </a:endParaRPr>
          </a:p>
        </p:txBody>
      </p:sp>
      <p:sp>
        <p:nvSpPr>
          <p:cNvPr id="55" name="Google Shape;55;p13"/>
          <p:cNvSpPr txBox="1"/>
          <p:nvPr/>
        </p:nvSpPr>
        <p:spPr>
          <a:xfrm>
            <a:off x="12954000" y="558800"/>
            <a:ext cx="2032200" cy="508200"/>
          </a:xfrm>
          <a:prstGeom prst="rect">
            <a:avLst/>
          </a:prstGeom>
          <a:noFill/>
          <a:ln>
            <a:noFill/>
          </a:ln>
        </p:spPr>
        <p:txBody>
          <a:bodyPr spcFirstLastPara="1" wrap="square" lIns="182850" tIns="182850" rIns="182850" bIns="182850" anchor="t" anchorCtr="0">
            <a:noAutofit/>
          </a:bodyPr>
          <a:lstStyle/>
          <a:p>
            <a:pPr algn="r"/>
            <a:r>
              <a:rPr lang="de" sz="2000" b="1">
                <a:solidFill>
                  <a:srgbClr val="75828D"/>
                </a:solidFill>
                <a:latin typeface="Inter"/>
                <a:ea typeface="Inter"/>
                <a:cs typeface="Inter"/>
                <a:sym typeface="Inter"/>
              </a:rPr>
              <a:t>01 / 05</a:t>
            </a:r>
            <a:endParaRPr sz="2000" b="1">
              <a:solidFill>
                <a:srgbClr val="75828D"/>
              </a:solidFill>
              <a:latin typeface="Inter"/>
              <a:ea typeface="Inter"/>
              <a:cs typeface="Inter"/>
              <a:sym typeface="Inter"/>
            </a:endParaRPr>
          </a:p>
        </p:txBody>
      </p:sp>
      <p:sp>
        <p:nvSpPr>
          <p:cNvPr id="56" name="Google Shape;56;p13"/>
          <p:cNvSpPr txBox="1"/>
          <p:nvPr/>
        </p:nvSpPr>
        <p:spPr>
          <a:xfrm>
            <a:off x="1016000" y="558800"/>
            <a:ext cx="11683800" cy="457200"/>
          </a:xfrm>
          <a:prstGeom prst="rect">
            <a:avLst/>
          </a:prstGeom>
          <a:noFill/>
          <a:ln>
            <a:noFill/>
          </a:ln>
        </p:spPr>
        <p:txBody>
          <a:bodyPr spcFirstLastPara="1" wrap="square" lIns="182850" tIns="182850" rIns="182850" bIns="182850" anchor="t" anchorCtr="0">
            <a:noAutofit/>
          </a:bodyPr>
          <a:lstStyle/>
          <a:p>
            <a:r>
              <a:rPr lang="de" sz="2000" b="1">
                <a:solidFill>
                  <a:srgbClr val="FF7A3D"/>
                </a:solidFill>
                <a:latin typeface="Inter"/>
                <a:ea typeface="Inter"/>
                <a:cs typeface="Inter"/>
                <a:sym typeface="Inter"/>
              </a:rPr>
              <a:t>WEIDNER ANTRIEBSTECHNIK · NACH DER MESSE</a:t>
            </a:r>
            <a:endParaRPr sz="2000" b="1">
              <a:solidFill>
                <a:srgbClr val="FF7A3D"/>
              </a:solidFill>
              <a:latin typeface="Inter"/>
              <a:ea typeface="Inter"/>
              <a:cs typeface="Inter"/>
              <a:sym typeface="Inter"/>
            </a:endParaRPr>
          </a:p>
        </p:txBody>
      </p:sp>
      <p:sp>
        <p:nvSpPr>
          <p:cNvPr id="57" name="Google Shape;57;p13"/>
          <p:cNvSpPr txBox="1"/>
          <p:nvPr/>
        </p:nvSpPr>
        <p:spPr>
          <a:xfrm>
            <a:off x="1016000" y="1066800"/>
            <a:ext cx="16255800" cy="863400"/>
          </a:xfrm>
          <a:prstGeom prst="rect">
            <a:avLst/>
          </a:prstGeom>
          <a:noFill/>
          <a:ln>
            <a:noFill/>
          </a:ln>
        </p:spPr>
        <p:txBody>
          <a:bodyPr spcFirstLastPara="1" wrap="square" lIns="182850" tIns="182850" rIns="182850" bIns="182850" anchor="t" anchorCtr="0">
            <a:noAutofit/>
          </a:bodyPr>
          <a:lstStyle/>
          <a:p>
            <a:r>
              <a:rPr lang="de" sz="4200" b="1">
                <a:solidFill>
                  <a:srgbClr val="FFFFFF"/>
                </a:solidFill>
                <a:latin typeface="Inter"/>
                <a:ea typeface="Inter"/>
                <a:cs typeface="Inter"/>
                <a:sym typeface="Inter"/>
              </a:rPr>
              <a:t>60 Anfragen auf der Messe. Ein Drittel versandet im Excel.</a:t>
            </a:r>
            <a:endParaRPr sz="4200" b="1">
              <a:solidFill>
                <a:srgbClr val="FFFFFF"/>
              </a:solidFill>
              <a:latin typeface="Inter"/>
              <a:ea typeface="Inter"/>
              <a:cs typeface="Inter"/>
              <a:sym typeface="Inter"/>
            </a:endParaRPr>
          </a:p>
        </p:txBody>
      </p:sp>
      <p:sp>
        <p:nvSpPr>
          <p:cNvPr id="58" name="Google Shape;58;p13"/>
          <p:cNvSpPr txBox="1"/>
          <p:nvPr/>
        </p:nvSpPr>
        <p:spPr>
          <a:xfrm>
            <a:off x="1016000" y="1981200"/>
            <a:ext cx="16255800" cy="558600"/>
          </a:xfrm>
          <a:prstGeom prst="rect">
            <a:avLst/>
          </a:prstGeom>
          <a:noFill/>
          <a:ln>
            <a:noFill/>
          </a:ln>
        </p:spPr>
        <p:txBody>
          <a:bodyPr spcFirstLastPara="1" wrap="square" lIns="182850" tIns="182850" rIns="182850" bIns="182850" anchor="t" anchorCtr="0">
            <a:noAutofit/>
          </a:bodyPr>
          <a:lstStyle/>
          <a:p>
            <a:r>
              <a:rPr lang="de" sz="2300">
                <a:solidFill>
                  <a:srgbClr val="A7B0BA"/>
                </a:solidFill>
                <a:latin typeface="Inter"/>
                <a:ea typeface="Inter"/>
                <a:cs typeface="Inter"/>
                <a:sym typeface="Inter"/>
              </a:rPr>
              <a:t>Wer ruft diese 20 Anfragen zurück? Ein Drittel der Leads bleibt ohne Besitzer liegen.</a:t>
            </a:r>
            <a:endParaRPr sz="2300">
              <a:solidFill>
                <a:srgbClr val="A7B0BA"/>
              </a:solidFill>
              <a:latin typeface="Inter"/>
              <a:ea typeface="Inter"/>
              <a:cs typeface="Inter"/>
              <a:sym typeface="Inter"/>
            </a:endParaRPr>
          </a:p>
        </p:txBody>
      </p:sp>
      <p:sp>
        <p:nvSpPr>
          <p:cNvPr id="59" name="Google Shape;59;p13"/>
          <p:cNvSpPr/>
          <p:nvPr/>
        </p:nvSpPr>
        <p:spPr>
          <a:xfrm>
            <a:off x="1016000" y="2743200"/>
            <a:ext cx="4953000" cy="3759000"/>
          </a:xfrm>
          <a:prstGeom prst="roundRect">
            <a:avLst>
              <a:gd name="adj" fmla="val 16667"/>
            </a:avLst>
          </a:prstGeom>
          <a:solidFill>
            <a:srgbClr val="123330"/>
          </a:solidFill>
          <a:ln w="19050" cap="flat" cmpd="sng">
            <a:solidFill>
              <a:srgbClr val="2A4A43"/>
            </a:solidFill>
            <a:prstDash val="solid"/>
            <a:round/>
            <a:headEnd type="none" w="sm" len="sm"/>
            <a:tailEnd type="none" w="sm" len="sm"/>
          </a:ln>
        </p:spPr>
        <p:txBody>
          <a:bodyPr spcFirstLastPara="1" wrap="square" lIns="182850" tIns="182850" rIns="182850" bIns="182850" anchor="ctr" anchorCtr="0">
            <a:noAutofit/>
          </a:bodyPr>
          <a:lstStyle/>
          <a:p>
            <a:pPr algn="ctr"/>
            <a:endParaRPr sz="3600"/>
          </a:p>
        </p:txBody>
      </p:sp>
      <p:sp>
        <p:nvSpPr>
          <p:cNvPr id="60" name="Google Shape;60;p13"/>
          <p:cNvSpPr txBox="1"/>
          <p:nvPr/>
        </p:nvSpPr>
        <p:spPr>
          <a:xfrm>
            <a:off x="1397000" y="2997200"/>
            <a:ext cx="4191000" cy="1066800"/>
          </a:xfrm>
          <a:prstGeom prst="rect">
            <a:avLst/>
          </a:prstGeom>
          <a:noFill/>
          <a:ln>
            <a:noFill/>
          </a:ln>
        </p:spPr>
        <p:txBody>
          <a:bodyPr spcFirstLastPara="1" wrap="square" lIns="182850" tIns="182850" rIns="182850" bIns="182850" anchor="t" anchorCtr="0">
            <a:noAutofit/>
          </a:bodyPr>
          <a:lstStyle/>
          <a:p>
            <a:r>
              <a:rPr lang="de" sz="7600" b="1">
                <a:solidFill>
                  <a:srgbClr val="00D9C6"/>
                </a:solidFill>
                <a:latin typeface="Inter"/>
                <a:ea typeface="Inter"/>
                <a:cs typeface="Inter"/>
                <a:sym typeface="Inter"/>
              </a:rPr>
              <a:t>40</a:t>
            </a:r>
            <a:endParaRPr sz="7600" b="1">
              <a:solidFill>
                <a:srgbClr val="00D9C6"/>
              </a:solidFill>
              <a:latin typeface="Inter"/>
              <a:ea typeface="Inter"/>
              <a:cs typeface="Inter"/>
              <a:sym typeface="Inter"/>
            </a:endParaRPr>
          </a:p>
        </p:txBody>
      </p:sp>
      <p:sp>
        <p:nvSpPr>
          <p:cNvPr id="61" name="Google Shape;61;p13"/>
          <p:cNvSpPr txBox="1"/>
          <p:nvPr/>
        </p:nvSpPr>
        <p:spPr>
          <a:xfrm>
            <a:off x="1397000" y="4114800"/>
            <a:ext cx="4191000" cy="508200"/>
          </a:xfrm>
          <a:prstGeom prst="rect">
            <a:avLst/>
          </a:prstGeom>
          <a:noFill/>
          <a:ln>
            <a:noFill/>
          </a:ln>
        </p:spPr>
        <p:txBody>
          <a:bodyPr spcFirstLastPara="1" wrap="square" lIns="182850" tIns="182850" rIns="182850" bIns="182850" anchor="t" anchorCtr="0">
            <a:noAutofit/>
          </a:bodyPr>
          <a:lstStyle/>
          <a:p>
            <a:r>
              <a:rPr lang="de" sz="2700" b="1">
                <a:solidFill>
                  <a:srgbClr val="FFFFFF"/>
                </a:solidFill>
                <a:latin typeface="Inter"/>
                <a:ea typeface="Inter"/>
                <a:cs typeface="Inter"/>
                <a:sym typeface="Inter"/>
              </a:rPr>
              <a:t>bearbeitet</a:t>
            </a:r>
            <a:endParaRPr sz="2700" b="1">
              <a:solidFill>
                <a:srgbClr val="FFFFFF"/>
              </a:solidFill>
              <a:latin typeface="Inter"/>
              <a:ea typeface="Inter"/>
              <a:cs typeface="Inter"/>
              <a:sym typeface="Inter"/>
            </a:endParaRPr>
          </a:p>
        </p:txBody>
      </p:sp>
      <p:sp>
        <p:nvSpPr>
          <p:cNvPr id="62" name="Google Shape;62;p13"/>
          <p:cNvSpPr txBox="1"/>
          <p:nvPr/>
        </p:nvSpPr>
        <p:spPr>
          <a:xfrm>
            <a:off x="1397000" y="4699000"/>
            <a:ext cx="4191000" cy="1396800"/>
          </a:xfrm>
          <a:prstGeom prst="rect">
            <a:avLst/>
          </a:prstGeom>
          <a:noFill/>
          <a:ln>
            <a:noFill/>
          </a:ln>
        </p:spPr>
        <p:txBody>
          <a:bodyPr spcFirstLastPara="1" wrap="square" lIns="182850" tIns="182850" rIns="182850" bIns="182850" anchor="t" anchorCtr="0">
            <a:noAutofit/>
          </a:bodyPr>
          <a:lstStyle/>
          <a:p>
            <a:pPr>
              <a:lnSpc>
                <a:spcPct val="120000"/>
              </a:lnSpc>
            </a:pPr>
            <a:r>
              <a:rPr lang="de" sz="2100">
                <a:solidFill>
                  <a:srgbClr val="A7B0BA"/>
                </a:solidFill>
                <a:latin typeface="Inter"/>
                <a:ea typeface="Inter"/>
                <a:cs typeface="Inter"/>
                <a:sym typeface="Inter"/>
              </a:rPr>
              <a:t>In Outlook &amp; per Telefon im Team verteilt – oft erst nach Wochen kontaktiert.</a:t>
            </a:r>
            <a:endParaRPr sz="2100">
              <a:solidFill>
                <a:srgbClr val="A7B0BA"/>
              </a:solidFill>
              <a:latin typeface="Inter"/>
              <a:ea typeface="Inter"/>
              <a:cs typeface="Inter"/>
              <a:sym typeface="Inter"/>
            </a:endParaRPr>
          </a:p>
        </p:txBody>
      </p:sp>
      <p:sp>
        <p:nvSpPr>
          <p:cNvPr id="63" name="Google Shape;63;p13"/>
          <p:cNvSpPr/>
          <p:nvPr/>
        </p:nvSpPr>
        <p:spPr>
          <a:xfrm>
            <a:off x="6350000" y="2743200"/>
            <a:ext cx="4953000" cy="3759000"/>
          </a:xfrm>
          <a:prstGeom prst="roundRect">
            <a:avLst>
              <a:gd name="adj" fmla="val 16667"/>
            </a:avLst>
          </a:prstGeom>
          <a:solidFill>
            <a:srgbClr val="1A2825"/>
          </a:solidFill>
          <a:ln w="25400" cap="flat" cmpd="sng">
            <a:solidFill>
              <a:srgbClr val="FF7A3D"/>
            </a:solidFill>
            <a:prstDash val="solid"/>
            <a:round/>
            <a:headEnd type="none" w="sm" len="sm"/>
            <a:tailEnd type="none" w="sm" len="sm"/>
          </a:ln>
        </p:spPr>
        <p:txBody>
          <a:bodyPr spcFirstLastPara="1" wrap="square" lIns="182850" tIns="182850" rIns="182850" bIns="182850" anchor="ctr" anchorCtr="0">
            <a:noAutofit/>
          </a:bodyPr>
          <a:lstStyle/>
          <a:p>
            <a:pPr algn="ctr"/>
            <a:endParaRPr sz="3600"/>
          </a:p>
        </p:txBody>
      </p:sp>
      <p:sp>
        <p:nvSpPr>
          <p:cNvPr id="64" name="Google Shape;64;p13"/>
          <p:cNvSpPr txBox="1"/>
          <p:nvPr/>
        </p:nvSpPr>
        <p:spPr>
          <a:xfrm>
            <a:off x="6731000" y="2997200"/>
            <a:ext cx="4191000" cy="1066800"/>
          </a:xfrm>
          <a:prstGeom prst="rect">
            <a:avLst/>
          </a:prstGeom>
          <a:noFill/>
          <a:ln>
            <a:noFill/>
          </a:ln>
        </p:spPr>
        <p:txBody>
          <a:bodyPr spcFirstLastPara="1" wrap="square" lIns="182850" tIns="182850" rIns="182850" bIns="182850" anchor="t" anchorCtr="0">
            <a:noAutofit/>
          </a:bodyPr>
          <a:lstStyle/>
          <a:p>
            <a:r>
              <a:rPr lang="de" sz="7600" b="1">
                <a:solidFill>
                  <a:srgbClr val="FF7A3D"/>
                </a:solidFill>
                <a:latin typeface="Inter"/>
                <a:ea typeface="Inter"/>
                <a:cs typeface="Inter"/>
                <a:sym typeface="Inter"/>
              </a:rPr>
              <a:t>20</a:t>
            </a:r>
            <a:endParaRPr sz="7600" b="1">
              <a:solidFill>
                <a:srgbClr val="FF7A3D"/>
              </a:solidFill>
              <a:latin typeface="Inter"/>
              <a:ea typeface="Inter"/>
              <a:cs typeface="Inter"/>
              <a:sym typeface="Inter"/>
            </a:endParaRPr>
          </a:p>
        </p:txBody>
      </p:sp>
      <p:sp>
        <p:nvSpPr>
          <p:cNvPr id="65" name="Google Shape;65;p13"/>
          <p:cNvSpPr txBox="1"/>
          <p:nvPr/>
        </p:nvSpPr>
        <p:spPr>
          <a:xfrm>
            <a:off x="6731000" y="4114800"/>
            <a:ext cx="4191000" cy="508200"/>
          </a:xfrm>
          <a:prstGeom prst="rect">
            <a:avLst/>
          </a:prstGeom>
          <a:noFill/>
          <a:ln>
            <a:noFill/>
          </a:ln>
        </p:spPr>
        <p:txBody>
          <a:bodyPr spcFirstLastPara="1" wrap="square" lIns="182850" tIns="182850" rIns="182850" bIns="182850" anchor="t" anchorCtr="0">
            <a:noAutofit/>
          </a:bodyPr>
          <a:lstStyle/>
          <a:p>
            <a:r>
              <a:rPr lang="de" sz="2700" b="1">
                <a:solidFill>
                  <a:srgbClr val="FF7A3D"/>
                </a:solidFill>
                <a:latin typeface="Inter"/>
                <a:ea typeface="Inter"/>
                <a:cs typeface="Inter"/>
                <a:sym typeface="Inter"/>
              </a:rPr>
              <a:t>versandet</a:t>
            </a:r>
            <a:endParaRPr sz="2700" b="1">
              <a:solidFill>
                <a:srgbClr val="FF7A3D"/>
              </a:solidFill>
              <a:latin typeface="Inter"/>
              <a:ea typeface="Inter"/>
              <a:cs typeface="Inter"/>
              <a:sym typeface="Inter"/>
            </a:endParaRPr>
          </a:p>
        </p:txBody>
      </p:sp>
      <p:sp>
        <p:nvSpPr>
          <p:cNvPr id="66" name="Google Shape;66;p13"/>
          <p:cNvSpPr txBox="1"/>
          <p:nvPr/>
        </p:nvSpPr>
        <p:spPr>
          <a:xfrm>
            <a:off x="6731000" y="4699000"/>
            <a:ext cx="4191000" cy="1396800"/>
          </a:xfrm>
          <a:prstGeom prst="rect">
            <a:avLst/>
          </a:prstGeom>
          <a:noFill/>
          <a:ln>
            <a:noFill/>
          </a:ln>
        </p:spPr>
        <p:txBody>
          <a:bodyPr spcFirstLastPara="1" wrap="square" lIns="182850" tIns="182850" rIns="182850" bIns="182850" anchor="t" anchorCtr="0">
            <a:noAutofit/>
          </a:bodyPr>
          <a:lstStyle/>
          <a:p>
            <a:pPr>
              <a:lnSpc>
                <a:spcPct val="120000"/>
              </a:lnSpc>
            </a:pPr>
            <a:r>
              <a:rPr lang="de" sz="2100">
                <a:solidFill>
                  <a:srgbClr val="A7B0BA"/>
                </a:solidFill>
                <a:latin typeface="Inter"/>
                <a:ea typeface="Inter"/>
                <a:cs typeface="Inter"/>
                <a:sym typeface="Inter"/>
              </a:rPr>
              <a:t>Ein Drittel aller Messe-Leads bleibt ohne Verantwortlichen &amp; Termin liegen.</a:t>
            </a:r>
            <a:endParaRPr sz="2100">
              <a:solidFill>
                <a:srgbClr val="A7B0BA"/>
              </a:solidFill>
              <a:latin typeface="Inter"/>
              <a:ea typeface="Inter"/>
              <a:cs typeface="Inter"/>
              <a:sym typeface="Inter"/>
            </a:endParaRPr>
          </a:p>
        </p:txBody>
      </p:sp>
      <p:sp>
        <p:nvSpPr>
          <p:cNvPr id="67" name="Google Shape;67;p13"/>
          <p:cNvSpPr/>
          <p:nvPr/>
        </p:nvSpPr>
        <p:spPr>
          <a:xfrm>
            <a:off x="11684000" y="2743200"/>
            <a:ext cx="5587800" cy="3759000"/>
          </a:xfrm>
          <a:prstGeom prst="roundRect">
            <a:avLst>
              <a:gd name="adj" fmla="val 16667"/>
            </a:avLst>
          </a:prstGeom>
          <a:solidFill>
            <a:srgbClr val="123330"/>
          </a:solidFill>
          <a:ln w="19050" cap="flat" cmpd="sng">
            <a:solidFill>
              <a:srgbClr val="2A4A43"/>
            </a:solidFill>
            <a:prstDash val="solid"/>
            <a:round/>
            <a:headEnd type="none" w="sm" len="sm"/>
            <a:tailEnd type="none" w="sm" len="sm"/>
          </a:ln>
        </p:spPr>
        <p:txBody>
          <a:bodyPr spcFirstLastPara="1" wrap="square" lIns="182850" tIns="182850" rIns="182850" bIns="182850" anchor="ctr" anchorCtr="0">
            <a:noAutofit/>
          </a:bodyPr>
          <a:lstStyle/>
          <a:p>
            <a:pPr algn="ctr"/>
            <a:endParaRPr sz="3600"/>
          </a:p>
        </p:txBody>
      </p:sp>
      <p:sp>
        <p:nvSpPr>
          <p:cNvPr id="68" name="Google Shape;68;p13"/>
          <p:cNvSpPr txBox="1"/>
          <p:nvPr/>
        </p:nvSpPr>
        <p:spPr>
          <a:xfrm>
            <a:off x="12065000" y="2997200"/>
            <a:ext cx="4825800" cy="1625400"/>
          </a:xfrm>
          <a:prstGeom prst="rect">
            <a:avLst/>
          </a:prstGeom>
          <a:noFill/>
          <a:ln>
            <a:noFill/>
          </a:ln>
        </p:spPr>
        <p:txBody>
          <a:bodyPr spcFirstLastPara="1" wrap="square" lIns="182850" tIns="182850" rIns="182850" bIns="182850" anchor="t" anchorCtr="0">
            <a:noAutofit/>
          </a:bodyPr>
          <a:lstStyle/>
          <a:p>
            <a:pPr>
              <a:lnSpc>
                <a:spcPct val="125000"/>
              </a:lnSpc>
            </a:pPr>
            <a:r>
              <a:rPr lang="de" sz="2200" b="1" i="1">
                <a:solidFill>
                  <a:srgbClr val="FFFFFF"/>
                </a:solidFill>
                <a:latin typeface="Inter"/>
                <a:ea typeface="Inter"/>
                <a:cs typeface="Inter"/>
                <a:sym typeface="Inter"/>
              </a:rPr>
              <a:t>„Leads haben wir genug. Mein Problem ist, dass ich erst 6 Wochen später merke, welche keiner angerufen hat.“</a:t>
            </a:r>
            <a:endParaRPr sz="2200" b="1" i="1">
              <a:solidFill>
                <a:srgbClr val="FFFFFF"/>
              </a:solidFill>
              <a:latin typeface="Inter"/>
              <a:ea typeface="Inter"/>
              <a:cs typeface="Inter"/>
              <a:sym typeface="Inter"/>
            </a:endParaRPr>
          </a:p>
        </p:txBody>
      </p:sp>
      <p:sp>
        <p:nvSpPr>
          <p:cNvPr id="69" name="Google Shape;69;p13"/>
          <p:cNvSpPr/>
          <p:nvPr/>
        </p:nvSpPr>
        <p:spPr>
          <a:xfrm>
            <a:off x="12065000" y="4775200"/>
            <a:ext cx="4825800" cy="51000"/>
          </a:xfrm>
          <a:prstGeom prst="rect">
            <a:avLst/>
          </a:prstGeom>
          <a:solidFill>
            <a:srgbClr val="2A4A43"/>
          </a:solidFill>
          <a:ln>
            <a:noFill/>
          </a:ln>
        </p:spPr>
        <p:txBody>
          <a:bodyPr spcFirstLastPara="1" wrap="square" lIns="182850" tIns="182850" rIns="182850" bIns="182850" anchor="ctr" anchorCtr="0">
            <a:noAutofit/>
          </a:bodyPr>
          <a:lstStyle/>
          <a:p>
            <a:pPr algn="ctr"/>
            <a:endParaRPr sz="3600"/>
          </a:p>
        </p:txBody>
      </p:sp>
      <p:sp>
        <p:nvSpPr>
          <p:cNvPr id="70" name="Google Shape;70;p13"/>
          <p:cNvSpPr txBox="1"/>
          <p:nvPr/>
        </p:nvSpPr>
        <p:spPr>
          <a:xfrm>
            <a:off x="12065000" y="5029200"/>
            <a:ext cx="4825800" cy="457200"/>
          </a:xfrm>
          <a:prstGeom prst="rect">
            <a:avLst/>
          </a:prstGeom>
          <a:noFill/>
          <a:ln>
            <a:noFill/>
          </a:ln>
        </p:spPr>
        <p:txBody>
          <a:bodyPr spcFirstLastPara="1" wrap="square" lIns="182850" tIns="182850" rIns="182850" bIns="182850" anchor="t" anchorCtr="0">
            <a:noAutofit/>
          </a:bodyPr>
          <a:lstStyle/>
          <a:p>
            <a:r>
              <a:rPr lang="de" sz="2300" b="1">
                <a:solidFill>
                  <a:srgbClr val="00D9C6"/>
                </a:solidFill>
                <a:latin typeface="Inter"/>
                <a:ea typeface="Inter"/>
                <a:cs typeface="Inter"/>
                <a:sym typeface="Inter"/>
              </a:rPr>
              <a:t>Jens Hartwig</a:t>
            </a:r>
            <a:endParaRPr sz="2300" b="1">
              <a:solidFill>
                <a:srgbClr val="00D9C6"/>
              </a:solidFill>
              <a:latin typeface="Inter"/>
              <a:ea typeface="Inter"/>
              <a:cs typeface="Inter"/>
              <a:sym typeface="Inter"/>
            </a:endParaRPr>
          </a:p>
        </p:txBody>
      </p:sp>
      <p:sp>
        <p:nvSpPr>
          <p:cNvPr id="71" name="Google Shape;71;p13"/>
          <p:cNvSpPr txBox="1"/>
          <p:nvPr/>
        </p:nvSpPr>
        <p:spPr>
          <a:xfrm>
            <a:off x="12065000" y="5537200"/>
            <a:ext cx="4825800" cy="457200"/>
          </a:xfrm>
          <a:prstGeom prst="rect">
            <a:avLst/>
          </a:prstGeom>
          <a:noFill/>
          <a:ln>
            <a:noFill/>
          </a:ln>
        </p:spPr>
        <p:txBody>
          <a:bodyPr spcFirstLastPara="1" wrap="square" lIns="182850" tIns="182850" rIns="182850" bIns="182850" anchor="t" anchorCtr="0">
            <a:noAutofit/>
          </a:bodyPr>
          <a:lstStyle/>
          <a:p>
            <a:r>
              <a:rPr lang="de" sz="1900">
                <a:solidFill>
                  <a:srgbClr val="A7B0BA"/>
                </a:solidFill>
                <a:latin typeface="Inter"/>
                <a:ea typeface="Inter"/>
                <a:cs typeface="Inter"/>
                <a:sym typeface="Inter"/>
              </a:rPr>
              <a:t>Vertriebsleiter · Weidner Antriebstechnik</a:t>
            </a:r>
            <a:endParaRPr sz="1900">
              <a:solidFill>
                <a:srgbClr val="A7B0BA"/>
              </a:solidFill>
              <a:latin typeface="Inter"/>
              <a:ea typeface="Inter"/>
              <a:cs typeface="Inter"/>
              <a:sym typeface="Inter"/>
            </a:endParaRPr>
          </a:p>
        </p:txBody>
      </p:sp>
      <p:sp>
        <p:nvSpPr>
          <p:cNvPr id="72" name="Google Shape;72;p13"/>
          <p:cNvSpPr/>
          <p:nvPr/>
        </p:nvSpPr>
        <p:spPr>
          <a:xfrm>
            <a:off x="1016000" y="6908800"/>
            <a:ext cx="16255800" cy="1828800"/>
          </a:xfrm>
          <a:prstGeom prst="roundRect">
            <a:avLst>
              <a:gd name="adj" fmla="val 16667"/>
            </a:avLst>
          </a:prstGeom>
          <a:solidFill>
            <a:srgbClr val="123330"/>
          </a:solidFill>
          <a:ln w="15250" cap="flat" cmpd="sng">
            <a:solidFill>
              <a:srgbClr val="2A4A43"/>
            </a:solidFill>
            <a:prstDash val="solid"/>
            <a:round/>
            <a:headEnd type="none" w="sm" len="sm"/>
            <a:tailEnd type="none" w="sm" len="sm"/>
          </a:ln>
        </p:spPr>
        <p:txBody>
          <a:bodyPr spcFirstLastPara="1" wrap="square" lIns="182850" tIns="182850" rIns="182850" bIns="182850" anchor="ctr" anchorCtr="0">
            <a:noAutofit/>
          </a:bodyPr>
          <a:lstStyle/>
          <a:p>
            <a:pPr algn="ctr"/>
            <a:endParaRPr sz="3600"/>
          </a:p>
        </p:txBody>
      </p:sp>
      <p:sp>
        <p:nvSpPr>
          <p:cNvPr id="73" name="Google Shape;73;p13"/>
          <p:cNvSpPr/>
          <p:nvPr/>
        </p:nvSpPr>
        <p:spPr>
          <a:xfrm>
            <a:off x="1397000" y="7518400"/>
            <a:ext cx="2413200" cy="609600"/>
          </a:xfrm>
          <a:prstGeom prst="roundRect">
            <a:avLst>
              <a:gd name="adj" fmla="val 16667"/>
            </a:avLst>
          </a:prstGeom>
          <a:solidFill>
            <a:srgbClr val="FF7A3D"/>
          </a:solidFill>
          <a:ln>
            <a:noFill/>
          </a:ln>
        </p:spPr>
        <p:txBody>
          <a:bodyPr spcFirstLastPara="1" wrap="square" lIns="182850" tIns="182850" rIns="182850" bIns="182850" anchor="ctr" anchorCtr="0">
            <a:noAutofit/>
          </a:bodyPr>
          <a:lstStyle/>
          <a:p>
            <a:pPr algn="ctr"/>
            <a:endParaRPr sz="3600"/>
          </a:p>
        </p:txBody>
      </p:sp>
      <p:sp>
        <p:nvSpPr>
          <p:cNvPr id="74" name="Google Shape;74;p13"/>
          <p:cNvSpPr txBox="1"/>
          <p:nvPr/>
        </p:nvSpPr>
        <p:spPr>
          <a:xfrm>
            <a:off x="1397000" y="7594600"/>
            <a:ext cx="2413200" cy="457200"/>
          </a:xfrm>
          <a:prstGeom prst="rect">
            <a:avLst/>
          </a:prstGeom>
          <a:noFill/>
          <a:ln>
            <a:noFill/>
          </a:ln>
        </p:spPr>
        <p:txBody>
          <a:bodyPr spcFirstLastPara="1" wrap="square" lIns="182850" tIns="182850" rIns="182850" bIns="182850" anchor="t" anchorCtr="0">
            <a:noAutofit/>
          </a:bodyPr>
          <a:lstStyle/>
          <a:p>
            <a:pPr algn="ctr"/>
            <a:r>
              <a:rPr lang="de" b="1">
                <a:solidFill>
                  <a:srgbClr val="0B211F"/>
                </a:solidFill>
                <a:latin typeface="Inter"/>
                <a:ea typeface="Inter"/>
                <a:cs typeface="Inter"/>
                <a:sym typeface="Inter"/>
              </a:rPr>
              <a:t>DIE REALITÄT</a:t>
            </a:r>
            <a:endParaRPr b="1">
              <a:solidFill>
                <a:srgbClr val="0B211F"/>
              </a:solidFill>
              <a:latin typeface="Inter"/>
              <a:ea typeface="Inter"/>
              <a:cs typeface="Inter"/>
              <a:sym typeface="Inter"/>
            </a:endParaRPr>
          </a:p>
        </p:txBody>
      </p:sp>
      <p:sp>
        <p:nvSpPr>
          <p:cNvPr id="75" name="Google Shape;75;p13"/>
          <p:cNvSpPr txBox="1"/>
          <p:nvPr/>
        </p:nvSpPr>
        <p:spPr>
          <a:xfrm>
            <a:off x="4191000" y="7162800"/>
            <a:ext cx="12700200" cy="1320600"/>
          </a:xfrm>
          <a:prstGeom prst="rect">
            <a:avLst/>
          </a:prstGeom>
          <a:noFill/>
          <a:ln>
            <a:noFill/>
          </a:ln>
        </p:spPr>
        <p:txBody>
          <a:bodyPr spcFirstLastPara="1" wrap="square" lIns="182850" tIns="182850" rIns="182850" bIns="182850" anchor="t" anchorCtr="0">
            <a:noAutofit/>
          </a:bodyPr>
          <a:lstStyle/>
          <a:p>
            <a:pPr>
              <a:lnSpc>
                <a:spcPct val="125000"/>
              </a:lnSpc>
            </a:pPr>
            <a:r>
              <a:rPr lang="de" sz="2200">
                <a:solidFill>
                  <a:srgbClr val="FFFFFF"/>
                </a:solidFill>
                <a:latin typeface="Inter"/>
                <a:ea typeface="Inter"/>
                <a:cs typeface="Inter"/>
                <a:sym typeface="Inter"/>
              </a:rPr>
              <a:t>Das Problem sind nicht fehlende Leads – sondern das fehlende System: Jeder Vertriebler pflegt seine eigene Excel-Liste in Outlook, während heißer Erstumsatz unbemerkt beim Wettbewerber landet.</a:t>
            </a:r>
            <a:endParaRPr sz="2200">
              <a:solidFill>
                <a:srgbClr val="FFFFFF"/>
              </a:solidFill>
              <a:latin typeface="Inter"/>
              <a:ea typeface="Inter"/>
              <a:cs typeface="Inter"/>
              <a:sym typeface="Inter"/>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79"/>
        <p:cNvGrpSpPr/>
        <p:nvPr/>
      </p:nvGrpSpPr>
      <p:grpSpPr>
        <a:xfrm>
          <a:off x="0" y="0"/>
          <a:ext cx="0" cy="0"/>
          <a:chOff x="0" y="0"/>
          <a:chExt cx="0" cy="0"/>
        </a:xfrm>
      </p:grpSpPr>
      <p:sp>
        <p:nvSpPr>
          <p:cNvPr id="80" name="Google Shape;80;p14"/>
          <p:cNvSpPr txBox="1"/>
          <p:nvPr/>
        </p:nvSpPr>
        <p:spPr>
          <a:xfrm>
            <a:off x="15240000" y="558800"/>
            <a:ext cx="2032200" cy="508200"/>
          </a:xfrm>
          <a:prstGeom prst="rect">
            <a:avLst/>
          </a:prstGeom>
          <a:noFill/>
          <a:ln>
            <a:noFill/>
          </a:ln>
        </p:spPr>
        <p:txBody>
          <a:bodyPr spcFirstLastPara="1" wrap="square" lIns="182850" tIns="182850" rIns="182850" bIns="182850" anchor="t" anchorCtr="0">
            <a:noAutofit/>
          </a:bodyPr>
          <a:lstStyle/>
          <a:p>
            <a:pPr algn="r"/>
            <a:r>
              <a:rPr lang="de" sz="2200" b="1">
                <a:solidFill>
                  <a:srgbClr val="00D9C6"/>
                </a:solidFill>
                <a:latin typeface="Inter"/>
                <a:ea typeface="Inter"/>
                <a:cs typeface="Inter"/>
                <a:sym typeface="Inter"/>
              </a:rPr>
              <a:t>LeadPilot</a:t>
            </a:r>
            <a:endParaRPr sz="2200" b="1">
              <a:solidFill>
                <a:srgbClr val="00D9C6"/>
              </a:solidFill>
              <a:latin typeface="Inter"/>
              <a:ea typeface="Inter"/>
              <a:cs typeface="Inter"/>
              <a:sym typeface="Inter"/>
            </a:endParaRPr>
          </a:p>
        </p:txBody>
      </p:sp>
      <p:sp>
        <p:nvSpPr>
          <p:cNvPr id="81" name="Google Shape;81;p14"/>
          <p:cNvSpPr txBox="1"/>
          <p:nvPr/>
        </p:nvSpPr>
        <p:spPr>
          <a:xfrm>
            <a:off x="12954000" y="558800"/>
            <a:ext cx="2032200" cy="508200"/>
          </a:xfrm>
          <a:prstGeom prst="rect">
            <a:avLst/>
          </a:prstGeom>
          <a:noFill/>
          <a:ln>
            <a:noFill/>
          </a:ln>
        </p:spPr>
        <p:txBody>
          <a:bodyPr spcFirstLastPara="1" wrap="square" lIns="182850" tIns="182850" rIns="182850" bIns="182850" anchor="t" anchorCtr="0">
            <a:noAutofit/>
          </a:bodyPr>
          <a:lstStyle/>
          <a:p>
            <a:pPr algn="r"/>
            <a:r>
              <a:rPr lang="de" sz="2000" b="1">
                <a:solidFill>
                  <a:srgbClr val="75828D"/>
                </a:solidFill>
                <a:latin typeface="Inter"/>
                <a:ea typeface="Inter"/>
                <a:cs typeface="Inter"/>
                <a:sym typeface="Inter"/>
              </a:rPr>
              <a:t>02 / 05</a:t>
            </a:r>
            <a:endParaRPr sz="2000" b="1">
              <a:solidFill>
                <a:srgbClr val="75828D"/>
              </a:solidFill>
              <a:latin typeface="Inter"/>
              <a:ea typeface="Inter"/>
              <a:cs typeface="Inter"/>
              <a:sym typeface="Inter"/>
            </a:endParaRPr>
          </a:p>
        </p:txBody>
      </p:sp>
      <p:sp>
        <p:nvSpPr>
          <p:cNvPr id="82" name="Google Shape;82;p14"/>
          <p:cNvSpPr txBox="1"/>
          <p:nvPr/>
        </p:nvSpPr>
        <p:spPr>
          <a:xfrm>
            <a:off x="1016000" y="558800"/>
            <a:ext cx="11683800" cy="457200"/>
          </a:xfrm>
          <a:prstGeom prst="rect">
            <a:avLst/>
          </a:prstGeom>
          <a:noFill/>
          <a:ln>
            <a:noFill/>
          </a:ln>
        </p:spPr>
        <p:txBody>
          <a:bodyPr spcFirstLastPara="1" wrap="square" lIns="182850" tIns="182850" rIns="182850" bIns="182850" anchor="t" anchorCtr="0">
            <a:noAutofit/>
          </a:bodyPr>
          <a:lstStyle/>
          <a:p>
            <a:r>
              <a:rPr lang="de" sz="2000" b="1">
                <a:solidFill>
                  <a:srgbClr val="FF7A3D"/>
                </a:solidFill>
                <a:latin typeface="Inter"/>
                <a:ea typeface="Inter"/>
                <a:cs typeface="Inter"/>
                <a:sym typeface="Inter"/>
              </a:rPr>
              <a:t>WAS DAS KOSTET · DER SCHMERZ</a:t>
            </a:r>
            <a:endParaRPr sz="2000" b="1">
              <a:solidFill>
                <a:srgbClr val="FF7A3D"/>
              </a:solidFill>
              <a:latin typeface="Inter"/>
              <a:ea typeface="Inter"/>
              <a:cs typeface="Inter"/>
              <a:sym typeface="Inter"/>
            </a:endParaRPr>
          </a:p>
        </p:txBody>
      </p:sp>
      <p:sp>
        <p:nvSpPr>
          <p:cNvPr id="83" name="Google Shape;83;p14"/>
          <p:cNvSpPr txBox="1"/>
          <p:nvPr/>
        </p:nvSpPr>
        <p:spPr>
          <a:xfrm>
            <a:off x="1016000" y="1066800"/>
            <a:ext cx="16255800" cy="863400"/>
          </a:xfrm>
          <a:prstGeom prst="rect">
            <a:avLst/>
          </a:prstGeom>
          <a:noFill/>
          <a:ln>
            <a:noFill/>
          </a:ln>
        </p:spPr>
        <p:txBody>
          <a:bodyPr spcFirstLastPara="1" wrap="square" lIns="182850" tIns="182850" rIns="182850" bIns="182850" anchor="t" anchorCtr="0">
            <a:noAutofit/>
          </a:bodyPr>
          <a:lstStyle/>
          <a:p>
            <a:r>
              <a:rPr lang="de" sz="4200" b="1">
                <a:solidFill>
                  <a:srgbClr val="FFFFFF"/>
                </a:solidFill>
                <a:latin typeface="Inter"/>
                <a:ea typeface="Inter"/>
                <a:cs typeface="Inter"/>
                <a:sym typeface="Inter"/>
              </a:rPr>
              <a:t>Das kostet die Excel-Nachbereitung jedes Jahr</a:t>
            </a:r>
            <a:endParaRPr sz="4200" b="1">
              <a:solidFill>
                <a:srgbClr val="FFFFFF"/>
              </a:solidFill>
              <a:latin typeface="Inter"/>
              <a:ea typeface="Inter"/>
              <a:cs typeface="Inter"/>
              <a:sym typeface="Inter"/>
            </a:endParaRPr>
          </a:p>
        </p:txBody>
      </p:sp>
      <p:sp>
        <p:nvSpPr>
          <p:cNvPr id="84" name="Google Shape;84;p14"/>
          <p:cNvSpPr txBox="1"/>
          <p:nvPr/>
        </p:nvSpPr>
        <p:spPr>
          <a:xfrm>
            <a:off x="1016000" y="1981200"/>
            <a:ext cx="16255800" cy="558600"/>
          </a:xfrm>
          <a:prstGeom prst="rect">
            <a:avLst/>
          </a:prstGeom>
          <a:noFill/>
          <a:ln>
            <a:noFill/>
          </a:ln>
        </p:spPr>
        <p:txBody>
          <a:bodyPr spcFirstLastPara="1" wrap="square" lIns="182850" tIns="182850" rIns="182850" bIns="182850" anchor="t" anchorCtr="0">
            <a:noAutofit/>
          </a:bodyPr>
          <a:lstStyle/>
          <a:p>
            <a:r>
              <a:rPr lang="de" sz="2300">
                <a:solidFill>
                  <a:srgbClr val="A7B0BA"/>
                </a:solidFill>
                <a:latin typeface="Inter"/>
                <a:ea typeface="Inter"/>
                <a:cs typeface="Inter"/>
                <a:sym typeface="Inter"/>
              </a:rPr>
              <a:t>Zwei Schmerzpunkte im Vertriebsalltag, die massiv Zeit, Umsatz und Nerven kosten:</a:t>
            </a:r>
            <a:endParaRPr sz="2300">
              <a:solidFill>
                <a:srgbClr val="A7B0BA"/>
              </a:solidFill>
              <a:latin typeface="Inter"/>
              <a:ea typeface="Inter"/>
              <a:cs typeface="Inter"/>
              <a:sym typeface="Inter"/>
            </a:endParaRPr>
          </a:p>
        </p:txBody>
      </p:sp>
      <p:sp>
        <p:nvSpPr>
          <p:cNvPr id="85" name="Google Shape;85;p14"/>
          <p:cNvSpPr/>
          <p:nvPr/>
        </p:nvSpPr>
        <p:spPr>
          <a:xfrm>
            <a:off x="1016000" y="2743200"/>
            <a:ext cx="7873800" cy="4368600"/>
          </a:xfrm>
          <a:prstGeom prst="roundRect">
            <a:avLst>
              <a:gd name="adj" fmla="val 16667"/>
            </a:avLst>
          </a:prstGeom>
          <a:solidFill>
            <a:srgbClr val="1A2825"/>
          </a:solidFill>
          <a:ln w="22850" cap="flat" cmpd="sng">
            <a:solidFill>
              <a:srgbClr val="FF7A3D"/>
            </a:solidFill>
            <a:prstDash val="solid"/>
            <a:round/>
            <a:headEnd type="none" w="sm" len="sm"/>
            <a:tailEnd type="none" w="sm" len="sm"/>
          </a:ln>
        </p:spPr>
        <p:txBody>
          <a:bodyPr spcFirstLastPara="1" wrap="square" lIns="182850" tIns="182850" rIns="182850" bIns="182850" anchor="ctr" anchorCtr="0">
            <a:noAutofit/>
          </a:bodyPr>
          <a:lstStyle/>
          <a:p>
            <a:pPr algn="ctr"/>
            <a:endParaRPr sz="3600"/>
          </a:p>
        </p:txBody>
      </p:sp>
      <p:sp>
        <p:nvSpPr>
          <p:cNvPr id="86" name="Google Shape;86;p14"/>
          <p:cNvSpPr txBox="1"/>
          <p:nvPr/>
        </p:nvSpPr>
        <p:spPr>
          <a:xfrm>
            <a:off x="1397000" y="2997200"/>
            <a:ext cx="7111800" cy="406200"/>
          </a:xfrm>
          <a:prstGeom prst="rect">
            <a:avLst/>
          </a:prstGeom>
          <a:noFill/>
          <a:ln>
            <a:noFill/>
          </a:ln>
        </p:spPr>
        <p:txBody>
          <a:bodyPr spcFirstLastPara="1" wrap="square" lIns="182850" tIns="182850" rIns="182850" bIns="182850" anchor="t" anchorCtr="0">
            <a:noAutofit/>
          </a:bodyPr>
          <a:lstStyle/>
          <a:p>
            <a:r>
              <a:rPr lang="de" sz="1900" b="1">
                <a:solidFill>
                  <a:srgbClr val="FF7A3D"/>
                </a:solidFill>
                <a:latin typeface="Inter"/>
                <a:ea typeface="Inter"/>
                <a:cs typeface="Inter"/>
                <a:sym typeface="Inter"/>
              </a:rPr>
              <a:t>MÖGLICHER ERSTUMSATZ PRO JAHR</a:t>
            </a:r>
            <a:endParaRPr sz="1900" b="1">
              <a:solidFill>
                <a:srgbClr val="FF7A3D"/>
              </a:solidFill>
              <a:latin typeface="Inter"/>
              <a:ea typeface="Inter"/>
              <a:cs typeface="Inter"/>
              <a:sym typeface="Inter"/>
            </a:endParaRPr>
          </a:p>
        </p:txBody>
      </p:sp>
      <p:sp>
        <p:nvSpPr>
          <p:cNvPr id="87" name="Google Shape;87;p14"/>
          <p:cNvSpPr txBox="1"/>
          <p:nvPr/>
        </p:nvSpPr>
        <p:spPr>
          <a:xfrm>
            <a:off x="1397000" y="3403600"/>
            <a:ext cx="7111800" cy="1117800"/>
          </a:xfrm>
          <a:prstGeom prst="rect">
            <a:avLst/>
          </a:prstGeom>
          <a:noFill/>
          <a:ln>
            <a:noFill/>
          </a:ln>
        </p:spPr>
        <p:txBody>
          <a:bodyPr spcFirstLastPara="1" wrap="square" lIns="182850" tIns="182850" rIns="182850" bIns="182850" anchor="t" anchorCtr="0">
            <a:noAutofit/>
          </a:bodyPr>
          <a:lstStyle/>
          <a:p>
            <a:r>
              <a:rPr lang="de" sz="7600" b="1">
                <a:solidFill>
                  <a:srgbClr val="FF7A3D"/>
                </a:solidFill>
                <a:latin typeface="Inter"/>
                <a:ea typeface="Inter"/>
                <a:cs typeface="Inter"/>
                <a:sym typeface="Inter"/>
              </a:rPr>
              <a:t>150.000 €</a:t>
            </a:r>
            <a:endParaRPr sz="7600" b="1">
              <a:solidFill>
                <a:srgbClr val="FF7A3D"/>
              </a:solidFill>
              <a:latin typeface="Inter"/>
              <a:ea typeface="Inter"/>
              <a:cs typeface="Inter"/>
              <a:sym typeface="Inter"/>
            </a:endParaRPr>
          </a:p>
        </p:txBody>
      </p:sp>
      <p:sp>
        <p:nvSpPr>
          <p:cNvPr id="88" name="Google Shape;88;p14"/>
          <p:cNvSpPr txBox="1"/>
          <p:nvPr/>
        </p:nvSpPr>
        <p:spPr>
          <a:xfrm>
            <a:off x="1397000" y="4622800"/>
            <a:ext cx="7111800" cy="508200"/>
          </a:xfrm>
          <a:prstGeom prst="rect">
            <a:avLst/>
          </a:prstGeom>
          <a:noFill/>
          <a:ln>
            <a:noFill/>
          </a:ln>
        </p:spPr>
        <p:txBody>
          <a:bodyPr spcFirstLastPara="1" wrap="square" lIns="182850" tIns="182850" rIns="182850" bIns="182850" anchor="t" anchorCtr="0">
            <a:noAutofit/>
          </a:bodyPr>
          <a:lstStyle/>
          <a:p>
            <a:r>
              <a:rPr lang="de" sz="2200" b="1">
                <a:solidFill>
                  <a:srgbClr val="FFFFFF"/>
                </a:solidFill>
                <a:latin typeface="Inter"/>
                <a:ea typeface="Inter"/>
                <a:cs typeface="Inter"/>
                <a:sym typeface="Inter"/>
              </a:rPr>
              <a:t>3 Messen  ×  2 Aufträge  ×  25.000 €</a:t>
            </a:r>
            <a:endParaRPr sz="2200" b="1">
              <a:solidFill>
                <a:srgbClr val="FFFFFF"/>
              </a:solidFill>
              <a:latin typeface="Inter"/>
              <a:ea typeface="Inter"/>
              <a:cs typeface="Inter"/>
              <a:sym typeface="Inter"/>
            </a:endParaRPr>
          </a:p>
        </p:txBody>
      </p:sp>
      <p:sp>
        <p:nvSpPr>
          <p:cNvPr id="89" name="Google Shape;89;p14"/>
          <p:cNvSpPr txBox="1"/>
          <p:nvPr/>
        </p:nvSpPr>
        <p:spPr>
          <a:xfrm>
            <a:off x="1397000" y="5232400"/>
            <a:ext cx="7111800" cy="1396800"/>
          </a:xfrm>
          <a:prstGeom prst="rect">
            <a:avLst/>
          </a:prstGeom>
          <a:noFill/>
          <a:ln>
            <a:noFill/>
          </a:ln>
        </p:spPr>
        <p:txBody>
          <a:bodyPr spcFirstLastPara="1" wrap="square" lIns="182850" tIns="182850" rIns="182850" bIns="182850" anchor="t" anchorCtr="0">
            <a:noAutofit/>
          </a:bodyPr>
          <a:lstStyle/>
          <a:p>
            <a:pPr>
              <a:lnSpc>
                <a:spcPct val="125000"/>
              </a:lnSpc>
            </a:pPr>
            <a:r>
              <a:rPr lang="de" sz="2000">
                <a:solidFill>
                  <a:srgbClr val="A7B0BA"/>
                </a:solidFill>
                <a:latin typeface="Inter"/>
                <a:ea typeface="Inter"/>
                <a:cs typeface="Inter"/>
                <a:sym typeface="Inter"/>
              </a:rPr>
              <a:t>Direkter Erstumsatz aus liegengebliebenen Messe-Anfragen, die unbemerkt beim Wettbewerber landen. (Folgeaufträge noch nicht mitgerechnet)</a:t>
            </a:r>
            <a:endParaRPr sz="2000">
              <a:solidFill>
                <a:srgbClr val="A7B0BA"/>
              </a:solidFill>
              <a:latin typeface="Inter"/>
              <a:ea typeface="Inter"/>
              <a:cs typeface="Inter"/>
              <a:sym typeface="Inter"/>
            </a:endParaRPr>
          </a:p>
        </p:txBody>
      </p:sp>
      <p:sp>
        <p:nvSpPr>
          <p:cNvPr id="90" name="Google Shape;90;p14"/>
          <p:cNvSpPr/>
          <p:nvPr/>
        </p:nvSpPr>
        <p:spPr>
          <a:xfrm>
            <a:off x="9398000" y="2743200"/>
            <a:ext cx="7873800" cy="4368600"/>
          </a:xfrm>
          <a:prstGeom prst="roundRect">
            <a:avLst>
              <a:gd name="adj" fmla="val 16667"/>
            </a:avLst>
          </a:prstGeom>
          <a:solidFill>
            <a:srgbClr val="123330"/>
          </a:solidFill>
          <a:ln w="19050" cap="flat" cmpd="sng">
            <a:solidFill>
              <a:srgbClr val="00D9C6"/>
            </a:solidFill>
            <a:prstDash val="solid"/>
            <a:round/>
            <a:headEnd type="none" w="sm" len="sm"/>
            <a:tailEnd type="none" w="sm" len="sm"/>
          </a:ln>
        </p:spPr>
        <p:txBody>
          <a:bodyPr spcFirstLastPara="1" wrap="square" lIns="182850" tIns="182850" rIns="182850" bIns="182850" anchor="ctr" anchorCtr="0">
            <a:noAutofit/>
          </a:bodyPr>
          <a:lstStyle/>
          <a:p>
            <a:pPr algn="ctr"/>
            <a:endParaRPr sz="3600"/>
          </a:p>
        </p:txBody>
      </p:sp>
      <p:sp>
        <p:nvSpPr>
          <p:cNvPr id="91" name="Google Shape;91;p14"/>
          <p:cNvSpPr txBox="1"/>
          <p:nvPr/>
        </p:nvSpPr>
        <p:spPr>
          <a:xfrm>
            <a:off x="9779000" y="2997200"/>
            <a:ext cx="7111800" cy="406200"/>
          </a:xfrm>
          <a:prstGeom prst="rect">
            <a:avLst/>
          </a:prstGeom>
          <a:noFill/>
          <a:ln>
            <a:noFill/>
          </a:ln>
        </p:spPr>
        <p:txBody>
          <a:bodyPr spcFirstLastPara="1" wrap="square" lIns="182850" tIns="182850" rIns="182850" bIns="182850" anchor="t" anchorCtr="0">
            <a:noAutofit/>
          </a:bodyPr>
          <a:lstStyle/>
          <a:p>
            <a:r>
              <a:rPr lang="de" sz="1900" b="1">
                <a:solidFill>
                  <a:srgbClr val="00D9C6"/>
                </a:solidFill>
                <a:latin typeface="Inter"/>
                <a:ea typeface="Inter"/>
                <a:cs typeface="Inter"/>
                <a:sym typeface="Inter"/>
              </a:rPr>
              <a:t>AUFWAND FÜR DEN FORECAST PRO JAHR</a:t>
            </a:r>
            <a:endParaRPr sz="1900" b="1">
              <a:solidFill>
                <a:srgbClr val="00D9C6"/>
              </a:solidFill>
              <a:latin typeface="Inter"/>
              <a:ea typeface="Inter"/>
              <a:cs typeface="Inter"/>
              <a:sym typeface="Inter"/>
            </a:endParaRPr>
          </a:p>
        </p:txBody>
      </p:sp>
      <p:sp>
        <p:nvSpPr>
          <p:cNvPr id="92" name="Google Shape;92;p14"/>
          <p:cNvSpPr txBox="1"/>
          <p:nvPr/>
        </p:nvSpPr>
        <p:spPr>
          <a:xfrm>
            <a:off x="9779000" y="3403600"/>
            <a:ext cx="7111800" cy="1117800"/>
          </a:xfrm>
          <a:prstGeom prst="rect">
            <a:avLst/>
          </a:prstGeom>
          <a:noFill/>
          <a:ln>
            <a:noFill/>
          </a:ln>
        </p:spPr>
        <p:txBody>
          <a:bodyPr spcFirstLastPara="1" wrap="square" lIns="182850" tIns="182850" rIns="182850" bIns="182850" anchor="t" anchorCtr="0">
            <a:noAutofit/>
          </a:bodyPr>
          <a:lstStyle/>
          <a:p>
            <a:r>
              <a:rPr lang="de" sz="7600" b="1">
                <a:solidFill>
                  <a:srgbClr val="00D9C6"/>
                </a:solidFill>
                <a:latin typeface="Inter"/>
                <a:ea typeface="Inter"/>
                <a:cs typeface="Inter"/>
                <a:sym typeface="Inter"/>
              </a:rPr>
              <a:t>150 Std.</a:t>
            </a:r>
            <a:endParaRPr sz="7600" b="1">
              <a:solidFill>
                <a:srgbClr val="00D9C6"/>
              </a:solidFill>
              <a:latin typeface="Inter"/>
              <a:ea typeface="Inter"/>
              <a:cs typeface="Inter"/>
              <a:sym typeface="Inter"/>
            </a:endParaRPr>
          </a:p>
        </p:txBody>
      </p:sp>
      <p:sp>
        <p:nvSpPr>
          <p:cNvPr id="93" name="Google Shape;93;p14"/>
          <p:cNvSpPr txBox="1"/>
          <p:nvPr/>
        </p:nvSpPr>
        <p:spPr>
          <a:xfrm>
            <a:off x="9779000" y="4622800"/>
            <a:ext cx="7111800" cy="508200"/>
          </a:xfrm>
          <a:prstGeom prst="rect">
            <a:avLst/>
          </a:prstGeom>
          <a:noFill/>
          <a:ln>
            <a:noFill/>
          </a:ln>
        </p:spPr>
        <p:txBody>
          <a:bodyPr spcFirstLastPara="1" wrap="square" lIns="182850" tIns="182850" rIns="182850" bIns="182850" anchor="t" anchorCtr="0">
            <a:noAutofit/>
          </a:bodyPr>
          <a:lstStyle/>
          <a:p>
            <a:r>
              <a:rPr lang="de" sz="2200" b="1">
                <a:solidFill>
                  <a:srgbClr val="FFFFFF"/>
                </a:solidFill>
                <a:latin typeface="Inter"/>
                <a:ea typeface="Inter"/>
                <a:cs typeface="Inter"/>
                <a:sym typeface="Inter"/>
              </a:rPr>
              <a:t>3 Stunden pro Freitag  ×  50 Wochen</a:t>
            </a:r>
            <a:endParaRPr sz="2200" b="1">
              <a:solidFill>
                <a:srgbClr val="FFFFFF"/>
              </a:solidFill>
              <a:latin typeface="Inter"/>
              <a:ea typeface="Inter"/>
              <a:cs typeface="Inter"/>
              <a:sym typeface="Inter"/>
            </a:endParaRPr>
          </a:p>
        </p:txBody>
      </p:sp>
      <p:sp>
        <p:nvSpPr>
          <p:cNvPr id="94" name="Google Shape;94;p14"/>
          <p:cNvSpPr txBox="1"/>
          <p:nvPr/>
        </p:nvSpPr>
        <p:spPr>
          <a:xfrm>
            <a:off x="9779000" y="5232400"/>
            <a:ext cx="7111800" cy="1396800"/>
          </a:xfrm>
          <a:prstGeom prst="rect">
            <a:avLst/>
          </a:prstGeom>
          <a:noFill/>
          <a:ln>
            <a:noFill/>
          </a:ln>
        </p:spPr>
        <p:txBody>
          <a:bodyPr spcFirstLastPara="1" wrap="square" lIns="182850" tIns="182850" rIns="182850" bIns="182850" anchor="t" anchorCtr="0">
            <a:noAutofit/>
          </a:bodyPr>
          <a:lstStyle/>
          <a:p>
            <a:pPr>
              <a:lnSpc>
                <a:spcPct val="125000"/>
              </a:lnSpc>
            </a:pPr>
            <a:r>
              <a:rPr lang="de" sz="2000">
                <a:solidFill>
                  <a:srgbClr val="A7B0BA"/>
                </a:solidFill>
                <a:latin typeface="Inter"/>
                <a:ea typeface="Inter"/>
                <a:cs typeface="Inter"/>
                <a:sym typeface="Inter"/>
              </a:rPr>
              <a:t>Jede Woche 3 Stunden Zahlen aus 7 Vertriebslisten zusammensuchen. Zeit, die Herr Hartwig beim Kunden und im Team-Coaching fehlt.</a:t>
            </a:r>
            <a:endParaRPr sz="2000">
              <a:solidFill>
                <a:srgbClr val="A7B0BA"/>
              </a:solidFill>
              <a:latin typeface="Inter"/>
              <a:ea typeface="Inter"/>
              <a:cs typeface="Inter"/>
              <a:sym typeface="Inter"/>
            </a:endParaRPr>
          </a:p>
        </p:txBody>
      </p:sp>
      <p:sp>
        <p:nvSpPr>
          <p:cNvPr id="95" name="Google Shape;95;p14"/>
          <p:cNvSpPr/>
          <p:nvPr/>
        </p:nvSpPr>
        <p:spPr>
          <a:xfrm>
            <a:off x="1016000" y="7467600"/>
            <a:ext cx="16255800" cy="1575000"/>
          </a:xfrm>
          <a:prstGeom prst="roundRect">
            <a:avLst>
              <a:gd name="adj" fmla="val 16667"/>
            </a:avLst>
          </a:prstGeom>
          <a:solidFill>
            <a:srgbClr val="123330"/>
          </a:solidFill>
          <a:ln w="12700" cap="flat" cmpd="sng">
            <a:solidFill>
              <a:srgbClr val="2A4A43"/>
            </a:solidFill>
            <a:prstDash val="solid"/>
            <a:round/>
            <a:headEnd type="none" w="sm" len="sm"/>
            <a:tailEnd type="none" w="sm" len="sm"/>
          </a:ln>
        </p:spPr>
        <p:txBody>
          <a:bodyPr spcFirstLastPara="1" wrap="square" lIns="182850" tIns="182850" rIns="182850" bIns="182850" anchor="ctr" anchorCtr="0">
            <a:noAutofit/>
          </a:bodyPr>
          <a:lstStyle/>
          <a:p>
            <a:pPr algn="ctr"/>
            <a:endParaRPr sz="3600"/>
          </a:p>
        </p:txBody>
      </p:sp>
      <p:sp>
        <p:nvSpPr>
          <p:cNvPr id="96" name="Google Shape;96;p14"/>
          <p:cNvSpPr txBox="1"/>
          <p:nvPr/>
        </p:nvSpPr>
        <p:spPr>
          <a:xfrm>
            <a:off x="1397000" y="7670800"/>
            <a:ext cx="15493800" cy="1143000"/>
          </a:xfrm>
          <a:prstGeom prst="rect">
            <a:avLst/>
          </a:prstGeom>
          <a:noFill/>
          <a:ln>
            <a:noFill/>
          </a:ln>
        </p:spPr>
        <p:txBody>
          <a:bodyPr spcFirstLastPara="1" wrap="square" lIns="182850" tIns="182850" rIns="182850" bIns="182850" anchor="t" anchorCtr="0">
            <a:noAutofit/>
          </a:bodyPr>
          <a:lstStyle/>
          <a:p>
            <a:pPr algn="ctr">
              <a:lnSpc>
                <a:spcPct val="130000"/>
              </a:lnSpc>
            </a:pPr>
            <a:r>
              <a:rPr lang="de" sz="2300" b="1" i="1">
                <a:solidFill>
                  <a:srgbClr val="FFFFFF"/>
                </a:solidFill>
                <a:latin typeface="Inter"/>
                <a:ea typeface="Inter"/>
                <a:cs typeface="Inter"/>
                <a:sym typeface="Inter"/>
              </a:rPr>
              <a:t>„Drei Stunden jeden Freitag für einen Forecast, der vor Geschäftsführer Weidner trotzdem zur Hälfte auf Bauchgefühl basiert – und Herr Hartwig steht als Schätzer da.“</a:t>
            </a:r>
            <a:endParaRPr sz="2300" b="1" i="1">
              <a:solidFill>
                <a:srgbClr val="FFFFFF"/>
              </a:solidFill>
              <a:latin typeface="Inter"/>
              <a:ea typeface="Inter"/>
              <a:cs typeface="Inter"/>
              <a:sym typeface="Inter"/>
            </a:endParaRPr>
          </a:p>
        </p:txBody>
      </p:sp>
      <p:sp>
        <p:nvSpPr>
          <p:cNvPr id="97" name="Google Shape;97;p14"/>
          <p:cNvSpPr txBox="1"/>
          <p:nvPr/>
        </p:nvSpPr>
        <p:spPr>
          <a:xfrm>
            <a:off x="1016000" y="9296400"/>
            <a:ext cx="16255800" cy="406200"/>
          </a:xfrm>
          <a:prstGeom prst="rect">
            <a:avLst/>
          </a:prstGeom>
          <a:noFill/>
          <a:ln>
            <a:noFill/>
          </a:ln>
        </p:spPr>
        <p:txBody>
          <a:bodyPr spcFirstLastPara="1" wrap="square" lIns="182850" tIns="182850" rIns="182850" bIns="182850" anchor="t" anchorCtr="0">
            <a:noAutofit/>
          </a:bodyPr>
          <a:lstStyle/>
          <a:p>
            <a:r>
              <a:rPr lang="de" sz="1700">
                <a:solidFill>
                  <a:srgbClr val="75828D"/>
                </a:solidFill>
                <a:latin typeface="Inter"/>
                <a:ea typeface="Inter"/>
                <a:cs typeface="Inter"/>
                <a:sym typeface="Inter"/>
              </a:rPr>
              <a:t>* Szenario-Rechnung aus dem Pitch-Dossier (Basis: 3 Messen, Weidner Antriebstechnik)</a:t>
            </a:r>
            <a:endParaRPr sz="1700">
              <a:solidFill>
                <a:srgbClr val="75828D"/>
              </a:solidFill>
              <a:latin typeface="Inter"/>
              <a:ea typeface="Inter"/>
              <a:cs typeface="Inter"/>
              <a:sym typeface="Inter"/>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15"/>
          <p:cNvSpPr txBox="1"/>
          <p:nvPr/>
        </p:nvSpPr>
        <p:spPr>
          <a:xfrm>
            <a:off x="15240000" y="558800"/>
            <a:ext cx="2032200" cy="508200"/>
          </a:xfrm>
          <a:prstGeom prst="rect">
            <a:avLst/>
          </a:prstGeom>
          <a:noFill/>
          <a:ln>
            <a:noFill/>
          </a:ln>
        </p:spPr>
        <p:txBody>
          <a:bodyPr spcFirstLastPara="1" wrap="square" lIns="182850" tIns="182850" rIns="182850" bIns="182850" anchor="t" anchorCtr="0">
            <a:noAutofit/>
          </a:bodyPr>
          <a:lstStyle/>
          <a:p>
            <a:pPr algn="r"/>
            <a:r>
              <a:rPr lang="de" sz="2200" b="1">
                <a:solidFill>
                  <a:srgbClr val="00D9C6"/>
                </a:solidFill>
                <a:latin typeface="Inter"/>
                <a:ea typeface="Inter"/>
                <a:cs typeface="Inter"/>
                <a:sym typeface="Inter"/>
              </a:rPr>
              <a:t>LeadPilot</a:t>
            </a:r>
            <a:endParaRPr sz="2200" b="1">
              <a:solidFill>
                <a:srgbClr val="00D9C6"/>
              </a:solidFill>
              <a:latin typeface="Inter"/>
              <a:ea typeface="Inter"/>
              <a:cs typeface="Inter"/>
              <a:sym typeface="Inter"/>
            </a:endParaRPr>
          </a:p>
        </p:txBody>
      </p:sp>
      <p:sp>
        <p:nvSpPr>
          <p:cNvPr id="103" name="Google Shape;103;p15"/>
          <p:cNvSpPr txBox="1"/>
          <p:nvPr/>
        </p:nvSpPr>
        <p:spPr>
          <a:xfrm>
            <a:off x="12954000" y="558800"/>
            <a:ext cx="2032200" cy="508200"/>
          </a:xfrm>
          <a:prstGeom prst="rect">
            <a:avLst/>
          </a:prstGeom>
          <a:noFill/>
          <a:ln>
            <a:noFill/>
          </a:ln>
        </p:spPr>
        <p:txBody>
          <a:bodyPr spcFirstLastPara="1" wrap="square" lIns="182850" tIns="182850" rIns="182850" bIns="182850" anchor="t" anchorCtr="0">
            <a:noAutofit/>
          </a:bodyPr>
          <a:lstStyle/>
          <a:p>
            <a:pPr algn="r"/>
            <a:r>
              <a:rPr lang="de" sz="2000" b="1">
                <a:solidFill>
                  <a:srgbClr val="75828D"/>
                </a:solidFill>
                <a:latin typeface="Inter"/>
                <a:ea typeface="Inter"/>
                <a:cs typeface="Inter"/>
                <a:sym typeface="Inter"/>
              </a:rPr>
              <a:t>03 / 05</a:t>
            </a:r>
            <a:endParaRPr sz="2000" b="1">
              <a:solidFill>
                <a:srgbClr val="75828D"/>
              </a:solidFill>
              <a:latin typeface="Inter"/>
              <a:ea typeface="Inter"/>
              <a:cs typeface="Inter"/>
              <a:sym typeface="Inter"/>
            </a:endParaRPr>
          </a:p>
        </p:txBody>
      </p:sp>
      <p:sp>
        <p:nvSpPr>
          <p:cNvPr id="104" name="Google Shape;104;p15"/>
          <p:cNvSpPr txBox="1"/>
          <p:nvPr/>
        </p:nvSpPr>
        <p:spPr>
          <a:xfrm>
            <a:off x="1016000" y="558800"/>
            <a:ext cx="11683800" cy="457200"/>
          </a:xfrm>
          <a:prstGeom prst="rect">
            <a:avLst/>
          </a:prstGeom>
          <a:noFill/>
          <a:ln>
            <a:noFill/>
          </a:ln>
        </p:spPr>
        <p:txBody>
          <a:bodyPr spcFirstLastPara="1" wrap="square" lIns="182850" tIns="182850" rIns="182850" bIns="182850" anchor="t" anchorCtr="0">
            <a:noAutofit/>
          </a:bodyPr>
          <a:lstStyle/>
          <a:p>
            <a:r>
              <a:rPr lang="de" sz="2000" b="1">
                <a:solidFill>
                  <a:srgbClr val="00D9C6"/>
                </a:solidFill>
                <a:latin typeface="Inter"/>
                <a:ea typeface="Inter"/>
                <a:cs typeface="Inter"/>
                <a:sym typeface="Inter"/>
              </a:rPr>
              <a:t>DIE LÖSUNG · VERKAUFEN STATT VERWALTEN</a:t>
            </a:r>
            <a:endParaRPr sz="2000" b="1">
              <a:solidFill>
                <a:srgbClr val="00D9C6"/>
              </a:solidFill>
              <a:latin typeface="Inter"/>
              <a:ea typeface="Inter"/>
              <a:cs typeface="Inter"/>
              <a:sym typeface="Inter"/>
            </a:endParaRPr>
          </a:p>
        </p:txBody>
      </p:sp>
      <p:sp>
        <p:nvSpPr>
          <p:cNvPr id="105" name="Google Shape;105;p15"/>
          <p:cNvSpPr txBox="1"/>
          <p:nvPr/>
        </p:nvSpPr>
        <p:spPr>
          <a:xfrm>
            <a:off x="1016000" y="1066800"/>
            <a:ext cx="16255800" cy="863400"/>
          </a:xfrm>
          <a:prstGeom prst="rect">
            <a:avLst/>
          </a:prstGeom>
          <a:noFill/>
          <a:ln>
            <a:noFill/>
          </a:ln>
        </p:spPr>
        <p:txBody>
          <a:bodyPr spcFirstLastPara="1" wrap="square" lIns="182850" tIns="182850" rIns="182850" bIns="182850" anchor="t" anchorCtr="0">
            <a:noAutofit/>
          </a:bodyPr>
          <a:lstStyle/>
          <a:p>
            <a:r>
              <a:rPr lang="de" sz="4200" b="1">
                <a:solidFill>
                  <a:srgbClr val="FFFFFF"/>
                </a:solidFill>
                <a:latin typeface="Inter"/>
                <a:ea typeface="Inter"/>
                <a:cs typeface="Inter"/>
                <a:sym typeface="Inter"/>
              </a:rPr>
              <a:t>Nächster Schritt &amp; Forecast auf Knopfdruck</a:t>
            </a:r>
            <a:endParaRPr sz="4200" b="1">
              <a:solidFill>
                <a:srgbClr val="FFFFFF"/>
              </a:solidFill>
              <a:latin typeface="Inter"/>
              <a:ea typeface="Inter"/>
              <a:cs typeface="Inter"/>
              <a:sym typeface="Inter"/>
            </a:endParaRPr>
          </a:p>
        </p:txBody>
      </p:sp>
      <p:sp>
        <p:nvSpPr>
          <p:cNvPr id="106" name="Google Shape;106;p15"/>
          <p:cNvSpPr txBox="1"/>
          <p:nvPr/>
        </p:nvSpPr>
        <p:spPr>
          <a:xfrm>
            <a:off x="1016000" y="1981200"/>
            <a:ext cx="16255800" cy="558600"/>
          </a:xfrm>
          <a:prstGeom prst="rect">
            <a:avLst/>
          </a:prstGeom>
          <a:noFill/>
          <a:ln>
            <a:noFill/>
          </a:ln>
        </p:spPr>
        <p:txBody>
          <a:bodyPr spcFirstLastPara="1" wrap="square" lIns="182850" tIns="182850" rIns="182850" bIns="182850" anchor="t" anchorCtr="0">
            <a:noAutofit/>
          </a:bodyPr>
          <a:lstStyle/>
          <a:p>
            <a:r>
              <a:rPr lang="de" sz="2300">
                <a:solidFill>
                  <a:srgbClr val="A7B0BA"/>
                </a:solidFill>
                <a:latin typeface="Inter"/>
                <a:ea typeface="Inter"/>
                <a:cs typeface="Inter"/>
                <a:sym typeface="Inter"/>
              </a:rPr>
              <a:t>Zwei Hebel lösen Herrn Hartwigs Kernprobleme – ohne neue Software-Bürokratie:</a:t>
            </a:r>
            <a:endParaRPr sz="2300">
              <a:solidFill>
                <a:srgbClr val="A7B0BA"/>
              </a:solidFill>
              <a:latin typeface="Inter"/>
              <a:ea typeface="Inter"/>
              <a:cs typeface="Inter"/>
              <a:sym typeface="Inter"/>
            </a:endParaRPr>
          </a:p>
        </p:txBody>
      </p:sp>
      <p:sp>
        <p:nvSpPr>
          <p:cNvPr id="107" name="Google Shape;107;p15"/>
          <p:cNvSpPr/>
          <p:nvPr/>
        </p:nvSpPr>
        <p:spPr>
          <a:xfrm>
            <a:off x="1016000" y="2667000"/>
            <a:ext cx="7873800" cy="4623000"/>
          </a:xfrm>
          <a:prstGeom prst="roundRect">
            <a:avLst>
              <a:gd name="adj" fmla="val 16667"/>
            </a:avLst>
          </a:prstGeom>
          <a:solidFill>
            <a:srgbClr val="123330"/>
          </a:solidFill>
          <a:ln w="22850" cap="flat" cmpd="sng">
            <a:solidFill>
              <a:srgbClr val="00D9C6"/>
            </a:solidFill>
            <a:prstDash val="solid"/>
            <a:round/>
            <a:headEnd type="none" w="sm" len="sm"/>
            <a:tailEnd type="none" w="sm" len="sm"/>
          </a:ln>
        </p:spPr>
        <p:txBody>
          <a:bodyPr spcFirstLastPara="1" wrap="square" lIns="182850" tIns="182850" rIns="182850" bIns="182850" anchor="ctr" anchorCtr="0">
            <a:noAutofit/>
          </a:bodyPr>
          <a:lstStyle/>
          <a:p>
            <a:pPr algn="ctr"/>
            <a:endParaRPr sz="3600"/>
          </a:p>
        </p:txBody>
      </p:sp>
      <p:sp>
        <p:nvSpPr>
          <p:cNvPr id="108" name="Google Shape;108;p15"/>
          <p:cNvSpPr/>
          <p:nvPr/>
        </p:nvSpPr>
        <p:spPr>
          <a:xfrm>
            <a:off x="1397000" y="2946400"/>
            <a:ext cx="2413200" cy="508200"/>
          </a:xfrm>
          <a:prstGeom prst="roundRect">
            <a:avLst>
              <a:gd name="adj" fmla="val 16667"/>
            </a:avLst>
          </a:prstGeom>
          <a:solidFill>
            <a:srgbClr val="00D9C6"/>
          </a:solidFill>
          <a:ln>
            <a:noFill/>
          </a:ln>
        </p:spPr>
        <p:txBody>
          <a:bodyPr spcFirstLastPara="1" wrap="square" lIns="182850" tIns="182850" rIns="182850" bIns="182850" anchor="ctr" anchorCtr="0">
            <a:noAutofit/>
          </a:bodyPr>
          <a:lstStyle/>
          <a:p>
            <a:pPr algn="ctr"/>
            <a:endParaRPr sz="3600"/>
          </a:p>
        </p:txBody>
      </p:sp>
      <p:sp>
        <p:nvSpPr>
          <p:cNvPr id="109" name="Google Shape;109;p15"/>
          <p:cNvSpPr txBox="1"/>
          <p:nvPr/>
        </p:nvSpPr>
        <p:spPr>
          <a:xfrm>
            <a:off x="1397000" y="2997200"/>
            <a:ext cx="2413200" cy="406200"/>
          </a:xfrm>
          <a:prstGeom prst="rect">
            <a:avLst/>
          </a:prstGeom>
          <a:noFill/>
          <a:ln>
            <a:noFill/>
          </a:ln>
        </p:spPr>
        <p:txBody>
          <a:bodyPr spcFirstLastPara="1" wrap="square" lIns="182850" tIns="182850" rIns="182850" bIns="182850" anchor="t" anchorCtr="0">
            <a:noAutofit/>
          </a:bodyPr>
          <a:lstStyle/>
          <a:p>
            <a:pPr algn="ctr"/>
            <a:r>
              <a:rPr lang="de" b="1">
                <a:solidFill>
                  <a:srgbClr val="0B211F"/>
                </a:solidFill>
                <a:latin typeface="Inter"/>
                <a:ea typeface="Inter"/>
                <a:cs typeface="Inter"/>
                <a:sym typeface="Inter"/>
              </a:rPr>
              <a:t>ARGUMENT 1</a:t>
            </a:r>
            <a:endParaRPr b="1">
              <a:solidFill>
                <a:srgbClr val="0B211F"/>
              </a:solidFill>
              <a:latin typeface="Inter"/>
              <a:ea typeface="Inter"/>
              <a:cs typeface="Inter"/>
              <a:sym typeface="Inter"/>
            </a:endParaRPr>
          </a:p>
        </p:txBody>
      </p:sp>
      <p:sp>
        <p:nvSpPr>
          <p:cNvPr id="110" name="Google Shape;110;p15"/>
          <p:cNvSpPr txBox="1"/>
          <p:nvPr/>
        </p:nvSpPr>
        <p:spPr>
          <a:xfrm>
            <a:off x="1397000" y="3556000"/>
            <a:ext cx="7111800" cy="558600"/>
          </a:xfrm>
          <a:prstGeom prst="rect">
            <a:avLst/>
          </a:prstGeom>
          <a:noFill/>
          <a:ln>
            <a:noFill/>
          </a:ln>
        </p:spPr>
        <p:txBody>
          <a:bodyPr spcFirstLastPara="1" wrap="square" lIns="182850" tIns="182850" rIns="182850" bIns="182850" anchor="t" anchorCtr="0">
            <a:noAutofit/>
          </a:bodyPr>
          <a:lstStyle/>
          <a:p>
            <a:r>
              <a:rPr lang="de" sz="2900" b="1">
                <a:solidFill>
                  <a:srgbClr val="FFFFFF"/>
                </a:solidFill>
                <a:latin typeface="Inter"/>
                <a:ea typeface="Inter"/>
                <a:cs typeface="Inter"/>
                <a:sym typeface="Inter"/>
              </a:rPr>
              <a:t>Nachfassen binnen 48 Stunden</a:t>
            </a:r>
            <a:endParaRPr sz="2900" b="1">
              <a:solidFill>
                <a:srgbClr val="FFFFFF"/>
              </a:solidFill>
              <a:latin typeface="Inter"/>
              <a:ea typeface="Inter"/>
              <a:cs typeface="Inter"/>
              <a:sym typeface="Inter"/>
            </a:endParaRPr>
          </a:p>
        </p:txBody>
      </p:sp>
      <p:sp>
        <p:nvSpPr>
          <p:cNvPr id="111" name="Google Shape;111;p15"/>
          <p:cNvSpPr txBox="1"/>
          <p:nvPr/>
        </p:nvSpPr>
        <p:spPr>
          <a:xfrm>
            <a:off x="1397000" y="4165600"/>
            <a:ext cx="7111800" cy="863400"/>
          </a:xfrm>
          <a:prstGeom prst="rect">
            <a:avLst/>
          </a:prstGeom>
          <a:noFill/>
          <a:ln>
            <a:noFill/>
          </a:ln>
        </p:spPr>
        <p:txBody>
          <a:bodyPr spcFirstLastPara="1" wrap="square" lIns="182850" tIns="182850" rIns="182850" bIns="182850" anchor="t" anchorCtr="0">
            <a:noAutofit/>
          </a:bodyPr>
          <a:lstStyle/>
          <a:p>
            <a:pPr>
              <a:lnSpc>
                <a:spcPct val="120000"/>
              </a:lnSpc>
            </a:pPr>
            <a:r>
              <a:rPr lang="de" sz="2100">
                <a:solidFill>
                  <a:srgbClr val="A7B0BA"/>
                </a:solidFill>
                <a:latin typeface="Inter"/>
                <a:ea typeface="Inter"/>
                <a:cs typeface="Inter"/>
                <a:sym typeface="Inter"/>
              </a:rPr>
              <a:t>Jede Messe-Anfrage bekommt sofort einen festen Besitzer und einen fälligen nächsten Schritt.</a:t>
            </a:r>
            <a:endParaRPr sz="2100">
              <a:solidFill>
                <a:srgbClr val="A7B0BA"/>
              </a:solidFill>
              <a:latin typeface="Inter"/>
              <a:ea typeface="Inter"/>
              <a:cs typeface="Inter"/>
              <a:sym typeface="Inter"/>
            </a:endParaRPr>
          </a:p>
        </p:txBody>
      </p:sp>
      <p:sp>
        <p:nvSpPr>
          <p:cNvPr id="112" name="Google Shape;112;p15"/>
          <p:cNvSpPr/>
          <p:nvPr/>
        </p:nvSpPr>
        <p:spPr>
          <a:xfrm>
            <a:off x="1397000" y="5181600"/>
            <a:ext cx="7111800" cy="609600"/>
          </a:xfrm>
          <a:prstGeom prst="roundRect">
            <a:avLst>
              <a:gd name="adj" fmla="val 16667"/>
            </a:avLst>
          </a:prstGeom>
          <a:solidFill>
            <a:srgbClr val="1F1A1A"/>
          </a:solidFill>
          <a:ln>
            <a:noFill/>
          </a:ln>
        </p:spPr>
        <p:txBody>
          <a:bodyPr spcFirstLastPara="1" wrap="square" lIns="182850" tIns="182850" rIns="182850" bIns="182850" anchor="ctr" anchorCtr="0">
            <a:noAutofit/>
          </a:bodyPr>
          <a:lstStyle/>
          <a:p>
            <a:pPr algn="ctr"/>
            <a:endParaRPr sz="3600"/>
          </a:p>
        </p:txBody>
      </p:sp>
      <p:sp>
        <p:nvSpPr>
          <p:cNvPr id="113" name="Google Shape;113;p15"/>
          <p:cNvSpPr txBox="1"/>
          <p:nvPr/>
        </p:nvSpPr>
        <p:spPr>
          <a:xfrm>
            <a:off x="1651000" y="5283200"/>
            <a:ext cx="6730800" cy="406200"/>
          </a:xfrm>
          <a:prstGeom prst="rect">
            <a:avLst/>
          </a:prstGeom>
          <a:noFill/>
          <a:ln>
            <a:noFill/>
          </a:ln>
        </p:spPr>
        <p:txBody>
          <a:bodyPr spcFirstLastPara="1" wrap="square" lIns="182850" tIns="182850" rIns="182850" bIns="182850" anchor="t" anchorCtr="0">
            <a:noAutofit/>
          </a:bodyPr>
          <a:lstStyle/>
          <a:p>
            <a:r>
              <a:rPr lang="de" sz="1900" b="1">
                <a:solidFill>
                  <a:srgbClr val="FF7A3D"/>
                </a:solidFill>
                <a:latin typeface="Inter"/>
                <a:ea typeface="Inter"/>
                <a:cs typeface="Inter"/>
                <a:sym typeface="Inter"/>
              </a:rPr>
              <a:t>Vorher: Excel-Liste ohne Besitzer in Outlook</a:t>
            </a:r>
            <a:endParaRPr sz="1900" b="1">
              <a:solidFill>
                <a:srgbClr val="FF7A3D"/>
              </a:solidFill>
              <a:latin typeface="Inter"/>
              <a:ea typeface="Inter"/>
              <a:cs typeface="Inter"/>
              <a:sym typeface="Inter"/>
            </a:endParaRPr>
          </a:p>
        </p:txBody>
      </p:sp>
      <p:sp>
        <p:nvSpPr>
          <p:cNvPr id="114" name="Google Shape;114;p15"/>
          <p:cNvSpPr txBox="1"/>
          <p:nvPr/>
        </p:nvSpPr>
        <p:spPr>
          <a:xfrm>
            <a:off x="1397000" y="5943600"/>
            <a:ext cx="7111800" cy="1066800"/>
          </a:xfrm>
          <a:prstGeom prst="rect">
            <a:avLst/>
          </a:prstGeom>
          <a:noFill/>
          <a:ln>
            <a:noFill/>
          </a:ln>
        </p:spPr>
        <p:txBody>
          <a:bodyPr spcFirstLastPara="1" wrap="square" lIns="182850" tIns="182850" rIns="182850" bIns="182850" anchor="t" anchorCtr="0">
            <a:noAutofit/>
          </a:bodyPr>
          <a:lstStyle/>
          <a:p>
            <a:pPr>
              <a:lnSpc>
                <a:spcPct val="125000"/>
              </a:lnSpc>
            </a:pPr>
            <a:r>
              <a:rPr lang="de" sz="2100" b="1">
                <a:solidFill>
                  <a:srgbClr val="00D9C6"/>
                </a:solidFill>
                <a:latin typeface="Inter"/>
                <a:ea typeface="Inter"/>
                <a:cs typeface="Inter"/>
                <a:sym typeface="Inter"/>
              </a:rPr>
              <a:t>✓ Kein Lead versandet beim Wettbewerber.</a:t>
            </a:r>
            <a:endParaRPr sz="2100" b="1">
              <a:solidFill>
                <a:srgbClr val="00D9C6"/>
              </a:solidFill>
              <a:latin typeface="Inter"/>
              <a:ea typeface="Inter"/>
              <a:cs typeface="Inter"/>
              <a:sym typeface="Inter"/>
            </a:endParaRPr>
          </a:p>
          <a:p>
            <a:pPr>
              <a:lnSpc>
                <a:spcPct val="125000"/>
              </a:lnSpc>
            </a:pPr>
            <a:r>
              <a:rPr lang="de" sz="2100" b="1">
                <a:solidFill>
                  <a:srgbClr val="00D9C6"/>
                </a:solidFill>
                <a:latin typeface="Inter"/>
                <a:ea typeface="Inter"/>
                <a:cs typeface="Inter"/>
                <a:sym typeface="Inter"/>
              </a:rPr>
              <a:t>✓ Volle Transparenz über offene Anfragen.</a:t>
            </a:r>
            <a:endParaRPr sz="2100" b="1">
              <a:solidFill>
                <a:srgbClr val="00D9C6"/>
              </a:solidFill>
              <a:latin typeface="Inter"/>
              <a:ea typeface="Inter"/>
              <a:cs typeface="Inter"/>
              <a:sym typeface="Inter"/>
            </a:endParaRPr>
          </a:p>
        </p:txBody>
      </p:sp>
      <p:sp>
        <p:nvSpPr>
          <p:cNvPr id="115" name="Google Shape;115;p15"/>
          <p:cNvSpPr/>
          <p:nvPr/>
        </p:nvSpPr>
        <p:spPr>
          <a:xfrm>
            <a:off x="9398000" y="2667000"/>
            <a:ext cx="7873800" cy="4623000"/>
          </a:xfrm>
          <a:prstGeom prst="roundRect">
            <a:avLst>
              <a:gd name="adj" fmla="val 16667"/>
            </a:avLst>
          </a:prstGeom>
          <a:solidFill>
            <a:srgbClr val="123330"/>
          </a:solidFill>
          <a:ln w="22850" cap="flat" cmpd="sng">
            <a:solidFill>
              <a:srgbClr val="00D9C6"/>
            </a:solidFill>
            <a:prstDash val="solid"/>
            <a:round/>
            <a:headEnd type="none" w="sm" len="sm"/>
            <a:tailEnd type="none" w="sm" len="sm"/>
          </a:ln>
        </p:spPr>
        <p:txBody>
          <a:bodyPr spcFirstLastPara="1" wrap="square" lIns="182850" tIns="182850" rIns="182850" bIns="182850" anchor="ctr" anchorCtr="0">
            <a:noAutofit/>
          </a:bodyPr>
          <a:lstStyle/>
          <a:p>
            <a:pPr algn="ctr"/>
            <a:endParaRPr sz="3600"/>
          </a:p>
        </p:txBody>
      </p:sp>
      <p:sp>
        <p:nvSpPr>
          <p:cNvPr id="116" name="Google Shape;116;p15"/>
          <p:cNvSpPr/>
          <p:nvPr/>
        </p:nvSpPr>
        <p:spPr>
          <a:xfrm>
            <a:off x="9779000" y="2946400"/>
            <a:ext cx="2413200" cy="508200"/>
          </a:xfrm>
          <a:prstGeom prst="roundRect">
            <a:avLst>
              <a:gd name="adj" fmla="val 16667"/>
            </a:avLst>
          </a:prstGeom>
          <a:solidFill>
            <a:srgbClr val="00D9C6"/>
          </a:solidFill>
          <a:ln>
            <a:noFill/>
          </a:ln>
        </p:spPr>
        <p:txBody>
          <a:bodyPr spcFirstLastPara="1" wrap="square" lIns="182850" tIns="182850" rIns="182850" bIns="182850" anchor="ctr" anchorCtr="0">
            <a:noAutofit/>
          </a:bodyPr>
          <a:lstStyle/>
          <a:p>
            <a:pPr algn="ctr"/>
            <a:endParaRPr sz="3600"/>
          </a:p>
        </p:txBody>
      </p:sp>
      <p:sp>
        <p:nvSpPr>
          <p:cNvPr id="117" name="Google Shape;117;p15"/>
          <p:cNvSpPr txBox="1"/>
          <p:nvPr/>
        </p:nvSpPr>
        <p:spPr>
          <a:xfrm>
            <a:off x="9779000" y="2997200"/>
            <a:ext cx="2413200" cy="406200"/>
          </a:xfrm>
          <a:prstGeom prst="rect">
            <a:avLst/>
          </a:prstGeom>
          <a:noFill/>
          <a:ln>
            <a:noFill/>
          </a:ln>
        </p:spPr>
        <p:txBody>
          <a:bodyPr spcFirstLastPara="1" wrap="square" lIns="182850" tIns="182850" rIns="182850" bIns="182850" anchor="t" anchorCtr="0">
            <a:noAutofit/>
          </a:bodyPr>
          <a:lstStyle/>
          <a:p>
            <a:pPr algn="ctr"/>
            <a:r>
              <a:rPr lang="de" b="1">
                <a:solidFill>
                  <a:srgbClr val="0B211F"/>
                </a:solidFill>
                <a:latin typeface="Inter"/>
                <a:ea typeface="Inter"/>
                <a:cs typeface="Inter"/>
                <a:sym typeface="Inter"/>
              </a:rPr>
              <a:t>ARGUMENT 2</a:t>
            </a:r>
            <a:endParaRPr b="1">
              <a:solidFill>
                <a:srgbClr val="0B211F"/>
              </a:solidFill>
              <a:latin typeface="Inter"/>
              <a:ea typeface="Inter"/>
              <a:cs typeface="Inter"/>
              <a:sym typeface="Inter"/>
            </a:endParaRPr>
          </a:p>
        </p:txBody>
      </p:sp>
      <p:sp>
        <p:nvSpPr>
          <p:cNvPr id="118" name="Google Shape;118;p15"/>
          <p:cNvSpPr txBox="1"/>
          <p:nvPr/>
        </p:nvSpPr>
        <p:spPr>
          <a:xfrm>
            <a:off x="9779000" y="3556000"/>
            <a:ext cx="7111800" cy="558600"/>
          </a:xfrm>
          <a:prstGeom prst="rect">
            <a:avLst/>
          </a:prstGeom>
          <a:noFill/>
          <a:ln>
            <a:noFill/>
          </a:ln>
        </p:spPr>
        <p:txBody>
          <a:bodyPr spcFirstLastPara="1" wrap="square" lIns="182850" tIns="182850" rIns="182850" bIns="182850" anchor="t" anchorCtr="0">
            <a:noAutofit/>
          </a:bodyPr>
          <a:lstStyle/>
          <a:p>
            <a:r>
              <a:rPr lang="de" sz="2900" b="1">
                <a:solidFill>
                  <a:srgbClr val="FFFFFF"/>
                </a:solidFill>
                <a:latin typeface="Inter"/>
                <a:ea typeface="Inter"/>
                <a:cs typeface="Inter"/>
                <a:sym typeface="Inter"/>
              </a:rPr>
              <a:t>Forecast auf Knopfdruck</a:t>
            </a:r>
            <a:endParaRPr sz="2900" b="1">
              <a:solidFill>
                <a:srgbClr val="FFFFFF"/>
              </a:solidFill>
              <a:latin typeface="Inter"/>
              <a:ea typeface="Inter"/>
              <a:cs typeface="Inter"/>
              <a:sym typeface="Inter"/>
            </a:endParaRPr>
          </a:p>
        </p:txBody>
      </p:sp>
      <p:sp>
        <p:nvSpPr>
          <p:cNvPr id="119" name="Google Shape;119;p15"/>
          <p:cNvSpPr txBox="1"/>
          <p:nvPr/>
        </p:nvSpPr>
        <p:spPr>
          <a:xfrm>
            <a:off x="9779000" y="4165600"/>
            <a:ext cx="7111800" cy="863400"/>
          </a:xfrm>
          <a:prstGeom prst="rect">
            <a:avLst/>
          </a:prstGeom>
          <a:noFill/>
          <a:ln>
            <a:noFill/>
          </a:ln>
        </p:spPr>
        <p:txBody>
          <a:bodyPr spcFirstLastPara="1" wrap="square" lIns="182850" tIns="182850" rIns="182850" bIns="182850" anchor="t" anchorCtr="0">
            <a:noAutofit/>
          </a:bodyPr>
          <a:lstStyle/>
          <a:p>
            <a:pPr>
              <a:lnSpc>
                <a:spcPct val="120000"/>
              </a:lnSpc>
            </a:pPr>
            <a:r>
              <a:rPr lang="de" sz="2100">
                <a:solidFill>
                  <a:srgbClr val="A7B0BA"/>
                </a:solidFill>
                <a:latin typeface="Inter"/>
                <a:ea typeface="Inter"/>
                <a:cs typeface="Inter"/>
                <a:sym typeface="Inter"/>
              </a:rPr>
              <a:t>Das Live-Dashboard aggregiert alle Verkaufschancen in Echtzeit aus laufenden Deals. Kein Suchen mehr.</a:t>
            </a:r>
            <a:endParaRPr sz="2100">
              <a:solidFill>
                <a:srgbClr val="A7B0BA"/>
              </a:solidFill>
              <a:latin typeface="Inter"/>
              <a:ea typeface="Inter"/>
              <a:cs typeface="Inter"/>
              <a:sym typeface="Inter"/>
            </a:endParaRPr>
          </a:p>
        </p:txBody>
      </p:sp>
      <p:sp>
        <p:nvSpPr>
          <p:cNvPr id="120" name="Google Shape;120;p15"/>
          <p:cNvSpPr/>
          <p:nvPr/>
        </p:nvSpPr>
        <p:spPr>
          <a:xfrm>
            <a:off x="9779000" y="5181600"/>
            <a:ext cx="7111800" cy="609600"/>
          </a:xfrm>
          <a:prstGeom prst="roundRect">
            <a:avLst>
              <a:gd name="adj" fmla="val 16667"/>
            </a:avLst>
          </a:prstGeom>
          <a:solidFill>
            <a:srgbClr val="1F1A1A"/>
          </a:solidFill>
          <a:ln>
            <a:noFill/>
          </a:ln>
        </p:spPr>
        <p:txBody>
          <a:bodyPr spcFirstLastPara="1" wrap="square" lIns="182850" tIns="182850" rIns="182850" bIns="182850" anchor="ctr" anchorCtr="0">
            <a:noAutofit/>
          </a:bodyPr>
          <a:lstStyle/>
          <a:p>
            <a:pPr algn="ctr"/>
            <a:endParaRPr sz="3600"/>
          </a:p>
        </p:txBody>
      </p:sp>
      <p:sp>
        <p:nvSpPr>
          <p:cNvPr id="121" name="Google Shape;121;p15"/>
          <p:cNvSpPr txBox="1"/>
          <p:nvPr/>
        </p:nvSpPr>
        <p:spPr>
          <a:xfrm>
            <a:off x="10033000" y="5283200"/>
            <a:ext cx="6730800" cy="406200"/>
          </a:xfrm>
          <a:prstGeom prst="rect">
            <a:avLst/>
          </a:prstGeom>
          <a:noFill/>
          <a:ln>
            <a:noFill/>
          </a:ln>
        </p:spPr>
        <p:txBody>
          <a:bodyPr spcFirstLastPara="1" wrap="square" lIns="182850" tIns="182850" rIns="182850" bIns="182850" anchor="t" anchorCtr="0">
            <a:noAutofit/>
          </a:bodyPr>
          <a:lstStyle/>
          <a:p>
            <a:r>
              <a:rPr lang="de" sz="1900" b="1">
                <a:solidFill>
                  <a:srgbClr val="FF7A3D"/>
                </a:solidFill>
                <a:latin typeface="Inter"/>
                <a:ea typeface="Inter"/>
                <a:cs typeface="Inter"/>
                <a:sym typeface="Inter"/>
              </a:rPr>
              <a:t>Vorher: 3 Stunden Excel-Klickerei am Freitag</a:t>
            </a:r>
            <a:endParaRPr sz="1900" b="1">
              <a:solidFill>
                <a:srgbClr val="FF7A3D"/>
              </a:solidFill>
              <a:latin typeface="Inter"/>
              <a:ea typeface="Inter"/>
              <a:cs typeface="Inter"/>
              <a:sym typeface="Inter"/>
            </a:endParaRPr>
          </a:p>
        </p:txBody>
      </p:sp>
      <p:sp>
        <p:nvSpPr>
          <p:cNvPr id="122" name="Google Shape;122;p15"/>
          <p:cNvSpPr txBox="1"/>
          <p:nvPr/>
        </p:nvSpPr>
        <p:spPr>
          <a:xfrm>
            <a:off x="9779000" y="5943600"/>
            <a:ext cx="7111800" cy="1066800"/>
          </a:xfrm>
          <a:prstGeom prst="rect">
            <a:avLst/>
          </a:prstGeom>
          <a:noFill/>
          <a:ln>
            <a:noFill/>
          </a:ln>
        </p:spPr>
        <p:txBody>
          <a:bodyPr spcFirstLastPara="1" wrap="square" lIns="182850" tIns="182850" rIns="182850" bIns="182850" anchor="t" anchorCtr="0">
            <a:noAutofit/>
          </a:bodyPr>
          <a:lstStyle/>
          <a:p>
            <a:pPr>
              <a:lnSpc>
                <a:spcPct val="125000"/>
              </a:lnSpc>
            </a:pPr>
            <a:r>
              <a:rPr lang="de" sz="2100" b="1">
                <a:solidFill>
                  <a:srgbClr val="00D9C6"/>
                </a:solidFill>
                <a:latin typeface="Inter"/>
                <a:ea typeface="Inter"/>
                <a:cs typeface="Inter"/>
                <a:sym typeface="Inter"/>
              </a:rPr>
              <a:t>✓ Zahlen statt Ausreden beim GF-Termin.</a:t>
            </a:r>
            <a:endParaRPr sz="2100" b="1">
              <a:solidFill>
                <a:srgbClr val="00D9C6"/>
              </a:solidFill>
              <a:latin typeface="Inter"/>
              <a:ea typeface="Inter"/>
              <a:cs typeface="Inter"/>
              <a:sym typeface="Inter"/>
            </a:endParaRPr>
          </a:p>
          <a:p>
            <a:pPr>
              <a:lnSpc>
                <a:spcPct val="125000"/>
              </a:lnSpc>
            </a:pPr>
            <a:r>
              <a:rPr lang="de" sz="2100" b="1">
                <a:solidFill>
                  <a:srgbClr val="00D9C6"/>
                </a:solidFill>
                <a:latin typeface="Inter"/>
                <a:ea typeface="Inter"/>
                <a:cs typeface="Inter"/>
                <a:sym typeface="Inter"/>
              </a:rPr>
              <a:t>✓ 150 Stunden im Jahr für Kunden zurück.</a:t>
            </a:r>
            <a:endParaRPr sz="2100" b="1">
              <a:solidFill>
                <a:srgbClr val="00D9C6"/>
              </a:solidFill>
              <a:latin typeface="Inter"/>
              <a:ea typeface="Inter"/>
              <a:cs typeface="Inter"/>
              <a:sym typeface="Inter"/>
            </a:endParaRPr>
          </a:p>
        </p:txBody>
      </p:sp>
      <p:sp>
        <p:nvSpPr>
          <p:cNvPr id="123" name="Google Shape;123;p15"/>
          <p:cNvSpPr/>
          <p:nvPr/>
        </p:nvSpPr>
        <p:spPr>
          <a:xfrm>
            <a:off x="1016000" y="7569200"/>
            <a:ext cx="16255800" cy="1575000"/>
          </a:xfrm>
          <a:prstGeom prst="roundRect">
            <a:avLst>
              <a:gd name="adj" fmla="val 16667"/>
            </a:avLst>
          </a:prstGeom>
          <a:solidFill>
            <a:srgbClr val="123330"/>
          </a:solidFill>
          <a:ln w="12700" cap="flat" cmpd="sng">
            <a:solidFill>
              <a:srgbClr val="2A4A43"/>
            </a:solidFill>
            <a:prstDash val="solid"/>
            <a:round/>
            <a:headEnd type="none" w="sm" len="sm"/>
            <a:tailEnd type="none" w="sm" len="sm"/>
          </a:ln>
        </p:spPr>
        <p:txBody>
          <a:bodyPr spcFirstLastPara="1" wrap="square" lIns="182850" tIns="182850" rIns="182850" bIns="182850" anchor="ctr" anchorCtr="0">
            <a:noAutofit/>
          </a:bodyPr>
          <a:lstStyle/>
          <a:p>
            <a:pPr algn="ctr"/>
            <a:endParaRPr sz="3600"/>
          </a:p>
        </p:txBody>
      </p:sp>
      <p:sp>
        <p:nvSpPr>
          <p:cNvPr id="124" name="Google Shape;124;p15"/>
          <p:cNvSpPr txBox="1"/>
          <p:nvPr/>
        </p:nvSpPr>
        <p:spPr>
          <a:xfrm>
            <a:off x="1397000" y="7772400"/>
            <a:ext cx="15493800" cy="1143000"/>
          </a:xfrm>
          <a:prstGeom prst="rect">
            <a:avLst/>
          </a:prstGeom>
          <a:noFill/>
          <a:ln>
            <a:noFill/>
          </a:ln>
        </p:spPr>
        <p:txBody>
          <a:bodyPr spcFirstLastPara="1" wrap="square" lIns="182850" tIns="182850" rIns="182850" bIns="182850" anchor="t" anchorCtr="0">
            <a:noAutofit/>
          </a:bodyPr>
          <a:lstStyle/>
          <a:p>
            <a:pPr>
              <a:lnSpc>
                <a:spcPct val="130000"/>
              </a:lnSpc>
            </a:pPr>
            <a:r>
              <a:rPr lang="de" sz="2200" b="1">
                <a:solidFill>
                  <a:srgbClr val="FFFFFF"/>
                </a:solidFill>
                <a:latin typeface="Inter"/>
                <a:ea typeface="Inter"/>
                <a:cs typeface="Inter"/>
                <a:sym typeface="Inter"/>
              </a:rPr>
              <a:t>⚡ KEINE 30 PFLICHTFELDER (Anti-Salesforce Garantie): Startklar in Stunden statt Monaten. Ihr Team trägt nur ein, was wirklich zählt – und sieht morgens sofort, wen es heute anrufen muss.</a:t>
            </a:r>
            <a:endParaRPr sz="2200" b="1">
              <a:solidFill>
                <a:srgbClr val="FFFFFF"/>
              </a:solidFill>
              <a:latin typeface="Inter"/>
              <a:ea typeface="Inter"/>
              <a:cs typeface="Inter"/>
              <a:sym typeface="Inter"/>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16"/>
          <p:cNvSpPr txBox="1"/>
          <p:nvPr/>
        </p:nvSpPr>
        <p:spPr>
          <a:xfrm>
            <a:off x="15240000" y="558800"/>
            <a:ext cx="2032200" cy="508200"/>
          </a:xfrm>
          <a:prstGeom prst="rect">
            <a:avLst/>
          </a:prstGeom>
          <a:noFill/>
          <a:ln>
            <a:noFill/>
          </a:ln>
        </p:spPr>
        <p:txBody>
          <a:bodyPr spcFirstLastPara="1" wrap="square" lIns="182850" tIns="182850" rIns="182850" bIns="182850" anchor="t" anchorCtr="0">
            <a:noAutofit/>
          </a:bodyPr>
          <a:lstStyle/>
          <a:p>
            <a:pPr algn="r"/>
            <a:r>
              <a:rPr lang="de" sz="2200" b="1">
                <a:solidFill>
                  <a:srgbClr val="00D9C6"/>
                </a:solidFill>
                <a:latin typeface="Inter"/>
                <a:ea typeface="Inter"/>
                <a:cs typeface="Inter"/>
                <a:sym typeface="Inter"/>
              </a:rPr>
              <a:t>LeadPilot</a:t>
            </a:r>
            <a:endParaRPr sz="2200" b="1">
              <a:solidFill>
                <a:srgbClr val="00D9C6"/>
              </a:solidFill>
              <a:latin typeface="Inter"/>
              <a:ea typeface="Inter"/>
              <a:cs typeface="Inter"/>
              <a:sym typeface="Inter"/>
            </a:endParaRPr>
          </a:p>
        </p:txBody>
      </p:sp>
      <p:sp>
        <p:nvSpPr>
          <p:cNvPr id="130" name="Google Shape;130;p16"/>
          <p:cNvSpPr txBox="1"/>
          <p:nvPr/>
        </p:nvSpPr>
        <p:spPr>
          <a:xfrm>
            <a:off x="12954000" y="558800"/>
            <a:ext cx="2032200" cy="508200"/>
          </a:xfrm>
          <a:prstGeom prst="rect">
            <a:avLst/>
          </a:prstGeom>
          <a:noFill/>
          <a:ln>
            <a:noFill/>
          </a:ln>
        </p:spPr>
        <p:txBody>
          <a:bodyPr spcFirstLastPara="1" wrap="square" lIns="182850" tIns="182850" rIns="182850" bIns="182850" anchor="t" anchorCtr="0">
            <a:noAutofit/>
          </a:bodyPr>
          <a:lstStyle/>
          <a:p>
            <a:pPr algn="r"/>
            <a:r>
              <a:rPr lang="de" sz="2000" b="1">
                <a:solidFill>
                  <a:srgbClr val="75828D"/>
                </a:solidFill>
                <a:latin typeface="Inter"/>
                <a:ea typeface="Inter"/>
                <a:cs typeface="Inter"/>
                <a:sym typeface="Inter"/>
              </a:rPr>
              <a:t>04 / 05</a:t>
            </a:r>
            <a:endParaRPr sz="2000" b="1">
              <a:solidFill>
                <a:srgbClr val="75828D"/>
              </a:solidFill>
              <a:latin typeface="Inter"/>
              <a:ea typeface="Inter"/>
              <a:cs typeface="Inter"/>
              <a:sym typeface="Inter"/>
            </a:endParaRPr>
          </a:p>
        </p:txBody>
      </p:sp>
      <p:sp>
        <p:nvSpPr>
          <p:cNvPr id="131" name="Google Shape;131;p16"/>
          <p:cNvSpPr txBox="1"/>
          <p:nvPr/>
        </p:nvSpPr>
        <p:spPr>
          <a:xfrm>
            <a:off x="1016000" y="558800"/>
            <a:ext cx="11683800" cy="457200"/>
          </a:xfrm>
          <a:prstGeom prst="rect">
            <a:avLst/>
          </a:prstGeom>
          <a:noFill/>
          <a:ln>
            <a:noFill/>
          </a:ln>
        </p:spPr>
        <p:txBody>
          <a:bodyPr spcFirstLastPara="1" wrap="square" lIns="182850" tIns="182850" rIns="182850" bIns="182850" anchor="t" anchorCtr="0">
            <a:noAutofit/>
          </a:bodyPr>
          <a:lstStyle/>
          <a:p>
            <a:r>
              <a:rPr lang="de" sz="2000" b="1">
                <a:solidFill>
                  <a:srgbClr val="00D9C6"/>
                </a:solidFill>
                <a:latin typeface="Inter"/>
                <a:ea typeface="Inter"/>
                <a:cs typeface="Inter"/>
                <a:sym typeface="Inter"/>
              </a:rPr>
              <a:t>DER BEWEIS · BRANCHE &amp; SICHERHEIT</a:t>
            </a:r>
            <a:endParaRPr sz="2000" b="1">
              <a:solidFill>
                <a:srgbClr val="00D9C6"/>
              </a:solidFill>
              <a:latin typeface="Inter"/>
              <a:ea typeface="Inter"/>
              <a:cs typeface="Inter"/>
              <a:sym typeface="Inter"/>
            </a:endParaRPr>
          </a:p>
        </p:txBody>
      </p:sp>
      <p:sp>
        <p:nvSpPr>
          <p:cNvPr id="132" name="Google Shape;132;p16"/>
          <p:cNvSpPr txBox="1"/>
          <p:nvPr/>
        </p:nvSpPr>
        <p:spPr>
          <a:xfrm>
            <a:off x="1016000" y="1066800"/>
            <a:ext cx="16255800" cy="863400"/>
          </a:xfrm>
          <a:prstGeom prst="rect">
            <a:avLst/>
          </a:prstGeom>
          <a:noFill/>
          <a:ln>
            <a:noFill/>
          </a:ln>
        </p:spPr>
        <p:txBody>
          <a:bodyPr spcFirstLastPara="1" wrap="square" lIns="182850" tIns="182850" rIns="182850" bIns="182850" anchor="t" anchorCtr="0">
            <a:noAutofit/>
          </a:bodyPr>
          <a:lstStyle/>
          <a:p>
            <a:r>
              <a:rPr lang="de" sz="4200" b="1">
                <a:solidFill>
                  <a:srgbClr val="FFFFFF"/>
                </a:solidFill>
                <a:latin typeface="Inter"/>
                <a:ea typeface="Inter"/>
                <a:cs typeface="Inter"/>
                <a:sym typeface="Inter"/>
              </a:rPr>
              <a:t>Bewährt bei 66 B2B-Mittelständlern</a:t>
            </a:r>
            <a:endParaRPr sz="4200" b="1">
              <a:solidFill>
                <a:srgbClr val="FFFFFF"/>
              </a:solidFill>
              <a:latin typeface="Inter"/>
              <a:ea typeface="Inter"/>
              <a:cs typeface="Inter"/>
              <a:sym typeface="Inter"/>
            </a:endParaRPr>
          </a:p>
        </p:txBody>
      </p:sp>
      <p:sp>
        <p:nvSpPr>
          <p:cNvPr id="133" name="Google Shape;133;p16"/>
          <p:cNvSpPr txBox="1"/>
          <p:nvPr/>
        </p:nvSpPr>
        <p:spPr>
          <a:xfrm>
            <a:off x="1016000" y="1981200"/>
            <a:ext cx="16255800" cy="558600"/>
          </a:xfrm>
          <a:prstGeom prst="rect">
            <a:avLst/>
          </a:prstGeom>
          <a:noFill/>
          <a:ln>
            <a:noFill/>
          </a:ln>
        </p:spPr>
        <p:txBody>
          <a:bodyPr spcFirstLastPara="1" wrap="square" lIns="182850" tIns="182850" rIns="182850" bIns="182850" anchor="t" anchorCtr="0">
            <a:noAutofit/>
          </a:bodyPr>
          <a:lstStyle/>
          <a:p>
            <a:r>
              <a:rPr lang="de" sz="2300">
                <a:solidFill>
                  <a:srgbClr val="A7B0BA"/>
                </a:solidFill>
                <a:latin typeface="Inter"/>
                <a:ea typeface="Inter"/>
                <a:cs typeface="Inter"/>
                <a:sym typeface="Inter"/>
              </a:rPr>
              <a:t>Maßgeschneidert für den technischen Mittelstand und Vertriebsteams mit 5–15 Köpfen:</a:t>
            </a:r>
            <a:endParaRPr sz="2300">
              <a:solidFill>
                <a:srgbClr val="A7B0BA"/>
              </a:solidFill>
              <a:latin typeface="Inter"/>
              <a:ea typeface="Inter"/>
              <a:cs typeface="Inter"/>
              <a:sym typeface="Inter"/>
            </a:endParaRPr>
          </a:p>
        </p:txBody>
      </p:sp>
      <p:sp>
        <p:nvSpPr>
          <p:cNvPr id="134" name="Google Shape;134;p16"/>
          <p:cNvSpPr/>
          <p:nvPr/>
        </p:nvSpPr>
        <p:spPr>
          <a:xfrm>
            <a:off x="1016000" y="2743200"/>
            <a:ext cx="3810000" cy="3175200"/>
          </a:xfrm>
          <a:prstGeom prst="roundRect">
            <a:avLst>
              <a:gd name="adj" fmla="val 16667"/>
            </a:avLst>
          </a:prstGeom>
          <a:solidFill>
            <a:srgbClr val="123330"/>
          </a:solidFill>
          <a:ln w="19050" cap="flat" cmpd="sng">
            <a:solidFill>
              <a:srgbClr val="2A4A43"/>
            </a:solidFill>
            <a:prstDash val="solid"/>
            <a:round/>
            <a:headEnd type="none" w="sm" len="sm"/>
            <a:tailEnd type="none" w="sm" len="sm"/>
          </a:ln>
        </p:spPr>
        <p:txBody>
          <a:bodyPr spcFirstLastPara="1" wrap="square" lIns="182850" tIns="182850" rIns="182850" bIns="182850" anchor="ctr" anchorCtr="0">
            <a:noAutofit/>
          </a:bodyPr>
          <a:lstStyle/>
          <a:p>
            <a:pPr algn="ctr"/>
            <a:endParaRPr sz="3600"/>
          </a:p>
        </p:txBody>
      </p:sp>
      <p:sp>
        <p:nvSpPr>
          <p:cNvPr id="135" name="Google Shape;135;p16"/>
          <p:cNvSpPr txBox="1"/>
          <p:nvPr/>
        </p:nvSpPr>
        <p:spPr>
          <a:xfrm>
            <a:off x="1270000" y="2946400"/>
            <a:ext cx="3301800" cy="965400"/>
          </a:xfrm>
          <a:prstGeom prst="rect">
            <a:avLst/>
          </a:prstGeom>
          <a:noFill/>
          <a:ln>
            <a:noFill/>
          </a:ln>
        </p:spPr>
        <p:txBody>
          <a:bodyPr spcFirstLastPara="1" wrap="square" lIns="182850" tIns="182850" rIns="182850" bIns="182850" anchor="t" anchorCtr="0">
            <a:noAutofit/>
          </a:bodyPr>
          <a:lstStyle/>
          <a:p>
            <a:pPr algn="ctr"/>
            <a:r>
              <a:rPr lang="de" sz="6800" b="1">
                <a:solidFill>
                  <a:srgbClr val="00D9C6"/>
                </a:solidFill>
                <a:latin typeface="Inter"/>
                <a:ea typeface="Inter"/>
                <a:cs typeface="Inter"/>
                <a:sym typeface="Inter"/>
              </a:rPr>
              <a:t>66</a:t>
            </a:r>
            <a:endParaRPr sz="6800" b="1">
              <a:solidFill>
                <a:srgbClr val="00D9C6"/>
              </a:solidFill>
              <a:latin typeface="Inter"/>
              <a:ea typeface="Inter"/>
              <a:cs typeface="Inter"/>
              <a:sym typeface="Inter"/>
            </a:endParaRPr>
          </a:p>
        </p:txBody>
      </p:sp>
      <p:sp>
        <p:nvSpPr>
          <p:cNvPr id="136" name="Google Shape;136;p16"/>
          <p:cNvSpPr txBox="1"/>
          <p:nvPr/>
        </p:nvSpPr>
        <p:spPr>
          <a:xfrm>
            <a:off x="1270000" y="3911600"/>
            <a:ext cx="3301800" cy="508200"/>
          </a:xfrm>
          <a:prstGeom prst="rect">
            <a:avLst/>
          </a:prstGeom>
          <a:noFill/>
          <a:ln>
            <a:noFill/>
          </a:ln>
        </p:spPr>
        <p:txBody>
          <a:bodyPr spcFirstLastPara="1" wrap="square" lIns="182850" tIns="182850" rIns="182850" bIns="182850" anchor="t" anchorCtr="0">
            <a:noAutofit/>
          </a:bodyPr>
          <a:lstStyle/>
          <a:p>
            <a:pPr algn="ctr"/>
            <a:r>
              <a:rPr lang="de" sz="2300" b="1">
                <a:solidFill>
                  <a:srgbClr val="FFFFFF"/>
                </a:solidFill>
                <a:latin typeface="Inter"/>
                <a:ea typeface="Inter"/>
                <a:cs typeface="Inter"/>
                <a:sym typeface="Inter"/>
              </a:rPr>
              <a:t>B2B-Mittelständler</a:t>
            </a:r>
            <a:endParaRPr sz="2300" b="1">
              <a:solidFill>
                <a:srgbClr val="FFFFFF"/>
              </a:solidFill>
              <a:latin typeface="Inter"/>
              <a:ea typeface="Inter"/>
              <a:cs typeface="Inter"/>
              <a:sym typeface="Inter"/>
            </a:endParaRPr>
          </a:p>
        </p:txBody>
      </p:sp>
      <p:sp>
        <p:nvSpPr>
          <p:cNvPr id="137" name="Google Shape;137;p16"/>
          <p:cNvSpPr txBox="1"/>
          <p:nvPr/>
        </p:nvSpPr>
        <p:spPr>
          <a:xfrm>
            <a:off x="1270000" y="4470400"/>
            <a:ext cx="3301800" cy="1143000"/>
          </a:xfrm>
          <a:prstGeom prst="rect">
            <a:avLst/>
          </a:prstGeom>
          <a:noFill/>
          <a:ln>
            <a:noFill/>
          </a:ln>
        </p:spPr>
        <p:txBody>
          <a:bodyPr spcFirstLastPara="1" wrap="square" lIns="182850" tIns="182850" rIns="182850" bIns="182850" anchor="t" anchorCtr="0">
            <a:noAutofit/>
          </a:bodyPr>
          <a:lstStyle/>
          <a:p>
            <a:pPr algn="ctr"/>
            <a:r>
              <a:rPr lang="de" sz="1900">
                <a:solidFill>
                  <a:srgbClr val="A7B0BA"/>
                </a:solidFill>
                <a:latin typeface="Inter"/>
                <a:ea typeface="Inter"/>
                <a:cs typeface="Inter"/>
                <a:sym typeface="Inter"/>
              </a:rPr>
              <a:t>vertrauen täglich auf LeadPilot im DACH-Raum</a:t>
            </a:r>
            <a:endParaRPr sz="1900">
              <a:solidFill>
                <a:srgbClr val="A7B0BA"/>
              </a:solidFill>
              <a:latin typeface="Inter"/>
              <a:ea typeface="Inter"/>
              <a:cs typeface="Inter"/>
              <a:sym typeface="Inter"/>
            </a:endParaRPr>
          </a:p>
        </p:txBody>
      </p:sp>
      <p:sp>
        <p:nvSpPr>
          <p:cNvPr id="138" name="Google Shape;138;p16"/>
          <p:cNvSpPr/>
          <p:nvPr/>
        </p:nvSpPr>
        <p:spPr>
          <a:xfrm>
            <a:off x="5207000" y="2743200"/>
            <a:ext cx="3810000" cy="3175200"/>
          </a:xfrm>
          <a:prstGeom prst="roundRect">
            <a:avLst>
              <a:gd name="adj" fmla="val 16667"/>
            </a:avLst>
          </a:prstGeom>
          <a:solidFill>
            <a:srgbClr val="1A2825"/>
          </a:solidFill>
          <a:ln w="25400" cap="flat" cmpd="sng">
            <a:solidFill>
              <a:srgbClr val="FF7A3D"/>
            </a:solidFill>
            <a:prstDash val="solid"/>
            <a:round/>
            <a:headEnd type="none" w="sm" len="sm"/>
            <a:tailEnd type="none" w="sm" len="sm"/>
          </a:ln>
        </p:spPr>
        <p:txBody>
          <a:bodyPr spcFirstLastPara="1" wrap="square" lIns="182850" tIns="182850" rIns="182850" bIns="182850" anchor="ctr" anchorCtr="0">
            <a:noAutofit/>
          </a:bodyPr>
          <a:lstStyle/>
          <a:p>
            <a:pPr algn="ctr"/>
            <a:endParaRPr sz="3600"/>
          </a:p>
        </p:txBody>
      </p:sp>
      <p:sp>
        <p:nvSpPr>
          <p:cNvPr id="139" name="Google Shape;139;p16"/>
          <p:cNvSpPr txBox="1"/>
          <p:nvPr/>
        </p:nvSpPr>
        <p:spPr>
          <a:xfrm>
            <a:off x="5461000" y="2946400"/>
            <a:ext cx="3301800" cy="965400"/>
          </a:xfrm>
          <a:prstGeom prst="rect">
            <a:avLst/>
          </a:prstGeom>
          <a:noFill/>
          <a:ln>
            <a:noFill/>
          </a:ln>
        </p:spPr>
        <p:txBody>
          <a:bodyPr spcFirstLastPara="1" wrap="square" lIns="182850" tIns="182850" rIns="182850" bIns="182850" anchor="t" anchorCtr="0">
            <a:noAutofit/>
          </a:bodyPr>
          <a:lstStyle/>
          <a:p>
            <a:pPr algn="ctr"/>
            <a:r>
              <a:rPr lang="de" sz="6800" b="1">
                <a:solidFill>
                  <a:srgbClr val="FF7A3D"/>
                </a:solidFill>
                <a:latin typeface="Inter"/>
                <a:ea typeface="Inter"/>
                <a:cs typeface="Inter"/>
                <a:sym typeface="Inter"/>
              </a:rPr>
              <a:t>36 %</a:t>
            </a:r>
            <a:endParaRPr sz="6800" b="1">
              <a:solidFill>
                <a:srgbClr val="FF7A3D"/>
              </a:solidFill>
              <a:latin typeface="Inter"/>
              <a:ea typeface="Inter"/>
              <a:cs typeface="Inter"/>
              <a:sym typeface="Inter"/>
            </a:endParaRPr>
          </a:p>
        </p:txBody>
      </p:sp>
      <p:sp>
        <p:nvSpPr>
          <p:cNvPr id="140" name="Google Shape;140;p16"/>
          <p:cNvSpPr txBox="1"/>
          <p:nvPr/>
        </p:nvSpPr>
        <p:spPr>
          <a:xfrm>
            <a:off x="5461000" y="3911600"/>
            <a:ext cx="3301800" cy="508200"/>
          </a:xfrm>
          <a:prstGeom prst="rect">
            <a:avLst/>
          </a:prstGeom>
          <a:noFill/>
          <a:ln>
            <a:noFill/>
          </a:ln>
        </p:spPr>
        <p:txBody>
          <a:bodyPr spcFirstLastPara="1" wrap="square" lIns="182850" tIns="182850" rIns="182850" bIns="182850" anchor="t" anchorCtr="0">
            <a:noAutofit/>
          </a:bodyPr>
          <a:lstStyle/>
          <a:p>
            <a:pPr algn="ctr"/>
            <a:r>
              <a:rPr lang="de" sz="2300" b="1">
                <a:solidFill>
                  <a:srgbClr val="FF7A3D"/>
                </a:solidFill>
                <a:latin typeface="Inter"/>
                <a:ea typeface="Inter"/>
                <a:cs typeface="Inter"/>
                <a:sym typeface="Inter"/>
              </a:rPr>
              <a:t>Maschinenbau</a:t>
            </a:r>
            <a:endParaRPr sz="2300" b="1">
              <a:solidFill>
                <a:srgbClr val="FF7A3D"/>
              </a:solidFill>
              <a:latin typeface="Inter"/>
              <a:ea typeface="Inter"/>
              <a:cs typeface="Inter"/>
              <a:sym typeface="Inter"/>
            </a:endParaRPr>
          </a:p>
        </p:txBody>
      </p:sp>
      <p:sp>
        <p:nvSpPr>
          <p:cNvPr id="141" name="Google Shape;141;p16"/>
          <p:cNvSpPr txBox="1"/>
          <p:nvPr/>
        </p:nvSpPr>
        <p:spPr>
          <a:xfrm>
            <a:off x="5461000" y="4470400"/>
            <a:ext cx="3301800" cy="1143000"/>
          </a:xfrm>
          <a:prstGeom prst="rect">
            <a:avLst/>
          </a:prstGeom>
          <a:noFill/>
          <a:ln>
            <a:noFill/>
          </a:ln>
        </p:spPr>
        <p:txBody>
          <a:bodyPr spcFirstLastPara="1" wrap="square" lIns="182850" tIns="182850" rIns="182850" bIns="182850" anchor="t" anchorCtr="0">
            <a:noAutofit/>
          </a:bodyPr>
          <a:lstStyle/>
          <a:p>
            <a:pPr algn="ctr"/>
            <a:r>
              <a:rPr lang="de" sz="1900">
                <a:solidFill>
                  <a:srgbClr val="A7B0BA"/>
                </a:solidFill>
                <a:latin typeface="Inter"/>
                <a:ea typeface="Inter"/>
                <a:cs typeface="Inter"/>
                <a:sym typeface="Inter"/>
              </a:rPr>
              <a:t>Ihre Branche, Ihre Prozesse &amp; Vertriebszyklen</a:t>
            </a:r>
            <a:endParaRPr sz="1900">
              <a:solidFill>
                <a:srgbClr val="A7B0BA"/>
              </a:solidFill>
              <a:latin typeface="Inter"/>
              <a:ea typeface="Inter"/>
              <a:cs typeface="Inter"/>
              <a:sym typeface="Inter"/>
            </a:endParaRPr>
          </a:p>
        </p:txBody>
      </p:sp>
      <p:sp>
        <p:nvSpPr>
          <p:cNvPr id="142" name="Google Shape;142;p16"/>
          <p:cNvSpPr/>
          <p:nvPr/>
        </p:nvSpPr>
        <p:spPr>
          <a:xfrm>
            <a:off x="9398000" y="2743200"/>
            <a:ext cx="3810000" cy="3175200"/>
          </a:xfrm>
          <a:prstGeom prst="roundRect">
            <a:avLst>
              <a:gd name="adj" fmla="val 16667"/>
            </a:avLst>
          </a:prstGeom>
          <a:solidFill>
            <a:srgbClr val="123330"/>
          </a:solidFill>
          <a:ln w="19050" cap="flat" cmpd="sng">
            <a:solidFill>
              <a:srgbClr val="2A4A43"/>
            </a:solidFill>
            <a:prstDash val="solid"/>
            <a:round/>
            <a:headEnd type="none" w="sm" len="sm"/>
            <a:tailEnd type="none" w="sm" len="sm"/>
          </a:ln>
        </p:spPr>
        <p:txBody>
          <a:bodyPr spcFirstLastPara="1" wrap="square" lIns="182850" tIns="182850" rIns="182850" bIns="182850" anchor="ctr" anchorCtr="0">
            <a:noAutofit/>
          </a:bodyPr>
          <a:lstStyle/>
          <a:p>
            <a:pPr algn="ctr"/>
            <a:endParaRPr sz="3600"/>
          </a:p>
        </p:txBody>
      </p:sp>
      <p:sp>
        <p:nvSpPr>
          <p:cNvPr id="143" name="Google Shape;143;p16"/>
          <p:cNvSpPr txBox="1"/>
          <p:nvPr/>
        </p:nvSpPr>
        <p:spPr>
          <a:xfrm>
            <a:off x="9652000" y="2946400"/>
            <a:ext cx="3301800" cy="965400"/>
          </a:xfrm>
          <a:prstGeom prst="rect">
            <a:avLst/>
          </a:prstGeom>
          <a:noFill/>
          <a:ln>
            <a:noFill/>
          </a:ln>
        </p:spPr>
        <p:txBody>
          <a:bodyPr spcFirstLastPara="1" wrap="square" lIns="182850" tIns="182850" rIns="182850" bIns="182850" anchor="t" anchorCtr="0">
            <a:noAutofit/>
          </a:bodyPr>
          <a:lstStyle/>
          <a:p>
            <a:pPr algn="ctr"/>
            <a:r>
              <a:rPr lang="de" sz="6800" b="1">
                <a:solidFill>
                  <a:srgbClr val="00D9C6"/>
                </a:solidFill>
                <a:latin typeface="Inter"/>
                <a:ea typeface="Inter"/>
                <a:cs typeface="Inter"/>
                <a:sym typeface="Inter"/>
              </a:rPr>
              <a:t>34</a:t>
            </a:r>
            <a:endParaRPr sz="6800" b="1">
              <a:solidFill>
                <a:srgbClr val="00D9C6"/>
              </a:solidFill>
              <a:latin typeface="Inter"/>
              <a:ea typeface="Inter"/>
              <a:cs typeface="Inter"/>
              <a:sym typeface="Inter"/>
            </a:endParaRPr>
          </a:p>
        </p:txBody>
      </p:sp>
      <p:sp>
        <p:nvSpPr>
          <p:cNvPr id="144" name="Google Shape;144;p16"/>
          <p:cNvSpPr txBox="1"/>
          <p:nvPr/>
        </p:nvSpPr>
        <p:spPr>
          <a:xfrm>
            <a:off x="9652000" y="3911600"/>
            <a:ext cx="3301800" cy="508200"/>
          </a:xfrm>
          <a:prstGeom prst="rect">
            <a:avLst/>
          </a:prstGeom>
          <a:noFill/>
          <a:ln>
            <a:noFill/>
          </a:ln>
        </p:spPr>
        <p:txBody>
          <a:bodyPr spcFirstLastPara="1" wrap="square" lIns="182850" tIns="182850" rIns="182850" bIns="182850" anchor="t" anchorCtr="0">
            <a:noAutofit/>
          </a:bodyPr>
          <a:lstStyle/>
          <a:p>
            <a:pPr algn="ctr"/>
            <a:r>
              <a:rPr lang="de" sz="2300" b="1">
                <a:solidFill>
                  <a:srgbClr val="FFFFFF"/>
                </a:solidFill>
                <a:latin typeface="Inter"/>
                <a:ea typeface="Inter"/>
                <a:cs typeface="Inter"/>
                <a:sym typeface="Inter"/>
              </a:rPr>
              <a:t>NPS Score</a:t>
            </a:r>
            <a:endParaRPr sz="2300" b="1">
              <a:solidFill>
                <a:srgbClr val="FFFFFF"/>
              </a:solidFill>
              <a:latin typeface="Inter"/>
              <a:ea typeface="Inter"/>
              <a:cs typeface="Inter"/>
              <a:sym typeface="Inter"/>
            </a:endParaRPr>
          </a:p>
        </p:txBody>
      </p:sp>
      <p:sp>
        <p:nvSpPr>
          <p:cNvPr id="145" name="Google Shape;145;p16"/>
          <p:cNvSpPr txBox="1"/>
          <p:nvPr/>
        </p:nvSpPr>
        <p:spPr>
          <a:xfrm>
            <a:off x="9652000" y="4470400"/>
            <a:ext cx="3301800" cy="1143000"/>
          </a:xfrm>
          <a:prstGeom prst="rect">
            <a:avLst/>
          </a:prstGeom>
          <a:noFill/>
          <a:ln>
            <a:noFill/>
          </a:ln>
        </p:spPr>
        <p:txBody>
          <a:bodyPr spcFirstLastPara="1" wrap="square" lIns="182850" tIns="182850" rIns="182850" bIns="182850" anchor="t" anchorCtr="0">
            <a:noAutofit/>
          </a:bodyPr>
          <a:lstStyle/>
          <a:p>
            <a:pPr algn="ctr"/>
            <a:r>
              <a:rPr lang="de" sz="1900">
                <a:solidFill>
                  <a:srgbClr val="A7B0BA"/>
                </a:solidFill>
                <a:latin typeface="Inter"/>
                <a:ea typeface="Inter"/>
                <a:cs typeface="Inter"/>
                <a:sym typeface="Inter"/>
              </a:rPr>
              <a:t>Hohe Weiterempfehlung &amp; aktive Nutzerzufriedenheit</a:t>
            </a:r>
            <a:endParaRPr sz="1900">
              <a:solidFill>
                <a:srgbClr val="A7B0BA"/>
              </a:solidFill>
              <a:latin typeface="Inter"/>
              <a:ea typeface="Inter"/>
              <a:cs typeface="Inter"/>
              <a:sym typeface="Inter"/>
            </a:endParaRPr>
          </a:p>
        </p:txBody>
      </p:sp>
      <p:sp>
        <p:nvSpPr>
          <p:cNvPr id="146" name="Google Shape;146;p16"/>
          <p:cNvSpPr/>
          <p:nvPr/>
        </p:nvSpPr>
        <p:spPr>
          <a:xfrm>
            <a:off x="13589000" y="2743200"/>
            <a:ext cx="3682800" cy="3175200"/>
          </a:xfrm>
          <a:prstGeom prst="roundRect">
            <a:avLst>
              <a:gd name="adj" fmla="val 16667"/>
            </a:avLst>
          </a:prstGeom>
          <a:solidFill>
            <a:srgbClr val="123330"/>
          </a:solidFill>
          <a:ln w="19050" cap="flat" cmpd="sng">
            <a:solidFill>
              <a:srgbClr val="2A4A43"/>
            </a:solidFill>
            <a:prstDash val="solid"/>
            <a:round/>
            <a:headEnd type="none" w="sm" len="sm"/>
            <a:tailEnd type="none" w="sm" len="sm"/>
          </a:ln>
        </p:spPr>
        <p:txBody>
          <a:bodyPr spcFirstLastPara="1" wrap="square" lIns="182850" tIns="182850" rIns="182850" bIns="182850" anchor="ctr" anchorCtr="0">
            <a:noAutofit/>
          </a:bodyPr>
          <a:lstStyle/>
          <a:p>
            <a:pPr algn="ctr"/>
            <a:endParaRPr sz="3600"/>
          </a:p>
        </p:txBody>
      </p:sp>
      <p:sp>
        <p:nvSpPr>
          <p:cNvPr id="147" name="Google Shape;147;p16"/>
          <p:cNvSpPr txBox="1"/>
          <p:nvPr/>
        </p:nvSpPr>
        <p:spPr>
          <a:xfrm>
            <a:off x="13843000" y="2946400"/>
            <a:ext cx="3175200" cy="965400"/>
          </a:xfrm>
          <a:prstGeom prst="rect">
            <a:avLst/>
          </a:prstGeom>
          <a:noFill/>
          <a:ln>
            <a:noFill/>
          </a:ln>
        </p:spPr>
        <p:txBody>
          <a:bodyPr spcFirstLastPara="1" wrap="square" lIns="182850" tIns="182850" rIns="182850" bIns="182850" anchor="t" anchorCtr="0">
            <a:noAutofit/>
          </a:bodyPr>
          <a:lstStyle/>
          <a:p>
            <a:pPr algn="ctr"/>
            <a:r>
              <a:rPr lang="de" sz="6800" b="1">
                <a:solidFill>
                  <a:srgbClr val="00D9C6"/>
                </a:solidFill>
                <a:latin typeface="Inter"/>
                <a:ea typeface="Inter"/>
                <a:cs typeface="Inter"/>
                <a:sym typeface="Inter"/>
              </a:rPr>
              <a:t>100 %</a:t>
            </a:r>
            <a:endParaRPr sz="6800" b="1">
              <a:solidFill>
                <a:srgbClr val="00D9C6"/>
              </a:solidFill>
              <a:latin typeface="Inter"/>
              <a:ea typeface="Inter"/>
              <a:cs typeface="Inter"/>
              <a:sym typeface="Inter"/>
            </a:endParaRPr>
          </a:p>
        </p:txBody>
      </p:sp>
      <p:sp>
        <p:nvSpPr>
          <p:cNvPr id="148" name="Google Shape;148;p16"/>
          <p:cNvSpPr txBox="1"/>
          <p:nvPr/>
        </p:nvSpPr>
        <p:spPr>
          <a:xfrm>
            <a:off x="13843000" y="3911600"/>
            <a:ext cx="3175200" cy="508200"/>
          </a:xfrm>
          <a:prstGeom prst="rect">
            <a:avLst/>
          </a:prstGeom>
          <a:noFill/>
          <a:ln>
            <a:noFill/>
          </a:ln>
        </p:spPr>
        <p:txBody>
          <a:bodyPr spcFirstLastPara="1" wrap="square" lIns="182850" tIns="182850" rIns="182850" bIns="182850" anchor="t" anchorCtr="0">
            <a:noAutofit/>
          </a:bodyPr>
          <a:lstStyle/>
          <a:p>
            <a:pPr algn="ctr"/>
            <a:r>
              <a:rPr lang="de" sz="2300" b="1">
                <a:solidFill>
                  <a:srgbClr val="FFFFFF"/>
                </a:solidFill>
                <a:latin typeface="Inter"/>
                <a:ea typeface="Inter"/>
                <a:cs typeface="Inter"/>
                <a:sym typeface="Inter"/>
              </a:rPr>
              <a:t>DSGVO-konform</a:t>
            </a:r>
            <a:endParaRPr sz="2300" b="1">
              <a:solidFill>
                <a:srgbClr val="FFFFFF"/>
              </a:solidFill>
              <a:latin typeface="Inter"/>
              <a:ea typeface="Inter"/>
              <a:cs typeface="Inter"/>
              <a:sym typeface="Inter"/>
            </a:endParaRPr>
          </a:p>
        </p:txBody>
      </p:sp>
      <p:sp>
        <p:nvSpPr>
          <p:cNvPr id="149" name="Google Shape;149;p16"/>
          <p:cNvSpPr txBox="1"/>
          <p:nvPr/>
        </p:nvSpPr>
        <p:spPr>
          <a:xfrm>
            <a:off x="13843000" y="4470400"/>
            <a:ext cx="3175200" cy="1143000"/>
          </a:xfrm>
          <a:prstGeom prst="rect">
            <a:avLst/>
          </a:prstGeom>
          <a:noFill/>
          <a:ln>
            <a:noFill/>
          </a:ln>
        </p:spPr>
        <p:txBody>
          <a:bodyPr spcFirstLastPara="1" wrap="square" lIns="182850" tIns="182850" rIns="182850" bIns="182850" anchor="t" anchorCtr="0">
            <a:noAutofit/>
          </a:bodyPr>
          <a:lstStyle/>
          <a:p>
            <a:pPr algn="ctr"/>
            <a:r>
              <a:rPr lang="de" sz="1900">
                <a:solidFill>
                  <a:srgbClr val="A7B0BA"/>
                </a:solidFill>
                <a:latin typeface="Inter"/>
                <a:ea typeface="Inter"/>
                <a:cs typeface="Inter"/>
                <a:sym typeface="Inter"/>
              </a:rPr>
              <a:t>Hosting in Europa (ISO 27001 Sicherheitsstandard)</a:t>
            </a:r>
            <a:endParaRPr sz="1900">
              <a:solidFill>
                <a:srgbClr val="A7B0BA"/>
              </a:solidFill>
              <a:latin typeface="Inter"/>
              <a:ea typeface="Inter"/>
              <a:cs typeface="Inter"/>
              <a:sym typeface="Inter"/>
            </a:endParaRPr>
          </a:p>
        </p:txBody>
      </p:sp>
      <p:sp>
        <p:nvSpPr>
          <p:cNvPr id="150" name="Google Shape;150;p16"/>
          <p:cNvSpPr/>
          <p:nvPr/>
        </p:nvSpPr>
        <p:spPr>
          <a:xfrm>
            <a:off x="1016000" y="6299200"/>
            <a:ext cx="16255800" cy="2539800"/>
          </a:xfrm>
          <a:prstGeom prst="roundRect">
            <a:avLst>
              <a:gd name="adj" fmla="val 16667"/>
            </a:avLst>
          </a:prstGeom>
          <a:solidFill>
            <a:srgbClr val="123330"/>
          </a:solidFill>
          <a:ln w="15250" cap="flat" cmpd="sng">
            <a:solidFill>
              <a:srgbClr val="2A4A43"/>
            </a:solidFill>
            <a:prstDash val="solid"/>
            <a:round/>
            <a:headEnd type="none" w="sm" len="sm"/>
            <a:tailEnd type="none" w="sm" len="sm"/>
          </a:ln>
        </p:spPr>
        <p:txBody>
          <a:bodyPr spcFirstLastPara="1" wrap="square" lIns="182850" tIns="182850" rIns="182850" bIns="182850" anchor="ctr" anchorCtr="0">
            <a:noAutofit/>
          </a:bodyPr>
          <a:lstStyle/>
          <a:p>
            <a:pPr algn="ctr"/>
            <a:endParaRPr sz="3600"/>
          </a:p>
        </p:txBody>
      </p:sp>
      <p:sp>
        <p:nvSpPr>
          <p:cNvPr id="151" name="Google Shape;151;p16"/>
          <p:cNvSpPr txBox="1"/>
          <p:nvPr/>
        </p:nvSpPr>
        <p:spPr>
          <a:xfrm>
            <a:off x="1397000" y="6502400"/>
            <a:ext cx="15493800" cy="406200"/>
          </a:xfrm>
          <a:prstGeom prst="rect">
            <a:avLst/>
          </a:prstGeom>
          <a:noFill/>
          <a:ln>
            <a:noFill/>
          </a:ln>
        </p:spPr>
        <p:txBody>
          <a:bodyPr spcFirstLastPara="1" wrap="square" lIns="182850" tIns="182850" rIns="182850" bIns="182850" anchor="t" anchorCtr="0">
            <a:noAutofit/>
          </a:bodyPr>
          <a:lstStyle/>
          <a:p>
            <a:r>
              <a:rPr lang="de" sz="1900" b="1">
                <a:solidFill>
                  <a:srgbClr val="00D9C6"/>
                </a:solidFill>
                <a:latin typeface="Inter"/>
                <a:ea typeface="Inter"/>
                <a:cs typeface="Inter"/>
                <a:sym typeface="Inter"/>
              </a:rPr>
              <a:t>MINI-CASE STUDY · MASCHINENBAU-ZULIEFERER (6 VERTRIEBLER)</a:t>
            </a:r>
            <a:endParaRPr sz="1900" b="1">
              <a:solidFill>
                <a:srgbClr val="00D9C6"/>
              </a:solidFill>
              <a:latin typeface="Inter"/>
              <a:ea typeface="Inter"/>
              <a:cs typeface="Inter"/>
              <a:sym typeface="Inter"/>
            </a:endParaRPr>
          </a:p>
        </p:txBody>
      </p:sp>
      <p:sp>
        <p:nvSpPr>
          <p:cNvPr id="152" name="Google Shape;152;p16"/>
          <p:cNvSpPr txBox="1"/>
          <p:nvPr/>
        </p:nvSpPr>
        <p:spPr>
          <a:xfrm>
            <a:off x="1397000" y="6959600"/>
            <a:ext cx="15493800" cy="1066800"/>
          </a:xfrm>
          <a:prstGeom prst="rect">
            <a:avLst/>
          </a:prstGeom>
          <a:noFill/>
          <a:ln>
            <a:noFill/>
          </a:ln>
        </p:spPr>
        <p:txBody>
          <a:bodyPr spcFirstLastPara="1" wrap="square" lIns="182850" tIns="182850" rIns="182850" bIns="182850" anchor="t" anchorCtr="0">
            <a:noAutofit/>
          </a:bodyPr>
          <a:lstStyle/>
          <a:p>
            <a:pPr>
              <a:lnSpc>
                <a:spcPct val="125000"/>
              </a:lnSpc>
            </a:pPr>
            <a:r>
              <a:rPr lang="de" sz="2200" i="1">
                <a:solidFill>
                  <a:srgbClr val="FFFFFF"/>
                </a:solidFill>
                <a:latin typeface="Inter"/>
                <a:ea typeface="Inter"/>
                <a:cs typeface="Inter"/>
                <a:sym typeface="Inter"/>
              </a:rPr>
              <a:t>„Nach der Einführung von LeadPilot wurde jede Messe-Anfrage innerhalb von 48 Stunden kontaktiert. Keine verlorenen Aufträge mehr und über 2,5 Stunden wöchentliche Zeitersparnis beim GF-Forecast.“</a:t>
            </a:r>
            <a:endParaRPr sz="2200" i="1">
              <a:solidFill>
                <a:srgbClr val="FFFFFF"/>
              </a:solidFill>
              <a:latin typeface="Inter"/>
              <a:ea typeface="Inter"/>
              <a:cs typeface="Inter"/>
              <a:sym typeface="Inter"/>
            </a:endParaRPr>
          </a:p>
        </p:txBody>
      </p:sp>
      <p:sp>
        <p:nvSpPr>
          <p:cNvPr id="153" name="Google Shape;153;p16"/>
          <p:cNvSpPr txBox="1"/>
          <p:nvPr/>
        </p:nvSpPr>
        <p:spPr>
          <a:xfrm>
            <a:off x="1397000" y="8178800"/>
            <a:ext cx="15493800" cy="457200"/>
          </a:xfrm>
          <a:prstGeom prst="rect">
            <a:avLst/>
          </a:prstGeom>
          <a:noFill/>
          <a:ln>
            <a:noFill/>
          </a:ln>
        </p:spPr>
        <p:txBody>
          <a:bodyPr spcFirstLastPara="1" wrap="square" lIns="182850" tIns="182850" rIns="182850" bIns="182850" anchor="t" anchorCtr="0">
            <a:noAutofit/>
          </a:bodyPr>
          <a:lstStyle/>
          <a:p>
            <a:r>
              <a:rPr lang="de" sz="2000" b="1">
                <a:solidFill>
                  <a:srgbClr val="00D9C6"/>
                </a:solidFill>
                <a:latin typeface="Inter"/>
                <a:ea typeface="Inter"/>
                <a:cs typeface="Inter"/>
                <a:sym typeface="Inter"/>
              </a:rPr>
              <a:t>Ergebnis: +22 % mehr Erstabschlüsse im ersten Quartal nach der Messe.</a:t>
            </a:r>
            <a:endParaRPr sz="2000" b="1">
              <a:solidFill>
                <a:srgbClr val="00D9C6"/>
              </a:solidFill>
              <a:latin typeface="Inter"/>
              <a:ea typeface="Inter"/>
              <a:cs typeface="Inter"/>
              <a:sym typeface="Inter"/>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17"/>
          <p:cNvSpPr txBox="1"/>
          <p:nvPr/>
        </p:nvSpPr>
        <p:spPr>
          <a:xfrm>
            <a:off x="15240000" y="558800"/>
            <a:ext cx="2032200" cy="508200"/>
          </a:xfrm>
          <a:prstGeom prst="rect">
            <a:avLst/>
          </a:prstGeom>
          <a:noFill/>
          <a:ln>
            <a:noFill/>
          </a:ln>
        </p:spPr>
        <p:txBody>
          <a:bodyPr spcFirstLastPara="1" wrap="square" lIns="182850" tIns="182850" rIns="182850" bIns="182850" anchor="t" anchorCtr="0">
            <a:noAutofit/>
          </a:bodyPr>
          <a:lstStyle/>
          <a:p>
            <a:pPr algn="r"/>
            <a:r>
              <a:rPr lang="de" sz="2200" b="1">
                <a:solidFill>
                  <a:srgbClr val="00D9C6"/>
                </a:solidFill>
                <a:latin typeface="Inter"/>
                <a:ea typeface="Inter"/>
                <a:cs typeface="Inter"/>
                <a:sym typeface="Inter"/>
              </a:rPr>
              <a:t>LeadPilot</a:t>
            </a:r>
            <a:endParaRPr sz="2200" b="1">
              <a:solidFill>
                <a:srgbClr val="00D9C6"/>
              </a:solidFill>
              <a:latin typeface="Inter"/>
              <a:ea typeface="Inter"/>
              <a:cs typeface="Inter"/>
              <a:sym typeface="Inter"/>
            </a:endParaRPr>
          </a:p>
        </p:txBody>
      </p:sp>
      <p:sp>
        <p:nvSpPr>
          <p:cNvPr id="159" name="Google Shape;159;p17"/>
          <p:cNvSpPr txBox="1"/>
          <p:nvPr/>
        </p:nvSpPr>
        <p:spPr>
          <a:xfrm>
            <a:off x="12954000" y="558800"/>
            <a:ext cx="2032200" cy="508200"/>
          </a:xfrm>
          <a:prstGeom prst="rect">
            <a:avLst/>
          </a:prstGeom>
          <a:noFill/>
          <a:ln>
            <a:noFill/>
          </a:ln>
        </p:spPr>
        <p:txBody>
          <a:bodyPr spcFirstLastPara="1" wrap="square" lIns="182850" tIns="182850" rIns="182850" bIns="182850" anchor="t" anchorCtr="0">
            <a:noAutofit/>
          </a:bodyPr>
          <a:lstStyle/>
          <a:p>
            <a:pPr algn="r"/>
            <a:r>
              <a:rPr lang="de" sz="2000" b="1">
                <a:solidFill>
                  <a:srgbClr val="75828D"/>
                </a:solidFill>
                <a:latin typeface="Inter"/>
                <a:ea typeface="Inter"/>
                <a:cs typeface="Inter"/>
                <a:sym typeface="Inter"/>
              </a:rPr>
              <a:t>05 / 05</a:t>
            </a:r>
            <a:endParaRPr sz="2000" b="1">
              <a:solidFill>
                <a:srgbClr val="75828D"/>
              </a:solidFill>
              <a:latin typeface="Inter"/>
              <a:ea typeface="Inter"/>
              <a:cs typeface="Inter"/>
              <a:sym typeface="Inter"/>
            </a:endParaRPr>
          </a:p>
        </p:txBody>
      </p:sp>
      <p:sp>
        <p:nvSpPr>
          <p:cNvPr id="160" name="Google Shape;160;p17"/>
          <p:cNvSpPr txBox="1"/>
          <p:nvPr/>
        </p:nvSpPr>
        <p:spPr>
          <a:xfrm>
            <a:off x="1016000" y="558800"/>
            <a:ext cx="11683800" cy="457200"/>
          </a:xfrm>
          <a:prstGeom prst="rect">
            <a:avLst/>
          </a:prstGeom>
          <a:noFill/>
          <a:ln>
            <a:noFill/>
          </a:ln>
        </p:spPr>
        <p:txBody>
          <a:bodyPr spcFirstLastPara="1" wrap="square" lIns="182850" tIns="182850" rIns="182850" bIns="182850" anchor="t" anchorCtr="0">
            <a:noAutofit/>
          </a:bodyPr>
          <a:lstStyle/>
          <a:p>
            <a:r>
              <a:rPr lang="de" sz="2000" b="1">
                <a:solidFill>
                  <a:srgbClr val="FF7A3D"/>
                </a:solidFill>
                <a:latin typeface="Inter"/>
                <a:ea typeface="Inter"/>
                <a:cs typeface="Inter"/>
                <a:sym typeface="Inter"/>
              </a:rPr>
              <a:t>NÄCHSTER SCHRITT · IHR VORTEIL</a:t>
            </a:r>
            <a:endParaRPr sz="2000" b="1">
              <a:solidFill>
                <a:srgbClr val="FF7A3D"/>
              </a:solidFill>
              <a:latin typeface="Inter"/>
              <a:ea typeface="Inter"/>
              <a:cs typeface="Inter"/>
              <a:sym typeface="Inter"/>
            </a:endParaRPr>
          </a:p>
        </p:txBody>
      </p:sp>
      <p:sp>
        <p:nvSpPr>
          <p:cNvPr id="161" name="Google Shape;161;p17"/>
          <p:cNvSpPr txBox="1"/>
          <p:nvPr/>
        </p:nvSpPr>
        <p:spPr>
          <a:xfrm>
            <a:off x="1016000" y="1066800"/>
            <a:ext cx="16255800" cy="863400"/>
          </a:xfrm>
          <a:prstGeom prst="rect">
            <a:avLst/>
          </a:prstGeom>
          <a:noFill/>
          <a:ln>
            <a:noFill/>
          </a:ln>
        </p:spPr>
        <p:txBody>
          <a:bodyPr spcFirstLastPara="1" wrap="square" lIns="182850" tIns="182850" rIns="182850" bIns="182850" anchor="t" anchorCtr="0">
            <a:noAutofit/>
          </a:bodyPr>
          <a:lstStyle/>
          <a:p>
            <a:r>
              <a:rPr lang="de" sz="4200" b="1">
                <a:solidFill>
                  <a:srgbClr val="FFFFFF"/>
                </a:solidFill>
                <a:latin typeface="Inter"/>
                <a:ea typeface="Inter"/>
                <a:cs typeface="Inter"/>
                <a:sym typeface="Inter"/>
              </a:rPr>
              <a:t>Starten wir direkt mit Ihrer Messe-Liste</a:t>
            </a:r>
            <a:endParaRPr sz="4200" b="1">
              <a:solidFill>
                <a:srgbClr val="FFFFFF"/>
              </a:solidFill>
              <a:latin typeface="Inter"/>
              <a:ea typeface="Inter"/>
              <a:cs typeface="Inter"/>
              <a:sym typeface="Inter"/>
            </a:endParaRPr>
          </a:p>
        </p:txBody>
      </p:sp>
      <p:sp>
        <p:nvSpPr>
          <p:cNvPr id="162" name="Google Shape;162;p17"/>
          <p:cNvSpPr txBox="1"/>
          <p:nvPr/>
        </p:nvSpPr>
        <p:spPr>
          <a:xfrm>
            <a:off x="1016000" y="1981200"/>
            <a:ext cx="16255800" cy="558600"/>
          </a:xfrm>
          <a:prstGeom prst="rect">
            <a:avLst/>
          </a:prstGeom>
          <a:noFill/>
          <a:ln>
            <a:noFill/>
          </a:ln>
        </p:spPr>
        <p:txBody>
          <a:bodyPr spcFirstLastPara="1" wrap="square" lIns="182850" tIns="182850" rIns="182850" bIns="182850" anchor="t" anchorCtr="0">
            <a:noAutofit/>
          </a:bodyPr>
          <a:lstStyle/>
          <a:p>
            <a:r>
              <a:rPr lang="de" sz="2300">
                <a:solidFill>
                  <a:srgbClr val="A7B0BA"/>
                </a:solidFill>
                <a:latin typeface="Inter"/>
                <a:ea typeface="Inter"/>
                <a:cs typeface="Inter"/>
                <a:sym typeface="Inter"/>
              </a:rPr>
              <a:t>Keine theoretische Muster-Präsentation, sondern Ihr echter Vorher-Nachher-Vergleich:</a:t>
            </a:r>
            <a:endParaRPr sz="2300">
              <a:solidFill>
                <a:srgbClr val="A7B0BA"/>
              </a:solidFill>
              <a:latin typeface="Inter"/>
              <a:ea typeface="Inter"/>
              <a:cs typeface="Inter"/>
              <a:sym typeface="Inter"/>
            </a:endParaRPr>
          </a:p>
        </p:txBody>
      </p:sp>
      <p:sp>
        <p:nvSpPr>
          <p:cNvPr id="163" name="Google Shape;163;p17"/>
          <p:cNvSpPr/>
          <p:nvPr/>
        </p:nvSpPr>
        <p:spPr>
          <a:xfrm>
            <a:off x="1016000" y="2743200"/>
            <a:ext cx="5080200" cy="3861000"/>
          </a:xfrm>
          <a:prstGeom prst="roundRect">
            <a:avLst>
              <a:gd name="adj" fmla="val 16667"/>
            </a:avLst>
          </a:prstGeom>
          <a:solidFill>
            <a:srgbClr val="1A2825"/>
          </a:solidFill>
          <a:ln w="25400" cap="flat" cmpd="sng">
            <a:solidFill>
              <a:srgbClr val="FF7A3D"/>
            </a:solidFill>
            <a:prstDash val="solid"/>
            <a:round/>
            <a:headEnd type="none" w="sm" len="sm"/>
            <a:tailEnd type="none" w="sm" len="sm"/>
          </a:ln>
        </p:spPr>
        <p:txBody>
          <a:bodyPr spcFirstLastPara="1" wrap="square" lIns="182850" tIns="182850" rIns="182850" bIns="182850" anchor="ctr" anchorCtr="0">
            <a:noAutofit/>
          </a:bodyPr>
          <a:lstStyle/>
          <a:p>
            <a:pPr algn="ctr"/>
            <a:endParaRPr sz="3600"/>
          </a:p>
        </p:txBody>
      </p:sp>
      <p:sp>
        <p:nvSpPr>
          <p:cNvPr id="164" name="Google Shape;164;p17"/>
          <p:cNvSpPr txBox="1"/>
          <p:nvPr/>
        </p:nvSpPr>
        <p:spPr>
          <a:xfrm>
            <a:off x="1397000" y="2997200"/>
            <a:ext cx="4318200" cy="406200"/>
          </a:xfrm>
          <a:prstGeom prst="rect">
            <a:avLst/>
          </a:prstGeom>
          <a:noFill/>
          <a:ln>
            <a:noFill/>
          </a:ln>
        </p:spPr>
        <p:txBody>
          <a:bodyPr spcFirstLastPara="1" wrap="square" lIns="182850" tIns="182850" rIns="182850" bIns="182850" anchor="t" anchorCtr="0">
            <a:noAutofit/>
          </a:bodyPr>
          <a:lstStyle/>
          <a:p>
            <a:r>
              <a:rPr lang="de" sz="2000" b="1">
                <a:solidFill>
                  <a:srgbClr val="FF7A3D"/>
                </a:solidFill>
                <a:latin typeface="Inter"/>
                <a:ea typeface="Inter"/>
                <a:cs typeface="Inter"/>
                <a:sym typeface="Inter"/>
              </a:rPr>
              <a:t>1 · DIENSTAG</a:t>
            </a:r>
            <a:endParaRPr sz="2000" b="1">
              <a:solidFill>
                <a:srgbClr val="FF7A3D"/>
              </a:solidFill>
              <a:latin typeface="Inter"/>
              <a:ea typeface="Inter"/>
              <a:cs typeface="Inter"/>
              <a:sym typeface="Inter"/>
            </a:endParaRPr>
          </a:p>
        </p:txBody>
      </p:sp>
      <p:sp>
        <p:nvSpPr>
          <p:cNvPr id="165" name="Google Shape;165;p17"/>
          <p:cNvSpPr txBox="1"/>
          <p:nvPr/>
        </p:nvSpPr>
        <p:spPr>
          <a:xfrm>
            <a:off x="1397000" y="3403600"/>
            <a:ext cx="4318200" cy="558600"/>
          </a:xfrm>
          <a:prstGeom prst="rect">
            <a:avLst/>
          </a:prstGeom>
          <a:noFill/>
          <a:ln>
            <a:noFill/>
          </a:ln>
        </p:spPr>
        <p:txBody>
          <a:bodyPr spcFirstLastPara="1" wrap="square" lIns="182850" tIns="182850" rIns="182850" bIns="182850" anchor="t" anchorCtr="0">
            <a:noAutofit/>
          </a:bodyPr>
          <a:lstStyle/>
          <a:p>
            <a:r>
              <a:rPr lang="de" sz="2700" b="1">
                <a:solidFill>
                  <a:srgbClr val="FFFFFF"/>
                </a:solidFill>
                <a:latin typeface="Inter"/>
                <a:ea typeface="Inter"/>
                <a:cs typeface="Inter"/>
                <a:sym typeface="Inter"/>
              </a:rPr>
              <a:t>30-Minuten Live-Demo</a:t>
            </a:r>
            <a:endParaRPr sz="2700" b="1">
              <a:solidFill>
                <a:srgbClr val="FFFFFF"/>
              </a:solidFill>
              <a:latin typeface="Inter"/>
              <a:ea typeface="Inter"/>
              <a:cs typeface="Inter"/>
              <a:sym typeface="Inter"/>
            </a:endParaRPr>
          </a:p>
        </p:txBody>
      </p:sp>
      <p:sp>
        <p:nvSpPr>
          <p:cNvPr id="166" name="Google Shape;166;p17"/>
          <p:cNvSpPr txBox="1"/>
          <p:nvPr/>
        </p:nvSpPr>
        <p:spPr>
          <a:xfrm>
            <a:off x="1397000" y="4013200"/>
            <a:ext cx="4318200" cy="1828800"/>
          </a:xfrm>
          <a:prstGeom prst="rect">
            <a:avLst/>
          </a:prstGeom>
          <a:noFill/>
          <a:ln>
            <a:noFill/>
          </a:ln>
        </p:spPr>
        <p:txBody>
          <a:bodyPr spcFirstLastPara="1" wrap="square" lIns="182850" tIns="182850" rIns="182850" bIns="182850" anchor="t" anchorCtr="0">
            <a:noAutofit/>
          </a:bodyPr>
          <a:lstStyle/>
          <a:p>
            <a:pPr>
              <a:lnSpc>
                <a:spcPct val="120000"/>
              </a:lnSpc>
            </a:pPr>
            <a:r>
              <a:rPr lang="de" sz="2100">
                <a:solidFill>
                  <a:srgbClr val="A7B0BA"/>
                </a:solidFill>
                <a:latin typeface="Inter"/>
                <a:ea typeface="Inter"/>
                <a:cs typeface="Inter"/>
                <a:sym typeface="Inter"/>
              </a:rPr>
              <a:t>Mit Ihrer echten letzten Messe-Liste live in LeadPilot. Sie sehen sofort, welche Anfragen heute noch offen wären.</a:t>
            </a:r>
            <a:endParaRPr sz="2100">
              <a:solidFill>
                <a:srgbClr val="A7B0BA"/>
              </a:solidFill>
              <a:latin typeface="Inter"/>
              <a:ea typeface="Inter"/>
              <a:cs typeface="Inter"/>
              <a:sym typeface="Inter"/>
            </a:endParaRPr>
          </a:p>
        </p:txBody>
      </p:sp>
      <p:sp>
        <p:nvSpPr>
          <p:cNvPr id="167" name="Google Shape;167;p17"/>
          <p:cNvSpPr/>
          <p:nvPr/>
        </p:nvSpPr>
        <p:spPr>
          <a:xfrm>
            <a:off x="6604000" y="2743200"/>
            <a:ext cx="5080200" cy="3861000"/>
          </a:xfrm>
          <a:prstGeom prst="roundRect">
            <a:avLst>
              <a:gd name="adj" fmla="val 16667"/>
            </a:avLst>
          </a:prstGeom>
          <a:solidFill>
            <a:srgbClr val="123330"/>
          </a:solidFill>
          <a:ln w="19050" cap="flat" cmpd="sng">
            <a:solidFill>
              <a:srgbClr val="2A4A43"/>
            </a:solidFill>
            <a:prstDash val="solid"/>
            <a:round/>
            <a:headEnd type="none" w="sm" len="sm"/>
            <a:tailEnd type="none" w="sm" len="sm"/>
          </a:ln>
        </p:spPr>
        <p:txBody>
          <a:bodyPr spcFirstLastPara="1" wrap="square" lIns="182850" tIns="182850" rIns="182850" bIns="182850" anchor="ctr" anchorCtr="0">
            <a:noAutofit/>
          </a:bodyPr>
          <a:lstStyle/>
          <a:p>
            <a:pPr algn="ctr"/>
            <a:endParaRPr sz="3600"/>
          </a:p>
        </p:txBody>
      </p:sp>
      <p:sp>
        <p:nvSpPr>
          <p:cNvPr id="168" name="Google Shape;168;p17"/>
          <p:cNvSpPr txBox="1"/>
          <p:nvPr/>
        </p:nvSpPr>
        <p:spPr>
          <a:xfrm>
            <a:off x="6985000" y="2997200"/>
            <a:ext cx="4318200" cy="406200"/>
          </a:xfrm>
          <a:prstGeom prst="rect">
            <a:avLst/>
          </a:prstGeom>
          <a:noFill/>
          <a:ln>
            <a:noFill/>
          </a:ln>
        </p:spPr>
        <p:txBody>
          <a:bodyPr spcFirstLastPara="1" wrap="square" lIns="182850" tIns="182850" rIns="182850" bIns="182850" anchor="t" anchorCtr="0">
            <a:noAutofit/>
          </a:bodyPr>
          <a:lstStyle/>
          <a:p>
            <a:r>
              <a:rPr lang="de" sz="2000" b="1">
                <a:solidFill>
                  <a:srgbClr val="00D9C6"/>
                </a:solidFill>
                <a:latin typeface="Inter"/>
                <a:ea typeface="Inter"/>
                <a:cs typeface="Inter"/>
                <a:sym typeface="Inter"/>
              </a:rPr>
              <a:t>2 · DANACH</a:t>
            </a:r>
            <a:endParaRPr sz="2000" b="1">
              <a:solidFill>
                <a:srgbClr val="00D9C6"/>
              </a:solidFill>
              <a:latin typeface="Inter"/>
              <a:ea typeface="Inter"/>
              <a:cs typeface="Inter"/>
              <a:sym typeface="Inter"/>
            </a:endParaRPr>
          </a:p>
        </p:txBody>
      </p:sp>
      <p:sp>
        <p:nvSpPr>
          <p:cNvPr id="169" name="Google Shape;169;p17"/>
          <p:cNvSpPr txBox="1"/>
          <p:nvPr/>
        </p:nvSpPr>
        <p:spPr>
          <a:xfrm>
            <a:off x="6985000" y="3403600"/>
            <a:ext cx="4318200" cy="558600"/>
          </a:xfrm>
          <a:prstGeom prst="rect">
            <a:avLst/>
          </a:prstGeom>
          <a:noFill/>
          <a:ln>
            <a:noFill/>
          </a:ln>
        </p:spPr>
        <p:txBody>
          <a:bodyPr spcFirstLastPara="1" wrap="square" lIns="182850" tIns="182850" rIns="182850" bIns="182850" anchor="t" anchorCtr="0">
            <a:noAutofit/>
          </a:bodyPr>
          <a:lstStyle/>
          <a:p>
            <a:r>
              <a:rPr lang="de" sz="2700" b="1">
                <a:solidFill>
                  <a:srgbClr val="FFFFFF"/>
                </a:solidFill>
                <a:latin typeface="Inter"/>
                <a:ea typeface="Inter"/>
                <a:cs typeface="Inter"/>
                <a:sym typeface="Inter"/>
              </a:rPr>
              <a:t>14 Tage Testphase</a:t>
            </a:r>
            <a:endParaRPr sz="2700" b="1">
              <a:solidFill>
                <a:srgbClr val="FFFFFF"/>
              </a:solidFill>
              <a:latin typeface="Inter"/>
              <a:ea typeface="Inter"/>
              <a:cs typeface="Inter"/>
              <a:sym typeface="Inter"/>
            </a:endParaRPr>
          </a:p>
        </p:txBody>
      </p:sp>
      <p:sp>
        <p:nvSpPr>
          <p:cNvPr id="170" name="Google Shape;170;p17"/>
          <p:cNvSpPr txBox="1"/>
          <p:nvPr/>
        </p:nvSpPr>
        <p:spPr>
          <a:xfrm>
            <a:off x="6985000" y="4013200"/>
            <a:ext cx="4318200" cy="1828800"/>
          </a:xfrm>
          <a:prstGeom prst="rect">
            <a:avLst/>
          </a:prstGeom>
          <a:noFill/>
          <a:ln>
            <a:noFill/>
          </a:ln>
        </p:spPr>
        <p:txBody>
          <a:bodyPr spcFirstLastPara="1" wrap="square" lIns="182850" tIns="182850" rIns="182850" bIns="182850" anchor="t" anchorCtr="0">
            <a:noAutofit/>
          </a:bodyPr>
          <a:lstStyle/>
          <a:p>
            <a:pPr>
              <a:lnSpc>
                <a:spcPct val="120000"/>
              </a:lnSpc>
            </a:pPr>
            <a:r>
              <a:rPr lang="de" sz="2100">
                <a:solidFill>
                  <a:srgbClr val="A7B0BA"/>
                </a:solidFill>
                <a:latin typeface="Inter"/>
                <a:ea typeface="Inter"/>
                <a:cs typeface="Inter"/>
                <a:sym typeface="Inter"/>
              </a:rPr>
              <a:t>Ihr 7-köpfiges Team arbeitet von Tag 1 an produktiv damit. Start rechtzeitig vor der nächsten Messe im November.</a:t>
            </a:r>
            <a:endParaRPr sz="2100">
              <a:solidFill>
                <a:srgbClr val="A7B0BA"/>
              </a:solidFill>
              <a:latin typeface="Inter"/>
              <a:ea typeface="Inter"/>
              <a:cs typeface="Inter"/>
              <a:sym typeface="Inter"/>
            </a:endParaRPr>
          </a:p>
        </p:txBody>
      </p:sp>
      <p:sp>
        <p:nvSpPr>
          <p:cNvPr id="171" name="Google Shape;171;p17"/>
          <p:cNvSpPr/>
          <p:nvPr/>
        </p:nvSpPr>
        <p:spPr>
          <a:xfrm>
            <a:off x="12192000" y="2743200"/>
            <a:ext cx="5080200" cy="3861000"/>
          </a:xfrm>
          <a:prstGeom prst="roundRect">
            <a:avLst>
              <a:gd name="adj" fmla="val 16667"/>
            </a:avLst>
          </a:prstGeom>
          <a:solidFill>
            <a:srgbClr val="123330"/>
          </a:solidFill>
          <a:ln w="19050" cap="flat" cmpd="sng">
            <a:solidFill>
              <a:srgbClr val="2A4A43"/>
            </a:solidFill>
            <a:prstDash val="solid"/>
            <a:round/>
            <a:headEnd type="none" w="sm" len="sm"/>
            <a:tailEnd type="none" w="sm" len="sm"/>
          </a:ln>
        </p:spPr>
        <p:txBody>
          <a:bodyPr spcFirstLastPara="1" wrap="square" lIns="182850" tIns="182850" rIns="182850" bIns="182850" anchor="ctr" anchorCtr="0">
            <a:noAutofit/>
          </a:bodyPr>
          <a:lstStyle/>
          <a:p>
            <a:pPr algn="ctr"/>
            <a:endParaRPr sz="3600"/>
          </a:p>
        </p:txBody>
      </p:sp>
      <p:sp>
        <p:nvSpPr>
          <p:cNvPr id="172" name="Google Shape;172;p17"/>
          <p:cNvSpPr txBox="1"/>
          <p:nvPr/>
        </p:nvSpPr>
        <p:spPr>
          <a:xfrm>
            <a:off x="12573000" y="2997200"/>
            <a:ext cx="4318200" cy="406200"/>
          </a:xfrm>
          <a:prstGeom prst="rect">
            <a:avLst/>
          </a:prstGeom>
          <a:noFill/>
          <a:ln>
            <a:noFill/>
          </a:ln>
        </p:spPr>
        <p:txBody>
          <a:bodyPr spcFirstLastPara="1" wrap="square" lIns="182850" tIns="182850" rIns="182850" bIns="182850" anchor="t" anchorCtr="0">
            <a:noAutofit/>
          </a:bodyPr>
          <a:lstStyle/>
          <a:p>
            <a:r>
              <a:rPr lang="de" sz="2000" b="1">
                <a:solidFill>
                  <a:srgbClr val="00D9C6"/>
                </a:solidFill>
                <a:latin typeface="Inter"/>
                <a:ea typeface="Inter"/>
                <a:cs typeface="Inter"/>
                <a:sym typeface="Inter"/>
              </a:rPr>
              <a:t>3 · PREIS</a:t>
            </a:r>
            <a:endParaRPr sz="2000" b="1">
              <a:solidFill>
                <a:srgbClr val="00D9C6"/>
              </a:solidFill>
              <a:latin typeface="Inter"/>
              <a:ea typeface="Inter"/>
              <a:cs typeface="Inter"/>
              <a:sym typeface="Inter"/>
            </a:endParaRPr>
          </a:p>
        </p:txBody>
      </p:sp>
      <p:sp>
        <p:nvSpPr>
          <p:cNvPr id="173" name="Google Shape;173;p17"/>
          <p:cNvSpPr txBox="1"/>
          <p:nvPr/>
        </p:nvSpPr>
        <p:spPr>
          <a:xfrm>
            <a:off x="12573000" y="3403600"/>
            <a:ext cx="4318200" cy="558600"/>
          </a:xfrm>
          <a:prstGeom prst="rect">
            <a:avLst/>
          </a:prstGeom>
          <a:noFill/>
          <a:ln>
            <a:noFill/>
          </a:ln>
        </p:spPr>
        <p:txBody>
          <a:bodyPr spcFirstLastPara="1" wrap="square" lIns="182850" tIns="182850" rIns="182850" bIns="182850" anchor="t" anchorCtr="0">
            <a:noAutofit/>
          </a:bodyPr>
          <a:lstStyle/>
          <a:p>
            <a:r>
              <a:rPr lang="de" sz="2700" b="1">
                <a:solidFill>
                  <a:srgbClr val="FFFFFF"/>
                </a:solidFill>
                <a:latin typeface="Inter"/>
                <a:ea typeface="Inter"/>
                <a:cs typeface="Inter"/>
                <a:sym typeface="Inter"/>
              </a:rPr>
              <a:t>ab 343 € / Monat</a:t>
            </a:r>
            <a:endParaRPr sz="2700" b="1">
              <a:solidFill>
                <a:srgbClr val="FFFFFF"/>
              </a:solidFill>
              <a:latin typeface="Inter"/>
              <a:ea typeface="Inter"/>
              <a:cs typeface="Inter"/>
              <a:sym typeface="Inter"/>
            </a:endParaRPr>
          </a:p>
        </p:txBody>
      </p:sp>
      <p:sp>
        <p:nvSpPr>
          <p:cNvPr id="174" name="Google Shape;174;p17"/>
          <p:cNvSpPr txBox="1"/>
          <p:nvPr/>
        </p:nvSpPr>
        <p:spPr>
          <a:xfrm>
            <a:off x="12573000" y="4013200"/>
            <a:ext cx="4318200" cy="1828800"/>
          </a:xfrm>
          <a:prstGeom prst="rect">
            <a:avLst/>
          </a:prstGeom>
          <a:noFill/>
          <a:ln>
            <a:noFill/>
          </a:ln>
        </p:spPr>
        <p:txBody>
          <a:bodyPr spcFirstLastPara="1" wrap="square" lIns="182850" tIns="182850" rIns="182850" bIns="182850" anchor="t" anchorCtr="0">
            <a:noAutofit/>
          </a:bodyPr>
          <a:lstStyle/>
          <a:p>
            <a:pPr>
              <a:lnSpc>
                <a:spcPct val="120000"/>
              </a:lnSpc>
            </a:pPr>
            <a:r>
              <a:rPr lang="de" sz="2100">
                <a:solidFill>
                  <a:srgbClr val="A7B0BA"/>
                </a:solidFill>
                <a:latin typeface="Inter"/>
                <a:ea typeface="Inter"/>
                <a:cs typeface="Inter"/>
                <a:sym typeface="Inter"/>
              </a:rPr>
              <a:t>Starter für 7 Nutzer (7 × 49 €), monatlich kündbar. Growth inkl. KI-Scoring: 623 €/Mt. Kein Lock-in.</a:t>
            </a:r>
            <a:endParaRPr sz="2100">
              <a:solidFill>
                <a:srgbClr val="A7B0BA"/>
              </a:solidFill>
              <a:latin typeface="Inter"/>
              <a:ea typeface="Inter"/>
              <a:cs typeface="Inter"/>
              <a:sym typeface="Inter"/>
            </a:endParaRPr>
          </a:p>
        </p:txBody>
      </p:sp>
      <p:sp>
        <p:nvSpPr>
          <p:cNvPr id="175" name="Google Shape;175;p17"/>
          <p:cNvSpPr/>
          <p:nvPr/>
        </p:nvSpPr>
        <p:spPr>
          <a:xfrm>
            <a:off x="1016000" y="6908800"/>
            <a:ext cx="16255800" cy="2235000"/>
          </a:xfrm>
          <a:prstGeom prst="roundRect">
            <a:avLst>
              <a:gd name="adj" fmla="val 16667"/>
            </a:avLst>
          </a:prstGeom>
          <a:solidFill>
            <a:srgbClr val="1A2825"/>
          </a:solidFill>
          <a:ln w="25400" cap="flat" cmpd="sng">
            <a:solidFill>
              <a:srgbClr val="FF7A3D"/>
            </a:solidFill>
            <a:prstDash val="solid"/>
            <a:round/>
            <a:headEnd type="none" w="sm" len="sm"/>
            <a:tailEnd type="none" w="sm" len="sm"/>
          </a:ln>
        </p:spPr>
        <p:txBody>
          <a:bodyPr spcFirstLastPara="1" wrap="square" lIns="182850" tIns="182850" rIns="182850" bIns="182850" anchor="ctr" anchorCtr="0">
            <a:noAutofit/>
          </a:bodyPr>
          <a:lstStyle/>
          <a:p>
            <a:pPr algn="ctr"/>
            <a:endParaRPr sz="3600"/>
          </a:p>
        </p:txBody>
      </p:sp>
      <p:sp>
        <p:nvSpPr>
          <p:cNvPr id="176" name="Google Shape;176;p17"/>
          <p:cNvSpPr txBox="1"/>
          <p:nvPr/>
        </p:nvSpPr>
        <p:spPr>
          <a:xfrm>
            <a:off x="1397000" y="7112000"/>
            <a:ext cx="15493800" cy="406200"/>
          </a:xfrm>
          <a:prstGeom prst="rect">
            <a:avLst/>
          </a:prstGeom>
          <a:noFill/>
          <a:ln>
            <a:noFill/>
          </a:ln>
        </p:spPr>
        <p:txBody>
          <a:bodyPr spcFirstLastPara="1" wrap="square" lIns="182850" tIns="182850" rIns="182850" bIns="182850" anchor="t" anchorCtr="0">
            <a:noAutofit/>
          </a:bodyPr>
          <a:lstStyle/>
          <a:p>
            <a:r>
              <a:rPr lang="de" sz="1900" b="1">
                <a:solidFill>
                  <a:srgbClr val="FF7A3D"/>
                </a:solidFill>
                <a:latin typeface="Inter"/>
                <a:ea typeface="Inter"/>
                <a:cs typeface="Inter"/>
                <a:sym typeface="Inter"/>
              </a:rPr>
              <a:t>WÖRTLICHER CALL-TO-ACTION FÜR DIENSTAG:</a:t>
            </a:r>
            <a:endParaRPr sz="1900" b="1">
              <a:solidFill>
                <a:srgbClr val="FF7A3D"/>
              </a:solidFill>
              <a:latin typeface="Inter"/>
              <a:ea typeface="Inter"/>
              <a:cs typeface="Inter"/>
              <a:sym typeface="Inter"/>
            </a:endParaRPr>
          </a:p>
        </p:txBody>
      </p:sp>
      <p:sp>
        <p:nvSpPr>
          <p:cNvPr id="177" name="Google Shape;177;p17"/>
          <p:cNvSpPr txBox="1"/>
          <p:nvPr/>
        </p:nvSpPr>
        <p:spPr>
          <a:xfrm>
            <a:off x="1397000" y="7569200"/>
            <a:ext cx="15493800" cy="1320600"/>
          </a:xfrm>
          <a:prstGeom prst="rect">
            <a:avLst/>
          </a:prstGeom>
          <a:noFill/>
          <a:ln>
            <a:noFill/>
          </a:ln>
        </p:spPr>
        <p:txBody>
          <a:bodyPr spcFirstLastPara="1" wrap="square" lIns="182850" tIns="182850" rIns="182850" bIns="182850" anchor="t" anchorCtr="0">
            <a:noAutofit/>
          </a:bodyPr>
          <a:lstStyle/>
          <a:p>
            <a:pPr>
              <a:lnSpc>
                <a:spcPct val="135000"/>
              </a:lnSpc>
            </a:pPr>
            <a:r>
              <a:rPr lang="de" sz="2400" b="1">
                <a:solidFill>
                  <a:srgbClr val="FFFFFF"/>
                </a:solidFill>
                <a:latin typeface="Inter"/>
                <a:ea typeface="Inter"/>
                <a:cs typeface="Inter"/>
                <a:sym typeface="Inter"/>
              </a:rPr>
              <a:t>„Herr Hartwig, schicken Sie mir die Kontaktliste Ihrer letzten Messe – und ich zeige Ihnen am Dienstag in 30 Minuten, welche Anfragen heute noch offen wären und was LeadPilot daraus gemacht hätte. Passt Ihnen 10 Uhr?“</a:t>
            </a:r>
            <a:endParaRPr sz="2400" b="1">
              <a:solidFill>
                <a:srgbClr val="FFFFFF"/>
              </a:solidFill>
              <a:latin typeface="Inter"/>
              <a:ea typeface="Inter"/>
              <a:cs typeface="Inter"/>
              <a:sym typeface="Inter"/>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11830050" y="2448966"/>
            <a:ext cx="5314950" cy="514350"/>
          </a:xfrm>
          <a:prstGeom prst="roundRect">
            <a:avLst>
              <a:gd name="adj" fmla="val 50000"/>
            </a:avLst>
          </a:prstGeom>
          <a:solidFill>
            <a:srgbClr val="0A3330"/>
          </a:solidFill>
          <a:ln w="9525">
            <a:solidFill>
              <a:srgbClr val="2A4A4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3" name="Rounded Rectangle 2"/>
          <p:cNvSpPr/>
          <p:nvPr/>
        </p:nvSpPr>
        <p:spPr>
          <a:xfrm>
            <a:off x="1143000" y="7780883"/>
            <a:ext cx="800100" cy="57150"/>
          </a:xfrm>
          <a:prstGeom prst="roundRect">
            <a:avLst>
              <a:gd name="adj" fmla="val 50000"/>
            </a:avLst>
          </a:prstGeom>
          <a:solidFill>
            <a:srgbClr val="00D9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 name="TextBox 4"/>
          <p:cNvSpPr txBox="1"/>
          <p:nvPr/>
        </p:nvSpPr>
        <p:spPr>
          <a:xfrm>
            <a:off x="1143001" y="3649117"/>
            <a:ext cx="4964501" cy="276999"/>
          </a:xfrm>
          <a:prstGeom prst="rect">
            <a:avLst/>
          </a:prstGeom>
          <a:noFill/>
        </p:spPr>
        <p:txBody>
          <a:bodyPr wrap="none" lIns="0" tIns="0" rIns="0" bIns="0" anchor="t">
            <a:spAutoFit/>
          </a:bodyPr>
          <a:lstStyle/>
          <a:p>
            <a:pPr algn="l"/>
            <a:r>
              <a:rPr b="1">
                <a:solidFill>
                  <a:srgbClr val="FF7A3D"/>
                </a:solidFill>
                <a:latin typeface="Space Grotesk"/>
              </a:rPr>
              <a:t>FOKUS: JENS HARTWIG &amp; 7 VERTRIEBSMITARBEITER</a:t>
            </a:r>
          </a:p>
        </p:txBody>
      </p:sp>
      <p:sp>
        <p:nvSpPr>
          <p:cNvPr id="6" name="TextBox 5"/>
          <p:cNvSpPr txBox="1"/>
          <p:nvPr/>
        </p:nvSpPr>
        <p:spPr>
          <a:xfrm>
            <a:off x="1143000" y="4177754"/>
            <a:ext cx="13351668" cy="897682"/>
          </a:xfrm>
          <a:prstGeom prst="rect">
            <a:avLst/>
          </a:prstGeom>
          <a:noFill/>
        </p:spPr>
        <p:txBody>
          <a:bodyPr wrap="square" lIns="0" tIns="0" rIns="0" bIns="0" anchor="t">
            <a:spAutoFit/>
          </a:bodyPr>
          <a:lstStyle/>
          <a:p>
            <a:pPr>
              <a:lnSpc>
                <a:spcPts val="6986"/>
              </a:lnSpc>
            </a:pPr>
            <a:r>
              <a:rPr sz="6075" b="1" dirty="0">
                <a:solidFill>
                  <a:srgbClr val="FFFFFF"/>
                </a:solidFill>
                <a:latin typeface="Space Grotesk"/>
              </a:rPr>
              <a:t>Kein Messe-Lead </a:t>
            </a:r>
            <a:r>
              <a:rPr sz="6075" b="1" dirty="0" err="1">
                <a:solidFill>
                  <a:srgbClr val="FFFFFF"/>
                </a:solidFill>
                <a:latin typeface="Space Grotesk"/>
              </a:rPr>
              <a:t>geht</a:t>
            </a:r>
            <a:r>
              <a:rPr sz="6075" b="1" dirty="0">
                <a:solidFill>
                  <a:srgbClr val="FFFFFF"/>
                </a:solidFill>
                <a:latin typeface="Space Grotesk"/>
              </a:rPr>
              <a:t> </a:t>
            </a:r>
            <a:r>
              <a:rPr sz="6075" b="1" dirty="0" err="1">
                <a:solidFill>
                  <a:srgbClr val="FFFFFF"/>
                </a:solidFill>
                <a:latin typeface="Space Grotesk"/>
              </a:rPr>
              <a:t>mehr</a:t>
            </a:r>
            <a:r>
              <a:rPr sz="6075" b="1" dirty="0">
                <a:solidFill>
                  <a:srgbClr val="FFFFFF"/>
                </a:solidFill>
                <a:latin typeface="Space Grotesk"/>
              </a:rPr>
              <a:t> </a:t>
            </a:r>
            <a:r>
              <a:rPr sz="6075" b="1" dirty="0" err="1">
                <a:solidFill>
                  <a:srgbClr val="FFFFFF"/>
                </a:solidFill>
                <a:latin typeface="Space Grotesk"/>
              </a:rPr>
              <a:t>verloren</a:t>
            </a:r>
            <a:r>
              <a:rPr sz="6075" b="1" dirty="0">
                <a:solidFill>
                  <a:srgbClr val="FFFFFF"/>
                </a:solidFill>
                <a:latin typeface="Space Grotesk"/>
              </a:rPr>
              <a:t>.</a:t>
            </a:r>
          </a:p>
        </p:txBody>
      </p:sp>
      <p:sp>
        <p:nvSpPr>
          <p:cNvPr id="7" name="TextBox 6"/>
          <p:cNvSpPr txBox="1"/>
          <p:nvPr/>
        </p:nvSpPr>
        <p:spPr>
          <a:xfrm>
            <a:off x="1143000" y="6294983"/>
            <a:ext cx="11001375" cy="839204"/>
          </a:xfrm>
          <a:prstGeom prst="rect">
            <a:avLst/>
          </a:prstGeom>
          <a:noFill/>
        </p:spPr>
        <p:txBody>
          <a:bodyPr wrap="square" lIns="0" tIns="0" rIns="0" bIns="0" anchor="t">
            <a:spAutoFit/>
          </a:bodyPr>
          <a:lstStyle/>
          <a:p>
            <a:pPr>
              <a:lnSpc>
                <a:spcPts val="3375"/>
              </a:lnSpc>
            </a:pPr>
            <a:r>
              <a:rPr sz="2250">
                <a:solidFill>
                  <a:srgbClr val="94A3B8"/>
                </a:solidFill>
                <a:latin typeface="Inter"/>
              </a:rPr>
              <a:t>150.000 € Umsatz sichern und den Freitags-Forecast automatisieren – ohne ein zweites gescheitertes Salesforce-Projekt.</a:t>
            </a:r>
          </a:p>
        </p:txBody>
      </p:sp>
      <p:sp>
        <p:nvSpPr>
          <p:cNvPr id="8" name="TextBox 7"/>
          <p:cNvSpPr txBox="1"/>
          <p:nvPr/>
        </p:nvSpPr>
        <p:spPr>
          <a:xfrm>
            <a:off x="2228850" y="7666583"/>
            <a:ext cx="3302058" cy="259751"/>
          </a:xfrm>
          <a:prstGeom prst="rect">
            <a:avLst/>
          </a:prstGeom>
          <a:noFill/>
        </p:spPr>
        <p:txBody>
          <a:bodyPr wrap="none" lIns="0" tIns="0" rIns="0" bIns="0" anchor="t">
            <a:spAutoFit/>
          </a:bodyPr>
          <a:lstStyle/>
          <a:p>
            <a:pPr algn="l"/>
            <a:r>
              <a:rPr sz="1688">
                <a:solidFill>
                  <a:srgbClr val="64748B"/>
                </a:solidFill>
                <a:latin typeface="JetBrains Mono"/>
              </a:rPr>
              <a:t>5-Minuten-Pitch · LeadPilot B2B-Sales</a:t>
            </a:r>
          </a:p>
        </p:txBody>
      </p:sp>
      <p:sp>
        <p:nvSpPr>
          <p:cNvPr id="9" name="TextBox 8"/>
          <p:cNvSpPr txBox="1"/>
          <p:nvPr/>
        </p:nvSpPr>
        <p:spPr>
          <a:xfrm>
            <a:off x="12130088" y="2577554"/>
            <a:ext cx="3833678" cy="242374"/>
          </a:xfrm>
          <a:prstGeom prst="rect">
            <a:avLst/>
          </a:prstGeom>
          <a:noFill/>
        </p:spPr>
        <p:txBody>
          <a:bodyPr wrap="none" lIns="0" tIns="0" rIns="0" bIns="0" anchor="t">
            <a:spAutoFit/>
          </a:bodyPr>
          <a:lstStyle/>
          <a:p>
            <a:pPr algn="l"/>
            <a:r>
              <a:rPr sz="1575" b="1">
                <a:solidFill>
                  <a:srgbClr val="00D9C6"/>
                </a:solidFill>
                <a:latin typeface="Space Grotesk"/>
              </a:rPr>
              <a:t>KUNDEN-PITCH · WEIDNER ANTRIEBSTECHNIK</a:t>
            </a:r>
          </a:p>
        </p:txBody>
      </p:sp>
      <p:pic>
        <p:nvPicPr>
          <p:cNvPr id="10" name="Grafik 9">
            <a:extLst>
              <a:ext uri="{FF2B5EF4-FFF2-40B4-BE49-F238E27FC236}">
                <a16:creationId xmlns:a16="http://schemas.microsoft.com/office/drawing/2014/main" id="{0A080EF2-958A-98C9-6517-C669DB03E0D1}"/>
              </a:ext>
            </a:extLst>
          </p:cNvPr>
          <p:cNvPicPr>
            <a:picLocks noChangeAspect="1"/>
          </p:cNvPicPr>
          <p:nvPr/>
        </p:nvPicPr>
        <p:blipFill>
          <a:blip r:embed="rId2"/>
          <a:stretch>
            <a:fillRect/>
          </a:stretch>
        </p:blipFill>
        <p:spPr>
          <a:xfrm>
            <a:off x="983312" y="723467"/>
            <a:ext cx="5249022" cy="2360009"/>
          </a:xfrm>
          <a:prstGeom prst="rect">
            <a:avLst/>
          </a:prstGeom>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1143000" y="3516064"/>
            <a:ext cx="7964388" cy="1414463"/>
          </a:xfrm>
          <a:prstGeom prst="roundRect">
            <a:avLst>
              <a:gd name="adj" fmla="val 16161"/>
            </a:avLst>
          </a:prstGeom>
          <a:solidFill>
            <a:srgbClr val="FFFFFF"/>
          </a:solidFill>
          <a:ln w="9525">
            <a:solidFill>
              <a:srgbClr val="D1DD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3" name="Rounded Rectangle 2"/>
          <p:cNvSpPr/>
          <p:nvPr/>
        </p:nvSpPr>
        <p:spPr>
          <a:xfrm>
            <a:off x="1143000" y="5159126"/>
            <a:ext cx="7964388" cy="1414463"/>
          </a:xfrm>
          <a:prstGeom prst="roundRect">
            <a:avLst>
              <a:gd name="adj" fmla="val 16161"/>
            </a:avLst>
          </a:prstGeom>
          <a:solidFill>
            <a:srgbClr val="FFFFFF"/>
          </a:solidFill>
          <a:ln w="9525">
            <a:solidFill>
              <a:srgbClr val="D1DD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4" name="Rounded Rectangle 3"/>
          <p:cNvSpPr/>
          <p:nvPr/>
        </p:nvSpPr>
        <p:spPr>
          <a:xfrm>
            <a:off x="1143000" y="6802189"/>
            <a:ext cx="7964388" cy="1414463"/>
          </a:xfrm>
          <a:prstGeom prst="roundRect">
            <a:avLst>
              <a:gd name="adj" fmla="val 16161"/>
            </a:avLst>
          </a:prstGeom>
          <a:solidFill>
            <a:srgbClr val="FFFFFF"/>
          </a:solidFill>
          <a:ln w="9525">
            <a:solidFill>
              <a:srgbClr val="D1DD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7" name="TextBox 6"/>
          <p:cNvSpPr txBox="1"/>
          <p:nvPr/>
        </p:nvSpPr>
        <p:spPr>
          <a:xfrm>
            <a:off x="1143001" y="685800"/>
            <a:ext cx="2893421" cy="242374"/>
          </a:xfrm>
          <a:prstGeom prst="rect">
            <a:avLst/>
          </a:prstGeom>
          <a:noFill/>
        </p:spPr>
        <p:txBody>
          <a:bodyPr wrap="none" lIns="0" tIns="0" rIns="0" bIns="0" anchor="t">
            <a:spAutoFit/>
          </a:bodyPr>
          <a:lstStyle/>
          <a:p>
            <a:pPr algn="l"/>
            <a:r>
              <a:rPr sz="1575" b="1">
                <a:solidFill>
                  <a:srgbClr val="0F172A"/>
                </a:solidFill>
                <a:latin typeface="Space Grotesk"/>
              </a:rPr>
              <a:t>STATUS QUO IM VERTRIEBSALLTAG</a:t>
            </a:r>
          </a:p>
        </p:txBody>
      </p:sp>
      <p:sp>
        <p:nvSpPr>
          <p:cNvPr id="8" name="TextBox 7"/>
          <p:cNvSpPr txBox="1"/>
          <p:nvPr/>
        </p:nvSpPr>
        <p:spPr>
          <a:xfrm>
            <a:off x="1143000" y="1057275"/>
            <a:ext cx="7004418" cy="608372"/>
          </a:xfrm>
          <a:prstGeom prst="rect">
            <a:avLst/>
          </a:prstGeom>
          <a:noFill/>
        </p:spPr>
        <p:txBody>
          <a:bodyPr wrap="none" lIns="0" tIns="0" rIns="0" bIns="0" anchor="t">
            <a:spAutoFit/>
          </a:bodyPr>
          <a:lstStyle/>
          <a:p>
            <a:pPr>
              <a:lnSpc>
                <a:spcPts val="4860"/>
              </a:lnSpc>
            </a:pPr>
            <a:r>
              <a:rPr sz="4050" b="1" dirty="0">
                <a:solidFill>
                  <a:srgbClr val="0B211F"/>
                </a:solidFill>
                <a:latin typeface="Space Grotesk"/>
              </a:rPr>
              <a:t>180 Messe-Leads </a:t>
            </a:r>
            <a:r>
              <a:rPr sz="4050" b="1" dirty="0" err="1">
                <a:solidFill>
                  <a:srgbClr val="0B211F"/>
                </a:solidFill>
                <a:latin typeface="Space Grotesk"/>
              </a:rPr>
              <a:t>im</a:t>
            </a:r>
            <a:r>
              <a:rPr sz="4050" b="1" dirty="0">
                <a:solidFill>
                  <a:srgbClr val="0B211F"/>
                </a:solidFill>
                <a:latin typeface="Space Grotesk"/>
              </a:rPr>
              <a:t> Excel-Chaos</a:t>
            </a:r>
          </a:p>
        </p:txBody>
      </p:sp>
      <p:sp>
        <p:nvSpPr>
          <p:cNvPr id="9" name="TextBox 8"/>
          <p:cNvSpPr txBox="1"/>
          <p:nvPr/>
        </p:nvSpPr>
        <p:spPr>
          <a:xfrm>
            <a:off x="1500188" y="4344739"/>
            <a:ext cx="5948295" cy="276999"/>
          </a:xfrm>
          <a:prstGeom prst="rect">
            <a:avLst/>
          </a:prstGeom>
          <a:noFill/>
        </p:spPr>
        <p:txBody>
          <a:bodyPr wrap="none" lIns="0" tIns="0" rIns="0" bIns="0" anchor="t">
            <a:spAutoFit/>
          </a:bodyPr>
          <a:lstStyle/>
          <a:p>
            <a:pPr algn="l"/>
            <a:r>
              <a:rPr>
                <a:solidFill>
                  <a:srgbClr val="475569"/>
                </a:solidFill>
                <a:latin typeface="Inter"/>
              </a:rPr>
              <a:t>Ein Drittel der Messe-Anfragen bleibt sechs Wochen unberührt.</a:t>
            </a:r>
          </a:p>
        </p:txBody>
      </p:sp>
      <p:sp>
        <p:nvSpPr>
          <p:cNvPr id="10" name="TextBox 9"/>
          <p:cNvSpPr txBox="1"/>
          <p:nvPr/>
        </p:nvSpPr>
        <p:spPr>
          <a:xfrm>
            <a:off x="1500188" y="5987801"/>
            <a:ext cx="5843010" cy="276999"/>
          </a:xfrm>
          <a:prstGeom prst="rect">
            <a:avLst/>
          </a:prstGeom>
          <a:noFill/>
        </p:spPr>
        <p:txBody>
          <a:bodyPr wrap="none" lIns="0" tIns="0" rIns="0" bIns="0" anchor="t">
            <a:spAutoFit/>
          </a:bodyPr>
          <a:lstStyle/>
          <a:p>
            <a:pPr algn="l"/>
            <a:r>
              <a:rPr>
                <a:solidFill>
                  <a:srgbClr val="475569"/>
                </a:solidFill>
                <a:latin typeface="Inter"/>
              </a:rPr>
              <a:t>Zahlen mühsam zusammengereimt statt verlässlicher Pipeline.</a:t>
            </a:r>
          </a:p>
        </p:txBody>
      </p:sp>
      <p:sp>
        <p:nvSpPr>
          <p:cNvPr id="11" name="TextBox 10"/>
          <p:cNvSpPr txBox="1"/>
          <p:nvPr/>
        </p:nvSpPr>
        <p:spPr>
          <a:xfrm>
            <a:off x="1500188" y="7630864"/>
            <a:ext cx="4453399" cy="276999"/>
          </a:xfrm>
          <a:prstGeom prst="rect">
            <a:avLst/>
          </a:prstGeom>
          <a:noFill/>
        </p:spPr>
        <p:txBody>
          <a:bodyPr wrap="none" lIns="0" tIns="0" rIns="0" bIns="0" anchor="t">
            <a:spAutoFit/>
          </a:bodyPr>
          <a:lstStyle/>
          <a:p>
            <a:pPr algn="l"/>
            <a:r>
              <a:rPr>
                <a:solidFill>
                  <a:srgbClr val="475569"/>
                </a:solidFill>
                <a:latin typeface="Inter"/>
              </a:rPr>
              <a:t>Jeder Vertriebler arbeitet in eigenen Insellisten.</a:t>
            </a:r>
          </a:p>
        </p:txBody>
      </p:sp>
      <p:sp>
        <p:nvSpPr>
          <p:cNvPr id="12" name="TextBox 11"/>
          <p:cNvSpPr txBox="1"/>
          <p:nvPr/>
        </p:nvSpPr>
        <p:spPr>
          <a:xfrm>
            <a:off x="1500188" y="3816101"/>
            <a:ext cx="1394613" cy="415498"/>
          </a:xfrm>
          <a:prstGeom prst="rect">
            <a:avLst/>
          </a:prstGeom>
          <a:noFill/>
        </p:spPr>
        <p:txBody>
          <a:bodyPr wrap="none" lIns="0" tIns="0" rIns="0" bIns="0" anchor="t">
            <a:spAutoFit/>
          </a:bodyPr>
          <a:lstStyle/>
          <a:p>
            <a:pPr algn="l"/>
            <a:r>
              <a:rPr sz="2700" b="1">
                <a:solidFill>
                  <a:srgbClr val="0F172A"/>
                </a:solidFill>
                <a:latin typeface="Space Grotesk"/>
              </a:rPr>
              <a:t>150.000 €</a:t>
            </a:r>
          </a:p>
        </p:txBody>
      </p:sp>
      <p:sp>
        <p:nvSpPr>
          <p:cNvPr id="13" name="TextBox 12"/>
          <p:cNvSpPr txBox="1"/>
          <p:nvPr/>
        </p:nvSpPr>
        <p:spPr>
          <a:xfrm>
            <a:off x="3357563" y="3901826"/>
            <a:ext cx="2625783" cy="259751"/>
          </a:xfrm>
          <a:prstGeom prst="rect">
            <a:avLst/>
          </a:prstGeom>
          <a:noFill/>
        </p:spPr>
        <p:txBody>
          <a:bodyPr wrap="none" lIns="0" tIns="0" rIns="0" bIns="0" anchor="t">
            <a:spAutoFit/>
          </a:bodyPr>
          <a:lstStyle/>
          <a:p>
            <a:pPr algn="l"/>
            <a:r>
              <a:rPr sz="1688" b="1">
                <a:solidFill>
                  <a:srgbClr val="0B211F"/>
                </a:solidFill>
                <a:latin typeface="Inter"/>
              </a:rPr>
              <a:t>Erstumsatz versickert jährlich</a:t>
            </a:r>
          </a:p>
        </p:txBody>
      </p:sp>
      <p:sp>
        <p:nvSpPr>
          <p:cNvPr id="14" name="TextBox 13"/>
          <p:cNvSpPr txBox="1"/>
          <p:nvPr/>
        </p:nvSpPr>
        <p:spPr>
          <a:xfrm>
            <a:off x="1500188" y="5459163"/>
            <a:ext cx="1455527" cy="415498"/>
          </a:xfrm>
          <a:prstGeom prst="rect">
            <a:avLst/>
          </a:prstGeom>
          <a:noFill/>
        </p:spPr>
        <p:txBody>
          <a:bodyPr wrap="none" lIns="0" tIns="0" rIns="0" bIns="0" anchor="t">
            <a:spAutoFit/>
          </a:bodyPr>
          <a:lstStyle/>
          <a:p>
            <a:pPr algn="l"/>
            <a:r>
              <a:rPr sz="2700" b="1">
                <a:solidFill>
                  <a:srgbClr val="0B211F"/>
                </a:solidFill>
                <a:latin typeface="Space Grotesk"/>
              </a:rPr>
              <a:t>3 Stunden</a:t>
            </a:r>
          </a:p>
        </p:txBody>
      </p:sp>
      <p:sp>
        <p:nvSpPr>
          <p:cNvPr id="15" name="TextBox 14"/>
          <p:cNvSpPr txBox="1"/>
          <p:nvPr/>
        </p:nvSpPr>
        <p:spPr>
          <a:xfrm>
            <a:off x="3400425" y="5544889"/>
            <a:ext cx="1973297" cy="259751"/>
          </a:xfrm>
          <a:prstGeom prst="rect">
            <a:avLst/>
          </a:prstGeom>
          <a:noFill/>
        </p:spPr>
        <p:txBody>
          <a:bodyPr wrap="none" lIns="0" tIns="0" rIns="0" bIns="0" anchor="t">
            <a:spAutoFit/>
          </a:bodyPr>
          <a:lstStyle/>
          <a:p>
            <a:pPr algn="l"/>
            <a:r>
              <a:rPr sz="1688" b="1" dirty="0">
                <a:solidFill>
                  <a:srgbClr val="0B211F"/>
                </a:solidFill>
                <a:latin typeface="Inter"/>
              </a:rPr>
              <a:t>Forecast </a:t>
            </a:r>
            <a:r>
              <a:rPr sz="1688" b="1" dirty="0" err="1">
                <a:solidFill>
                  <a:srgbClr val="0B211F"/>
                </a:solidFill>
                <a:latin typeface="Inter"/>
              </a:rPr>
              <a:t>jeden</a:t>
            </a:r>
            <a:r>
              <a:rPr sz="1688" b="1" dirty="0">
                <a:solidFill>
                  <a:srgbClr val="0B211F"/>
                </a:solidFill>
                <a:latin typeface="Inter"/>
              </a:rPr>
              <a:t> Freitag</a:t>
            </a:r>
          </a:p>
        </p:txBody>
      </p:sp>
      <p:sp>
        <p:nvSpPr>
          <p:cNvPr id="16" name="TextBox 15"/>
          <p:cNvSpPr txBox="1"/>
          <p:nvPr/>
        </p:nvSpPr>
        <p:spPr>
          <a:xfrm>
            <a:off x="1500188" y="7102226"/>
            <a:ext cx="2346796" cy="415498"/>
          </a:xfrm>
          <a:prstGeom prst="rect">
            <a:avLst/>
          </a:prstGeom>
          <a:noFill/>
        </p:spPr>
        <p:txBody>
          <a:bodyPr wrap="none" lIns="0" tIns="0" rIns="0" bIns="0" anchor="t">
            <a:spAutoFit/>
          </a:bodyPr>
          <a:lstStyle/>
          <a:p>
            <a:pPr algn="l"/>
            <a:r>
              <a:rPr sz="2700" b="1">
                <a:solidFill>
                  <a:srgbClr val="0B211F"/>
                </a:solidFill>
                <a:latin typeface="Space Grotesk"/>
              </a:rPr>
              <a:t>Outlook &amp; Mails</a:t>
            </a:r>
          </a:p>
        </p:txBody>
      </p:sp>
      <p:sp>
        <p:nvSpPr>
          <p:cNvPr id="17" name="TextBox 16"/>
          <p:cNvSpPr txBox="1"/>
          <p:nvPr/>
        </p:nvSpPr>
        <p:spPr>
          <a:xfrm>
            <a:off x="4214813" y="7187951"/>
            <a:ext cx="2720488" cy="259751"/>
          </a:xfrm>
          <a:prstGeom prst="rect">
            <a:avLst/>
          </a:prstGeom>
          <a:noFill/>
        </p:spPr>
        <p:txBody>
          <a:bodyPr wrap="none" lIns="0" tIns="0" rIns="0" bIns="0" anchor="t">
            <a:spAutoFit/>
          </a:bodyPr>
          <a:lstStyle/>
          <a:p>
            <a:pPr algn="l"/>
            <a:r>
              <a:rPr sz="1688" b="1">
                <a:solidFill>
                  <a:srgbClr val="0B211F"/>
                </a:solidFill>
                <a:latin typeface="Inter"/>
              </a:rPr>
              <a:t>Keine klare Verantwortlichkeit</a:t>
            </a:r>
          </a:p>
        </p:txBody>
      </p:sp>
      <p:pic>
        <p:nvPicPr>
          <p:cNvPr id="23" name="Grafik 22">
            <a:extLst>
              <a:ext uri="{FF2B5EF4-FFF2-40B4-BE49-F238E27FC236}">
                <a16:creationId xmlns:a16="http://schemas.microsoft.com/office/drawing/2014/main" id="{5219542A-1E12-2E74-3896-9D52C6AE0798}"/>
              </a:ext>
            </a:extLst>
          </p:cNvPr>
          <p:cNvPicPr>
            <a:picLocks noChangeAspect="1"/>
          </p:cNvPicPr>
          <p:nvPr/>
        </p:nvPicPr>
        <p:blipFill>
          <a:blip r:embed="rId2"/>
          <a:srcRect l="19796" t="20097" r="19360" b="19743"/>
          <a:stretch>
            <a:fillRect/>
          </a:stretch>
        </p:blipFill>
        <p:spPr>
          <a:xfrm>
            <a:off x="10267509" y="2741862"/>
            <a:ext cx="7093566" cy="5260476"/>
          </a:xfrm>
          <a:prstGeom prst="rect">
            <a:avLst/>
          </a:prstGeo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8535889" y="3373189"/>
            <a:ext cx="8609111" cy="1843088"/>
          </a:xfrm>
          <a:prstGeom prst="roundRect">
            <a:avLst>
              <a:gd name="adj" fmla="val 9302"/>
            </a:avLst>
          </a:prstGeom>
          <a:solidFill>
            <a:srgbClr val="F6FA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3" name="Rounded Rectangle 2"/>
          <p:cNvSpPr/>
          <p:nvPr/>
        </p:nvSpPr>
        <p:spPr>
          <a:xfrm>
            <a:off x="8535889" y="5502026"/>
            <a:ext cx="8609111" cy="1843088"/>
          </a:xfrm>
          <a:prstGeom prst="roundRect">
            <a:avLst>
              <a:gd name="adj" fmla="val 9302"/>
            </a:avLst>
          </a:prstGeom>
          <a:solidFill>
            <a:srgbClr val="F6FA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4" name="Rounded Rectangle 3"/>
          <p:cNvSpPr/>
          <p:nvPr/>
        </p:nvSpPr>
        <p:spPr>
          <a:xfrm>
            <a:off x="8535889" y="7630864"/>
            <a:ext cx="8609111" cy="728663"/>
          </a:xfrm>
          <a:prstGeom prst="roundRect">
            <a:avLst>
              <a:gd name="adj" fmla="val 23529"/>
            </a:avLst>
          </a:prstGeom>
          <a:solidFill>
            <a:srgbClr val="0B21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 name="Rectangle 4"/>
          <p:cNvSpPr/>
          <p:nvPr/>
        </p:nvSpPr>
        <p:spPr>
          <a:xfrm>
            <a:off x="8535888" y="3373189"/>
            <a:ext cx="57150" cy="1843088"/>
          </a:xfrm>
          <a:prstGeom prst="rect">
            <a:avLst/>
          </a:prstGeom>
          <a:solidFill>
            <a:srgbClr val="00D9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6" name="Rectangle 5"/>
          <p:cNvSpPr/>
          <p:nvPr/>
        </p:nvSpPr>
        <p:spPr>
          <a:xfrm>
            <a:off x="8535888" y="5502026"/>
            <a:ext cx="57150" cy="1843088"/>
          </a:xfrm>
          <a:prstGeom prst="rect">
            <a:avLst/>
          </a:prstGeom>
          <a:solidFill>
            <a:srgbClr val="FF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7" name="Rounded Rectangle 6"/>
          <p:cNvSpPr/>
          <p:nvPr/>
        </p:nvSpPr>
        <p:spPr>
          <a:xfrm>
            <a:off x="15259050" y="3737521"/>
            <a:ext cx="1543050" cy="357188"/>
          </a:xfrm>
          <a:prstGeom prst="roundRect">
            <a:avLst>
              <a:gd name="adj" fmla="val 24000"/>
            </a:avLst>
          </a:prstGeom>
          <a:solidFill>
            <a:srgbClr val="DDF7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8" name="Rounded Rectangle 7"/>
          <p:cNvSpPr/>
          <p:nvPr/>
        </p:nvSpPr>
        <p:spPr>
          <a:xfrm>
            <a:off x="15030450" y="5866358"/>
            <a:ext cx="1771650" cy="357188"/>
          </a:xfrm>
          <a:prstGeom prst="roundRect">
            <a:avLst>
              <a:gd name="adj" fmla="val 24000"/>
            </a:avLst>
          </a:prstGeom>
          <a:solidFill>
            <a:srgbClr val="F7ED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pic>
        <p:nvPicPr>
          <p:cNvPr id="11" name="Picture 10" descr="image.png"/>
          <p:cNvPicPr>
            <a:picLocks noChangeAspect="1"/>
          </p:cNvPicPr>
          <p:nvPr/>
        </p:nvPicPr>
        <p:blipFill>
          <a:blip r:embed="rId2"/>
          <a:stretch>
            <a:fillRect/>
          </a:stretch>
        </p:blipFill>
        <p:spPr>
          <a:xfrm>
            <a:off x="8821638" y="7866608"/>
            <a:ext cx="228600" cy="257175"/>
          </a:xfrm>
          <a:prstGeom prst="rect">
            <a:avLst/>
          </a:prstGeom>
        </p:spPr>
      </p:pic>
      <p:sp>
        <p:nvSpPr>
          <p:cNvPr id="12" name="TextBox 11"/>
          <p:cNvSpPr txBox="1"/>
          <p:nvPr/>
        </p:nvSpPr>
        <p:spPr>
          <a:xfrm>
            <a:off x="1143001" y="685800"/>
            <a:ext cx="1979709" cy="242374"/>
          </a:xfrm>
          <a:prstGeom prst="rect">
            <a:avLst/>
          </a:prstGeom>
          <a:noFill/>
        </p:spPr>
        <p:txBody>
          <a:bodyPr wrap="none" lIns="0" tIns="0" rIns="0" bIns="0" anchor="t">
            <a:spAutoFit/>
          </a:bodyPr>
          <a:lstStyle/>
          <a:p>
            <a:pPr algn="l"/>
            <a:r>
              <a:rPr sz="1575" b="1">
                <a:solidFill>
                  <a:srgbClr val="0F172A"/>
                </a:solidFill>
                <a:latin typeface="Space Grotesk"/>
              </a:rPr>
              <a:t>DIE LEADPILOT LÖSUNG</a:t>
            </a:r>
          </a:p>
        </p:txBody>
      </p:sp>
      <p:sp>
        <p:nvSpPr>
          <p:cNvPr id="13" name="TextBox 12"/>
          <p:cNvSpPr txBox="1"/>
          <p:nvPr/>
        </p:nvSpPr>
        <p:spPr>
          <a:xfrm>
            <a:off x="1143001" y="1057275"/>
            <a:ext cx="7112075" cy="608372"/>
          </a:xfrm>
          <a:prstGeom prst="rect">
            <a:avLst/>
          </a:prstGeom>
          <a:noFill/>
        </p:spPr>
        <p:txBody>
          <a:bodyPr wrap="none" lIns="0" tIns="0" rIns="0" bIns="0" anchor="t">
            <a:spAutoFit/>
          </a:bodyPr>
          <a:lstStyle/>
          <a:p>
            <a:pPr>
              <a:lnSpc>
                <a:spcPts val="4860"/>
              </a:lnSpc>
            </a:pPr>
            <a:r>
              <a:rPr sz="4050" b="1">
                <a:solidFill>
                  <a:srgbClr val="0B211F"/>
                </a:solidFill>
                <a:latin typeface="Space Grotesk"/>
              </a:rPr>
              <a:t>Zwei Hebel für sieben Vertriebler</a:t>
            </a:r>
          </a:p>
        </p:txBody>
      </p:sp>
      <p:sp>
        <p:nvSpPr>
          <p:cNvPr id="14" name="TextBox 13"/>
          <p:cNvSpPr txBox="1"/>
          <p:nvPr/>
        </p:nvSpPr>
        <p:spPr>
          <a:xfrm>
            <a:off x="8935938" y="4230439"/>
            <a:ext cx="5553508" cy="276999"/>
          </a:xfrm>
          <a:prstGeom prst="rect">
            <a:avLst/>
          </a:prstGeom>
          <a:noFill/>
        </p:spPr>
        <p:txBody>
          <a:bodyPr wrap="none" lIns="0" tIns="0" rIns="0" bIns="0" anchor="t">
            <a:spAutoFit/>
          </a:bodyPr>
          <a:lstStyle/>
          <a:p>
            <a:pPr algn="l"/>
            <a:r>
              <a:rPr>
                <a:solidFill>
                  <a:srgbClr val="475569"/>
                </a:solidFill>
                <a:latin typeface="Inter"/>
              </a:rPr>
              <a:t>Jeder Messe-Lead erhält sofort Fälligkeit und Zuständigkeit.</a:t>
            </a:r>
          </a:p>
        </p:txBody>
      </p:sp>
      <p:sp>
        <p:nvSpPr>
          <p:cNvPr id="15" name="TextBox 14"/>
          <p:cNvSpPr txBox="1"/>
          <p:nvPr/>
        </p:nvSpPr>
        <p:spPr>
          <a:xfrm>
            <a:off x="8935938" y="4630488"/>
            <a:ext cx="4210640" cy="242374"/>
          </a:xfrm>
          <a:prstGeom prst="rect">
            <a:avLst/>
          </a:prstGeom>
          <a:noFill/>
        </p:spPr>
        <p:txBody>
          <a:bodyPr wrap="none" lIns="0" tIns="0" rIns="0" bIns="0" anchor="t">
            <a:spAutoFit/>
          </a:bodyPr>
          <a:lstStyle/>
          <a:p>
            <a:pPr algn="l"/>
            <a:r>
              <a:rPr sz="1575" b="1">
                <a:solidFill>
                  <a:srgbClr val="0B211F"/>
                </a:solidFill>
                <a:latin typeface="Inter"/>
              </a:rPr>
              <a:t>Ergebnis: Kein Auftrag landet beim Wettbewerber.</a:t>
            </a:r>
          </a:p>
        </p:txBody>
      </p:sp>
      <p:sp>
        <p:nvSpPr>
          <p:cNvPr id="16" name="TextBox 15"/>
          <p:cNvSpPr txBox="1"/>
          <p:nvPr/>
        </p:nvSpPr>
        <p:spPr>
          <a:xfrm>
            <a:off x="8935939" y="6359276"/>
            <a:ext cx="5118709" cy="276999"/>
          </a:xfrm>
          <a:prstGeom prst="rect">
            <a:avLst/>
          </a:prstGeom>
          <a:noFill/>
        </p:spPr>
        <p:txBody>
          <a:bodyPr wrap="none" lIns="0" tIns="0" rIns="0" bIns="0" anchor="t">
            <a:spAutoFit/>
          </a:bodyPr>
          <a:lstStyle/>
          <a:p>
            <a:pPr algn="l"/>
            <a:r>
              <a:rPr>
                <a:solidFill>
                  <a:srgbClr val="475569"/>
                </a:solidFill>
                <a:latin typeface="Inter"/>
              </a:rPr>
              <a:t>Das Dashboard speist sich aus echten Deal-Aktivitäten.</a:t>
            </a:r>
          </a:p>
        </p:txBody>
      </p:sp>
      <p:sp>
        <p:nvSpPr>
          <p:cNvPr id="17" name="TextBox 16"/>
          <p:cNvSpPr txBox="1"/>
          <p:nvPr/>
        </p:nvSpPr>
        <p:spPr>
          <a:xfrm>
            <a:off x="8935938" y="6759326"/>
            <a:ext cx="4290662" cy="242374"/>
          </a:xfrm>
          <a:prstGeom prst="rect">
            <a:avLst/>
          </a:prstGeom>
          <a:noFill/>
        </p:spPr>
        <p:txBody>
          <a:bodyPr wrap="none" lIns="0" tIns="0" rIns="0" bIns="0" anchor="t">
            <a:spAutoFit/>
          </a:bodyPr>
          <a:lstStyle/>
          <a:p>
            <a:pPr algn="l"/>
            <a:r>
              <a:rPr sz="1575" b="1">
                <a:solidFill>
                  <a:srgbClr val="0B211F"/>
                </a:solidFill>
                <a:latin typeface="Inter"/>
              </a:rPr>
              <a:t>Ergebnis: Freitags mit Fakten zur Geschäftsführung.</a:t>
            </a:r>
          </a:p>
        </p:txBody>
      </p:sp>
      <p:sp>
        <p:nvSpPr>
          <p:cNvPr id="18" name="TextBox 17"/>
          <p:cNvSpPr txBox="1"/>
          <p:nvPr/>
        </p:nvSpPr>
        <p:spPr>
          <a:xfrm>
            <a:off x="9278838" y="7859464"/>
            <a:ext cx="5470472" cy="259751"/>
          </a:xfrm>
          <a:prstGeom prst="rect">
            <a:avLst/>
          </a:prstGeom>
          <a:noFill/>
        </p:spPr>
        <p:txBody>
          <a:bodyPr wrap="none" lIns="0" tIns="0" rIns="0" bIns="0" anchor="t">
            <a:spAutoFit/>
          </a:bodyPr>
          <a:lstStyle/>
          <a:p>
            <a:pPr algn="l"/>
            <a:r>
              <a:rPr sz="1688" dirty="0">
                <a:solidFill>
                  <a:srgbClr val="E2E8F0"/>
                </a:solidFill>
                <a:latin typeface="Inter"/>
              </a:rPr>
              <a:t>In </a:t>
            </a:r>
            <a:r>
              <a:rPr sz="1688" dirty="0" err="1">
                <a:solidFill>
                  <a:srgbClr val="E2E8F0"/>
                </a:solidFill>
                <a:latin typeface="Inter"/>
              </a:rPr>
              <a:t>Stunden</a:t>
            </a:r>
            <a:r>
              <a:rPr sz="1688" dirty="0">
                <a:solidFill>
                  <a:srgbClr val="E2E8F0"/>
                </a:solidFill>
                <a:latin typeface="Inter"/>
              </a:rPr>
              <a:t> </a:t>
            </a:r>
            <a:r>
              <a:rPr sz="1688" dirty="0" err="1">
                <a:solidFill>
                  <a:srgbClr val="E2E8F0"/>
                </a:solidFill>
                <a:latin typeface="Inter"/>
              </a:rPr>
              <a:t>startklar</a:t>
            </a:r>
            <a:r>
              <a:rPr sz="1688" dirty="0">
                <a:solidFill>
                  <a:srgbClr val="E2E8F0"/>
                </a:solidFill>
                <a:latin typeface="Inter"/>
              </a:rPr>
              <a:t> – </a:t>
            </a:r>
            <a:r>
              <a:rPr sz="1688" dirty="0" err="1">
                <a:solidFill>
                  <a:srgbClr val="E2E8F0"/>
                </a:solidFill>
                <a:latin typeface="Inter"/>
              </a:rPr>
              <a:t>keine</a:t>
            </a:r>
            <a:r>
              <a:rPr sz="1688" dirty="0">
                <a:solidFill>
                  <a:srgbClr val="E2E8F0"/>
                </a:solidFill>
                <a:latin typeface="Inter"/>
              </a:rPr>
              <a:t> 30 </a:t>
            </a:r>
            <a:r>
              <a:rPr sz="1688" dirty="0" err="1">
                <a:solidFill>
                  <a:srgbClr val="E2E8F0"/>
                </a:solidFill>
                <a:latin typeface="Inter"/>
              </a:rPr>
              <a:t>Pflichtfelder</a:t>
            </a:r>
            <a:r>
              <a:rPr sz="1688" dirty="0">
                <a:solidFill>
                  <a:srgbClr val="E2E8F0"/>
                </a:solidFill>
                <a:latin typeface="Inter"/>
              </a:rPr>
              <a:t> </a:t>
            </a:r>
            <a:r>
              <a:rPr sz="1688" dirty="0" err="1">
                <a:solidFill>
                  <a:srgbClr val="E2E8F0"/>
                </a:solidFill>
                <a:latin typeface="Inter"/>
              </a:rPr>
              <a:t>wie</a:t>
            </a:r>
            <a:r>
              <a:rPr sz="1688" dirty="0">
                <a:solidFill>
                  <a:srgbClr val="E2E8F0"/>
                </a:solidFill>
                <a:latin typeface="Inter"/>
              </a:rPr>
              <a:t> </a:t>
            </a:r>
            <a:r>
              <a:rPr sz="1688" dirty="0" err="1">
                <a:solidFill>
                  <a:srgbClr val="E2E8F0"/>
                </a:solidFill>
                <a:latin typeface="Inter"/>
              </a:rPr>
              <a:t>bei</a:t>
            </a:r>
            <a:r>
              <a:rPr sz="1688" dirty="0">
                <a:solidFill>
                  <a:srgbClr val="E2E8F0"/>
                </a:solidFill>
                <a:latin typeface="Inter"/>
              </a:rPr>
              <a:t> Salesforce.</a:t>
            </a:r>
          </a:p>
        </p:txBody>
      </p:sp>
      <p:sp>
        <p:nvSpPr>
          <p:cNvPr id="19" name="TextBox 18"/>
          <p:cNvSpPr txBox="1"/>
          <p:nvPr/>
        </p:nvSpPr>
        <p:spPr>
          <a:xfrm>
            <a:off x="8935939" y="3716089"/>
            <a:ext cx="3694601" cy="380873"/>
          </a:xfrm>
          <a:prstGeom prst="rect">
            <a:avLst/>
          </a:prstGeom>
          <a:noFill/>
        </p:spPr>
        <p:txBody>
          <a:bodyPr wrap="none" lIns="0" tIns="0" rIns="0" bIns="0" anchor="t">
            <a:spAutoFit/>
          </a:bodyPr>
          <a:lstStyle/>
          <a:p>
            <a:pPr algn="l"/>
            <a:r>
              <a:rPr sz="2475" b="1">
                <a:solidFill>
                  <a:srgbClr val="0B211F"/>
                </a:solidFill>
                <a:latin typeface="Space Grotesk"/>
              </a:rPr>
              <a:t>Hebel 1: 48h-Wiedervorlage</a:t>
            </a:r>
          </a:p>
        </p:txBody>
      </p:sp>
      <p:sp>
        <p:nvSpPr>
          <p:cNvPr id="20" name="TextBox 19"/>
          <p:cNvSpPr txBox="1"/>
          <p:nvPr/>
        </p:nvSpPr>
        <p:spPr>
          <a:xfrm>
            <a:off x="15401925" y="3794671"/>
            <a:ext cx="1400175" cy="225126"/>
          </a:xfrm>
          <a:prstGeom prst="rect">
            <a:avLst/>
          </a:prstGeom>
          <a:noFill/>
        </p:spPr>
        <p:txBody>
          <a:bodyPr wrap="square" lIns="0" tIns="0" rIns="0" bIns="0" anchor="t">
            <a:spAutoFit/>
          </a:bodyPr>
          <a:lstStyle/>
          <a:p>
            <a:pPr algn="l"/>
            <a:r>
              <a:rPr sz="1463" b="1">
                <a:solidFill>
                  <a:srgbClr val="0F172A"/>
                </a:solidFill>
                <a:latin typeface="JetBrains Mono"/>
              </a:rPr>
              <a:t>AUTOMATISCH</a:t>
            </a:r>
          </a:p>
        </p:txBody>
      </p:sp>
      <p:sp>
        <p:nvSpPr>
          <p:cNvPr id="21" name="TextBox 20"/>
          <p:cNvSpPr txBox="1"/>
          <p:nvPr/>
        </p:nvSpPr>
        <p:spPr>
          <a:xfrm>
            <a:off x="8935939" y="5844926"/>
            <a:ext cx="4347665" cy="380873"/>
          </a:xfrm>
          <a:prstGeom prst="rect">
            <a:avLst/>
          </a:prstGeom>
          <a:noFill/>
        </p:spPr>
        <p:txBody>
          <a:bodyPr wrap="none" lIns="0" tIns="0" rIns="0" bIns="0" anchor="t">
            <a:spAutoFit/>
          </a:bodyPr>
          <a:lstStyle/>
          <a:p>
            <a:pPr algn="l"/>
            <a:r>
              <a:rPr sz="2475" b="1">
                <a:solidFill>
                  <a:srgbClr val="0B211F"/>
                </a:solidFill>
                <a:latin typeface="Space Grotesk"/>
              </a:rPr>
              <a:t>Hebel 2: Forecast auf Knopfdruck</a:t>
            </a:r>
          </a:p>
        </p:txBody>
      </p:sp>
      <p:sp>
        <p:nvSpPr>
          <p:cNvPr id="22" name="TextBox 21"/>
          <p:cNvSpPr txBox="1"/>
          <p:nvPr/>
        </p:nvSpPr>
        <p:spPr>
          <a:xfrm>
            <a:off x="15173325" y="5923508"/>
            <a:ext cx="1628775" cy="225126"/>
          </a:xfrm>
          <a:prstGeom prst="rect">
            <a:avLst/>
          </a:prstGeom>
          <a:noFill/>
        </p:spPr>
        <p:txBody>
          <a:bodyPr wrap="square" lIns="0" tIns="0" rIns="0" bIns="0" anchor="t">
            <a:spAutoFit/>
          </a:bodyPr>
          <a:lstStyle/>
          <a:p>
            <a:pPr algn="l"/>
            <a:r>
              <a:rPr sz="1463" b="1">
                <a:solidFill>
                  <a:srgbClr val="0F172A"/>
                </a:solidFill>
                <a:latin typeface="JetBrains Mono"/>
              </a:rPr>
              <a:t>LIVE-PIPELINE</a:t>
            </a:r>
          </a:p>
        </p:txBody>
      </p:sp>
      <p:pic>
        <p:nvPicPr>
          <p:cNvPr id="24" name="Grafik 23">
            <a:extLst>
              <a:ext uri="{FF2B5EF4-FFF2-40B4-BE49-F238E27FC236}">
                <a16:creationId xmlns:a16="http://schemas.microsoft.com/office/drawing/2014/main" id="{FE84E98F-A647-81FA-1ED2-D7F5DEA51C4A}"/>
              </a:ext>
            </a:extLst>
          </p:cNvPr>
          <p:cNvPicPr>
            <a:picLocks noChangeAspect="1"/>
          </p:cNvPicPr>
          <p:nvPr/>
        </p:nvPicPr>
        <p:blipFill>
          <a:blip r:embed="rId3"/>
          <a:srcRect l="13158" t="19149" r="14531" b="17915"/>
          <a:stretch>
            <a:fillRect/>
          </a:stretch>
        </p:blipFill>
        <p:spPr>
          <a:xfrm>
            <a:off x="687235" y="3509898"/>
            <a:ext cx="5875262" cy="3835215"/>
          </a:xfrm>
          <a:prstGeom prst="rect">
            <a:avLst/>
          </a:prstGeom>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1143000" y="4817565"/>
            <a:ext cx="16002000" cy="1457325"/>
          </a:xfrm>
          <a:prstGeom prst="roundRect">
            <a:avLst>
              <a:gd name="adj" fmla="val 15686"/>
            </a:avLst>
          </a:prstGeom>
          <a:solidFill>
            <a:srgbClr val="FFFFFF"/>
          </a:solidFill>
          <a:ln w="9525">
            <a:solidFill>
              <a:srgbClr val="D1DD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3" name="Rounded Rectangle 2"/>
          <p:cNvSpPr/>
          <p:nvPr/>
        </p:nvSpPr>
        <p:spPr>
          <a:xfrm>
            <a:off x="1143000" y="2131515"/>
            <a:ext cx="5029200" cy="2171700"/>
          </a:xfrm>
          <a:prstGeom prst="roundRect">
            <a:avLst>
              <a:gd name="adj" fmla="val 10526"/>
            </a:avLst>
          </a:prstGeom>
          <a:solidFill>
            <a:srgbClr val="FFFFFF"/>
          </a:solidFill>
          <a:ln w="9525">
            <a:solidFill>
              <a:srgbClr val="D1DD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4" name="Rounded Rectangle 3"/>
          <p:cNvSpPr/>
          <p:nvPr/>
        </p:nvSpPr>
        <p:spPr>
          <a:xfrm>
            <a:off x="6629400" y="2131515"/>
            <a:ext cx="5029200" cy="2171700"/>
          </a:xfrm>
          <a:prstGeom prst="roundRect">
            <a:avLst>
              <a:gd name="adj" fmla="val 10526"/>
            </a:avLst>
          </a:prstGeom>
          <a:solidFill>
            <a:srgbClr val="FFFFFF"/>
          </a:solidFill>
          <a:ln w="9525">
            <a:solidFill>
              <a:srgbClr val="D1DD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 name="Rounded Rectangle 4"/>
          <p:cNvSpPr/>
          <p:nvPr/>
        </p:nvSpPr>
        <p:spPr>
          <a:xfrm>
            <a:off x="12115800" y="2131515"/>
            <a:ext cx="5029200" cy="2171700"/>
          </a:xfrm>
          <a:prstGeom prst="roundRect">
            <a:avLst>
              <a:gd name="adj" fmla="val 10526"/>
            </a:avLst>
          </a:prstGeom>
          <a:solidFill>
            <a:srgbClr val="FFFFFF"/>
          </a:solidFill>
          <a:ln w="9525">
            <a:solidFill>
              <a:srgbClr val="D1DD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pic>
        <p:nvPicPr>
          <p:cNvPr id="6" name="Picture 5" descr="image.png"/>
          <p:cNvPicPr>
            <a:picLocks noChangeAspect="1"/>
          </p:cNvPicPr>
          <p:nvPr/>
        </p:nvPicPr>
        <p:blipFill>
          <a:blip r:embed="rId2"/>
          <a:stretch>
            <a:fillRect/>
          </a:stretch>
        </p:blipFill>
        <p:spPr>
          <a:xfrm>
            <a:off x="1614488" y="5174753"/>
            <a:ext cx="742950" cy="742950"/>
          </a:xfrm>
          <a:prstGeom prst="rect">
            <a:avLst/>
          </a:prstGeom>
        </p:spPr>
      </p:pic>
      <p:pic>
        <p:nvPicPr>
          <p:cNvPr id="7" name="Picture 6" descr="image.png"/>
          <p:cNvPicPr>
            <a:picLocks noChangeAspect="1"/>
          </p:cNvPicPr>
          <p:nvPr/>
        </p:nvPicPr>
        <p:blipFill>
          <a:blip r:embed="rId3"/>
          <a:stretch>
            <a:fillRect/>
          </a:stretch>
        </p:blipFill>
        <p:spPr>
          <a:xfrm>
            <a:off x="1793081" y="5374778"/>
            <a:ext cx="385763" cy="342900"/>
          </a:xfrm>
          <a:prstGeom prst="rect">
            <a:avLst/>
          </a:prstGeom>
        </p:spPr>
      </p:pic>
      <p:sp>
        <p:nvSpPr>
          <p:cNvPr id="8" name="TextBox 7"/>
          <p:cNvSpPr txBox="1"/>
          <p:nvPr/>
        </p:nvSpPr>
        <p:spPr>
          <a:xfrm>
            <a:off x="1143000" y="685800"/>
            <a:ext cx="2124812" cy="242374"/>
          </a:xfrm>
          <a:prstGeom prst="rect">
            <a:avLst/>
          </a:prstGeom>
          <a:noFill/>
        </p:spPr>
        <p:txBody>
          <a:bodyPr wrap="none" lIns="0" tIns="0" rIns="0" bIns="0" anchor="t">
            <a:spAutoFit/>
          </a:bodyPr>
          <a:lstStyle/>
          <a:p>
            <a:pPr algn="l"/>
            <a:r>
              <a:rPr sz="1575" b="1">
                <a:solidFill>
                  <a:srgbClr val="0F172A"/>
                </a:solidFill>
                <a:latin typeface="Space Grotesk"/>
              </a:rPr>
              <a:t>NACHWEIS &amp; SICHERHEIT</a:t>
            </a:r>
          </a:p>
        </p:txBody>
      </p:sp>
      <p:sp>
        <p:nvSpPr>
          <p:cNvPr id="9" name="TextBox 8"/>
          <p:cNvSpPr txBox="1"/>
          <p:nvPr/>
        </p:nvSpPr>
        <p:spPr>
          <a:xfrm>
            <a:off x="1143000" y="1057275"/>
            <a:ext cx="5928226" cy="608372"/>
          </a:xfrm>
          <a:prstGeom prst="rect">
            <a:avLst/>
          </a:prstGeom>
          <a:noFill/>
        </p:spPr>
        <p:txBody>
          <a:bodyPr wrap="none" lIns="0" tIns="0" rIns="0" bIns="0" anchor="t">
            <a:spAutoFit/>
          </a:bodyPr>
          <a:lstStyle/>
          <a:p>
            <a:pPr>
              <a:lnSpc>
                <a:spcPts val="4860"/>
              </a:lnSpc>
            </a:pPr>
            <a:r>
              <a:rPr sz="4050" b="1">
                <a:solidFill>
                  <a:srgbClr val="0B211F"/>
                </a:solidFill>
                <a:latin typeface="Space Grotesk"/>
              </a:rPr>
              <a:t>Erprobt im B2B-Mittelstand</a:t>
            </a:r>
          </a:p>
        </p:txBody>
      </p:sp>
      <p:sp>
        <p:nvSpPr>
          <p:cNvPr id="10" name="TextBox 9"/>
          <p:cNvSpPr txBox="1"/>
          <p:nvPr/>
        </p:nvSpPr>
        <p:spPr>
          <a:xfrm>
            <a:off x="3189521" y="2545853"/>
            <a:ext cx="936154" cy="936218"/>
          </a:xfrm>
          <a:prstGeom prst="rect">
            <a:avLst/>
          </a:prstGeom>
          <a:noFill/>
        </p:spPr>
        <p:txBody>
          <a:bodyPr wrap="none" lIns="0" tIns="0" rIns="0" bIns="0" anchor="t">
            <a:spAutoFit/>
          </a:bodyPr>
          <a:lstStyle/>
          <a:p>
            <a:pPr algn="ctr">
              <a:lnSpc>
                <a:spcPts val="7200"/>
              </a:lnSpc>
            </a:pPr>
            <a:r>
              <a:rPr sz="7200" b="1">
                <a:solidFill>
                  <a:srgbClr val="0B211F"/>
                </a:solidFill>
                <a:latin typeface="Space Grotesk"/>
              </a:rPr>
              <a:t>66</a:t>
            </a:r>
          </a:p>
        </p:txBody>
      </p:sp>
      <p:sp>
        <p:nvSpPr>
          <p:cNvPr id="11" name="TextBox 10"/>
          <p:cNvSpPr txBox="1"/>
          <p:nvPr/>
        </p:nvSpPr>
        <p:spPr>
          <a:xfrm>
            <a:off x="2243751" y="3603128"/>
            <a:ext cx="2827697" cy="276999"/>
          </a:xfrm>
          <a:prstGeom prst="rect">
            <a:avLst/>
          </a:prstGeom>
          <a:noFill/>
        </p:spPr>
        <p:txBody>
          <a:bodyPr wrap="none" lIns="0" tIns="0" rIns="0" bIns="0" anchor="t">
            <a:spAutoFit/>
          </a:bodyPr>
          <a:lstStyle/>
          <a:p>
            <a:pPr algn="ctr"/>
            <a:r>
              <a:rPr b="1">
                <a:solidFill>
                  <a:srgbClr val="475569"/>
                </a:solidFill>
                <a:latin typeface="Inter"/>
              </a:rPr>
              <a:t>Mittelständische B2B-Kunden</a:t>
            </a:r>
          </a:p>
        </p:txBody>
      </p:sp>
      <p:sp>
        <p:nvSpPr>
          <p:cNvPr id="12" name="TextBox 11"/>
          <p:cNvSpPr txBox="1"/>
          <p:nvPr/>
        </p:nvSpPr>
        <p:spPr>
          <a:xfrm>
            <a:off x="8235097" y="2545853"/>
            <a:ext cx="1817805" cy="936218"/>
          </a:xfrm>
          <a:prstGeom prst="rect">
            <a:avLst/>
          </a:prstGeom>
          <a:noFill/>
        </p:spPr>
        <p:txBody>
          <a:bodyPr wrap="none" lIns="0" tIns="0" rIns="0" bIns="0" anchor="t">
            <a:spAutoFit/>
          </a:bodyPr>
          <a:lstStyle/>
          <a:p>
            <a:pPr algn="ctr">
              <a:lnSpc>
                <a:spcPts val="7200"/>
              </a:lnSpc>
            </a:pPr>
            <a:r>
              <a:rPr sz="7200" b="1">
                <a:solidFill>
                  <a:srgbClr val="0F172A"/>
                </a:solidFill>
                <a:latin typeface="Space Grotesk"/>
              </a:rPr>
              <a:t>36 %</a:t>
            </a:r>
          </a:p>
        </p:txBody>
      </p:sp>
      <p:sp>
        <p:nvSpPr>
          <p:cNvPr id="13" name="TextBox 12"/>
          <p:cNvSpPr txBox="1"/>
          <p:nvPr/>
        </p:nvSpPr>
        <p:spPr>
          <a:xfrm>
            <a:off x="7997851" y="3603128"/>
            <a:ext cx="2292294" cy="276999"/>
          </a:xfrm>
          <a:prstGeom prst="rect">
            <a:avLst/>
          </a:prstGeom>
          <a:noFill/>
        </p:spPr>
        <p:txBody>
          <a:bodyPr wrap="none" lIns="0" tIns="0" rIns="0" bIns="0" anchor="t">
            <a:spAutoFit/>
          </a:bodyPr>
          <a:lstStyle/>
          <a:p>
            <a:pPr algn="ctr"/>
            <a:r>
              <a:rPr b="1">
                <a:solidFill>
                  <a:srgbClr val="475569"/>
                </a:solidFill>
                <a:latin typeface="Inter"/>
              </a:rPr>
              <a:t>Aus dem Maschinenbau</a:t>
            </a:r>
          </a:p>
        </p:txBody>
      </p:sp>
      <p:sp>
        <p:nvSpPr>
          <p:cNvPr id="14" name="TextBox 13"/>
          <p:cNvSpPr txBox="1"/>
          <p:nvPr/>
        </p:nvSpPr>
        <p:spPr>
          <a:xfrm>
            <a:off x="13487457" y="2545853"/>
            <a:ext cx="2285882" cy="936218"/>
          </a:xfrm>
          <a:prstGeom prst="rect">
            <a:avLst/>
          </a:prstGeom>
          <a:noFill/>
        </p:spPr>
        <p:txBody>
          <a:bodyPr wrap="none" lIns="0" tIns="0" rIns="0" bIns="0" anchor="t">
            <a:spAutoFit/>
          </a:bodyPr>
          <a:lstStyle/>
          <a:p>
            <a:pPr algn="ctr">
              <a:lnSpc>
                <a:spcPts val="7200"/>
              </a:lnSpc>
            </a:pPr>
            <a:r>
              <a:rPr sz="7200" b="1">
                <a:solidFill>
                  <a:srgbClr val="0F172A"/>
                </a:solidFill>
                <a:latin typeface="Space Grotesk"/>
              </a:rPr>
              <a:t>100 %</a:t>
            </a:r>
          </a:p>
        </p:txBody>
      </p:sp>
      <p:sp>
        <p:nvSpPr>
          <p:cNvPr id="15" name="TextBox 14"/>
          <p:cNvSpPr txBox="1"/>
          <p:nvPr/>
        </p:nvSpPr>
        <p:spPr>
          <a:xfrm>
            <a:off x="13309524" y="3603128"/>
            <a:ext cx="2641749" cy="276999"/>
          </a:xfrm>
          <a:prstGeom prst="rect">
            <a:avLst/>
          </a:prstGeom>
          <a:noFill/>
        </p:spPr>
        <p:txBody>
          <a:bodyPr wrap="none" lIns="0" tIns="0" rIns="0" bIns="0" anchor="t">
            <a:spAutoFit/>
          </a:bodyPr>
          <a:lstStyle/>
          <a:p>
            <a:pPr algn="ctr"/>
            <a:r>
              <a:rPr b="1">
                <a:solidFill>
                  <a:srgbClr val="475569"/>
                </a:solidFill>
                <a:latin typeface="Inter"/>
              </a:rPr>
              <a:t>DSGVO &amp; Hosting in Europa</a:t>
            </a:r>
          </a:p>
        </p:txBody>
      </p:sp>
      <p:sp>
        <p:nvSpPr>
          <p:cNvPr id="16" name="TextBox 15"/>
          <p:cNvSpPr txBox="1"/>
          <p:nvPr/>
        </p:nvSpPr>
        <p:spPr>
          <a:xfrm>
            <a:off x="2700338" y="5210472"/>
            <a:ext cx="4972515" cy="311624"/>
          </a:xfrm>
          <a:prstGeom prst="rect">
            <a:avLst/>
          </a:prstGeom>
          <a:noFill/>
        </p:spPr>
        <p:txBody>
          <a:bodyPr wrap="none" lIns="0" tIns="0" rIns="0" bIns="0" anchor="t">
            <a:spAutoFit/>
          </a:bodyPr>
          <a:lstStyle/>
          <a:p>
            <a:pPr algn="l"/>
            <a:r>
              <a:rPr sz="2025" b="1">
                <a:solidFill>
                  <a:srgbClr val="0B211F"/>
                </a:solidFill>
                <a:latin typeface="Space Grotesk"/>
              </a:rPr>
              <a:t>Erfahrungswert Maschinenbau (6 Vertriebler):</a:t>
            </a:r>
          </a:p>
        </p:txBody>
      </p:sp>
      <p:sp>
        <p:nvSpPr>
          <p:cNvPr id="17" name="TextBox 16"/>
          <p:cNvSpPr txBox="1"/>
          <p:nvPr/>
        </p:nvSpPr>
        <p:spPr>
          <a:xfrm>
            <a:off x="2700338" y="5596235"/>
            <a:ext cx="10589245" cy="276999"/>
          </a:xfrm>
          <a:prstGeom prst="rect">
            <a:avLst/>
          </a:prstGeom>
          <a:noFill/>
        </p:spPr>
        <p:txBody>
          <a:bodyPr wrap="none" lIns="0" tIns="0" rIns="0" bIns="0" anchor="t">
            <a:spAutoFit/>
          </a:bodyPr>
          <a:lstStyle/>
          <a:p>
            <a:pPr algn="l"/>
            <a:r>
              <a:rPr>
                <a:solidFill>
                  <a:srgbClr val="475569"/>
                </a:solidFill>
                <a:latin typeface="Inter"/>
              </a:rPr>
              <a:t>Null liegengebliebene Messekontakte ab Woche eins und 150 Stunden wöchentliche Zeitersparnis beim Forecast.</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5822156" y="6530726"/>
            <a:ext cx="6643688" cy="885825"/>
          </a:xfrm>
          <a:prstGeom prst="roundRect">
            <a:avLst>
              <a:gd name="adj" fmla="val 50000"/>
            </a:avLst>
          </a:prstGeom>
          <a:solidFill>
            <a:srgbClr val="093D38"/>
          </a:solidFill>
          <a:ln w="9525">
            <a:solidFill>
              <a:srgbClr val="00D9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4" name="TextBox 3"/>
          <p:cNvSpPr txBox="1"/>
          <p:nvPr/>
        </p:nvSpPr>
        <p:spPr>
          <a:xfrm>
            <a:off x="8119905" y="3156199"/>
            <a:ext cx="2048189" cy="259751"/>
          </a:xfrm>
          <a:prstGeom prst="rect">
            <a:avLst/>
          </a:prstGeom>
          <a:noFill/>
        </p:spPr>
        <p:txBody>
          <a:bodyPr wrap="none" lIns="0" tIns="0" rIns="0" bIns="0" anchor="t">
            <a:spAutoFit/>
          </a:bodyPr>
          <a:lstStyle/>
          <a:p>
            <a:pPr algn="ctr"/>
            <a:r>
              <a:rPr sz="1688" b="1">
                <a:solidFill>
                  <a:srgbClr val="FF7A3D"/>
                </a:solidFill>
                <a:latin typeface="Space Grotesk"/>
              </a:rPr>
              <a:t>DER NÄCHSTE SCHRITT</a:t>
            </a:r>
          </a:p>
        </p:txBody>
      </p:sp>
      <p:sp>
        <p:nvSpPr>
          <p:cNvPr id="5" name="TextBox 4"/>
          <p:cNvSpPr txBox="1"/>
          <p:nvPr/>
        </p:nvSpPr>
        <p:spPr>
          <a:xfrm>
            <a:off x="5209909" y="3656261"/>
            <a:ext cx="7868180" cy="795089"/>
          </a:xfrm>
          <a:prstGeom prst="rect">
            <a:avLst/>
          </a:prstGeom>
          <a:noFill/>
        </p:spPr>
        <p:txBody>
          <a:bodyPr wrap="none" lIns="0" tIns="0" rIns="0" bIns="0" anchor="t">
            <a:spAutoFit/>
          </a:bodyPr>
          <a:lstStyle/>
          <a:p>
            <a:pPr algn="ctr">
              <a:lnSpc>
                <a:spcPts val="6210"/>
              </a:lnSpc>
            </a:pPr>
            <a:r>
              <a:rPr sz="5175" b="1">
                <a:solidFill>
                  <a:srgbClr val="FFFFFF"/>
                </a:solidFill>
                <a:latin typeface="Space Grotesk"/>
              </a:rPr>
              <a:t>Ihre Messe-Liste im Live-Test</a:t>
            </a:r>
          </a:p>
        </p:txBody>
      </p:sp>
      <p:sp>
        <p:nvSpPr>
          <p:cNvPr id="6" name="TextBox 5"/>
          <p:cNvSpPr txBox="1"/>
          <p:nvPr/>
        </p:nvSpPr>
        <p:spPr>
          <a:xfrm>
            <a:off x="2178844" y="4787651"/>
            <a:ext cx="13930313" cy="839204"/>
          </a:xfrm>
          <a:prstGeom prst="rect">
            <a:avLst/>
          </a:prstGeom>
          <a:noFill/>
        </p:spPr>
        <p:txBody>
          <a:bodyPr wrap="square" lIns="0" tIns="0" rIns="0" bIns="0" anchor="t">
            <a:spAutoFit/>
          </a:bodyPr>
          <a:lstStyle/>
          <a:p>
            <a:pPr algn="ctr">
              <a:lnSpc>
                <a:spcPts val="3375"/>
              </a:lnSpc>
            </a:pPr>
            <a:r>
              <a:rPr sz="2250">
                <a:solidFill>
                  <a:srgbClr val="E2E8F0"/>
                </a:solidFill>
                <a:latin typeface="Inter"/>
              </a:rPr>
              <a:t>„Herr Hartwig, schicken Sie mir die Kontaktliste Ihrer letzten Messe. Ich zeige Ihnen am Dienstag in 30 Minuten, welche Anfragen offen geblieben wären und was LeadPilot daraus gemacht hätte.“</a:t>
            </a:r>
          </a:p>
        </p:txBody>
      </p:sp>
      <p:sp>
        <p:nvSpPr>
          <p:cNvPr id="7" name="TextBox 6"/>
          <p:cNvSpPr txBox="1"/>
          <p:nvPr/>
        </p:nvSpPr>
        <p:spPr>
          <a:xfrm>
            <a:off x="6775787" y="6773614"/>
            <a:ext cx="4736425" cy="380873"/>
          </a:xfrm>
          <a:prstGeom prst="rect">
            <a:avLst/>
          </a:prstGeom>
          <a:noFill/>
        </p:spPr>
        <p:txBody>
          <a:bodyPr wrap="none" lIns="0" tIns="0" rIns="0" bIns="0" anchor="t">
            <a:spAutoFit/>
          </a:bodyPr>
          <a:lstStyle/>
          <a:p>
            <a:pPr algn="ctr"/>
            <a:r>
              <a:rPr sz="2475" b="1">
                <a:solidFill>
                  <a:srgbClr val="00D9C6"/>
                </a:solidFill>
                <a:latin typeface="Space Grotesk"/>
              </a:rPr>
              <a:t>Passt Ihnen Dienstag um 10:00 Uhr?</a:t>
            </a:r>
          </a:p>
        </p:txBody>
      </p:sp>
      <p:sp>
        <p:nvSpPr>
          <p:cNvPr id="8" name="TextBox 7"/>
          <p:cNvSpPr txBox="1"/>
          <p:nvPr/>
        </p:nvSpPr>
        <p:spPr>
          <a:xfrm>
            <a:off x="4166405" y="8002338"/>
            <a:ext cx="3011465" cy="242374"/>
          </a:xfrm>
          <a:prstGeom prst="rect">
            <a:avLst/>
          </a:prstGeom>
          <a:noFill/>
        </p:spPr>
        <p:txBody>
          <a:bodyPr wrap="none" lIns="0" tIns="0" rIns="0" bIns="0" anchor="t">
            <a:spAutoFit/>
          </a:bodyPr>
          <a:lstStyle/>
          <a:p>
            <a:pPr algn="ctr"/>
            <a:r>
              <a:rPr sz="1575">
                <a:solidFill>
                  <a:srgbClr val="94A3B8"/>
                </a:solidFill>
                <a:latin typeface="JetBrains Mono"/>
              </a:rPr>
              <a:t>✓ 14 Tage Testphase mit Ihrem Team</a:t>
            </a:r>
          </a:p>
        </p:txBody>
      </p:sp>
      <p:sp>
        <p:nvSpPr>
          <p:cNvPr id="9" name="TextBox 8"/>
          <p:cNvSpPr txBox="1"/>
          <p:nvPr/>
        </p:nvSpPr>
        <p:spPr>
          <a:xfrm>
            <a:off x="8007585" y="7988051"/>
            <a:ext cx="115416" cy="276999"/>
          </a:xfrm>
          <a:prstGeom prst="rect">
            <a:avLst/>
          </a:prstGeom>
          <a:noFill/>
        </p:spPr>
        <p:txBody>
          <a:bodyPr wrap="none" lIns="0" tIns="0" rIns="0" bIns="0" anchor="t">
            <a:spAutoFit/>
          </a:bodyPr>
          <a:lstStyle/>
          <a:p>
            <a:pPr algn="ctr"/>
            <a:r>
              <a:rPr>
                <a:solidFill>
                  <a:srgbClr val="F8FAFC"/>
                </a:solidFill>
                <a:latin typeface="Inter"/>
              </a:rPr>
              <a:t>•</a:t>
            </a:r>
          </a:p>
        </p:txBody>
      </p:sp>
      <p:sp>
        <p:nvSpPr>
          <p:cNvPr id="10" name="TextBox 9"/>
          <p:cNvSpPr txBox="1"/>
          <p:nvPr/>
        </p:nvSpPr>
        <p:spPr>
          <a:xfrm>
            <a:off x="8940060" y="8002338"/>
            <a:ext cx="2122376" cy="242374"/>
          </a:xfrm>
          <a:prstGeom prst="rect">
            <a:avLst/>
          </a:prstGeom>
          <a:noFill/>
        </p:spPr>
        <p:txBody>
          <a:bodyPr wrap="none" lIns="0" tIns="0" rIns="0" bIns="0" anchor="t">
            <a:spAutoFit/>
          </a:bodyPr>
          <a:lstStyle/>
          <a:p>
            <a:pPr algn="ctr"/>
            <a:r>
              <a:rPr sz="1575">
                <a:solidFill>
                  <a:srgbClr val="94A3B8"/>
                </a:solidFill>
                <a:latin typeface="JetBrains Mono"/>
              </a:rPr>
              <a:t>✓ Starter ab 49 € / Nutzer</a:t>
            </a:r>
          </a:p>
        </p:txBody>
      </p:sp>
      <p:sp>
        <p:nvSpPr>
          <p:cNvPr id="11" name="TextBox 10"/>
          <p:cNvSpPr txBox="1"/>
          <p:nvPr/>
        </p:nvSpPr>
        <p:spPr>
          <a:xfrm>
            <a:off x="11879498" y="7988051"/>
            <a:ext cx="115416" cy="276999"/>
          </a:xfrm>
          <a:prstGeom prst="rect">
            <a:avLst/>
          </a:prstGeom>
          <a:noFill/>
        </p:spPr>
        <p:txBody>
          <a:bodyPr wrap="none" lIns="0" tIns="0" rIns="0" bIns="0" anchor="t">
            <a:spAutoFit/>
          </a:bodyPr>
          <a:lstStyle/>
          <a:p>
            <a:pPr algn="ctr"/>
            <a:r>
              <a:rPr>
                <a:solidFill>
                  <a:srgbClr val="F8FAFC"/>
                </a:solidFill>
                <a:latin typeface="Inter"/>
              </a:rPr>
              <a:t>•</a:t>
            </a:r>
          </a:p>
        </p:txBody>
      </p:sp>
      <p:sp>
        <p:nvSpPr>
          <p:cNvPr id="12" name="TextBox 11"/>
          <p:cNvSpPr txBox="1"/>
          <p:nvPr/>
        </p:nvSpPr>
        <p:spPr>
          <a:xfrm>
            <a:off x="12597200" y="8002338"/>
            <a:ext cx="1751825" cy="242374"/>
          </a:xfrm>
          <a:prstGeom prst="rect">
            <a:avLst/>
          </a:prstGeom>
          <a:noFill/>
        </p:spPr>
        <p:txBody>
          <a:bodyPr wrap="none" lIns="0" tIns="0" rIns="0" bIns="0" anchor="t">
            <a:spAutoFit/>
          </a:bodyPr>
          <a:lstStyle/>
          <a:p>
            <a:pPr algn="ctr"/>
            <a:r>
              <a:rPr sz="1575">
                <a:solidFill>
                  <a:srgbClr val="94A3B8"/>
                </a:solidFill>
                <a:latin typeface="JetBrains Mono"/>
              </a:rPr>
              <a:t>✓ Monatlich kündbar</a:t>
            </a:r>
          </a:p>
        </p:txBody>
      </p:sp>
      <p:pic>
        <p:nvPicPr>
          <p:cNvPr id="14" name="Grafik 13">
            <a:extLst>
              <a:ext uri="{FF2B5EF4-FFF2-40B4-BE49-F238E27FC236}">
                <a16:creationId xmlns:a16="http://schemas.microsoft.com/office/drawing/2014/main" id="{E5D75EFD-6DA4-E4AA-CD50-B8CF7449C31A}"/>
              </a:ext>
            </a:extLst>
          </p:cNvPr>
          <p:cNvPicPr>
            <a:picLocks noChangeAspect="1"/>
          </p:cNvPicPr>
          <p:nvPr/>
        </p:nvPicPr>
        <p:blipFill>
          <a:blip r:embed="rId2"/>
          <a:stretch>
            <a:fillRect/>
          </a:stretch>
        </p:blipFill>
        <p:spPr>
          <a:xfrm>
            <a:off x="6688184" y="547444"/>
            <a:ext cx="5249022" cy="2360009"/>
          </a:xfrm>
          <a:prstGeom prst="rect">
            <a:avLst/>
          </a:prstGeom>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10447064" y="3387476"/>
            <a:ext cx="6812235" cy="3971925"/>
          </a:xfrm>
          <a:prstGeom prst="roundRect">
            <a:avLst>
              <a:gd name="adj" fmla="val 7194"/>
            </a:avLst>
          </a:prstGeom>
          <a:solidFill>
            <a:srgbClr val="0D35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3" name="Rectangle 2"/>
          <p:cNvSpPr/>
          <p:nvPr/>
        </p:nvSpPr>
        <p:spPr>
          <a:xfrm>
            <a:off x="1028700" y="7301805"/>
            <a:ext cx="1028700" cy="57150"/>
          </a:xfrm>
          <a:prstGeom prst="rect">
            <a:avLst/>
          </a:prstGeom>
          <a:solidFill>
            <a:srgbClr val="1CC5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pic>
        <p:nvPicPr>
          <p:cNvPr id="4" name="Picture 3" descr="image.png"/>
          <p:cNvPicPr>
            <a:picLocks noChangeAspect="1"/>
          </p:cNvPicPr>
          <p:nvPr/>
        </p:nvPicPr>
        <p:blipFill>
          <a:blip r:embed="rId2"/>
          <a:stretch>
            <a:fillRect/>
          </a:stretch>
        </p:blipFill>
        <p:spPr>
          <a:xfrm>
            <a:off x="2157413" y="880020"/>
            <a:ext cx="828675" cy="600075"/>
          </a:xfrm>
          <a:prstGeom prst="rect">
            <a:avLst/>
          </a:prstGeom>
        </p:spPr>
      </p:pic>
      <p:sp>
        <p:nvSpPr>
          <p:cNvPr id="5" name="TextBox 4"/>
          <p:cNvSpPr txBox="1"/>
          <p:nvPr/>
        </p:nvSpPr>
        <p:spPr>
          <a:xfrm>
            <a:off x="11644313" y="1044326"/>
            <a:ext cx="4116576" cy="259751"/>
          </a:xfrm>
          <a:prstGeom prst="rect">
            <a:avLst/>
          </a:prstGeom>
          <a:noFill/>
        </p:spPr>
        <p:txBody>
          <a:bodyPr wrap="none" lIns="0" tIns="0" rIns="0" bIns="0" anchor="t">
            <a:spAutoFit/>
          </a:bodyPr>
          <a:lstStyle/>
          <a:p>
            <a:pPr algn="l"/>
            <a:r>
              <a:rPr sz="1688" b="1">
                <a:solidFill>
                  <a:srgbClr val="94A3B8"/>
                </a:solidFill>
                <a:latin typeface="Plus Jakarta Sans"/>
              </a:rPr>
              <a:t>KUNDEN-PITCH · WEIDNER ANTRIEBSTECHNIK</a:t>
            </a:r>
          </a:p>
        </p:txBody>
      </p:sp>
      <p:sp>
        <p:nvSpPr>
          <p:cNvPr id="6" name="TextBox 5"/>
          <p:cNvSpPr txBox="1"/>
          <p:nvPr/>
        </p:nvSpPr>
        <p:spPr>
          <a:xfrm>
            <a:off x="1028701" y="9186863"/>
            <a:ext cx="3009093" cy="276999"/>
          </a:xfrm>
          <a:prstGeom prst="rect">
            <a:avLst/>
          </a:prstGeom>
          <a:noFill/>
        </p:spPr>
        <p:txBody>
          <a:bodyPr wrap="none" lIns="0" tIns="0" rIns="0" bIns="0" anchor="t">
            <a:spAutoFit/>
          </a:bodyPr>
          <a:lstStyle/>
          <a:p>
            <a:pPr algn="l"/>
            <a:r>
              <a:rPr>
                <a:solidFill>
                  <a:srgbClr val="64748B"/>
                </a:solidFill>
                <a:latin typeface="Plus Jakarta Sans"/>
              </a:rPr>
              <a:t>Für Jens Hartwig, Vertriebsleiter</a:t>
            </a:r>
          </a:p>
        </p:txBody>
      </p:sp>
      <p:sp>
        <p:nvSpPr>
          <p:cNvPr id="7" name="TextBox 6"/>
          <p:cNvSpPr txBox="1"/>
          <p:nvPr/>
        </p:nvSpPr>
        <p:spPr>
          <a:xfrm>
            <a:off x="12887326" y="9186863"/>
            <a:ext cx="3879203" cy="276999"/>
          </a:xfrm>
          <a:prstGeom prst="rect">
            <a:avLst/>
          </a:prstGeom>
          <a:noFill/>
        </p:spPr>
        <p:txBody>
          <a:bodyPr wrap="none" lIns="0" tIns="0" rIns="0" bIns="0" anchor="t">
            <a:spAutoFit/>
          </a:bodyPr>
          <a:lstStyle/>
          <a:p>
            <a:pPr algn="l"/>
            <a:r>
              <a:rPr b="1">
                <a:solidFill>
                  <a:srgbClr val="1CC5B0"/>
                </a:solidFill>
                <a:latin typeface="Plus Jakarta Sans"/>
              </a:rPr>
              <a:t>Inklusive neuer Funktion: LeadPilot Expo</a:t>
            </a:r>
          </a:p>
        </p:txBody>
      </p:sp>
      <p:sp>
        <p:nvSpPr>
          <p:cNvPr id="8" name="TextBox 7"/>
          <p:cNvSpPr txBox="1"/>
          <p:nvPr/>
        </p:nvSpPr>
        <p:spPr>
          <a:xfrm>
            <a:off x="1028700" y="3387923"/>
            <a:ext cx="3675686" cy="276999"/>
          </a:xfrm>
          <a:prstGeom prst="rect">
            <a:avLst/>
          </a:prstGeom>
          <a:noFill/>
        </p:spPr>
        <p:txBody>
          <a:bodyPr wrap="none" lIns="0" tIns="0" rIns="0" bIns="0" anchor="t">
            <a:spAutoFit/>
          </a:bodyPr>
          <a:lstStyle/>
          <a:p>
            <a:pPr algn="l"/>
            <a:r>
              <a:rPr b="1">
                <a:solidFill>
                  <a:srgbClr val="E8631C"/>
                </a:solidFill>
                <a:latin typeface="Plus Jakarta Sans"/>
              </a:rPr>
              <a:t>3 MESSEN · 180 GESPRÄCHE PRO JAHR</a:t>
            </a:r>
          </a:p>
        </p:txBody>
      </p:sp>
      <p:sp>
        <p:nvSpPr>
          <p:cNvPr id="9" name="TextBox 8"/>
          <p:cNvSpPr txBox="1"/>
          <p:nvPr/>
        </p:nvSpPr>
        <p:spPr>
          <a:xfrm>
            <a:off x="1028701" y="3973711"/>
            <a:ext cx="9079181" cy="1744067"/>
          </a:xfrm>
          <a:prstGeom prst="rect">
            <a:avLst/>
          </a:prstGeom>
          <a:noFill/>
        </p:spPr>
        <p:txBody>
          <a:bodyPr wrap="square" lIns="0" tIns="0" rIns="0" bIns="0" anchor="t">
            <a:spAutoFit/>
          </a:bodyPr>
          <a:lstStyle/>
          <a:p>
            <a:pPr>
              <a:lnSpc>
                <a:spcPts val="6804"/>
              </a:lnSpc>
            </a:pPr>
            <a:r>
              <a:rPr sz="6075" b="1">
                <a:solidFill>
                  <a:srgbClr val="FFFFFF"/>
                </a:solidFill>
                <a:latin typeface="Plus Jakarta Sans"/>
              </a:rPr>
              <a:t>Kein Messe-Lead bleibt mehr liegen.</a:t>
            </a:r>
          </a:p>
        </p:txBody>
      </p:sp>
      <p:sp>
        <p:nvSpPr>
          <p:cNvPr id="10" name="TextBox 9"/>
          <p:cNvSpPr txBox="1"/>
          <p:nvPr/>
        </p:nvSpPr>
        <p:spPr>
          <a:xfrm>
            <a:off x="1028701" y="6044505"/>
            <a:ext cx="8646839" cy="761747"/>
          </a:xfrm>
          <a:prstGeom prst="rect">
            <a:avLst/>
          </a:prstGeom>
          <a:noFill/>
        </p:spPr>
        <p:txBody>
          <a:bodyPr wrap="square" lIns="0" tIns="0" rIns="0" bIns="0" anchor="t">
            <a:spAutoFit/>
          </a:bodyPr>
          <a:lstStyle/>
          <a:p>
            <a:pPr algn="l"/>
            <a:r>
              <a:rPr sz="2475">
                <a:solidFill>
                  <a:srgbClr val="CBD5E1"/>
                </a:solidFill>
                <a:latin typeface="Plus Jakarta Sans"/>
              </a:rPr>
              <a:t>Jeder Kontakt erhält sofort seinen nächsten Schritt. Ihr Freitags-Forecast ist um 8 Uhr fertig.</a:t>
            </a:r>
          </a:p>
        </p:txBody>
      </p:sp>
      <p:sp>
        <p:nvSpPr>
          <p:cNvPr id="11" name="TextBox 10"/>
          <p:cNvSpPr txBox="1"/>
          <p:nvPr/>
        </p:nvSpPr>
        <p:spPr>
          <a:xfrm>
            <a:off x="11018564" y="4016126"/>
            <a:ext cx="1841851" cy="1233671"/>
          </a:xfrm>
          <a:prstGeom prst="rect">
            <a:avLst/>
          </a:prstGeom>
          <a:noFill/>
        </p:spPr>
        <p:txBody>
          <a:bodyPr wrap="none" lIns="0" tIns="0" rIns="0" bIns="0" anchor="t">
            <a:spAutoFit/>
          </a:bodyPr>
          <a:lstStyle/>
          <a:p>
            <a:pPr>
              <a:lnSpc>
                <a:spcPts val="9450"/>
              </a:lnSpc>
            </a:pPr>
            <a:r>
              <a:rPr sz="9450" b="1">
                <a:solidFill>
                  <a:srgbClr val="1CC5B0"/>
                </a:solidFill>
                <a:latin typeface="Plus Jakarta Sans"/>
              </a:rPr>
              <a:t>180</a:t>
            </a:r>
          </a:p>
        </p:txBody>
      </p:sp>
      <p:sp>
        <p:nvSpPr>
          <p:cNvPr id="12" name="TextBox 11"/>
          <p:cNvSpPr txBox="1"/>
          <p:nvPr/>
        </p:nvSpPr>
        <p:spPr>
          <a:xfrm>
            <a:off x="11018564" y="5387726"/>
            <a:ext cx="3655231" cy="415498"/>
          </a:xfrm>
          <a:prstGeom prst="rect">
            <a:avLst/>
          </a:prstGeom>
          <a:noFill/>
        </p:spPr>
        <p:txBody>
          <a:bodyPr wrap="none" lIns="0" tIns="0" rIns="0" bIns="0" anchor="t">
            <a:spAutoFit/>
          </a:bodyPr>
          <a:lstStyle/>
          <a:p>
            <a:pPr algn="l"/>
            <a:r>
              <a:rPr sz="2700" b="1">
                <a:solidFill>
                  <a:srgbClr val="FFFFFF"/>
                </a:solidFill>
                <a:latin typeface="Plus Jakarta Sans"/>
              </a:rPr>
              <a:t>Bezahlte Messe-Anfragen</a:t>
            </a:r>
          </a:p>
        </p:txBody>
      </p:sp>
      <p:sp>
        <p:nvSpPr>
          <p:cNvPr id="13" name="TextBox 12"/>
          <p:cNvSpPr txBox="1"/>
          <p:nvPr/>
        </p:nvSpPr>
        <p:spPr>
          <a:xfrm>
            <a:off x="11018564" y="6044951"/>
            <a:ext cx="5812110" cy="658001"/>
          </a:xfrm>
          <a:prstGeom prst="rect">
            <a:avLst/>
          </a:prstGeom>
          <a:noFill/>
        </p:spPr>
        <p:txBody>
          <a:bodyPr wrap="square" lIns="0" tIns="0" rIns="0" bIns="0" anchor="t">
            <a:spAutoFit/>
          </a:bodyPr>
          <a:lstStyle/>
          <a:p>
            <a:pPr algn="l"/>
            <a:r>
              <a:rPr sz="2138">
                <a:solidFill>
                  <a:srgbClr val="94A3B8"/>
                </a:solidFill>
                <a:latin typeface="Plus Jakarta Sans"/>
              </a:rPr>
              <a:t>Wie viele davon hat Ihr Team nach sechs Wochen tatsächlich angerufen?</a:t>
            </a:r>
          </a:p>
        </p:txBody>
      </p:sp>
      <p:sp>
        <p:nvSpPr>
          <p:cNvPr id="14" name="TextBox 13"/>
          <p:cNvSpPr txBox="1"/>
          <p:nvPr/>
        </p:nvSpPr>
        <p:spPr>
          <a:xfrm>
            <a:off x="1028701" y="800101"/>
            <a:ext cx="790281" cy="395173"/>
          </a:xfrm>
          <a:prstGeom prst="rect">
            <a:avLst/>
          </a:prstGeom>
          <a:noFill/>
        </p:spPr>
        <p:txBody>
          <a:bodyPr wrap="none" lIns="0" tIns="0" rIns="0" bIns="0" anchor="t">
            <a:spAutoFit/>
          </a:bodyPr>
          <a:lstStyle/>
          <a:p>
            <a:pPr>
              <a:lnSpc>
                <a:spcPts val="2993"/>
              </a:lnSpc>
            </a:pPr>
            <a:r>
              <a:rPr sz="3150" b="1">
                <a:solidFill>
                  <a:srgbClr val="E8631C"/>
                </a:solidFill>
                <a:latin typeface="Plus Jakarta Sans"/>
              </a:rPr>
              <a:t>Lead</a:t>
            </a:r>
          </a:p>
        </p:txBody>
      </p:sp>
      <p:sp>
        <p:nvSpPr>
          <p:cNvPr id="15" name="TextBox 14"/>
          <p:cNvSpPr txBox="1"/>
          <p:nvPr/>
        </p:nvSpPr>
        <p:spPr>
          <a:xfrm>
            <a:off x="1028701" y="1180058"/>
            <a:ext cx="769441" cy="395173"/>
          </a:xfrm>
          <a:prstGeom prst="rect">
            <a:avLst/>
          </a:prstGeom>
          <a:noFill/>
        </p:spPr>
        <p:txBody>
          <a:bodyPr wrap="none" lIns="0" tIns="0" rIns="0" bIns="0" anchor="t">
            <a:spAutoFit/>
          </a:bodyPr>
          <a:lstStyle/>
          <a:p>
            <a:pPr>
              <a:lnSpc>
                <a:spcPts val="2993"/>
              </a:lnSpc>
            </a:pPr>
            <a:r>
              <a:rPr sz="3150" b="1">
                <a:solidFill>
                  <a:srgbClr val="1CC5B0"/>
                </a:solidFill>
                <a:latin typeface="Plus Jakarta Sans"/>
              </a:rPr>
              <a:t>Pilot</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9738271" y="3270499"/>
            <a:ext cx="7521029" cy="4460378"/>
          </a:xfrm>
          <a:prstGeom prst="roundRect">
            <a:avLst>
              <a:gd name="adj" fmla="val 6406"/>
            </a:avLst>
          </a:prstGeom>
          <a:solidFill>
            <a:srgbClr val="F4F9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pic>
        <p:nvPicPr>
          <p:cNvPr id="3" name="Picture 2" descr="image.png"/>
          <p:cNvPicPr>
            <a:picLocks noChangeAspect="1"/>
          </p:cNvPicPr>
          <p:nvPr/>
        </p:nvPicPr>
        <p:blipFill>
          <a:blip r:embed="rId2"/>
          <a:stretch>
            <a:fillRect/>
          </a:stretch>
        </p:blipFill>
        <p:spPr>
          <a:xfrm>
            <a:off x="1028700" y="1843088"/>
            <a:ext cx="16230600" cy="7315200"/>
          </a:xfrm>
          <a:prstGeom prst="rect">
            <a:avLst/>
          </a:prstGeom>
        </p:spPr>
      </p:pic>
      <p:pic>
        <p:nvPicPr>
          <p:cNvPr id="4" name="Picture 3" descr="image.png"/>
          <p:cNvPicPr>
            <a:picLocks noChangeAspect="1"/>
          </p:cNvPicPr>
          <p:nvPr/>
        </p:nvPicPr>
        <p:blipFill>
          <a:blip r:embed="rId3"/>
          <a:stretch>
            <a:fillRect/>
          </a:stretch>
        </p:blipFill>
        <p:spPr>
          <a:xfrm>
            <a:off x="1028700" y="9194006"/>
            <a:ext cx="257175" cy="257175"/>
          </a:xfrm>
          <a:prstGeom prst="rect">
            <a:avLst/>
          </a:prstGeom>
        </p:spPr>
      </p:pic>
      <p:pic>
        <p:nvPicPr>
          <p:cNvPr id="5" name="Picture 4" descr="image.png"/>
          <p:cNvPicPr>
            <a:picLocks noChangeAspect="1"/>
          </p:cNvPicPr>
          <p:nvPr/>
        </p:nvPicPr>
        <p:blipFill>
          <a:blip r:embed="rId4"/>
          <a:stretch>
            <a:fillRect/>
          </a:stretch>
        </p:blipFill>
        <p:spPr>
          <a:xfrm>
            <a:off x="10309771" y="3899148"/>
            <a:ext cx="6378029" cy="457200"/>
          </a:xfrm>
          <a:prstGeom prst="rect">
            <a:avLst/>
          </a:prstGeom>
        </p:spPr>
      </p:pic>
      <p:sp>
        <p:nvSpPr>
          <p:cNvPr id="6" name="TextBox 5"/>
          <p:cNvSpPr txBox="1"/>
          <p:nvPr/>
        </p:nvSpPr>
        <p:spPr>
          <a:xfrm>
            <a:off x="1457326" y="9158288"/>
            <a:ext cx="9278759" cy="311624"/>
          </a:xfrm>
          <a:prstGeom prst="rect">
            <a:avLst/>
          </a:prstGeom>
          <a:noFill/>
        </p:spPr>
        <p:txBody>
          <a:bodyPr wrap="none" lIns="0" tIns="0" rIns="0" bIns="0" anchor="t">
            <a:spAutoFit/>
          </a:bodyPr>
          <a:lstStyle/>
          <a:p>
            <a:pPr algn="l"/>
            <a:r>
              <a:rPr sz="2025" b="1">
                <a:solidFill>
                  <a:srgbClr val="334155"/>
                </a:solidFill>
                <a:latin typeface="Plus Jakarta Sans"/>
              </a:rPr>
              <a:t>Die Messe füllt den Eimer – durch die Excel-Liste läuft unten ein Drittel wieder heraus.</a:t>
            </a:r>
          </a:p>
        </p:txBody>
      </p:sp>
      <p:sp>
        <p:nvSpPr>
          <p:cNvPr id="7" name="TextBox 6"/>
          <p:cNvSpPr txBox="1"/>
          <p:nvPr/>
        </p:nvSpPr>
        <p:spPr>
          <a:xfrm>
            <a:off x="1028701" y="800100"/>
            <a:ext cx="2582887" cy="242374"/>
          </a:xfrm>
          <a:prstGeom prst="rect">
            <a:avLst/>
          </a:prstGeom>
          <a:noFill/>
        </p:spPr>
        <p:txBody>
          <a:bodyPr wrap="none" lIns="0" tIns="0" rIns="0" bIns="0" anchor="t">
            <a:spAutoFit/>
          </a:bodyPr>
          <a:lstStyle/>
          <a:p>
            <a:pPr algn="l"/>
            <a:r>
              <a:rPr sz="1575" b="1">
                <a:solidFill>
                  <a:srgbClr val="E8631C"/>
                </a:solidFill>
                <a:latin typeface="Plus Jakarta Sans"/>
              </a:rPr>
              <a:t>STATUS QUO NACH DER MESSE</a:t>
            </a:r>
          </a:p>
        </p:txBody>
      </p:sp>
      <p:sp>
        <p:nvSpPr>
          <p:cNvPr id="8" name="TextBox 7"/>
          <p:cNvSpPr txBox="1"/>
          <p:nvPr/>
        </p:nvSpPr>
        <p:spPr>
          <a:xfrm>
            <a:off x="1028700" y="1171575"/>
            <a:ext cx="7446526" cy="657872"/>
          </a:xfrm>
          <a:prstGeom prst="rect">
            <a:avLst/>
          </a:prstGeom>
          <a:noFill/>
        </p:spPr>
        <p:txBody>
          <a:bodyPr wrap="none" lIns="0" tIns="0" rIns="0" bIns="0" anchor="t">
            <a:spAutoFit/>
          </a:bodyPr>
          <a:lstStyle/>
          <a:p>
            <a:pPr algn="l"/>
            <a:r>
              <a:rPr sz="4275" b="1">
                <a:solidFill>
                  <a:srgbClr val="082622"/>
                </a:solidFill>
                <a:latin typeface="Plus Jakarta Sans"/>
              </a:rPr>
              <a:t>Ein Drittel Ihrer Leads versandet.</a:t>
            </a:r>
          </a:p>
        </p:txBody>
      </p:sp>
      <p:sp>
        <p:nvSpPr>
          <p:cNvPr id="9" name="TextBox 8"/>
          <p:cNvSpPr txBox="1"/>
          <p:nvPr/>
        </p:nvSpPr>
        <p:spPr>
          <a:xfrm>
            <a:off x="15859126" y="800101"/>
            <a:ext cx="565861" cy="346249"/>
          </a:xfrm>
          <a:prstGeom prst="rect">
            <a:avLst/>
          </a:prstGeom>
          <a:noFill/>
        </p:spPr>
        <p:txBody>
          <a:bodyPr wrap="none" lIns="0" tIns="0" rIns="0" bIns="0" anchor="t">
            <a:spAutoFit/>
          </a:bodyPr>
          <a:lstStyle/>
          <a:p>
            <a:pPr algn="l"/>
            <a:r>
              <a:rPr sz="2250" b="1">
                <a:solidFill>
                  <a:srgbClr val="E8631C"/>
                </a:solidFill>
                <a:latin typeface="Plus Jakarta Sans"/>
              </a:rPr>
              <a:t>Lead</a:t>
            </a:r>
          </a:p>
        </p:txBody>
      </p:sp>
      <p:sp>
        <p:nvSpPr>
          <p:cNvPr id="10" name="TextBox 9"/>
          <p:cNvSpPr txBox="1"/>
          <p:nvPr/>
        </p:nvSpPr>
        <p:spPr>
          <a:xfrm>
            <a:off x="16630651" y="800101"/>
            <a:ext cx="549831" cy="346249"/>
          </a:xfrm>
          <a:prstGeom prst="rect">
            <a:avLst/>
          </a:prstGeom>
          <a:noFill/>
        </p:spPr>
        <p:txBody>
          <a:bodyPr wrap="none" lIns="0" tIns="0" rIns="0" bIns="0" anchor="t">
            <a:spAutoFit/>
          </a:bodyPr>
          <a:lstStyle/>
          <a:p>
            <a:pPr algn="l"/>
            <a:r>
              <a:rPr sz="2250" b="1">
                <a:solidFill>
                  <a:srgbClr val="0F172A"/>
                </a:solidFill>
                <a:latin typeface="Plus Jakarta Sans"/>
              </a:rPr>
              <a:t>Pilot</a:t>
            </a:r>
          </a:p>
        </p:txBody>
      </p:sp>
      <p:sp>
        <p:nvSpPr>
          <p:cNvPr id="11" name="TextBox 10"/>
          <p:cNvSpPr txBox="1"/>
          <p:nvPr/>
        </p:nvSpPr>
        <p:spPr>
          <a:xfrm>
            <a:off x="10309771" y="4699249"/>
            <a:ext cx="6520904" cy="1318118"/>
          </a:xfrm>
          <a:prstGeom prst="rect">
            <a:avLst/>
          </a:prstGeom>
          <a:noFill/>
        </p:spPr>
        <p:txBody>
          <a:bodyPr wrap="square" lIns="0" tIns="0" rIns="0" bIns="0" anchor="t">
            <a:spAutoFit/>
          </a:bodyPr>
          <a:lstStyle/>
          <a:p>
            <a:pPr>
              <a:lnSpc>
                <a:spcPts val="3465"/>
              </a:lnSpc>
            </a:pPr>
            <a:r>
              <a:rPr sz="2475" b="1">
                <a:solidFill>
                  <a:srgbClr val="082622"/>
                </a:solidFill>
                <a:latin typeface="Plus Jakarta Sans"/>
              </a:rPr>
              <a:t>„Leads haben wir genug. Mein Problem ist, dass ich erst sechs Wochen nach der Messe merke, welche keiner angerufen hat.“</a:t>
            </a:r>
          </a:p>
        </p:txBody>
      </p:sp>
      <p:sp>
        <p:nvSpPr>
          <p:cNvPr id="12" name="TextBox 11"/>
          <p:cNvSpPr txBox="1"/>
          <p:nvPr/>
        </p:nvSpPr>
        <p:spPr>
          <a:xfrm>
            <a:off x="10309770" y="6802189"/>
            <a:ext cx="4368312" cy="276999"/>
          </a:xfrm>
          <a:prstGeom prst="rect">
            <a:avLst/>
          </a:prstGeom>
          <a:noFill/>
        </p:spPr>
        <p:txBody>
          <a:bodyPr wrap="none" lIns="0" tIns="0" rIns="0" bIns="0" anchor="t">
            <a:spAutoFit/>
          </a:bodyPr>
          <a:lstStyle/>
          <a:p>
            <a:pPr algn="l"/>
            <a:r>
              <a:rPr b="1">
                <a:solidFill>
                  <a:srgbClr val="475569"/>
                </a:solidFill>
                <a:latin typeface="Plus Jakarta Sans"/>
              </a:rPr>
              <a:t>JENS HARTWIG · WEIDNER ANTRIEBSTECHNIK</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1028700" y="3364706"/>
            <a:ext cx="7772400" cy="4271963"/>
          </a:xfrm>
          <a:prstGeom prst="roundRect">
            <a:avLst>
              <a:gd name="adj" fmla="val 6688"/>
            </a:avLst>
          </a:prstGeom>
          <a:solidFill>
            <a:srgbClr val="F4F9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3" name="Rounded Rectangle 2"/>
          <p:cNvSpPr/>
          <p:nvPr/>
        </p:nvSpPr>
        <p:spPr>
          <a:xfrm>
            <a:off x="9486900" y="3364706"/>
            <a:ext cx="7772400" cy="4271963"/>
          </a:xfrm>
          <a:prstGeom prst="roundRect">
            <a:avLst>
              <a:gd name="adj" fmla="val 6688"/>
            </a:avLst>
          </a:prstGeom>
          <a:solidFill>
            <a:srgbClr val="F4F9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pic>
        <p:nvPicPr>
          <p:cNvPr id="4" name="Picture 3" descr="image.png"/>
          <p:cNvPicPr>
            <a:picLocks noChangeAspect="1"/>
          </p:cNvPicPr>
          <p:nvPr/>
        </p:nvPicPr>
        <p:blipFill>
          <a:blip r:embed="rId2"/>
          <a:stretch>
            <a:fillRect/>
          </a:stretch>
        </p:blipFill>
        <p:spPr>
          <a:xfrm>
            <a:off x="1028700" y="9194006"/>
            <a:ext cx="257175" cy="257175"/>
          </a:xfrm>
          <a:prstGeom prst="rect">
            <a:avLst/>
          </a:prstGeom>
        </p:spPr>
      </p:pic>
      <p:sp>
        <p:nvSpPr>
          <p:cNvPr id="5" name="TextBox 4"/>
          <p:cNvSpPr txBox="1"/>
          <p:nvPr/>
        </p:nvSpPr>
        <p:spPr>
          <a:xfrm>
            <a:off x="1457325" y="9158288"/>
            <a:ext cx="10023706" cy="311624"/>
          </a:xfrm>
          <a:prstGeom prst="rect">
            <a:avLst/>
          </a:prstGeom>
          <a:noFill/>
        </p:spPr>
        <p:txBody>
          <a:bodyPr wrap="none" lIns="0" tIns="0" rIns="0" bIns="0" anchor="t">
            <a:spAutoFit/>
          </a:bodyPr>
          <a:lstStyle/>
          <a:p>
            <a:pPr algn="l"/>
            <a:r>
              <a:rPr sz="2025" b="1">
                <a:solidFill>
                  <a:srgbClr val="334155"/>
                </a:solidFill>
                <a:latin typeface="Plus Jakarta Sans"/>
              </a:rPr>
              <a:t>Nach der Erfahrung mit Salesforce 2023 braucht Ihr Team ein Werkzeug ohne 30 Pflichtfelder.</a:t>
            </a:r>
          </a:p>
        </p:txBody>
      </p:sp>
      <p:sp>
        <p:nvSpPr>
          <p:cNvPr id="6" name="TextBox 5"/>
          <p:cNvSpPr txBox="1"/>
          <p:nvPr/>
        </p:nvSpPr>
        <p:spPr>
          <a:xfrm>
            <a:off x="1028701" y="800100"/>
            <a:ext cx="2554097" cy="242374"/>
          </a:xfrm>
          <a:prstGeom prst="rect">
            <a:avLst/>
          </a:prstGeom>
          <a:noFill/>
        </p:spPr>
        <p:txBody>
          <a:bodyPr wrap="none" lIns="0" tIns="0" rIns="0" bIns="0" anchor="t">
            <a:spAutoFit/>
          </a:bodyPr>
          <a:lstStyle/>
          <a:p>
            <a:pPr algn="l"/>
            <a:r>
              <a:rPr sz="1575" b="1">
                <a:solidFill>
                  <a:srgbClr val="E8631C"/>
                </a:solidFill>
                <a:latin typeface="Plus Jakarta Sans"/>
              </a:rPr>
              <a:t>WAS DER STATUS QUO KOSTET</a:t>
            </a:r>
          </a:p>
        </p:txBody>
      </p:sp>
      <p:sp>
        <p:nvSpPr>
          <p:cNvPr id="7" name="TextBox 6"/>
          <p:cNvSpPr txBox="1"/>
          <p:nvPr/>
        </p:nvSpPr>
        <p:spPr>
          <a:xfrm>
            <a:off x="1028700" y="1171575"/>
            <a:ext cx="9550948" cy="657872"/>
          </a:xfrm>
          <a:prstGeom prst="rect">
            <a:avLst/>
          </a:prstGeom>
          <a:noFill/>
        </p:spPr>
        <p:txBody>
          <a:bodyPr wrap="none" lIns="0" tIns="0" rIns="0" bIns="0" anchor="t">
            <a:spAutoFit/>
          </a:bodyPr>
          <a:lstStyle/>
          <a:p>
            <a:pPr algn="l"/>
            <a:r>
              <a:rPr sz="4275" b="1">
                <a:solidFill>
                  <a:srgbClr val="082622"/>
                </a:solidFill>
                <a:latin typeface="Plus Jakarta Sans"/>
              </a:rPr>
              <a:t>150.000 € Umsatz gehen jährlich verloren.</a:t>
            </a:r>
          </a:p>
        </p:txBody>
      </p:sp>
      <p:sp>
        <p:nvSpPr>
          <p:cNvPr id="8" name="TextBox 7"/>
          <p:cNvSpPr txBox="1"/>
          <p:nvPr/>
        </p:nvSpPr>
        <p:spPr>
          <a:xfrm>
            <a:off x="15859126" y="800101"/>
            <a:ext cx="565861" cy="346249"/>
          </a:xfrm>
          <a:prstGeom prst="rect">
            <a:avLst/>
          </a:prstGeom>
          <a:noFill/>
        </p:spPr>
        <p:txBody>
          <a:bodyPr wrap="none" lIns="0" tIns="0" rIns="0" bIns="0" anchor="t">
            <a:spAutoFit/>
          </a:bodyPr>
          <a:lstStyle/>
          <a:p>
            <a:pPr algn="l"/>
            <a:r>
              <a:rPr sz="2250" b="1">
                <a:solidFill>
                  <a:srgbClr val="E8631C"/>
                </a:solidFill>
                <a:latin typeface="Plus Jakarta Sans"/>
              </a:rPr>
              <a:t>Lead</a:t>
            </a:r>
          </a:p>
        </p:txBody>
      </p:sp>
      <p:sp>
        <p:nvSpPr>
          <p:cNvPr id="9" name="TextBox 8"/>
          <p:cNvSpPr txBox="1"/>
          <p:nvPr/>
        </p:nvSpPr>
        <p:spPr>
          <a:xfrm>
            <a:off x="16630651" y="800101"/>
            <a:ext cx="549831" cy="346249"/>
          </a:xfrm>
          <a:prstGeom prst="rect">
            <a:avLst/>
          </a:prstGeom>
          <a:noFill/>
        </p:spPr>
        <p:txBody>
          <a:bodyPr wrap="none" lIns="0" tIns="0" rIns="0" bIns="0" anchor="t">
            <a:spAutoFit/>
          </a:bodyPr>
          <a:lstStyle/>
          <a:p>
            <a:pPr algn="l"/>
            <a:r>
              <a:rPr sz="2250" b="1">
                <a:solidFill>
                  <a:srgbClr val="0F172A"/>
                </a:solidFill>
                <a:latin typeface="Plus Jakarta Sans"/>
              </a:rPr>
              <a:t>Pilot</a:t>
            </a:r>
          </a:p>
        </p:txBody>
      </p:sp>
      <p:sp>
        <p:nvSpPr>
          <p:cNvPr id="10" name="TextBox 9"/>
          <p:cNvSpPr txBox="1"/>
          <p:nvPr/>
        </p:nvSpPr>
        <p:spPr>
          <a:xfrm>
            <a:off x="1657350" y="4050506"/>
            <a:ext cx="2702663" cy="276999"/>
          </a:xfrm>
          <a:prstGeom prst="rect">
            <a:avLst/>
          </a:prstGeom>
          <a:noFill/>
        </p:spPr>
        <p:txBody>
          <a:bodyPr wrap="none" lIns="0" tIns="0" rIns="0" bIns="0" anchor="t">
            <a:spAutoFit/>
          </a:bodyPr>
          <a:lstStyle/>
          <a:p>
            <a:pPr algn="l"/>
            <a:r>
              <a:rPr b="1">
                <a:solidFill>
                  <a:srgbClr val="E8631C"/>
                </a:solidFill>
                <a:latin typeface="Plus Jakarta Sans"/>
              </a:rPr>
              <a:t>VERLORENES NEUGESCHÄFT</a:t>
            </a:r>
          </a:p>
        </p:txBody>
      </p:sp>
      <p:sp>
        <p:nvSpPr>
          <p:cNvPr id="11" name="TextBox 10"/>
          <p:cNvSpPr txBox="1"/>
          <p:nvPr/>
        </p:nvSpPr>
        <p:spPr>
          <a:xfrm>
            <a:off x="1657351" y="4579144"/>
            <a:ext cx="4895571" cy="1233671"/>
          </a:xfrm>
          <a:prstGeom prst="rect">
            <a:avLst/>
          </a:prstGeom>
          <a:noFill/>
        </p:spPr>
        <p:txBody>
          <a:bodyPr wrap="none" lIns="0" tIns="0" rIns="0" bIns="0" anchor="t">
            <a:spAutoFit/>
          </a:bodyPr>
          <a:lstStyle/>
          <a:p>
            <a:pPr>
              <a:lnSpc>
                <a:spcPts val="9450"/>
              </a:lnSpc>
            </a:pPr>
            <a:r>
              <a:rPr sz="9450" b="1">
                <a:solidFill>
                  <a:srgbClr val="E8631C"/>
                </a:solidFill>
                <a:latin typeface="Plus Jakarta Sans"/>
              </a:rPr>
              <a:t>150.000 €</a:t>
            </a:r>
          </a:p>
        </p:txBody>
      </p:sp>
      <p:sp>
        <p:nvSpPr>
          <p:cNvPr id="12" name="TextBox 11"/>
          <p:cNvSpPr txBox="1"/>
          <p:nvPr/>
        </p:nvSpPr>
        <p:spPr>
          <a:xfrm>
            <a:off x="1657350" y="6065043"/>
            <a:ext cx="4268028" cy="415498"/>
          </a:xfrm>
          <a:prstGeom prst="rect">
            <a:avLst/>
          </a:prstGeom>
          <a:noFill/>
        </p:spPr>
        <p:txBody>
          <a:bodyPr wrap="none" lIns="0" tIns="0" rIns="0" bIns="0" anchor="t">
            <a:spAutoFit/>
          </a:bodyPr>
          <a:lstStyle/>
          <a:p>
            <a:pPr algn="l"/>
            <a:r>
              <a:rPr sz="2700" b="1">
                <a:solidFill>
                  <a:srgbClr val="082622"/>
                </a:solidFill>
                <a:latin typeface="Plus Jakarta Sans"/>
              </a:rPr>
              <a:t>Erstumsatz beim Wettbewerb</a:t>
            </a:r>
          </a:p>
        </p:txBody>
      </p:sp>
      <p:sp>
        <p:nvSpPr>
          <p:cNvPr id="13" name="TextBox 12"/>
          <p:cNvSpPr txBox="1"/>
          <p:nvPr/>
        </p:nvSpPr>
        <p:spPr>
          <a:xfrm>
            <a:off x="1657351" y="6607969"/>
            <a:ext cx="5193281" cy="329001"/>
          </a:xfrm>
          <a:prstGeom prst="rect">
            <a:avLst/>
          </a:prstGeom>
          <a:noFill/>
        </p:spPr>
        <p:txBody>
          <a:bodyPr wrap="none" lIns="0" tIns="0" rIns="0" bIns="0" anchor="t">
            <a:spAutoFit/>
          </a:bodyPr>
          <a:lstStyle/>
          <a:p>
            <a:pPr algn="l"/>
            <a:r>
              <a:rPr sz="2138">
                <a:solidFill>
                  <a:srgbClr val="475569"/>
                </a:solidFill>
                <a:latin typeface="Plus Jakarta Sans"/>
              </a:rPr>
              <a:t>Zwei verlorene Aufträge à 25.000 € pro Messe.</a:t>
            </a:r>
          </a:p>
        </p:txBody>
      </p:sp>
      <p:sp>
        <p:nvSpPr>
          <p:cNvPr id="14" name="TextBox 13"/>
          <p:cNvSpPr txBox="1"/>
          <p:nvPr/>
        </p:nvSpPr>
        <p:spPr>
          <a:xfrm>
            <a:off x="10115551" y="4050506"/>
            <a:ext cx="2616229" cy="276999"/>
          </a:xfrm>
          <a:prstGeom prst="rect">
            <a:avLst/>
          </a:prstGeom>
          <a:noFill/>
        </p:spPr>
        <p:txBody>
          <a:bodyPr wrap="none" lIns="0" tIns="0" rIns="0" bIns="0" anchor="t">
            <a:spAutoFit/>
          </a:bodyPr>
          <a:lstStyle/>
          <a:p>
            <a:pPr algn="l"/>
            <a:r>
              <a:rPr b="1">
                <a:solidFill>
                  <a:srgbClr val="0D9488"/>
                </a:solidFill>
                <a:latin typeface="Plus Jakarta Sans"/>
              </a:rPr>
              <a:t>VERLORENE VERTRIEBSZEIT</a:t>
            </a:r>
          </a:p>
        </p:txBody>
      </p:sp>
      <p:sp>
        <p:nvSpPr>
          <p:cNvPr id="15" name="TextBox 14"/>
          <p:cNvSpPr txBox="1"/>
          <p:nvPr/>
        </p:nvSpPr>
        <p:spPr>
          <a:xfrm>
            <a:off x="10115551" y="4579144"/>
            <a:ext cx="2841355" cy="1233671"/>
          </a:xfrm>
          <a:prstGeom prst="rect">
            <a:avLst/>
          </a:prstGeom>
          <a:noFill/>
        </p:spPr>
        <p:txBody>
          <a:bodyPr wrap="none" lIns="0" tIns="0" rIns="0" bIns="0" anchor="t">
            <a:spAutoFit/>
          </a:bodyPr>
          <a:lstStyle/>
          <a:p>
            <a:pPr>
              <a:lnSpc>
                <a:spcPts val="9450"/>
              </a:lnSpc>
            </a:pPr>
            <a:r>
              <a:rPr sz="9450" b="1">
                <a:solidFill>
                  <a:srgbClr val="082622"/>
                </a:solidFill>
                <a:latin typeface="Plus Jakarta Sans"/>
              </a:rPr>
              <a:t>3 Std.</a:t>
            </a:r>
          </a:p>
        </p:txBody>
      </p:sp>
      <p:sp>
        <p:nvSpPr>
          <p:cNvPr id="16" name="TextBox 15"/>
          <p:cNvSpPr txBox="1"/>
          <p:nvPr/>
        </p:nvSpPr>
        <p:spPr>
          <a:xfrm>
            <a:off x="10115551" y="6065043"/>
            <a:ext cx="4003725" cy="415498"/>
          </a:xfrm>
          <a:prstGeom prst="rect">
            <a:avLst/>
          </a:prstGeom>
          <a:noFill/>
        </p:spPr>
        <p:txBody>
          <a:bodyPr wrap="none" lIns="0" tIns="0" rIns="0" bIns="0" anchor="t">
            <a:spAutoFit/>
          </a:bodyPr>
          <a:lstStyle/>
          <a:p>
            <a:pPr algn="l"/>
            <a:r>
              <a:rPr sz="2700" b="1">
                <a:solidFill>
                  <a:srgbClr val="082622"/>
                </a:solidFill>
                <a:latin typeface="Plus Jakarta Sans"/>
              </a:rPr>
              <a:t>Manueller Freitags-Forecast</a:t>
            </a:r>
          </a:p>
        </p:txBody>
      </p:sp>
      <p:sp>
        <p:nvSpPr>
          <p:cNvPr id="17" name="TextBox 16"/>
          <p:cNvSpPr txBox="1"/>
          <p:nvPr/>
        </p:nvSpPr>
        <p:spPr>
          <a:xfrm>
            <a:off x="10115550" y="6607969"/>
            <a:ext cx="5320944" cy="329001"/>
          </a:xfrm>
          <a:prstGeom prst="rect">
            <a:avLst/>
          </a:prstGeom>
          <a:noFill/>
        </p:spPr>
        <p:txBody>
          <a:bodyPr wrap="none" lIns="0" tIns="0" rIns="0" bIns="0" anchor="t">
            <a:spAutoFit/>
          </a:bodyPr>
          <a:lstStyle/>
          <a:p>
            <a:pPr algn="l"/>
            <a:r>
              <a:rPr sz="2138">
                <a:solidFill>
                  <a:srgbClr val="475569"/>
                </a:solidFill>
                <a:latin typeface="Plus Jakarta Sans"/>
              </a:rPr>
              <a:t>Trotzdem bleibt die Hälfte der Zahlen geschätzt.</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1028700" y="8643938"/>
            <a:ext cx="16230600" cy="842963"/>
          </a:xfrm>
          <a:prstGeom prst="roundRect">
            <a:avLst>
              <a:gd name="adj" fmla="val 20338"/>
            </a:avLst>
          </a:prstGeom>
          <a:solidFill>
            <a:srgbClr val="F4F9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3" name="Rounded Rectangle 2"/>
          <p:cNvSpPr/>
          <p:nvPr/>
        </p:nvSpPr>
        <p:spPr>
          <a:xfrm>
            <a:off x="1028700" y="3614738"/>
            <a:ext cx="3800475" cy="3257550"/>
          </a:xfrm>
          <a:prstGeom prst="roundRect">
            <a:avLst>
              <a:gd name="adj" fmla="val 7017"/>
            </a:avLst>
          </a:prstGeom>
          <a:solidFill>
            <a:srgbClr val="F4F9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4" name="Rounded Rectangle 3"/>
          <p:cNvSpPr/>
          <p:nvPr/>
        </p:nvSpPr>
        <p:spPr>
          <a:xfrm>
            <a:off x="5172075" y="3614738"/>
            <a:ext cx="3800475" cy="3257550"/>
          </a:xfrm>
          <a:prstGeom prst="roundRect">
            <a:avLst>
              <a:gd name="adj" fmla="val 7017"/>
            </a:avLst>
          </a:prstGeom>
          <a:solidFill>
            <a:srgbClr val="F4F9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 name="Rounded Rectangle 4"/>
          <p:cNvSpPr/>
          <p:nvPr/>
        </p:nvSpPr>
        <p:spPr>
          <a:xfrm>
            <a:off x="9315450" y="3614738"/>
            <a:ext cx="3800475" cy="3257550"/>
          </a:xfrm>
          <a:prstGeom prst="roundRect">
            <a:avLst>
              <a:gd name="adj" fmla="val 7017"/>
            </a:avLst>
          </a:prstGeom>
          <a:solidFill>
            <a:srgbClr val="F4F9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6" name="Rounded Rectangle 5"/>
          <p:cNvSpPr/>
          <p:nvPr/>
        </p:nvSpPr>
        <p:spPr>
          <a:xfrm>
            <a:off x="13458825" y="3614738"/>
            <a:ext cx="3800475" cy="3257550"/>
          </a:xfrm>
          <a:prstGeom prst="roundRect">
            <a:avLst>
              <a:gd name="adj" fmla="val 7017"/>
            </a:avLst>
          </a:prstGeom>
          <a:solidFill>
            <a:srgbClr val="F4F9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pic>
        <p:nvPicPr>
          <p:cNvPr id="7" name="Picture 6" descr="image.png"/>
          <p:cNvPicPr>
            <a:picLocks noChangeAspect="1"/>
          </p:cNvPicPr>
          <p:nvPr/>
        </p:nvPicPr>
        <p:blipFill>
          <a:blip r:embed="rId2"/>
          <a:stretch>
            <a:fillRect/>
          </a:stretch>
        </p:blipFill>
        <p:spPr>
          <a:xfrm>
            <a:off x="4100513" y="4186238"/>
            <a:ext cx="385763" cy="342900"/>
          </a:xfrm>
          <a:prstGeom prst="rect">
            <a:avLst/>
          </a:prstGeom>
        </p:spPr>
      </p:pic>
      <p:pic>
        <p:nvPicPr>
          <p:cNvPr id="8" name="Picture 7" descr="image.png"/>
          <p:cNvPicPr>
            <a:picLocks noChangeAspect="1"/>
          </p:cNvPicPr>
          <p:nvPr/>
        </p:nvPicPr>
        <p:blipFill>
          <a:blip r:embed="rId3"/>
          <a:stretch>
            <a:fillRect/>
          </a:stretch>
        </p:blipFill>
        <p:spPr>
          <a:xfrm>
            <a:off x="8286750" y="4186238"/>
            <a:ext cx="342900" cy="342900"/>
          </a:xfrm>
          <a:prstGeom prst="rect">
            <a:avLst/>
          </a:prstGeom>
        </p:spPr>
      </p:pic>
      <p:pic>
        <p:nvPicPr>
          <p:cNvPr id="9" name="Picture 8" descr="image.png"/>
          <p:cNvPicPr>
            <a:picLocks noChangeAspect="1"/>
          </p:cNvPicPr>
          <p:nvPr/>
        </p:nvPicPr>
        <p:blipFill>
          <a:blip r:embed="rId4"/>
          <a:stretch>
            <a:fillRect/>
          </a:stretch>
        </p:blipFill>
        <p:spPr>
          <a:xfrm>
            <a:off x="12430125" y="4186238"/>
            <a:ext cx="342900" cy="342900"/>
          </a:xfrm>
          <a:prstGeom prst="rect">
            <a:avLst/>
          </a:prstGeom>
        </p:spPr>
      </p:pic>
      <p:pic>
        <p:nvPicPr>
          <p:cNvPr id="10" name="Picture 9" descr="image.png"/>
          <p:cNvPicPr>
            <a:picLocks noChangeAspect="1"/>
          </p:cNvPicPr>
          <p:nvPr/>
        </p:nvPicPr>
        <p:blipFill>
          <a:blip r:embed="rId5"/>
          <a:stretch>
            <a:fillRect/>
          </a:stretch>
        </p:blipFill>
        <p:spPr>
          <a:xfrm>
            <a:off x="16573500" y="4186238"/>
            <a:ext cx="342900" cy="342900"/>
          </a:xfrm>
          <a:prstGeom prst="rect">
            <a:avLst/>
          </a:prstGeom>
        </p:spPr>
      </p:pic>
      <p:sp>
        <p:nvSpPr>
          <p:cNvPr id="11" name="TextBox 10"/>
          <p:cNvSpPr txBox="1"/>
          <p:nvPr/>
        </p:nvSpPr>
        <p:spPr>
          <a:xfrm>
            <a:off x="1428750" y="8901113"/>
            <a:ext cx="10652468" cy="311624"/>
          </a:xfrm>
          <a:prstGeom prst="rect">
            <a:avLst/>
          </a:prstGeom>
          <a:noFill/>
        </p:spPr>
        <p:txBody>
          <a:bodyPr wrap="none" lIns="0" tIns="0" rIns="0" bIns="0" anchor="t">
            <a:spAutoFit/>
          </a:bodyPr>
          <a:lstStyle/>
          <a:p>
            <a:pPr algn="l"/>
            <a:r>
              <a:rPr sz="2025" b="1">
                <a:solidFill>
                  <a:srgbClr val="082622"/>
                </a:solidFill>
                <a:latin typeface="Plus Jakarta Sans"/>
              </a:rPr>
              <a:t>LeadPilot Expo ist kein zweites Produkt – sondern als neue CRM-Funktion ohne Aufpreis enthalten.</a:t>
            </a:r>
          </a:p>
        </p:txBody>
      </p:sp>
      <p:sp>
        <p:nvSpPr>
          <p:cNvPr id="12" name="TextBox 11"/>
          <p:cNvSpPr txBox="1"/>
          <p:nvPr/>
        </p:nvSpPr>
        <p:spPr>
          <a:xfrm>
            <a:off x="14744701" y="8915401"/>
            <a:ext cx="1744195" cy="276999"/>
          </a:xfrm>
          <a:prstGeom prst="rect">
            <a:avLst/>
          </a:prstGeom>
          <a:noFill/>
        </p:spPr>
        <p:txBody>
          <a:bodyPr wrap="none" lIns="0" tIns="0" rIns="0" bIns="0" anchor="t">
            <a:spAutoFit/>
          </a:bodyPr>
          <a:lstStyle/>
          <a:p>
            <a:pPr algn="l"/>
            <a:r>
              <a:rPr b="1">
                <a:solidFill>
                  <a:srgbClr val="0D9488"/>
                </a:solidFill>
                <a:latin typeface="Plus Jakarta Sans"/>
              </a:rPr>
              <a:t>ROLLOUT Q4 2026</a:t>
            </a:r>
          </a:p>
        </p:txBody>
      </p:sp>
      <p:sp>
        <p:nvSpPr>
          <p:cNvPr id="13" name="TextBox 12"/>
          <p:cNvSpPr txBox="1"/>
          <p:nvPr/>
        </p:nvSpPr>
        <p:spPr>
          <a:xfrm>
            <a:off x="1028700" y="800100"/>
            <a:ext cx="4103688" cy="242374"/>
          </a:xfrm>
          <a:prstGeom prst="rect">
            <a:avLst/>
          </a:prstGeom>
          <a:noFill/>
        </p:spPr>
        <p:txBody>
          <a:bodyPr wrap="none" lIns="0" tIns="0" rIns="0" bIns="0" anchor="t">
            <a:spAutoFit/>
          </a:bodyPr>
          <a:lstStyle/>
          <a:p>
            <a:pPr algn="l"/>
            <a:r>
              <a:rPr sz="1575" b="1">
                <a:solidFill>
                  <a:srgbClr val="0D9488"/>
                </a:solidFill>
                <a:latin typeface="Plus Jakarta Sans"/>
              </a:rPr>
              <a:t>DIE LÖSUNG · LEADPILOT CRM + FUNKTION EXPO</a:t>
            </a:r>
          </a:p>
        </p:txBody>
      </p:sp>
      <p:sp>
        <p:nvSpPr>
          <p:cNvPr id="14" name="TextBox 13"/>
          <p:cNvSpPr txBox="1"/>
          <p:nvPr/>
        </p:nvSpPr>
        <p:spPr>
          <a:xfrm>
            <a:off x="1028700" y="1171575"/>
            <a:ext cx="7475508" cy="657872"/>
          </a:xfrm>
          <a:prstGeom prst="rect">
            <a:avLst/>
          </a:prstGeom>
          <a:noFill/>
        </p:spPr>
        <p:txBody>
          <a:bodyPr wrap="none" lIns="0" tIns="0" rIns="0" bIns="0" anchor="t">
            <a:spAutoFit/>
          </a:bodyPr>
          <a:lstStyle/>
          <a:p>
            <a:pPr algn="l"/>
            <a:r>
              <a:rPr sz="4275" b="1">
                <a:solidFill>
                  <a:srgbClr val="082622"/>
                </a:solidFill>
                <a:latin typeface="Plus Jakarta Sans"/>
              </a:rPr>
              <a:t>Vom Messestand direkt ins CRM.</a:t>
            </a:r>
          </a:p>
        </p:txBody>
      </p:sp>
      <p:sp>
        <p:nvSpPr>
          <p:cNvPr id="15" name="TextBox 14"/>
          <p:cNvSpPr txBox="1"/>
          <p:nvPr/>
        </p:nvSpPr>
        <p:spPr>
          <a:xfrm>
            <a:off x="15859126" y="800101"/>
            <a:ext cx="565861" cy="346249"/>
          </a:xfrm>
          <a:prstGeom prst="rect">
            <a:avLst/>
          </a:prstGeom>
          <a:noFill/>
        </p:spPr>
        <p:txBody>
          <a:bodyPr wrap="none" lIns="0" tIns="0" rIns="0" bIns="0" anchor="t">
            <a:spAutoFit/>
          </a:bodyPr>
          <a:lstStyle/>
          <a:p>
            <a:pPr algn="l"/>
            <a:r>
              <a:rPr sz="2250" b="1">
                <a:solidFill>
                  <a:srgbClr val="E8631C"/>
                </a:solidFill>
                <a:latin typeface="Plus Jakarta Sans"/>
              </a:rPr>
              <a:t>Lead</a:t>
            </a:r>
          </a:p>
        </p:txBody>
      </p:sp>
      <p:sp>
        <p:nvSpPr>
          <p:cNvPr id="16" name="TextBox 15"/>
          <p:cNvSpPr txBox="1"/>
          <p:nvPr/>
        </p:nvSpPr>
        <p:spPr>
          <a:xfrm>
            <a:off x="16630651" y="800101"/>
            <a:ext cx="549831" cy="346249"/>
          </a:xfrm>
          <a:prstGeom prst="rect">
            <a:avLst/>
          </a:prstGeom>
          <a:noFill/>
        </p:spPr>
        <p:txBody>
          <a:bodyPr wrap="none" lIns="0" tIns="0" rIns="0" bIns="0" anchor="t">
            <a:spAutoFit/>
          </a:bodyPr>
          <a:lstStyle/>
          <a:p>
            <a:pPr algn="l"/>
            <a:r>
              <a:rPr sz="2250" b="1">
                <a:solidFill>
                  <a:srgbClr val="0F172A"/>
                </a:solidFill>
                <a:latin typeface="Plus Jakarta Sans"/>
              </a:rPr>
              <a:t>Pilot</a:t>
            </a:r>
          </a:p>
        </p:txBody>
      </p:sp>
      <p:sp>
        <p:nvSpPr>
          <p:cNvPr id="17" name="TextBox 16"/>
          <p:cNvSpPr txBox="1"/>
          <p:nvPr/>
        </p:nvSpPr>
        <p:spPr>
          <a:xfrm>
            <a:off x="1371600" y="4843463"/>
            <a:ext cx="1773178" cy="363626"/>
          </a:xfrm>
          <a:prstGeom prst="rect">
            <a:avLst/>
          </a:prstGeom>
          <a:noFill/>
        </p:spPr>
        <p:txBody>
          <a:bodyPr wrap="none" lIns="0" tIns="0" rIns="0" bIns="0" anchor="t">
            <a:spAutoFit/>
          </a:bodyPr>
          <a:lstStyle/>
          <a:p>
            <a:pPr algn="l"/>
            <a:r>
              <a:rPr sz="2363" b="1">
                <a:solidFill>
                  <a:srgbClr val="082622"/>
                </a:solidFill>
                <a:latin typeface="Plus Jakarta Sans"/>
              </a:rPr>
              <a:t>Karte scannen</a:t>
            </a:r>
          </a:p>
        </p:txBody>
      </p:sp>
      <p:sp>
        <p:nvSpPr>
          <p:cNvPr id="18" name="TextBox 17"/>
          <p:cNvSpPr txBox="1"/>
          <p:nvPr/>
        </p:nvSpPr>
        <p:spPr>
          <a:xfrm>
            <a:off x="1371600" y="5429251"/>
            <a:ext cx="3257550" cy="623248"/>
          </a:xfrm>
          <a:prstGeom prst="rect">
            <a:avLst/>
          </a:prstGeom>
          <a:noFill/>
        </p:spPr>
        <p:txBody>
          <a:bodyPr wrap="square" lIns="0" tIns="0" rIns="0" bIns="0" anchor="t">
            <a:spAutoFit/>
          </a:bodyPr>
          <a:lstStyle/>
          <a:p>
            <a:pPr algn="l"/>
            <a:r>
              <a:rPr sz="2025">
                <a:solidFill>
                  <a:srgbClr val="475569"/>
                </a:solidFill>
                <a:latin typeface="Plus Jakarta Sans"/>
              </a:rPr>
              <a:t>Anna Webers Kontaktdaten direkt am Stand erfassen.</a:t>
            </a:r>
          </a:p>
        </p:txBody>
      </p:sp>
      <p:sp>
        <p:nvSpPr>
          <p:cNvPr id="19" name="TextBox 18"/>
          <p:cNvSpPr txBox="1"/>
          <p:nvPr/>
        </p:nvSpPr>
        <p:spPr>
          <a:xfrm>
            <a:off x="5514976" y="4843463"/>
            <a:ext cx="1937197" cy="363626"/>
          </a:xfrm>
          <a:prstGeom prst="rect">
            <a:avLst/>
          </a:prstGeom>
          <a:noFill/>
        </p:spPr>
        <p:txBody>
          <a:bodyPr wrap="none" lIns="0" tIns="0" rIns="0" bIns="0" anchor="t">
            <a:spAutoFit/>
          </a:bodyPr>
          <a:lstStyle/>
          <a:p>
            <a:pPr algn="l"/>
            <a:r>
              <a:rPr sz="2363" b="1">
                <a:solidFill>
                  <a:srgbClr val="082622"/>
                </a:solidFill>
                <a:latin typeface="Plus Jakarta Sans"/>
              </a:rPr>
              <a:t>Bedarf &amp; Skizze</a:t>
            </a:r>
          </a:p>
        </p:txBody>
      </p:sp>
      <p:sp>
        <p:nvSpPr>
          <p:cNvPr id="20" name="TextBox 19"/>
          <p:cNvSpPr txBox="1"/>
          <p:nvPr/>
        </p:nvSpPr>
        <p:spPr>
          <a:xfrm>
            <a:off x="5514975" y="5429251"/>
            <a:ext cx="3257550" cy="934871"/>
          </a:xfrm>
          <a:prstGeom prst="rect">
            <a:avLst/>
          </a:prstGeom>
          <a:noFill/>
        </p:spPr>
        <p:txBody>
          <a:bodyPr wrap="square" lIns="0" tIns="0" rIns="0" bIns="0" anchor="t">
            <a:spAutoFit/>
          </a:bodyPr>
          <a:lstStyle/>
          <a:p>
            <a:pPr algn="l"/>
            <a:r>
              <a:rPr sz="2025">
                <a:solidFill>
                  <a:srgbClr val="475569"/>
                </a:solidFill>
                <a:latin typeface="Plus Jakarta Sans"/>
              </a:rPr>
              <a:t>Förderanlage im kurzen Fragebogen auf dem Display skizzieren.</a:t>
            </a:r>
          </a:p>
        </p:txBody>
      </p:sp>
      <p:sp>
        <p:nvSpPr>
          <p:cNvPr id="21" name="TextBox 20"/>
          <p:cNvSpPr txBox="1"/>
          <p:nvPr/>
        </p:nvSpPr>
        <p:spPr>
          <a:xfrm>
            <a:off x="9658351" y="4843463"/>
            <a:ext cx="2205732" cy="363626"/>
          </a:xfrm>
          <a:prstGeom prst="rect">
            <a:avLst/>
          </a:prstGeom>
          <a:noFill/>
        </p:spPr>
        <p:txBody>
          <a:bodyPr wrap="none" lIns="0" tIns="0" rIns="0" bIns="0" anchor="t">
            <a:spAutoFit/>
          </a:bodyPr>
          <a:lstStyle/>
          <a:p>
            <a:pPr algn="l"/>
            <a:r>
              <a:rPr sz="2363" b="1">
                <a:solidFill>
                  <a:srgbClr val="082622"/>
                </a:solidFill>
                <a:latin typeface="Plus Jakarta Sans"/>
              </a:rPr>
              <a:t>Rückruf in 48 Std.</a:t>
            </a:r>
          </a:p>
        </p:txBody>
      </p:sp>
      <p:sp>
        <p:nvSpPr>
          <p:cNvPr id="22" name="TextBox 21"/>
          <p:cNvSpPr txBox="1"/>
          <p:nvPr/>
        </p:nvSpPr>
        <p:spPr>
          <a:xfrm>
            <a:off x="9658350" y="5429251"/>
            <a:ext cx="3257550" cy="623248"/>
          </a:xfrm>
          <a:prstGeom prst="rect">
            <a:avLst/>
          </a:prstGeom>
          <a:noFill/>
        </p:spPr>
        <p:txBody>
          <a:bodyPr wrap="square" lIns="0" tIns="0" rIns="0" bIns="0" anchor="t">
            <a:spAutoFit/>
          </a:bodyPr>
          <a:lstStyle/>
          <a:p>
            <a:pPr algn="l"/>
            <a:r>
              <a:rPr sz="2025">
                <a:solidFill>
                  <a:srgbClr val="475569"/>
                </a:solidFill>
                <a:latin typeface="Plus Jakarta Sans"/>
              </a:rPr>
              <a:t>Zuständige Person plus Rückruf für morgen fest zuweisen.</a:t>
            </a:r>
          </a:p>
        </p:txBody>
      </p:sp>
      <p:sp>
        <p:nvSpPr>
          <p:cNvPr id="23" name="TextBox 22"/>
          <p:cNvSpPr txBox="1"/>
          <p:nvPr/>
        </p:nvSpPr>
        <p:spPr>
          <a:xfrm>
            <a:off x="13801726" y="4843463"/>
            <a:ext cx="1639167" cy="363626"/>
          </a:xfrm>
          <a:prstGeom prst="rect">
            <a:avLst/>
          </a:prstGeom>
          <a:noFill/>
        </p:spPr>
        <p:txBody>
          <a:bodyPr wrap="none" lIns="0" tIns="0" rIns="0" bIns="0" anchor="t">
            <a:spAutoFit/>
          </a:bodyPr>
          <a:lstStyle/>
          <a:p>
            <a:pPr algn="l"/>
            <a:r>
              <a:rPr sz="2363" b="1">
                <a:solidFill>
                  <a:srgbClr val="082622"/>
                </a:solidFill>
                <a:latin typeface="Plus Jakarta Sans"/>
              </a:rPr>
              <a:t>Live-Forecast</a:t>
            </a:r>
          </a:p>
        </p:txBody>
      </p:sp>
      <p:sp>
        <p:nvSpPr>
          <p:cNvPr id="24" name="TextBox 23"/>
          <p:cNvSpPr txBox="1"/>
          <p:nvPr/>
        </p:nvSpPr>
        <p:spPr>
          <a:xfrm>
            <a:off x="13801725" y="5429251"/>
            <a:ext cx="3257550" cy="623248"/>
          </a:xfrm>
          <a:prstGeom prst="rect">
            <a:avLst/>
          </a:prstGeom>
          <a:noFill/>
        </p:spPr>
        <p:txBody>
          <a:bodyPr wrap="square" lIns="0" tIns="0" rIns="0" bIns="0" anchor="t">
            <a:spAutoFit/>
          </a:bodyPr>
          <a:lstStyle/>
          <a:p>
            <a:pPr algn="l"/>
            <a:r>
              <a:rPr sz="2025">
                <a:solidFill>
                  <a:srgbClr val="475569"/>
                </a:solidFill>
                <a:latin typeface="Plus Jakarta Sans"/>
              </a:rPr>
              <a:t>Freitag um 8 Uhr fertige Zahlen aus laufenden Deals.</a:t>
            </a:r>
          </a:p>
        </p:txBody>
      </p:sp>
      <p:sp>
        <p:nvSpPr>
          <p:cNvPr id="25" name="TextBox 24"/>
          <p:cNvSpPr txBox="1"/>
          <p:nvPr/>
        </p:nvSpPr>
        <p:spPr>
          <a:xfrm>
            <a:off x="1371601" y="4071938"/>
            <a:ext cx="468077" cy="553998"/>
          </a:xfrm>
          <a:prstGeom prst="rect">
            <a:avLst/>
          </a:prstGeom>
          <a:noFill/>
        </p:spPr>
        <p:txBody>
          <a:bodyPr wrap="none" lIns="0" tIns="0" rIns="0" bIns="0" anchor="t">
            <a:spAutoFit/>
          </a:bodyPr>
          <a:lstStyle/>
          <a:p>
            <a:pPr algn="l"/>
            <a:r>
              <a:rPr sz="3600" b="1">
                <a:solidFill>
                  <a:srgbClr val="0F172A"/>
                </a:solidFill>
                <a:latin typeface="Plus Jakarta Sans"/>
              </a:rPr>
              <a:t>01</a:t>
            </a:r>
          </a:p>
        </p:txBody>
      </p:sp>
      <p:sp>
        <p:nvSpPr>
          <p:cNvPr id="26" name="TextBox 25"/>
          <p:cNvSpPr txBox="1"/>
          <p:nvPr/>
        </p:nvSpPr>
        <p:spPr>
          <a:xfrm>
            <a:off x="5514976" y="4071938"/>
            <a:ext cx="468077" cy="553998"/>
          </a:xfrm>
          <a:prstGeom prst="rect">
            <a:avLst/>
          </a:prstGeom>
          <a:noFill/>
        </p:spPr>
        <p:txBody>
          <a:bodyPr wrap="none" lIns="0" tIns="0" rIns="0" bIns="0" anchor="t">
            <a:spAutoFit/>
          </a:bodyPr>
          <a:lstStyle/>
          <a:p>
            <a:pPr algn="l"/>
            <a:r>
              <a:rPr sz="3600" b="1">
                <a:solidFill>
                  <a:srgbClr val="0F172A"/>
                </a:solidFill>
                <a:latin typeface="Plus Jakarta Sans"/>
              </a:rPr>
              <a:t>02</a:t>
            </a:r>
          </a:p>
        </p:txBody>
      </p:sp>
      <p:sp>
        <p:nvSpPr>
          <p:cNvPr id="27" name="TextBox 26"/>
          <p:cNvSpPr txBox="1"/>
          <p:nvPr/>
        </p:nvSpPr>
        <p:spPr>
          <a:xfrm>
            <a:off x="9658351" y="4071938"/>
            <a:ext cx="468077" cy="553998"/>
          </a:xfrm>
          <a:prstGeom prst="rect">
            <a:avLst/>
          </a:prstGeom>
          <a:noFill/>
        </p:spPr>
        <p:txBody>
          <a:bodyPr wrap="none" lIns="0" tIns="0" rIns="0" bIns="0" anchor="t">
            <a:spAutoFit/>
          </a:bodyPr>
          <a:lstStyle/>
          <a:p>
            <a:pPr algn="l"/>
            <a:r>
              <a:rPr sz="3600" b="1">
                <a:solidFill>
                  <a:srgbClr val="E8631C"/>
                </a:solidFill>
                <a:latin typeface="Plus Jakarta Sans"/>
              </a:rPr>
              <a:t>03</a:t>
            </a:r>
          </a:p>
        </p:txBody>
      </p:sp>
      <p:sp>
        <p:nvSpPr>
          <p:cNvPr id="28" name="TextBox 27"/>
          <p:cNvSpPr txBox="1"/>
          <p:nvPr/>
        </p:nvSpPr>
        <p:spPr>
          <a:xfrm>
            <a:off x="13801726" y="4071938"/>
            <a:ext cx="468077" cy="553998"/>
          </a:xfrm>
          <a:prstGeom prst="rect">
            <a:avLst/>
          </a:prstGeom>
          <a:noFill/>
        </p:spPr>
        <p:txBody>
          <a:bodyPr wrap="none" lIns="0" tIns="0" rIns="0" bIns="0" anchor="t">
            <a:spAutoFit/>
          </a:bodyPr>
          <a:lstStyle/>
          <a:p>
            <a:pPr algn="l"/>
            <a:r>
              <a:rPr sz="3600" b="1">
                <a:solidFill>
                  <a:srgbClr val="0F172A"/>
                </a:solidFill>
                <a:latin typeface="Plus Jakarta Sans"/>
              </a:rPr>
              <a:t>04</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1028701" y="3150394"/>
            <a:ext cx="9358313" cy="4729163"/>
          </a:xfrm>
          <a:prstGeom prst="roundRect">
            <a:avLst>
              <a:gd name="adj" fmla="val 6042"/>
            </a:avLst>
          </a:prstGeom>
          <a:solidFill>
            <a:srgbClr val="F4F9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pic>
        <p:nvPicPr>
          <p:cNvPr id="3" name="Picture 2" descr="image.png"/>
          <p:cNvPicPr>
            <a:picLocks noChangeAspect="1"/>
          </p:cNvPicPr>
          <p:nvPr/>
        </p:nvPicPr>
        <p:blipFill>
          <a:blip r:embed="rId2"/>
          <a:stretch>
            <a:fillRect/>
          </a:stretch>
        </p:blipFill>
        <p:spPr>
          <a:xfrm>
            <a:off x="1600201" y="3886200"/>
            <a:ext cx="414338" cy="371475"/>
          </a:xfrm>
          <a:prstGeom prst="rect">
            <a:avLst/>
          </a:prstGeom>
        </p:spPr>
      </p:pic>
      <p:sp>
        <p:nvSpPr>
          <p:cNvPr id="4" name="TextBox 3"/>
          <p:cNvSpPr txBox="1"/>
          <p:nvPr/>
        </p:nvSpPr>
        <p:spPr>
          <a:xfrm>
            <a:off x="1028700" y="9186863"/>
            <a:ext cx="6710170" cy="276999"/>
          </a:xfrm>
          <a:prstGeom prst="rect">
            <a:avLst/>
          </a:prstGeom>
          <a:noFill/>
        </p:spPr>
        <p:txBody>
          <a:bodyPr wrap="none" lIns="0" tIns="0" rIns="0" bIns="0" anchor="t">
            <a:spAutoFit/>
          </a:bodyPr>
          <a:lstStyle/>
          <a:p>
            <a:pPr algn="l"/>
            <a:r>
              <a:rPr b="1">
                <a:solidFill>
                  <a:srgbClr val="64748B"/>
                </a:solidFill>
                <a:latin typeface="Plus Jakarta Sans"/>
              </a:rPr>
              <a:t>DSGVO-KONFORM · HOSTING IN EUROPA · BEWUSST SCHLANKES CRM</a:t>
            </a:r>
          </a:p>
        </p:txBody>
      </p:sp>
      <p:sp>
        <p:nvSpPr>
          <p:cNvPr id="5" name="TextBox 4"/>
          <p:cNvSpPr txBox="1"/>
          <p:nvPr/>
        </p:nvSpPr>
        <p:spPr>
          <a:xfrm>
            <a:off x="1028701" y="800100"/>
            <a:ext cx="2741713" cy="242374"/>
          </a:xfrm>
          <a:prstGeom prst="rect">
            <a:avLst/>
          </a:prstGeom>
          <a:noFill/>
        </p:spPr>
        <p:txBody>
          <a:bodyPr wrap="none" lIns="0" tIns="0" rIns="0" bIns="0" anchor="t">
            <a:spAutoFit/>
          </a:bodyPr>
          <a:lstStyle/>
          <a:p>
            <a:pPr algn="l"/>
            <a:r>
              <a:rPr sz="1575" b="1">
                <a:solidFill>
                  <a:srgbClr val="0D9488"/>
                </a:solidFill>
                <a:latin typeface="Plus Jakarta Sans"/>
              </a:rPr>
              <a:t>PRAXISBEWEIS IM MITTELSTAND</a:t>
            </a:r>
          </a:p>
        </p:txBody>
      </p:sp>
      <p:sp>
        <p:nvSpPr>
          <p:cNvPr id="6" name="TextBox 5"/>
          <p:cNvSpPr txBox="1"/>
          <p:nvPr/>
        </p:nvSpPr>
        <p:spPr>
          <a:xfrm>
            <a:off x="1028701" y="1171575"/>
            <a:ext cx="8899359" cy="657872"/>
          </a:xfrm>
          <a:prstGeom prst="rect">
            <a:avLst/>
          </a:prstGeom>
          <a:noFill/>
        </p:spPr>
        <p:txBody>
          <a:bodyPr wrap="none" lIns="0" tIns="0" rIns="0" bIns="0" anchor="t">
            <a:spAutoFit/>
          </a:bodyPr>
          <a:lstStyle/>
          <a:p>
            <a:pPr algn="l"/>
            <a:r>
              <a:rPr sz="4275" b="1">
                <a:solidFill>
                  <a:srgbClr val="082622"/>
                </a:solidFill>
                <a:latin typeface="Plus Jakarta Sans"/>
              </a:rPr>
              <a:t>100 % Rückrufquote im Maschinenbau.</a:t>
            </a:r>
          </a:p>
        </p:txBody>
      </p:sp>
      <p:sp>
        <p:nvSpPr>
          <p:cNvPr id="7" name="TextBox 6"/>
          <p:cNvSpPr txBox="1"/>
          <p:nvPr/>
        </p:nvSpPr>
        <p:spPr>
          <a:xfrm>
            <a:off x="15859126" y="800101"/>
            <a:ext cx="565861" cy="346249"/>
          </a:xfrm>
          <a:prstGeom prst="rect">
            <a:avLst/>
          </a:prstGeom>
          <a:noFill/>
        </p:spPr>
        <p:txBody>
          <a:bodyPr wrap="none" lIns="0" tIns="0" rIns="0" bIns="0" anchor="t">
            <a:spAutoFit/>
          </a:bodyPr>
          <a:lstStyle/>
          <a:p>
            <a:pPr algn="l"/>
            <a:r>
              <a:rPr sz="2250" b="1">
                <a:solidFill>
                  <a:srgbClr val="E8631C"/>
                </a:solidFill>
                <a:latin typeface="Plus Jakarta Sans"/>
              </a:rPr>
              <a:t>Lead</a:t>
            </a:r>
          </a:p>
        </p:txBody>
      </p:sp>
      <p:sp>
        <p:nvSpPr>
          <p:cNvPr id="8" name="TextBox 7"/>
          <p:cNvSpPr txBox="1"/>
          <p:nvPr/>
        </p:nvSpPr>
        <p:spPr>
          <a:xfrm>
            <a:off x="16630651" y="800101"/>
            <a:ext cx="549831" cy="346249"/>
          </a:xfrm>
          <a:prstGeom prst="rect">
            <a:avLst/>
          </a:prstGeom>
          <a:noFill/>
        </p:spPr>
        <p:txBody>
          <a:bodyPr wrap="none" lIns="0" tIns="0" rIns="0" bIns="0" anchor="t">
            <a:spAutoFit/>
          </a:bodyPr>
          <a:lstStyle/>
          <a:p>
            <a:pPr algn="l"/>
            <a:r>
              <a:rPr sz="2250" b="1">
                <a:solidFill>
                  <a:srgbClr val="0F172A"/>
                </a:solidFill>
                <a:latin typeface="Plus Jakarta Sans"/>
              </a:rPr>
              <a:t>Pilot</a:t>
            </a:r>
          </a:p>
        </p:txBody>
      </p:sp>
      <p:sp>
        <p:nvSpPr>
          <p:cNvPr id="9" name="TextBox 8"/>
          <p:cNvSpPr txBox="1"/>
          <p:nvPr/>
        </p:nvSpPr>
        <p:spPr>
          <a:xfrm>
            <a:off x="1600201" y="6650831"/>
            <a:ext cx="8358188" cy="311624"/>
          </a:xfrm>
          <a:prstGeom prst="rect">
            <a:avLst/>
          </a:prstGeom>
          <a:noFill/>
        </p:spPr>
        <p:txBody>
          <a:bodyPr wrap="square" lIns="0" tIns="0" rIns="0" bIns="0" anchor="t">
            <a:spAutoFit/>
          </a:bodyPr>
          <a:lstStyle/>
          <a:p>
            <a:pPr algn="l"/>
            <a:r>
              <a:rPr sz="2025">
                <a:solidFill>
                  <a:srgbClr val="334155"/>
                </a:solidFill>
                <a:latin typeface="Plus Jakarta Sans"/>
              </a:rPr>
              <a:t>Auf der Messe davor war noch ein Drittel der Kontakte liegen geblieben.</a:t>
            </a:r>
          </a:p>
        </p:txBody>
      </p:sp>
      <p:sp>
        <p:nvSpPr>
          <p:cNvPr id="10" name="TextBox 9"/>
          <p:cNvSpPr txBox="1"/>
          <p:nvPr/>
        </p:nvSpPr>
        <p:spPr>
          <a:xfrm>
            <a:off x="11187113" y="3750468"/>
            <a:ext cx="936154" cy="936218"/>
          </a:xfrm>
          <a:prstGeom prst="rect">
            <a:avLst/>
          </a:prstGeom>
          <a:noFill/>
        </p:spPr>
        <p:txBody>
          <a:bodyPr wrap="none" lIns="0" tIns="0" rIns="0" bIns="0" anchor="t">
            <a:spAutoFit/>
          </a:bodyPr>
          <a:lstStyle/>
          <a:p>
            <a:pPr>
              <a:lnSpc>
                <a:spcPts val="7200"/>
              </a:lnSpc>
            </a:pPr>
            <a:r>
              <a:rPr sz="7200" b="1">
                <a:solidFill>
                  <a:srgbClr val="082622"/>
                </a:solidFill>
                <a:latin typeface="Plus Jakarta Sans"/>
              </a:rPr>
              <a:t>66</a:t>
            </a:r>
          </a:p>
        </p:txBody>
      </p:sp>
      <p:sp>
        <p:nvSpPr>
          <p:cNvPr id="11" name="TextBox 10"/>
          <p:cNvSpPr txBox="1"/>
          <p:nvPr/>
        </p:nvSpPr>
        <p:spPr>
          <a:xfrm>
            <a:off x="11187113" y="4750594"/>
            <a:ext cx="4989636" cy="346249"/>
          </a:xfrm>
          <a:prstGeom prst="rect">
            <a:avLst/>
          </a:prstGeom>
          <a:noFill/>
        </p:spPr>
        <p:txBody>
          <a:bodyPr wrap="none" lIns="0" tIns="0" rIns="0" bIns="0" anchor="t">
            <a:spAutoFit/>
          </a:bodyPr>
          <a:lstStyle/>
          <a:p>
            <a:pPr algn="l"/>
            <a:r>
              <a:rPr sz="2250" b="1">
                <a:solidFill>
                  <a:srgbClr val="475569"/>
                </a:solidFill>
                <a:latin typeface="Plus Jakarta Sans"/>
              </a:rPr>
              <a:t>B2B-Mittelständler nutzen LeadPilot aktiv</a:t>
            </a:r>
          </a:p>
        </p:txBody>
      </p:sp>
      <p:sp>
        <p:nvSpPr>
          <p:cNvPr id="12" name="TextBox 11"/>
          <p:cNvSpPr txBox="1"/>
          <p:nvPr/>
        </p:nvSpPr>
        <p:spPr>
          <a:xfrm>
            <a:off x="11187113" y="5564981"/>
            <a:ext cx="1817805" cy="936218"/>
          </a:xfrm>
          <a:prstGeom prst="rect">
            <a:avLst/>
          </a:prstGeom>
          <a:noFill/>
        </p:spPr>
        <p:txBody>
          <a:bodyPr wrap="none" lIns="0" tIns="0" rIns="0" bIns="0" anchor="t">
            <a:spAutoFit/>
          </a:bodyPr>
          <a:lstStyle/>
          <a:p>
            <a:pPr>
              <a:lnSpc>
                <a:spcPts val="7200"/>
              </a:lnSpc>
            </a:pPr>
            <a:r>
              <a:rPr sz="7200" b="1">
                <a:solidFill>
                  <a:srgbClr val="0D9488"/>
                </a:solidFill>
                <a:latin typeface="Plus Jakarta Sans"/>
              </a:rPr>
              <a:t>36 %</a:t>
            </a:r>
          </a:p>
        </p:txBody>
      </p:sp>
      <p:sp>
        <p:nvSpPr>
          <p:cNvPr id="13" name="TextBox 12"/>
          <p:cNvSpPr txBox="1"/>
          <p:nvPr/>
        </p:nvSpPr>
        <p:spPr>
          <a:xfrm>
            <a:off x="11187113" y="6565106"/>
            <a:ext cx="6215063" cy="346249"/>
          </a:xfrm>
          <a:prstGeom prst="rect">
            <a:avLst/>
          </a:prstGeom>
          <a:noFill/>
        </p:spPr>
        <p:txBody>
          <a:bodyPr wrap="square" lIns="0" tIns="0" rIns="0" bIns="0" anchor="t">
            <a:spAutoFit/>
          </a:bodyPr>
          <a:lstStyle/>
          <a:p>
            <a:pPr algn="l"/>
            <a:r>
              <a:rPr sz="2250" b="1">
                <a:solidFill>
                  <a:srgbClr val="475569"/>
                </a:solidFill>
                <a:latin typeface="Plus Jakarta Sans"/>
              </a:rPr>
              <a:t>unserer Kunden kommen aus dem Maschinenbau</a:t>
            </a:r>
          </a:p>
        </p:txBody>
      </p:sp>
      <p:sp>
        <p:nvSpPr>
          <p:cNvPr id="14" name="TextBox 13"/>
          <p:cNvSpPr txBox="1"/>
          <p:nvPr/>
        </p:nvSpPr>
        <p:spPr>
          <a:xfrm>
            <a:off x="2214563" y="3721894"/>
            <a:ext cx="4132157" cy="380873"/>
          </a:xfrm>
          <a:prstGeom prst="rect">
            <a:avLst/>
          </a:prstGeom>
          <a:noFill/>
        </p:spPr>
        <p:txBody>
          <a:bodyPr wrap="none" lIns="0" tIns="0" rIns="0" bIns="0" anchor="t">
            <a:spAutoFit/>
          </a:bodyPr>
          <a:lstStyle/>
          <a:p>
            <a:pPr algn="l"/>
            <a:r>
              <a:rPr sz="2475" b="1">
                <a:solidFill>
                  <a:srgbClr val="082622"/>
                </a:solidFill>
                <a:latin typeface="Plus Jakarta Sans"/>
              </a:rPr>
              <a:t>Katrin Brandt · Vertriebsleiterin</a:t>
            </a:r>
          </a:p>
        </p:txBody>
      </p:sp>
      <p:sp>
        <p:nvSpPr>
          <p:cNvPr id="15" name="TextBox 14"/>
          <p:cNvSpPr txBox="1"/>
          <p:nvPr/>
        </p:nvSpPr>
        <p:spPr>
          <a:xfrm>
            <a:off x="2214563" y="4121944"/>
            <a:ext cx="6196376" cy="276999"/>
          </a:xfrm>
          <a:prstGeom prst="rect">
            <a:avLst/>
          </a:prstGeom>
          <a:noFill/>
        </p:spPr>
        <p:txBody>
          <a:bodyPr wrap="none" lIns="0" tIns="0" rIns="0" bIns="0" anchor="t">
            <a:spAutoFit/>
          </a:bodyPr>
          <a:lstStyle/>
          <a:p>
            <a:pPr algn="l"/>
            <a:r>
              <a:rPr b="1">
                <a:solidFill>
                  <a:srgbClr val="475569"/>
                </a:solidFill>
                <a:latin typeface="Plus Jakarta Sans"/>
              </a:rPr>
              <a:t>Maschinenbau-Zulieferer · 70 Mitarbeitende · Expo-Beta-Testerin</a:t>
            </a:r>
          </a:p>
        </p:txBody>
      </p:sp>
      <p:sp>
        <p:nvSpPr>
          <p:cNvPr id="16" name="TextBox 15"/>
          <p:cNvSpPr txBox="1"/>
          <p:nvPr/>
        </p:nvSpPr>
        <p:spPr>
          <a:xfrm>
            <a:off x="1600200" y="4822031"/>
            <a:ext cx="2016578" cy="702180"/>
          </a:xfrm>
          <a:prstGeom prst="rect">
            <a:avLst/>
          </a:prstGeom>
          <a:noFill/>
        </p:spPr>
        <p:txBody>
          <a:bodyPr wrap="none" lIns="0" tIns="0" rIns="0" bIns="0" anchor="t">
            <a:spAutoFit/>
          </a:bodyPr>
          <a:lstStyle/>
          <a:p>
            <a:pPr>
              <a:lnSpc>
                <a:spcPts val="5400"/>
              </a:lnSpc>
            </a:pPr>
            <a:r>
              <a:rPr sz="5400" b="1">
                <a:solidFill>
                  <a:srgbClr val="0D9488"/>
                </a:solidFill>
                <a:latin typeface="Plus Jakarta Sans"/>
              </a:rPr>
              <a:t>55 / 55</a:t>
            </a:r>
          </a:p>
        </p:txBody>
      </p:sp>
      <p:sp>
        <p:nvSpPr>
          <p:cNvPr id="17" name="TextBox 16"/>
          <p:cNvSpPr txBox="1"/>
          <p:nvPr/>
        </p:nvSpPr>
        <p:spPr>
          <a:xfrm>
            <a:off x="1600200" y="5593556"/>
            <a:ext cx="4360365" cy="311624"/>
          </a:xfrm>
          <a:prstGeom prst="rect">
            <a:avLst/>
          </a:prstGeom>
          <a:noFill/>
        </p:spPr>
        <p:txBody>
          <a:bodyPr wrap="square" lIns="0" tIns="0" rIns="0" bIns="0" anchor="t">
            <a:spAutoFit/>
          </a:bodyPr>
          <a:lstStyle/>
          <a:p>
            <a:pPr algn="l"/>
            <a:r>
              <a:rPr sz="2025" b="1">
                <a:solidFill>
                  <a:srgbClr val="082622"/>
                </a:solidFill>
                <a:latin typeface="Plus Jakarta Sans"/>
              </a:rPr>
              <a:t>Messe-Leads nach 4 Wochen angerufen</a:t>
            </a:r>
          </a:p>
        </p:txBody>
      </p:sp>
      <p:sp>
        <p:nvSpPr>
          <p:cNvPr id="18" name="TextBox 17"/>
          <p:cNvSpPr txBox="1"/>
          <p:nvPr/>
        </p:nvSpPr>
        <p:spPr>
          <a:xfrm>
            <a:off x="6274891" y="4822031"/>
            <a:ext cx="1624099" cy="702180"/>
          </a:xfrm>
          <a:prstGeom prst="rect">
            <a:avLst/>
          </a:prstGeom>
          <a:noFill/>
        </p:spPr>
        <p:txBody>
          <a:bodyPr wrap="none" lIns="0" tIns="0" rIns="0" bIns="0" anchor="t">
            <a:spAutoFit/>
          </a:bodyPr>
          <a:lstStyle/>
          <a:p>
            <a:pPr>
              <a:lnSpc>
                <a:spcPts val="5400"/>
              </a:lnSpc>
            </a:pPr>
            <a:r>
              <a:rPr sz="5400" b="1">
                <a:solidFill>
                  <a:srgbClr val="E8631C"/>
                </a:solidFill>
                <a:latin typeface="Plus Jakarta Sans"/>
              </a:rPr>
              <a:t>1 Std.</a:t>
            </a:r>
          </a:p>
        </p:txBody>
      </p:sp>
      <p:sp>
        <p:nvSpPr>
          <p:cNvPr id="19" name="TextBox 18"/>
          <p:cNvSpPr txBox="1"/>
          <p:nvPr/>
        </p:nvSpPr>
        <p:spPr>
          <a:xfrm>
            <a:off x="6274890" y="5593556"/>
            <a:ext cx="3683496" cy="311624"/>
          </a:xfrm>
          <a:prstGeom prst="rect">
            <a:avLst/>
          </a:prstGeom>
          <a:noFill/>
        </p:spPr>
        <p:txBody>
          <a:bodyPr wrap="square" lIns="0" tIns="0" rIns="0" bIns="0" anchor="t">
            <a:spAutoFit/>
          </a:bodyPr>
          <a:lstStyle/>
          <a:p>
            <a:pPr algn="l"/>
            <a:r>
              <a:rPr sz="2025" b="1">
                <a:solidFill>
                  <a:srgbClr val="082622"/>
                </a:solidFill>
                <a:latin typeface="Plus Jakarta Sans"/>
              </a:rPr>
              <a:t>Freitags-Forecast statt 3 Stunden</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1028700" y="3236118"/>
            <a:ext cx="5325888" cy="4514850"/>
          </a:xfrm>
          <a:prstGeom prst="roundRect">
            <a:avLst>
              <a:gd name="adj" fmla="val 6329"/>
            </a:avLst>
          </a:prstGeom>
          <a:solidFill>
            <a:srgbClr val="F4F9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3" name="Rounded Rectangle 2"/>
          <p:cNvSpPr/>
          <p:nvPr/>
        </p:nvSpPr>
        <p:spPr>
          <a:xfrm>
            <a:off x="6811788" y="3236118"/>
            <a:ext cx="5325888" cy="4514850"/>
          </a:xfrm>
          <a:prstGeom prst="roundRect">
            <a:avLst>
              <a:gd name="adj" fmla="val 6329"/>
            </a:avLst>
          </a:prstGeom>
          <a:solidFill>
            <a:srgbClr val="F4F9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4" name="Rounded Rectangle 3"/>
          <p:cNvSpPr/>
          <p:nvPr/>
        </p:nvSpPr>
        <p:spPr>
          <a:xfrm>
            <a:off x="12594878" y="3621881"/>
            <a:ext cx="4664199" cy="3743325"/>
          </a:xfrm>
          <a:prstGeom prst="roundRect">
            <a:avLst>
              <a:gd name="adj" fmla="val 7633"/>
            </a:avLst>
          </a:prstGeom>
          <a:solidFill>
            <a:srgbClr val="0826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pic>
        <p:nvPicPr>
          <p:cNvPr id="5" name="Picture 4" descr="image.png"/>
          <p:cNvPicPr>
            <a:picLocks noChangeAspect="1"/>
          </p:cNvPicPr>
          <p:nvPr/>
        </p:nvPicPr>
        <p:blipFill>
          <a:blip r:embed="rId2"/>
          <a:stretch>
            <a:fillRect/>
          </a:stretch>
        </p:blipFill>
        <p:spPr>
          <a:xfrm>
            <a:off x="1028700" y="9186863"/>
            <a:ext cx="257175" cy="257175"/>
          </a:xfrm>
          <a:prstGeom prst="rect">
            <a:avLst/>
          </a:prstGeom>
        </p:spPr>
      </p:pic>
      <p:sp>
        <p:nvSpPr>
          <p:cNvPr id="6" name="TextBox 5"/>
          <p:cNvSpPr txBox="1"/>
          <p:nvPr/>
        </p:nvSpPr>
        <p:spPr>
          <a:xfrm>
            <a:off x="1457326" y="9144000"/>
            <a:ext cx="11808041" cy="311624"/>
          </a:xfrm>
          <a:prstGeom prst="rect">
            <a:avLst/>
          </a:prstGeom>
          <a:noFill/>
        </p:spPr>
        <p:txBody>
          <a:bodyPr wrap="none" lIns="0" tIns="0" rIns="0" bIns="0" anchor="t">
            <a:spAutoFit/>
          </a:bodyPr>
          <a:lstStyle/>
          <a:p>
            <a:pPr algn="l"/>
            <a:r>
              <a:rPr sz="2025" b="1">
                <a:solidFill>
                  <a:srgbClr val="334155"/>
                </a:solidFill>
                <a:latin typeface="Plus Jakarta Sans"/>
              </a:rPr>
              <a:t>Fahrplan: 30 Minuten Live-Demo am Dienstag → 14 Tage Test mit dem gesamten Team → Startklar zur Messe.</a:t>
            </a:r>
          </a:p>
        </p:txBody>
      </p:sp>
      <p:sp>
        <p:nvSpPr>
          <p:cNvPr id="7" name="TextBox 6"/>
          <p:cNvSpPr txBox="1"/>
          <p:nvPr/>
        </p:nvSpPr>
        <p:spPr>
          <a:xfrm>
            <a:off x="1028700" y="800100"/>
            <a:ext cx="3634008" cy="242374"/>
          </a:xfrm>
          <a:prstGeom prst="rect">
            <a:avLst/>
          </a:prstGeom>
          <a:noFill/>
        </p:spPr>
        <p:txBody>
          <a:bodyPr wrap="none" lIns="0" tIns="0" rIns="0" bIns="0" anchor="t">
            <a:spAutoFit/>
          </a:bodyPr>
          <a:lstStyle/>
          <a:p>
            <a:pPr algn="l"/>
            <a:r>
              <a:rPr sz="1575" b="1">
                <a:solidFill>
                  <a:srgbClr val="0D9488"/>
                </a:solidFill>
                <a:latin typeface="Plus Jakarta Sans"/>
              </a:rPr>
              <a:t>VORGEHEN &amp; KONDITIONEN FÜR 7 NUTZER</a:t>
            </a:r>
          </a:p>
        </p:txBody>
      </p:sp>
      <p:sp>
        <p:nvSpPr>
          <p:cNvPr id="8" name="TextBox 7"/>
          <p:cNvSpPr txBox="1"/>
          <p:nvPr/>
        </p:nvSpPr>
        <p:spPr>
          <a:xfrm>
            <a:off x="1028700" y="1171575"/>
            <a:ext cx="8971174" cy="657872"/>
          </a:xfrm>
          <a:prstGeom prst="rect">
            <a:avLst/>
          </a:prstGeom>
          <a:noFill/>
        </p:spPr>
        <p:txBody>
          <a:bodyPr wrap="none" lIns="0" tIns="0" rIns="0" bIns="0" anchor="t">
            <a:spAutoFit/>
          </a:bodyPr>
          <a:lstStyle/>
          <a:p>
            <a:pPr algn="l"/>
            <a:r>
              <a:rPr sz="4275" b="1">
                <a:solidFill>
                  <a:srgbClr val="082622"/>
                </a:solidFill>
                <a:latin typeface="Plus Jakarta Sans"/>
              </a:rPr>
              <a:t>Startklar vor Ihrer Messe im November.</a:t>
            </a:r>
          </a:p>
        </p:txBody>
      </p:sp>
      <p:sp>
        <p:nvSpPr>
          <p:cNvPr id="9" name="TextBox 8"/>
          <p:cNvSpPr txBox="1"/>
          <p:nvPr/>
        </p:nvSpPr>
        <p:spPr>
          <a:xfrm>
            <a:off x="15859126" y="800101"/>
            <a:ext cx="565861" cy="346249"/>
          </a:xfrm>
          <a:prstGeom prst="rect">
            <a:avLst/>
          </a:prstGeom>
          <a:noFill/>
        </p:spPr>
        <p:txBody>
          <a:bodyPr wrap="none" lIns="0" tIns="0" rIns="0" bIns="0" anchor="t">
            <a:spAutoFit/>
          </a:bodyPr>
          <a:lstStyle/>
          <a:p>
            <a:pPr algn="l"/>
            <a:r>
              <a:rPr sz="2250" b="1">
                <a:solidFill>
                  <a:srgbClr val="E8631C"/>
                </a:solidFill>
                <a:latin typeface="Plus Jakarta Sans"/>
              </a:rPr>
              <a:t>Lead</a:t>
            </a:r>
          </a:p>
        </p:txBody>
      </p:sp>
      <p:sp>
        <p:nvSpPr>
          <p:cNvPr id="10" name="TextBox 9"/>
          <p:cNvSpPr txBox="1"/>
          <p:nvPr/>
        </p:nvSpPr>
        <p:spPr>
          <a:xfrm>
            <a:off x="16630651" y="800101"/>
            <a:ext cx="549831" cy="346249"/>
          </a:xfrm>
          <a:prstGeom prst="rect">
            <a:avLst/>
          </a:prstGeom>
          <a:noFill/>
        </p:spPr>
        <p:txBody>
          <a:bodyPr wrap="none" lIns="0" tIns="0" rIns="0" bIns="0" anchor="t">
            <a:spAutoFit/>
          </a:bodyPr>
          <a:lstStyle/>
          <a:p>
            <a:pPr algn="l"/>
            <a:r>
              <a:rPr sz="2250" b="1">
                <a:solidFill>
                  <a:srgbClr val="0F172A"/>
                </a:solidFill>
                <a:latin typeface="Plus Jakarta Sans"/>
              </a:rPr>
              <a:t>Pilot</a:t>
            </a:r>
          </a:p>
        </p:txBody>
      </p:sp>
      <p:sp>
        <p:nvSpPr>
          <p:cNvPr id="11" name="TextBox 10"/>
          <p:cNvSpPr txBox="1"/>
          <p:nvPr/>
        </p:nvSpPr>
        <p:spPr>
          <a:xfrm>
            <a:off x="1485900" y="3750469"/>
            <a:ext cx="1626664" cy="259751"/>
          </a:xfrm>
          <a:prstGeom prst="rect">
            <a:avLst/>
          </a:prstGeom>
          <a:noFill/>
        </p:spPr>
        <p:txBody>
          <a:bodyPr wrap="none" lIns="0" tIns="0" rIns="0" bIns="0" anchor="t">
            <a:spAutoFit/>
          </a:bodyPr>
          <a:lstStyle/>
          <a:p>
            <a:pPr algn="l"/>
            <a:r>
              <a:rPr sz="1688" b="1">
                <a:solidFill>
                  <a:srgbClr val="0D9488"/>
                </a:solidFill>
                <a:latin typeface="Plus Jakarta Sans"/>
              </a:rPr>
              <a:t>STARTER · 7 × 49 €</a:t>
            </a:r>
          </a:p>
        </p:txBody>
      </p:sp>
      <p:sp>
        <p:nvSpPr>
          <p:cNvPr id="12" name="TextBox 11"/>
          <p:cNvSpPr txBox="1"/>
          <p:nvPr/>
        </p:nvSpPr>
        <p:spPr>
          <a:xfrm>
            <a:off x="1485900" y="4221956"/>
            <a:ext cx="2921184" cy="792396"/>
          </a:xfrm>
          <a:prstGeom prst="rect">
            <a:avLst/>
          </a:prstGeom>
          <a:noFill/>
        </p:spPr>
        <p:txBody>
          <a:bodyPr wrap="none" lIns="0" tIns="0" rIns="0" bIns="0" anchor="t">
            <a:spAutoFit/>
          </a:bodyPr>
          <a:lstStyle/>
          <a:p>
            <a:pPr>
              <a:lnSpc>
                <a:spcPts val="6075"/>
              </a:lnSpc>
            </a:pPr>
            <a:r>
              <a:rPr sz="6075" b="1">
                <a:solidFill>
                  <a:srgbClr val="082622"/>
                </a:solidFill>
                <a:latin typeface="Plus Jakarta Sans"/>
              </a:rPr>
              <a:t>343 € </a:t>
            </a:r>
            <a:r>
              <a:rPr sz="2250" b="1">
                <a:solidFill>
                  <a:srgbClr val="475569"/>
                </a:solidFill>
                <a:latin typeface="Plus Jakarta Sans"/>
              </a:rPr>
              <a:t>/ Monat</a:t>
            </a:r>
          </a:p>
        </p:txBody>
      </p:sp>
      <p:sp>
        <p:nvSpPr>
          <p:cNvPr id="13" name="TextBox 12"/>
          <p:cNvSpPr txBox="1"/>
          <p:nvPr/>
        </p:nvSpPr>
        <p:spPr>
          <a:xfrm>
            <a:off x="7268989" y="3750469"/>
            <a:ext cx="1689630" cy="259751"/>
          </a:xfrm>
          <a:prstGeom prst="rect">
            <a:avLst/>
          </a:prstGeom>
          <a:noFill/>
        </p:spPr>
        <p:txBody>
          <a:bodyPr wrap="none" lIns="0" tIns="0" rIns="0" bIns="0" anchor="t">
            <a:spAutoFit/>
          </a:bodyPr>
          <a:lstStyle/>
          <a:p>
            <a:pPr algn="l"/>
            <a:r>
              <a:rPr sz="1688" b="1">
                <a:solidFill>
                  <a:srgbClr val="E8631C"/>
                </a:solidFill>
                <a:latin typeface="Plus Jakarta Sans"/>
              </a:rPr>
              <a:t>GROWTH · 7 × 89 €</a:t>
            </a:r>
          </a:p>
        </p:txBody>
      </p:sp>
      <p:sp>
        <p:nvSpPr>
          <p:cNvPr id="14" name="TextBox 13"/>
          <p:cNvSpPr txBox="1"/>
          <p:nvPr/>
        </p:nvSpPr>
        <p:spPr>
          <a:xfrm>
            <a:off x="7268988" y="4221956"/>
            <a:ext cx="2921184" cy="792396"/>
          </a:xfrm>
          <a:prstGeom prst="rect">
            <a:avLst/>
          </a:prstGeom>
          <a:noFill/>
        </p:spPr>
        <p:txBody>
          <a:bodyPr wrap="none" lIns="0" tIns="0" rIns="0" bIns="0" anchor="t">
            <a:spAutoFit/>
          </a:bodyPr>
          <a:lstStyle/>
          <a:p>
            <a:pPr>
              <a:lnSpc>
                <a:spcPts val="6075"/>
              </a:lnSpc>
            </a:pPr>
            <a:r>
              <a:rPr sz="6075" b="1">
                <a:solidFill>
                  <a:srgbClr val="082622"/>
                </a:solidFill>
                <a:latin typeface="Plus Jakarta Sans"/>
              </a:rPr>
              <a:t>623 € </a:t>
            </a:r>
            <a:r>
              <a:rPr sz="2250" b="1">
                <a:solidFill>
                  <a:srgbClr val="475569"/>
                </a:solidFill>
                <a:latin typeface="Plus Jakarta Sans"/>
              </a:rPr>
              <a:t>/ Monat</a:t>
            </a:r>
          </a:p>
        </p:txBody>
      </p:sp>
      <p:sp>
        <p:nvSpPr>
          <p:cNvPr id="15" name="TextBox 14"/>
          <p:cNvSpPr txBox="1"/>
          <p:nvPr/>
        </p:nvSpPr>
        <p:spPr>
          <a:xfrm>
            <a:off x="13052078" y="4136231"/>
            <a:ext cx="1890967" cy="259751"/>
          </a:xfrm>
          <a:prstGeom prst="rect">
            <a:avLst/>
          </a:prstGeom>
          <a:noFill/>
        </p:spPr>
        <p:txBody>
          <a:bodyPr wrap="none" lIns="0" tIns="0" rIns="0" bIns="0" anchor="t">
            <a:spAutoFit/>
          </a:bodyPr>
          <a:lstStyle/>
          <a:p>
            <a:pPr algn="l"/>
            <a:r>
              <a:rPr sz="1688" b="1">
                <a:solidFill>
                  <a:srgbClr val="1CC5B0"/>
                </a:solidFill>
                <a:latin typeface="Plus Jakarta Sans"/>
              </a:rPr>
              <a:t>IHR WERTVERGLEICH</a:t>
            </a:r>
          </a:p>
        </p:txBody>
      </p:sp>
      <p:sp>
        <p:nvSpPr>
          <p:cNvPr id="16" name="TextBox 15"/>
          <p:cNvSpPr txBox="1"/>
          <p:nvPr/>
        </p:nvSpPr>
        <p:spPr>
          <a:xfrm>
            <a:off x="13052078" y="4607718"/>
            <a:ext cx="2750753" cy="792396"/>
          </a:xfrm>
          <a:prstGeom prst="rect">
            <a:avLst/>
          </a:prstGeom>
          <a:noFill/>
        </p:spPr>
        <p:txBody>
          <a:bodyPr wrap="none" lIns="0" tIns="0" rIns="0" bIns="0" anchor="t">
            <a:spAutoFit/>
          </a:bodyPr>
          <a:lstStyle/>
          <a:p>
            <a:pPr>
              <a:lnSpc>
                <a:spcPts val="6075"/>
              </a:lnSpc>
            </a:pPr>
            <a:r>
              <a:rPr sz="6075" b="1">
                <a:solidFill>
                  <a:srgbClr val="FFFFFF"/>
                </a:solidFill>
                <a:latin typeface="Plus Jakarta Sans"/>
              </a:rPr>
              <a:t>25.000 €</a:t>
            </a:r>
          </a:p>
        </p:txBody>
      </p:sp>
      <p:sp>
        <p:nvSpPr>
          <p:cNvPr id="17" name="TextBox 16"/>
          <p:cNvSpPr txBox="1"/>
          <p:nvPr/>
        </p:nvSpPr>
        <p:spPr>
          <a:xfrm>
            <a:off x="13052078" y="5636419"/>
            <a:ext cx="3188373" cy="346249"/>
          </a:xfrm>
          <a:prstGeom prst="rect">
            <a:avLst/>
          </a:prstGeom>
          <a:noFill/>
        </p:spPr>
        <p:txBody>
          <a:bodyPr wrap="none" lIns="0" tIns="0" rIns="0" bIns="0" anchor="t">
            <a:spAutoFit/>
          </a:bodyPr>
          <a:lstStyle/>
          <a:p>
            <a:pPr algn="l"/>
            <a:r>
              <a:rPr sz="2250" b="1">
                <a:solidFill>
                  <a:srgbClr val="1CC5B0"/>
                </a:solidFill>
                <a:latin typeface="Plus Jakarta Sans"/>
              </a:rPr>
              <a:t>Ein einziger Messe-Auftrag</a:t>
            </a:r>
          </a:p>
        </p:txBody>
      </p:sp>
      <p:sp>
        <p:nvSpPr>
          <p:cNvPr id="18" name="TextBox 17"/>
          <p:cNvSpPr txBox="1"/>
          <p:nvPr/>
        </p:nvSpPr>
        <p:spPr>
          <a:xfrm>
            <a:off x="13052078" y="6193631"/>
            <a:ext cx="3892674" cy="623248"/>
          </a:xfrm>
          <a:prstGeom prst="rect">
            <a:avLst/>
          </a:prstGeom>
          <a:noFill/>
        </p:spPr>
        <p:txBody>
          <a:bodyPr wrap="square" lIns="0" tIns="0" rIns="0" bIns="0" anchor="t">
            <a:spAutoFit/>
          </a:bodyPr>
          <a:lstStyle/>
          <a:p>
            <a:pPr algn="l"/>
            <a:r>
              <a:rPr sz="2025">
                <a:solidFill>
                  <a:srgbClr val="CBD5E1"/>
                </a:solidFill>
                <a:latin typeface="Plus Jakarta Sans"/>
              </a:rPr>
              <a:t>14 Tage kostenloser Team-Test vor Ihrer November-Messe.</a:t>
            </a:r>
          </a:p>
        </p:txBody>
      </p:sp>
      <p:sp>
        <p:nvSpPr>
          <p:cNvPr id="19" name="TextBox 18"/>
          <p:cNvSpPr txBox="1"/>
          <p:nvPr/>
        </p:nvSpPr>
        <p:spPr>
          <a:xfrm>
            <a:off x="1485900" y="5307806"/>
            <a:ext cx="4554363" cy="311624"/>
          </a:xfrm>
          <a:prstGeom prst="rect">
            <a:avLst/>
          </a:prstGeom>
          <a:noFill/>
        </p:spPr>
        <p:txBody>
          <a:bodyPr wrap="square" lIns="0" tIns="0" rIns="0" bIns="0" anchor="t">
            <a:spAutoFit/>
          </a:bodyPr>
          <a:lstStyle/>
          <a:p>
            <a:pPr algn="l"/>
            <a:r>
              <a:rPr sz="2025" b="1">
                <a:solidFill>
                  <a:srgbClr val="334155"/>
                </a:solidFill>
                <a:latin typeface="Plus Jakarta Sans"/>
              </a:rPr>
              <a:t>LeadPilot Expo:</a:t>
            </a:r>
            <a:r>
              <a:rPr sz="2025">
                <a:solidFill>
                  <a:srgbClr val="334155"/>
                </a:solidFill>
                <a:latin typeface="Plus Jakarta Sans"/>
              </a:rPr>
              <a:t> Ohne Aufpreis inklusive</a:t>
            </a:r>
          </a:p>
        </p:txBody>
      </p:sp>
      <p:sp>
        <p:nvSpPr>
          <p:cNvPr id="20" name="TextBox 19"/>
          <p:cNvSpPr txBox="1"/>
          <p:nvPr/>
        </p:nvSpPr>
        <p:spPr>
          <a:xfrm>
            <a:off x="1485900" y="6107906"/>
            <a:ext cx="4554363" cy="311624"/>
          </a:xfrm>
          <a:prstGeom prst="rect">
            <a:avLst/>
          </a:prstGeom>
          <a:noFill/>
        </p:spPr>
        <p:txBody>
          <a:bodyPr wrap="square" lIns="0" tIns="0" rIns="0" bIns="0" anchor="t">
            <a:spAutoFit/>
          </a:bodyPr>
          <a:lstStyle/>
          <a:p>
            <a:pPr algn="l"/>
            <a:r>
              <a:rPr sz="2025" b="1">
                <a:solidFill>
                  <a:srgbClr val="334155"/>
                </a:solidFill>
                <a:latin typeface="Plus Jakarta Sans"/>
              </a:rPr>
              <a:t>Aufgaben-Logik:</a:t>
            </a:r>
            <a:r>
              <a:rPr sz="2025">
                <a:solidFill>
                  <a:srgbClr val="334155"/>
                </a:solidFill>
                <a:latin typeface="Plus Jakarta Sans"/>
              </a:rPr>
              <a:t> 48-Stunden-Rückrufziel</a:t>
            </a:r>
          </a:p>
        </p:txBody>
      </p:sp>
      <p:sp>
        <p:nvSpPr>
          <p:cNvPr id="21" name="TextBox 20"/>
          <p:cNvSpPr txBox="1"/>
          <p:nvPr/>
        </p:nvSpPr>
        <p:spPr>
          <a:xfrm>
            <a:off x="1485901" y="6908006"/>
            <a:ext cx="2967094" cy="311624"/>
          </a:xfrm>
          <a:prstGeom prst="rect">
            <a:avLst/>
          </a:prstGeom>
          <a:noFill/>
        </p:spPr>
        <p:txBody>
          <a:bodyPr wrap="none" lIns="0" tIns="0" rIns="0" bIns="0" anchor="t">
            <a:spAutoFit/>
          </a:bodyPr>
          <a:lstStyle/>
          <a:p>
            <a:pPr algn="l"/>
            <a:r>
              <a:rPr sz="2025" b="1">
                <a:solidFill>
                  <a:srgbClr val="334155"/>
                </a:solidFill>
                <a:latin typeface="Plus Jakarta Sans"/>
              </a:rPr>
              <a:t>Flexibel:</a:t>
            </a:r>
            <a:r>
              <a:rPr sz="2025">
                <a:solidFill>
                  <a:srgbClr val="334155"/>
                </a:solidFill>
                <a:latin typeface="Plus Jakarta Sans"/>
              </a:rPr>
              <a:t> Monatlich kündbar</a:t>
            </a:r>
          </a:p>
        </p:txBody>
      </p:sp>
      <p:sp>
        <p:nvSpPr>
          <p:cNvPr id="22" name="TextBox 21"/>
          <p:cNvSpPr txBox="1"/>
          <p:nvPr/>
        </p:nvSpPr>
        <p:spPr>
          <a:xfrm>
            <a:off x="7268988" y="5307806"/>
            <a:ext cx="3127908" cy="311624"/>
          </a:xfrm>
          <a:prstGeom prst="rect">
            <a:avLst/>
          </a:prstGeom>
          <a:noFill/>
        </p:spPr>
        <p:txBody>
          <a:bodyPr wrap="none" lIns="0" tIns="0" rIns="0" bIns="0" anchor="t">
            <a:spAutoFit/>
          </a:bodyPr>
          <a:lstStyle/>
          <a:p>
            <a:pPr algn="l"/>
            <a:r>
              <a:rPr sz="2025" b="1">
                <a:solidFill>
                  <a:srgbClr val="334155"/>
                </a:solidFill>
                <a:latin typeface="Plus Jakarta Sans"/>
              </a:rPr>
              <a:t>KI-Scoring:</a:t>
            </a:r>
            <a:r>
              <a:rPr sz="2025">
                <a:solidFill>
                  <a:srgbClr val="334155"/>
                </a:solidFill>
                <a:latin typeface="Plus Jakarta Sans"/>
              </a:rPr>
              <a:t> Beste Deals zuerst</a:t>
            </a:r>
          </a:p>
        </p:txBody>
      </p:sp>
      <p:sp>
        <p:nvSpPr>
          <p:cNvPr id="23" name="TextBox 22"/>
          <p:cNvSpPr txBox="1"/>
          <p:nvPr/>
        </p:nvSpPr>
        <p:spPr>
          <a:xfrm>
            <a:off x="7268988" y="5779293"/>
            <a:ext cx="4554363" cy="311624"/>
          </a:xfrm>
          <a:prstGeom prst="rect">
            <a:avLst/>
          </a:prstGeom>
          <a:noFill/>
        </p:spPr>
        <p:txBody>
          <a:bodyPr wrap="square" lIns="0" tIns="0" rIns="0" bIns="0" anchor="t">
            <a:spAutoFit/>
          </a:bodyPr>
          <a:lstStyle/>
          <a:p>
            <a:pPr algn="l"/>
            <a:r>
              <a:rPr sz="2025" b="1">
                <a:solidFill>
                  <a:srgbClr val="334155"/>
                </a:solidFill>
                <a:latin typeface="Plus Jakarta Sans"/>
              </a:rPr>
              <a:t>LeadPilot Expo:</a:t>
            </a:r>
            <a:r>
              <a:rPr sz="2025">
                <a:solidFill>
                  <a:srgbClr val="334155"/>
                </a:solidFill>
                <a:latin typeface="Plus Jakarta Sans"/>
              </a:rPr>
              <a:t> Ohne Aufpreis inklusive</a:t>
            </a:r>
          </a:p>
        </p:txBody>
      </p:sp>
      <p:sp>
        <p:nvSpPr>
          <p:cNvPr id="24" name="TextBox 23"/>
          <p:cNvSpPr txBox="1"/>
          <p:nvPr/>
        </p:nvSpPr>
        <p:spPr>
          <a:xfrm>
            <a:off x="7268988" y="6579393"/>
            <a:ext cx="4554363" cy="311624"/>
          </a:xfrm>
          <a:prstGeom prst="rect">
            <a:avLst/>
          </a:prstGeom>
          <a:noFill/>
        </p:spPr>
        <p:txBody>
          <a:bodyPr wrap="square" lIns="0" tIns="0" rIns="0" bIns="0" anchor="t">
            <a:spAutoFit/>
          </a:bodyPr>
          <a:lstStyle/>
          <a:p>
            <a:pPr algn="l"/>
            <a:r>
              <a:rPr sz="2025" b="1">
                <a:solidFill>
                  <a:srgbClr val="334155"/>
                </a:solidFill>
                <a:latin typeface="Plus Jakarta Sans"/>
              </a:rPr>
              <a:t>Begleitung:</a:t>
            </a:r>
            <a:r>
              <a:rPr sz="2025">
                <a:solidFill>
                  <a:srgbClr val="334155"/>
                </a:solidFill>
                <a:latin typeface="Plus Jakarta Sans"/>
              </a:rPr>
              <a:t> Einmaliges Team-Onboarding</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4471988" y="6819378"/>
            <a:ext cx="9344025" cy="1628775"/>
          </a:xfrm>
          <a:prstGeom prst="roundRect">
            <a:avLst>
              <a:gd name="adj" fmla="val 14035"/>
            </a:avLst>
          </a:prstGeom>
          <a:solidFill>
            <a:srgbClr val="0D35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pic>
        <p:nvPicPr>
          <p:cNvPr id="3" name="Picture 2" descr="image.png"/>
          <p:cNvPicPr>
            <a:picLocks noChangeAspect="1"/>
          </p:cNvPicPr>
          <p:nvPr/>
        </p:nvPicPr>
        <p:blipFill>
          <a:blip r:embed="rId2"/>
          <a:stretch>
            <a:fillRect/>
          </a:stretch>
        </p:blipFill>
        <p:spPr>
          <a:xfrm>
            <a:off x="12630151" y="7348016"/>
            <a:ext cx="500063" cy="571500"/>
          </a:xfrm>
          <a:prstGeom prst="rect">
            <a:avLst/>
          </a:prstGeom>
        </p:spPr>
      </p:pic>
      <p:sp>
        <p:nvSpPr>
          <p:cNvPr id="4" name="TextBox 3"/>
          <p:cNvSpPr txBox="1"/>
          <p:nvPr/>
        </p:nvSpPr>
        <p:spPr>
          <a:xfrm>
            <a:off x="8014138" y="2810396"/>
            <a:ext cx="2259721" cy="276999"/>
          </a:xfrm>
          <a:prstGeom prst="rect">
            <a:avLst/>
          </a:prstGeom>
          <a:noFill/>
        </p:spPr>
        <p:txBody>
          <a:bodyPr wrap="none" lIns="0" tIns="0" rIns="0" bIns="0" anchor="t">
            <a:spAutoFit/>
          </a:bodyPr>
          <a:lstStyle/>
          <a:p>
            <a:pPr algn="ctr"/>
            <a:r>
              <a:rPr b="1">
                <a:solidFill>
                  <a:srgbClr val="1CC5B0"/>
                </a:solidFill>
                <a:latin typeface="Plus Jakarta Sans"/>
              </a:rPr>
              <a:t>IHR NÄCHSTER SCHRITT</a:t>
            </a:r>
          </a:p>
        </p:txBody>
      </p:sp>
      <p:sp>
        <p:nvSpPr>
          <p:cNvPr id="5" name="TextBox 4"/>
          <p:cNvSpPr txBox="1"/>
          <p:nvPr/>
        </p:nvSpPr>
        <p:spPr>
          <a:xfrm>
            <a:off x="705444" y="3339034"/>
            <a:ext cx="16877109" cy="859210"/>
          </a:xfrm>
          <a:prstGeom prst="rect">
            <a:avLst/>
          </a:prstGeom>
          <a:noFill/>
        </p:spPr>
        <p:txBody>
          <a:bodyPr wrap="square" lIns="0" tIns="0" rIns="0" bIns="0" anchor="t">
            <a:spAutoFit/>
          </a:bodyPr>
          <a:lstStyle/>
          <a:p>
            <a:pPr algn="ctr">
              <a:lnSpc>
                <a:spcPts val="6726"/>
              </a:lnSpc>
            </a:pPr>
            <a:r>
              <a:rPr sz="5850" b="1">
                <a:solidFill>
                  <a:srgbClr val="FFFFFF"/>
                </a:solidFill>
                <a:latin typeface="Plus Jakarta Sans"/>
              </a:rPr>
              <a:t>Dienstag, 10 Uhr: Ihre Liste im Check.</a:t>
            </a:r>
          </a:p>
        </p:txBody>
      </p:sp>
      <p:sp>
        <p:nvSpPr>
          <p:cNvPr id="6" name="TextBox 5"/>
          <p:cNvSpPr txBox="1"/>
          <p:nvPr/>
        </p:nvSpPr>
        <p:spPr>
          <a:xfrm>
            <a:off x="2178844" y="5390629"/>
            <a:ext cx="13930313" cy="761747"/>
          </a:xfrm>
          <a:prstGeom prst="rect">
            <a:avLst/>
          </a:prstGeom>
          <a:noFill/>
        </p:spPr>
        <p:txBody>
          <a:bodyPr wrap="square" lIns="0" tIns="0" rIns="0" bIns="0" anchor="t">
            <a:spAutoFit/>
          </a:bodyPr>
          <a:lstStyle/>
          <a:p>
            <a:pPr algn="ctr"/>
            <a:r>
              <a:rPr sz="2475">
                <a:solidFill>
                  <a:srgbClr val="CBD5E1"/>
                </a:solidFill>
                <a:latin typeface="Plus Jakarta Sans"/>
              </a:rPr>
              <a:t>Schicken Sie mir die Kontaktliste Ihrer letzten Messe. In 30 Minuten sehen Sie live, welche Anfragen heute noch offen wären.</a:t>
            </a:r>
          </a:p>
        </p:txBody>
      </p:sp>
      <p:sp>
        <p:nvSpPr>
          <p:cNvPr id="7" name="TextBox 6"/>
          <p:cNvSpPr txBox="1"/>
          <p:nvPr/>
        </p:nvSpPr>
        <p:spPr>
          <a:xfrm>
            <a:off x="8116880" y="1838846"/>
            <a:ext cx="904094" cy="553998"/>
          </a:xfrm>
          <a:prstGeom prst="rect">
            <a:avLst/>
          </a:prstGeom>
          <a:noFill/>
        </p:spPr>
        <p:txBody>
          <a:bodyPr wrap="none" lIns="0" tIns="0" rIns="0" bIns="0" anchor="t">
            <a:spAutoFit/>
          </a:bodyPr>
          <a:lstStyle/>
          <a:p>
            <a:pPr algn="ctr"/>
            <a:r>
              <a:rPr sz="3600" b="1">
                <a:solidFill>
                  <a:srgbClr val="E8631C"/>
                </a:solidFill>
                <a:latin typeface="Plus Jakarta Sans"/>
              </a:rPr>
              <a:t>Lead</a:t>
            </a:r>
          </a:p>
        </p:txBody>
      </p:sp>
      <p:sp>
        <p:nvSpPr>
          <p:cNvPr id="8" name="TextBox 7"/>
          <p:cNvSpPr txBox="1"/>
          <p:nvPr/>
        </p:nvSpPr>
        <p:spPr>
          <a:xfrm>
            <a:off x="9338967" y="1838846"/>
            <a:ext cx="881652" cy="553998"/>
          </a:xfrm>
          <a:prstGeom prst="rect">
            <a:avLst/>
          </a:prstGeom>
          <a:noFill/>
        </p:spPr>
        <p:txBody>
          <a:bodyPr wrap="none" lIns="0" tIns="0" rIns="0" bIns="0" anchor="t">
            <a:spAutoFit/>
          </a:bodyPr>
          <a:lstStyle/>
          <a:p>
            <a:pPr algn="ctr"/>
            <a:r>
              <a:rPr sz="3600" b="1">
                <a:solidFill>
                  <a:srgbClr val="1CC5B0"/>
                </a:solidFill>
                <a:latin typeface="Plus Jakarta Sans"/>
              </a:rPr>
              <a:t>Pilot</a:t>
            </a:r>
          </a:p>
        </p:txBody>
      </p:sp>
      <p:sp>
        <p:nvSpPr>
          <p:cNvPr id="9" name="TextBox 8"/>
          <p:cNvSpPr txBox="1"/>
          <p:nvPr/>
        </p:nvSpPr>
        <p:spPr>
          <a:xfrm>
            <a:off x="5157788" y="7219429"/>
            <a:ext cx="3150991" cy="259751"/>
          </a:xfrm>
          <a:prstGeom prst="rect">
            <a:avLst/>
          </a:prstGeom>
          <a:noFill/>
        </p:spPr>
        <p:txBody>
          <a:bodyPr wrap="none" lIns="0" tIns="0" rIns="0" bIns="0" anchor="t">
            <a:spAutoFit/>
          </a:bodyPr>
          <a:lstStyle/>
          <a:p>
            <a:pPr algn="l"/>
            <a:r>
              <a:rPr sz="1688" b="1">
                <a:solidFill>
                  <a:srgbClr val="1CC5B0"/>
                </a:solidFill>
                <a:latin typeface="Plus Jakarta Sans"/>
              </a:rPr>
              <a:t>LIVE-DEMO MIT IHREN ECHTDATEN</a:t>
            </a:r>
          </a:p>
        </p:txBody>
      </p:sp>
      <p:sp>
        <p:nvSpPr>
          <p:cNvPr id="10" name="TextBox 9"/>
          <p:cNvSpPr txBox="1"/>
          <p:nvPr/>
        </p:nvSpPr>
        <p:spPr>
          <a:xfrm>
            <a:off x="5157788" y="7548041"/>
            <a:ext cx="6028766" cy="484748"/>
          </a:xfrm>
          <a:prstGeom prst="rect">
            <a:avLst/>
          </a:prstGeom>
          <a:noFill/>
        </p:spPr>
        <p:txBody>
          <a:bodyPr wrap="none" lIns="0" tIns="0" rIns="0" bIns="0" anchor="t">
            <a:spAutoFit/>
          </a:bodyPr>
          <a:lstStyle/>
          <a:p>
            <a:pPr algn="l"/>
            <a:r>
              <a:rPr sz="3150" b="1">
                <a:solidFill>
                  <a:srgbClr val="FFFFFF"/>
                </a:solidFill>
                <a:latin typeface="Plus Jakarta Sans"/>
              </a:rPr>
              <a:t>Passt Ihnen Dienstag um 10:00 Uhr?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7691</Words>
  <Application>Microsoft Macintosh PowerPoint</Application>
  <PresentationFormat>Benutzerdefiniert</PresentationFormat>
  <Paragraphs>899</Paragraphs>
  <Slides>65</Slides>
  <Notes>33</Notes>
  <HiddenSlides>0</HiddenSlides>
  <MMClips>0</MMClips>
  <ScaleCrop>false</ScaleCrop>
  <HeadingPairs>
    <vt:vector size="6" baseType="variant">
      <vt:variant>
        <vt:lpstr>Verwendete Schriftarten</vt:lpstr>
      </vt:variant>
      <vt:variant>
        <vt:i4>16</vt:i4>
      </vt:variant>
      <vt:variant>
        <vt:lpstr>Design</vt:lpstr>
      </vt:variant>
      <vt:variant>
        <vt:i4>1</vt:i4>
      </vt:variant>
      <vt:variant>
        <vt:lpstr>Folientitel</vt:lpstr>
      </vt:variant>
      <vt:variant>
        <vt:i4>65</vt:i4>
      </vt:variant>
    </vt:vector>
  </HeadingPairs>
  <TitlesOfParts>
    <vt:vector size="82" baseType="lpstr">
      <vt:lpstr>Aptos</vt:lpstr>
      <vt:lpstr>Arial</vt:lpstr>
      <vt:lpstr>Calibri</vt:lpstr>
      <vt:lpstr>Inter</vt:lpstr>
      <vt:lpstr>JetBrains Mono</vt:lpstr>
      <vt:lpstr>LeadPilot Grotesk</vt:lpstr>
      <vt:lpstr>LiberationSerif</vt:lpstr>
      <vt:lpstr>Plus Jakarta Sans</vt:lpstr>
      <vt:lpstr>Space Grotesk</vt:lpstr>
      <vt:lpstr>Type3 (120 0 R)</vt:lpstr>
      <vt:lpstr>Type3 (121 0 R)</vt:lpstr>
      <vt:lpstr>Type3 (132 0 R)</vt:lpstr>
      <vt:lpstr>Type3 (133 0 R)</vt:lpstr>
      <vt:lpstr>Type3 (46 0 R)</vt:lpstr>
      <vt:lpstr>Type3 (47 0 R)</vt:lpstr>
      <vt:lpstr>Type3 (66 0 R)</vt:lpstr>
      <vt:lpstr>Office Theme</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60 Anfragen auf der Messe. Ein Drittel versandet im Excel.</vt:lpstr>
      <vt:lpstr>Das kostet die Nachbereitung heute</vt:lpstr>
      <vt:lpstr>Nächster Schritt für jeden Lead</vt:lpstr>
      <vt:lpstr>Bewährt bei 66 B2B-Mittelständlern</vt:lpstr>
      <vt:lpstr>Starten wir mit Ihrer Messe-Liste</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Marc Pönisch</cp:lastModifiedBy>
  <cp:revision>4</cp:revision>
  <dcterms:created xsi:type="dcterms:W3CDTF">2013-01-27T09:14:16Z</dcterms:created>
  <dcterms:modified xsi:type="dcterms:W3CDTF">2026-10-16T16:03:16Z</dcterms:modified>
  <cp:category/>
</cp:coreProperties>
</file>