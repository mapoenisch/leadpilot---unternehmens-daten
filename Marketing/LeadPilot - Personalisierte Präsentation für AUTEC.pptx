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Inter"/>
      <p:regular r:id="rId11"/>
      <p:bold r:id="rId12"/>
      <p:italic r:id="rId13"/>
      <p:boldItalic r:id="rId14"/>
    </p:embeddedFont>
    <p:embeddedFont>
      <p:font typeface="Space Grotesk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6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Grotesk-regular.fntdata"/><Relationship Id="rId14" Type="http://schemas.openxmlformats.org/officeDocument/2006/relationships/font" Target="fonts/Inter-boldItalic.fntdata"/><Relationship Id="rId16" Type="http://schemas.openxmlformats.org/officeDocument/2006/relationships/font" Target="fonts/SpaceGrotesk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00D9C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2011680" y="4206240"/>
            <a:ext cx="5943600" cy="5943600"/>
          </a:xfrm>
          <a:prstGeom prst="ellipse">
            <a:avLst/>
          </a:prstGeom>
          <a:solidFill>
            <a:srgbClr val="FF7A3D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logo-full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685800"/>
            <a:ext cx="2286000" cy="102778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822960" y="2331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VERTRIEBSPRÄSENTATION · SONDERMASCHINENBAU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2697480"/>
            <a:ext cx="10058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Kein Angebot geht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mehr verloren.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343400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Automatisierte Angebots-Priorisierung für AUTEC Sondermaschinenbau GmbH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5779008"/>
            <a:ext cx="118872" cy="118872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60704" y="5623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Vorbereitet für Hans-Jürgen Flierl, Key-Account-Manager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605332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LeadPilot GmbH · August 2026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AUSGANGSLAGE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804672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Space Grotesk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Der Sondermaschinenbau steht unter Druck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874520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04672" y="2130552"/>
            <a:ext cx="2916936" cy="13944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00D9C6"/>
                </a:solidFill>
                <a:latin typeface="Space Grotesk"/>
                <a:ea typeface="Space Grotesk"/>
                <a:cs typeface="Space Grotesk"/>
                <a:sym typeface="Space Grotesk"/>
              </a:rPr>
              <a:t>78 %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04672" y="3470148"/>
            <a:ext cx="2916936" cy="117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Kapazitätsauslastung im Maschinenbau – statt der üblichen ~85 %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297680" y="1874520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53712" y="2130552"/>
            <a:ext cx="2916936" cy="13944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FF7A3D"/>
                </a:solidFill>
                <a:latin typeface="Space Grotesk"/>
                <a:ea typeface="Space Grotesk"/>
                <a:cs typeface="Space Grotesk"/>
                <a:sym typeface="Space Grotesk"/>
              </a:rPr>
              <a:t>3.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53712" y="3470148"/>
            <a:ext cx="2916936" cy="117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Rückgangsjahr in Folge – die Produktion schrumpft weiter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046720" y="1874520"/>
            <a:ext cx="3429000" cy="2788920"/>
          </a:xfrm>
          <a:prstGeom prst="roundRect">
            <a:avLst>
              <a:gd fmla="val 3934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302752" y="2130552"/>
            <a:ext cx="2916936" cy="13944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00D9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–22.000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302752" y="3470148"/>
            <a:ext cx="2916936" cy="117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Stellen im Maschinenbau 2025 abgebaut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482803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Quelle: VDMA-Jahrespressekonferenz 2025 · ifo Institut · Statistisches Bundesamt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5440680"/>
            <a:ext cx="9966960" cy="777240"/>
          </a:xfrm>
          <a:prstGeom prst="roundRect">
            <a:avLst>
              <a:gd fmla="val 11765" name="adj"/>
            </a:avLst>
          </a:prstGeom>
          <a:solidFill>
            <a:srgbClr val="1A3F38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16200000" dist="50800">
              <a:srgbClr val="00D9C6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68680" y="5440680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900"/>
              <a:buFont typeface="Space Grotesk"/>
              <a:buNone/>
            </a:pPr>
            <a:r>
              <a:rPr b="1" i="0" lang="en-US" sz="1900" u="none" cap="none" strike="noStrike">
                <a:solidFill>
                  <a:srgbClr val="00D9C6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 </a:t>
            </a:r>
            <a:r>
              <a:rPr b="1" i="0" lang="en-US" sz="19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diesem Markt zählt jedes Angebot doppelt.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logo-mark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4231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AUTEC Sondermaschinenbau GmbH  ·  LeadPilot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2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7A3D"/>
                </a:solidFill>
                <a:latin typeface="Inter"/>
                <a:ea typeface="Inter"/>
                <a:cs typeface="Inter"/>
                <a:sym typeface="Inter"/>
              </a:rPr>
              <a:t>DAS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804672"/>
            <a:ext cx="10789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pace Grotes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Ihr Team gewinnt Projekte – aber verliert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pace Grotes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Angebote im Alltag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414016"/>
            <a:ext cx="128016" cy="12801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59536" y="2240280"/>
            <a:ext cx="53583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Vielköpfiges Buying Center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– Entscheidungen ziehen sich bei Sondermaschinen-Projekten über Monate.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3328416"/>
            <a:ext cx="128016" cy="12801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59536" y="3154680"/>
            <a:ext cx="53583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Mehrfaches Nachfassen nötig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– jedes offene Angebot braucht die richtige Frequenz und den richtigen Moment.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4242816"/>
            <a:ext cx="128016" cy="128016"/>
          </a:xfrm>
          <a:prstGeom prst="ellipse">
            <a:avLst/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59536" y="4069080"/>
            <a:ext cx="53583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Tagesgeschäft gewinnt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– nicht aus Nachlässigkeit, sondern aus Zeitdruck bleibt das Nachfassen liegen.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629400" y="1920240"/>
            <a:ext cx="4983480" cy="1508760"/>
          </a:xfrm>
          <a:prstGeom prst="roundRect">
            <a:avLst>
              <a:gd fmla="val 7273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885432" y="2176272"/>
            <a:ext cx="4471416" cy="75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00D9C6"/>
                </a:solidFill>
                <a:latin typeface="Space Grotesk"/>
                <a:ea typeface="Space Grotesk"/>
                <a:cs typeface="Space Grotesk"/>
                <a:sym typeface="Space Grotesk"/>
              </a:rPr>
              <a:t>~20 %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885432" y="2875788"/>
            <a:ext cx="4471416" cy="633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der B2B-Angebote für Investitionsgüter werden laut Vertriebspraxis überhaupt zum Auftrag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629400" y="3611880"/>
            <a:ext cx="4983480" cy="1508760"/>
          </a:xfrm>
          <a:prstGeom prst="roundRect">
            <a:avLst>
              <a:gd fmla="val 7273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885432" y="3867912"/>
            <a:ext cx="4471416" cy="75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4600"/>
              <a:buFont typeface="Space Grotesk"/>
              <a:buNone/>
            </a:pPr>
            <a:r>
              <a:rPr b="1" i="0" lang="en-US" sz="4600" u="none" cap="none" strike="noStrike">
                <a:solidFill>
                  <a:srgbClr val="FF7A3D"/>
                </a:solidFill>
                <a:latin typeface="Space Grotesk"/>
                <a:ea typeface="Space Grotesk"/>
                <a:cs typeface="Space Grotesk"/>
                <a:sym typeface="Space Grotesk"/>
              </a:rPr>
              <a:t>44 %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85432" y="4567428"/>
            <a:ext cx="4471416" cy="633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der Vertriebler haken nur ein einziges Mal nach (Praxiswert)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629400" y="52303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Werte aus Vertriebspraxis-/Beratungsquellen, keine amtliche Statistik.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logo-mark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4" cy="24231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AUTEC Sondermaschinenbau GmbH  ·  LeadPilot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3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DIE LÖSUNG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pace Grotesk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LeadPilot priorisiert und erinnert – automatisch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144475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Eine Funktion, ein Effekt: Kein offenes AUTEC-Angebot verschwindet mehr unbeobachtet.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2148840"/>
            <a:ext cx="3063240" cy="2331720"/>
          </a:xfrm>
          <a:prstGeom prst="roundRect">
            <a:avLst>
              <a:gd fmla="val 5490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786384" y="2386584"/>
            <a:ext cx="566928" cy="566928"/>
          </a:xfrm>
          <a:prstGeom prst="ellipse">
            <a:avLst/>
          </a:prstGeom>
          <a:solidFill>
            <a:srgbClr val="1A3F38"/>
          </a:solidFill>
          <a:ln cap="flat" cmpd="sng" w="15875">
            <a:solidFill>
              <a:srgbClr val="00D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s/inbox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25237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786384" y="30815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SCHRITT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86384" y="331927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Angebot erfasst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86384" y="3776472"/>
            <a:ext cx="2587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Jedes offene AUTEC-Angebot landet automatisch in der zentralen Pipeline.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cons/arrow.png" id="88" name="Google Shape;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3195828"/>
            <a:ext cx="27432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3995928" y="2148840"/>
            <a:ext cx="3063240" cy="2331720"/>
          </a:xfrm>
          <a:prstGeom prst="roundRect">
            <a:avLst>
              <a:gd fmla="val 5490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233672" y="2386584"/>
            <a:ext cx="566928" cy="566928"/>
          </a:xfrm>
          <a:prstGeom prst="ellipse">
            <a:avLst/>
          </a:prstGeom>
          <a:solidFill>
            <a:srgbClr val="1A3F38"/>
          </a:solidFill>
          <a:ln cap="flat" cmpd="sng" w="15875">
            <a:solidFill>
              <a:srgbClr val="00D9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s/sparkles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0832" y="25237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4233672" y="30815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SCHRITT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233672" y="331927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KI bewertet Priorität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233672" y="3776472"/>
            <a:ext cx="2587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Scoring nach Erfolgswahrscheinlichkeit, Dringlichkeit und nächstem Schritt.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cons/arrow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4032" y="3195828"/>
            <a:ext cx="27432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7443216" y="2148840"/>
            <a:ext cx="3063240" cy="2331720"/>
          </a:xfrm>
          <a:prstGeom prst="roundRect">
            <a:avLst>
              <a:gd fmla="val 5490" name="adj"/>
            </a:avLst>
          </a:prstGeom>
          <a:solidFill>
            <a:srgbClr val="123330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680960" y="2386584"/>
            <a:ext cx="566928" cy="566928"/>
          </a:xfrm>
          <a:prstGeom prst="ellipse">
            <a:avLst/>
          </a:prstGeom>
          <a:solidFill>
            <a:srgbClr val="1A3F38"/>
          </a:solidFill>
          <a:ln cap="flat" cmpd="sng" w="15875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s/bell.png" id="98" name="Google Shape;9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8120" y="25237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7680960" y="308152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3D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7A3D"/>
                </a:solidFill>
                <a:latin typeface="Inter"/>
                <a:ea typeface="Inter"/>
                <a:cs typeface="Inter"/>
                <a:sym typeface="Inter"/>
              </a:rPr>
              <a:t>SCHRITT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680960" y="331927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pace Grotesk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Automatische Wiedervorlage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680960" y="3776472"/>
            <a:ext cx="25877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Erinnerung genau dann, wenn die Chance am größten ist.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4800600"/>
            <a:ext cx="9966960" cy="777240"/>
          </a:xfrm>
          <a:prstGeom prst="roundRect">
            <a:avLst>
              <a:gd fmla="val 11765" name="adj"/>
            </a:avLst>
          </a:prstGeom>
          <a:solidFill>
            <a:srgbClr val="1A3F38"/>
          </a:solidFill>
          <a:ln cap="flat" cmpd="sng" w="12700">
            <a:solidFill>
              <a:srgbClr val="2A4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s/check.png" id="103" name="Google Shape;10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50520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1143000" y="4800600"/>
            <a:ext cx="9189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Kein Zusatzaufwand für Sie als Key-Account-Manager – LeadPilot arbeitet im Hintergrund mit.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logo-mark.png" id="105" name="Google Shape;10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" y="6473952"/>
            <a:ext cx="237744" cy="24231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AUTEC Sondermaschinenbau GmbH  ·  LeadPilot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4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DER NUTZEN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804672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Space Grotes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Was das für AUTEC konkret bedeutet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cons/check.png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167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932688" y="2075688"/>
            <a:ext cx="5193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Höhere Abschlussquote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bei laufenden Angeboten, ohne zusätzlichen Zeitaufwand für Ihr Team.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cons/check.png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172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932688" y="3081528"/>
            <a:ext cx="5193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Kein Angebot geht verloren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durch fehlendes Nachfassen im Tagesgeschäft.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icons/check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178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932688" y="4087368"/>
            <a:ext cx="5193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Klare Priorisierung  </a:t>
            </a:r>
            <a:r>
              <a:rPr b="0" i="0" lang="en-US" sz="14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sofort sichtbar, welches AUTEC-Projekt jetzt Aufmerksamkeit braucht.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537960" y="1965960"/>
            <a:ext cx="5074920" cy="3977640"/>
          </a:xfrm>
          <a:prstGeom prst="roundRect">
            <a:avLst>
              <a:gd fmla="val 3678" name="adj"/>
            </a:avLst>
          </a:prstGeom>
          <a:solidFill>
            <a:srgbClr val="1A3F38"/>
          </a:solidFill>
          <a:ln cap="flat" cmpd="sng" w="12700">
            <a:solidFill>
              <a:srgbClr val="00D9C6"/>
            </a:solidFill>
            <a:prstDash val="solid"/>
            <a:round/>
            <a:headEnd len="sm" w="sm" type="none"/>
            <a:tailEnd len="sm" w="sm" type="none"/>
          </a:ln>
          <a:effectLst>
            <a:outerShdw blurRad="279400" rotWithShape="0" algn="bl" dir="16200000" dist="50800">
              <a:srgbClr val="00D9C6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s/sparkles.png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0568" y="2240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7214616" y="22585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MINI-CASE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830568" y="2642616"/>
            <a:ext cx="44897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Space Grotesk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Vergleichbarer Sondermaschinenbauer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830568" y="3319272"/>
            <a:ext cx="44897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3800"/>
              <a:buFont typeface="Space Grotesk"/>
              <a:buNone/>
            </a:pPr>
            <a:r>
              <a:rPr b="1" i="0" lang="en-US" sz="3800" u="none" cap="none" strike="noStrike">
                <a:solidFill>
                  <a:srgbClr val="00D9C6"/>
                </a:solidFill>
                <a:latin typeface="Space Grotesk"/>
                <a:ea typeface="Space Grotesk"/>
                <a:cs typeface="Space Grotesk"/>
                <a:sym typeface="Space Grotesk"/>
              </a:rPr>
              <a:t>+6 %-Punkte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830568" y="4014216"/>
            <a:ext cx="4489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Abschlussquote bei laufenden Angeboten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830568" y="4398264"/>
            <a:ext cx="44897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Rund 90 Mitarbeitende, ein Quartal Laufzeit – die Abschlussquote stieg spürbar, weil kein Angebot mehr im Tagesgeschäft unterging.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830568" y="5522976"/>
            <a:ext cx="44897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Fiktives, marktnah abgeleitetes Beispiel – kein Realkunde.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logo-mark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6473952"/>
            <a:ext cx="237744" cy="2423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AUTEC Sondermaschinenbau GmbH  ·  LeadPilot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5 /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00D9C6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82296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NÄCHSTER SCHRITT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777240" y="1325880"/>
            <a:ext cx="9601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Space Grotes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Sehen wir uns die AUTEC-Pipeline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Space Grotes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gemeinsam an?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22960" y="27889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In einem 15-minütigen Deep-Dive zeigen wir Ihnen die Priorisierung an zwei, drei Ihrer aktuellen Projekte.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22960" y="3520440"/>
            <a:ext cx="2880360" cy="566928"/>
          </a:xfrm>
          <a:prstGeom prst="roundRect">
            <a:avLst>
              <a:gd fmla="val 50000" name="adj"/>
            </a:avLst>
          </a:prstGeom>
          <a:solidFill>
            <a:srgbClr val="00D9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22960" y="352044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613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61613"/>
                </a:solidFill>
                <a:latin typeface="Inter"/>
                <a:ea typeface="Inter"/>
                <a:cs typeface="Inter"/>
                <a:sym typeface="Inter"/>
              </a:rPr>
              <a:t>Termin vorschlagen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22960" y="4617720"/>
            <a:ext cx="5120640" cy="10973"/>
          </a:xfrm>
          <a:prstGeom prst="rect">
            <a:avLst/>
          </a:prstGeom>
          <a:solidFill>
            <a:srgbClr val="2A4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22960" y="48646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9C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D9C6"/>
                </a:solidFill>
                <a:latin typeface="Inter"/>
                <a:ea typeface="Inter"/>
                <a:cs typeface="Inter"/>
                <a:sym typeface="Inter"/>
              </a:rPr>
              <a:t>IHR ANSPRECHPARTNER BEI LEADPILOT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22960" y="51389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pace Grotes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Marc Pönisch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22960" y="54864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Vertrieb, LeadPilot GmbH  ·  marc.poenisch@leadpilot.de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B0BA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A7B0BA"/>
                </a:solidFill>
                <a:latin typeface="Inter"/>
                <a:ea typeface="Inter"/>
                <a:cs typeface="Inter"/>
                <a:sym typeface="Inter"/>
              </a:rPr>
              <a:t>Für Hans-Jürgen Flierl · AUTEC Sondermaschinenbau GmbH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project/logo-mark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5989320"/>
            <a:ext cx="566928" cy="5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