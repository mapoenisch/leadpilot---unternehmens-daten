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 flipH="1" rot="10800000">
            <a:off x="10392156" y="699516"/>
            <a:ext cx="844906" cy="563270"/>
          </a:xfrm>
          <a:prstGeom prst="straightConnector1">
            <a:avLst/>
          </a:prstGeom>
          <a:noFill/>
          <a:ln cap="flat" cmpd="sng" w="15875">
            <a:solidFill>
              <a:srgbClr val="00D9C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10392156" y="1262786"/>
            <a:ext cx="603504" cy="442570"/>
          </a:xfrm>
          <a:prstGeom prst="straightConnector1">
            <a:avLst/>
          </a:prstGeom>
          <a:noFill/>
          <a:ln cap="flat" cmpd="sng" w="15875">
            <a:solidFill>
              <a:srgbClr val="00D9C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10241280" y="1111910"/>
            <a:ext cx="301752" cy="30175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1086186" y="548640"/>
            <a:ext cx="201168" cy="201168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0844784" y="1554480"/>
            <a:ext cx="181051" cy="181051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48640" y="1554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MARKETINGPLANUNG · LEADPILOT GMBH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196596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6-Monats-Marketing-Roadmap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306324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August 2026 – Januar 2027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36118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Launch  ·  Adoption  ·  Conversion  ·  Brand  ·  Retention  ·  Growth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48640" y="6217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Erstellt: 02.08.2026   ·   Marc Pönisch, LeadPilot GmbH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STAND: ENDE JULI 2026 (TEILS HOCHGERECHNET)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Ausgangslage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69164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777240" y="187452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862 €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77240" y="24963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Marketing-CAC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77240" y="280720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Ziel: 700 €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160520" y="169164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389120" y="187452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18 %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389120" y="24963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Trial-to-Paid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389120" y="280720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Ziel: 25 %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772400" y="169164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001000" y="187452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2,8 %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001000" y="24963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Monatlicher Churn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001000" y="280720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Ziel: &lt;2 %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361188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77240" y="379476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77240" y="441655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77240" y="472744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Ziel: 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160520" y="361188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389120" y="379476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47 %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389120" y="441655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KI-Scoring-Nutzung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389120" y="472744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Ziel: ≥65 %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772400" y="361188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8001000" y="379476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14 Mon.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001000" y="441655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Runway (ab 31.12.2025)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001000" y="472744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Ende ca. Feb. 2027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STRATEGISCHER RAHMEN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Der Runway ist der Rahmen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48640" y="1737360"/>
            <a:ext cx="10515600" cy="1554480"/>
          </a:xfrm>
          <a:prstGeom prst="roundRect">
            <a:avLst>
              <a:gd fmla="val 4706" name="adj"/>
            </a:avLst>
          </a:prstGeom>
          <a:solidFill>
            <a:srgbClr val="20242C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914400" y="1965960"/>
            <a:ext cx="9784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Diese 6 Monate sind die letzte volle Runway-Strecke vor einer Finanzierungs- oder Profitabilitäts-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entscheidung. Marketing muss deshalb nicht nur Wachstum liefern, sondern nachweisbar an den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roten KPIs arbeiten.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5"/>
          <p:cNvCxnSpPr/>
          <p:nvPr/>
        </p:nvCxnSpPr>
        <p:spPr>
          <a:xfrm>
            <a:off x="822960" y="4206240"/>
            <a:ext cx="10058400" cy="0"/>
          </a:xfrm>
          <a:prstGeom prst="straightConnector1">
            <a:avLst/>
          </a:prstGeom>
          <a:noFill/>
          <a:ln cap="flat" cmpd="sng" w="254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5"/>
          <p:cNvSpPr/>
          <p:nvPr/>
        </p:nvSpPr>
        <p:spPr>
          <a:xfrm>
            <a:off x="740664" y="4123944"/>
            <a:ext cx="164592" cy="16459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-182880" y="4389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Aug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-182880" y="4663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Start Roadmap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089136" y="4123944"/>
            <a:ext cx="164592" cy="16459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165592" y="4389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 2027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165592" y="4663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Ende Roadmap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799064" y="4123944"/>
            <a:ext cx="164592" cy="164592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9875520" y="4389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Ca. Ende Feb 2027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9875520" y="4663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Runway-Ende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LEITIDEE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 mit Phasenlogik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48640" y="14173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Die Priorität wechselt monatlich zwischen Wachstum, Kennzahlen-Turnaround und Markenaufbau – passend zum Geschäftsrhythmus.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6"/>
          <p:cNvCxnSpPr/>
          <p:nvPr/>
        </p:nvCxnSpPr>
        <p:spPr>
          <a:xfrm>
            <a:off x="1005840" y="3291840"/>
            <a:ext cx="10149840" cy="0"/>
          </a:xfrm>
          <a:prstGeom prst="straightConnector1">
            <a:avLst/>
          </a:prstGeom>
          <a:noFill/>
          <a:ln cap="flat" cmpd="sng" w="254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6"/>
          <p:cNvSpPr/>
          <p:nvPr/>
        </p:nvSpPr>
        <p:spPr>
          <a:xfrm>
            <a:off x="749808" y="3035808"/>
            <a:ext cx="512064" cy="512064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749808" y="315468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AUG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20040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20040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Wachstum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779776" y="3035808"/>
            <a:ext cx="512064" cy="512064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2779776" y="315468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SEP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350008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Adoption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350008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Turnaround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809744" y="3035808"/>
            <a:ext cx="512064" cy="512064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809744" y="315468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OKT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379976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379976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Turnaround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839712" y="3035808"/>
            <a:ext cx="512064" cy="512064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839712" y="315468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409944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409944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Markenaufbau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869680" y="3035808"/>
            <a:ext cx="512064" cy="512064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869680" y="315468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DEZ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439912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439912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Turnaround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0899648" y="3035808"/>
            <a:ext cx="512064" cy="512064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0899648" y="315468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JAN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0469880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0469880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Wachstum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ZIELE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6-Monats-Ziele: Ausgangswert → Januar 2027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48640" y="169164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777240" y="18562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Neukunden/Monat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777240" y="23134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~4</a:t>
            </a:r>
            <a:r>
              <a:rPr b="0" i="0" lang="en-US" sz="1600" u="none" cap="none" strike="noStrike">
                <a:solidFill>
                  <a:srgbClr val="9AA1AC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2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160520" y="169164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389120" y="18562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Marketing-CAC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389120" y="23134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862 €</a:t>
            </a:r>
            <a:r>
              <a:rPr b="0" i="0" lang="en-US" sz="1600" u="none" cap="none" strike="noStrike">
                <a:solidFill>
                  <a:srgbClr val="9AA1AC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2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720 €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772400" y="169164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8001000" y="18562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Trial-to-Paid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001000" y="23134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18 %</a:t>
            </a:r>
            <a:r>
              <a:rPr b="0" i="0" lang="en-US" sz="1600" u="none" cap="none" strike="noStrike">
                <a:solidFill>
                  <a:srgbClr val="9AA1AC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2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24 %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48640" y="342900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777240" y="359359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Monatlicher Churn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777240" y="40507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2,8 %</a:t>
            </a:r>
            <a:r>
              <a:rPr b="0" i="0" lang="en-US" sz="1600" u="none" cap="none" strike="noStrike">
                <a:solidFill>
                  <a:srgbClr val="9AA1AC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2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2,2 %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160520" y="342900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389120" y="359359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NPS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389120" y="40507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r>
              <a:rPr b="0" i="0" lang="en-US" sz="1600" u="none" cap="none" strike="noStrike">
                <a:solidFill>
                  <a:srgbClr val="9AA1AC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2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772400" y="342900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001000" y="359359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KI-Scoring-Nutzung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001000" y="40507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47 %</a:t>
            </a:r>
            <a:r>
              <a:rPr b="0" i="0" lang="en-US" sz="1600" u="none" cap="none" strike="noStrike">
                <a:solidFill>
                  <a:srgbClr val="9AA1AC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2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65 %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MONATSÜBERSICHT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August – Oktober 2026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48640" y="169164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49808" y="189280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AUG · LAUNCH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749808" y="2194560"/>
            <a:ext cx="2889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LeadPilot Connect – Zapier/Make-Sprint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749808" y="292608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49808" y="3154680"/>
            <a:ext cx="2889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 Trial-Signups im Launch-Sprint (24.08.–06.09.)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49808" y="416052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KANÄLE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749808" y="4389120"/>
            <a:ext cx="2889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LinkedIn, E-Mail, Blog, Landingpage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8"/>
          <p:cNvCxnSpPr/>
          <p:nvPr/>
        </p:nvCxnSpPr>
        <p:spPr>
          <a:xfrm>
            <a:off x="749808" y="5486400"/>
            <a:ext cx="2889504" cy="0"/>
          </a:xfrm>
          <a:prstGeom prst="straightConnector1">
            <a:avLst/>
          </a:prstGeom>
          <a:noFill/>
          <a:ln cap="flat" cmpd="sng" w="127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8"/>
          <p:cNvSpPr/>
          <p:nvPr/>
        </p:nvSpPr>
        <p:spPr>
          <a:xfrm>
            <a:off x="749808" y="56052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49808" y="560527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2.500 €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160520" y="169164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361688" y="189280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Arial"/>
                <a:ea typeface="Arial"/>
                <a:cs typeface="Arial"/>
                <a:sym typeface="Arial"/>
              </a:rPr>
              <a:t>SEP · ADOPTION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361688" y="2194560"/>
            <a:ext cx="2889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KI-Scoring-Nutzung hochziehen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361688" y="292608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361688" y="3154680"/>
            <a:ext cx="2889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KI-Scoring-Nutzung von 47 % auf 55 %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361688" y="416052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KANÄLE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361688" y="4389120"/>
            <a:ext cx="2889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E-Mail/Lifecycle, LinkedIn, Webinar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8"/>
          <p:cNvCxnSpPr/>
          <p:nvPr/>
        </p:nvCxnSpPr>
        <p:spPr>
          <a:xfrm>
            <a:off x="4361688" y="5486400"/>
            <a:ext cx="2889504" cy="0"/>
          </a:xfrm>
          <a:prstGeom prst="straightConnector1">
            <a:avLst/>
          </a:prstGeom>
          <a:noFill/>
          <a:ln cap="flat" cmpd="sng" w="127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8"/>
          <p:cNvSpPr/>
          <p:nvPr/>
        </p:nvSpPr>
        <p:spPr>
          <a:xfrm>
            <a:off x="4361688" y="56052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361688" y="560527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3.375 €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772400" y="169164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7973568" y="189280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Arial"/>
                <a:ea typeface="Arial"/>
                <a:cs typeface="Arial"/>
                <a:sym typeface="Arial"/>
              </a:rPr>
              <a:t>OKT · CONVERSION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973568" y="2194560"/>
            <a:ext cx="2889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Trial-to-Paid optimieren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973568" y="292608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973568" y="3154680"/>
            <a:ext cx="2889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Trial-to-Paid von 19 % auf 21 % (Case Studies, Vergleichsseite)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7973568" y="416052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KANÄLE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973568" y="4389120"/>
            <a:ext cx="2889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Blog/SEO, LinkedIn, OMR Reviews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7973568" y="5486400"/>
            <a:ext cx="2889504" cy="0"/>
          </a:xfrm>
          <a:prstGeom prst="straightConnector1">
            <a:avLst/>
          </a:prstGeom>
          <a:noFill/>
          <a:ln cap="flat" cmpd="sng" w="127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8"/>
          <p:cNvSpPr/>
          <p:nvPr/>
        </p:nvSpPr>
        <p:spPr>
          <a:xfrm>
            <a:off x="7973568" y="56052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973568" y="560527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3.375 €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MONATSÜBERSICHT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November 2026 – Januar 2027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48640" y="169164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749808" y="189280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NOV · BRAND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749808" y="2194560"/>
            <a:ext cx="2889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Sichtbarkeit vor der Budgetsaison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49808" y="292608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749808" y="3154680"/>
            <a:ext cx="2889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Reichweite &amp; MQLs vor Q1-Budgetplanung der Kunden (Trendreport, PR)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49808" y="416052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KANÄLE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49808" y="4389120"/>
            <a:ext cx="2889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PR/Fachmedien, LinkedIn, Gated Content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9"/>
          <p:cNvCxnSpPr/>
          <p:nvPr/>
        </p:nvCxnSpPr>
        <p:spPr>
          <a:xfrm>
            <a:off x="749808" y="5486400"/>
            <a:ext cx="2889504" cy="0"/>
          </a:xfrm>
          <a:prstGeom prst="straightConnector1">
            <a:avLst/>
          </a:prstGeom>
          <a:noFill/>
          <a:ln cap="flat" cmpd="sng" w="127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9"/>
          <p:cNvSpPr/>
          <p:nvPr/>
        </p:nvSpPr>
        <p:spPr>
          <a:xfrm>
            <a:off x="749808" y="56052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749808" y="560527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3.375 €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160520" y="169164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361688" y="189280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Arial"/>
                <a:ea typeface="Arial"/>
                <a:cs typeface="Arial"/>
                <a:sym typeface="Arial"/>
              </a:rPr>
              <a:t>DEZ · RETENTION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361688" y="2194560"/>
            <a:ext cx="2889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NPS, Churn &amp; Jahresend-Renewals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361688" y="292608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361688" y="3154680"/>
            <a:ext cx="2889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NPS von 37 auf 39, Vertragsverlängerungen sichern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361688" y="416052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KANÄLE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361688" y="4389120"/>
            <a:ext cx="2889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E-Mail, In-App, LinkedIn (reduziert)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9"/>
          <p:cNvCxnSpPr/>
          <p:nvPr/>
        </p:nvCxnSpPr>
        <p:spPr>
          <a:xfrm>
            <a:off x="4361688" y="5486400"/>
            <a:ext cx="2889504" cy="0"/>
          </a:xfrm>
          <a:prstGeom prst="straightConnector1">
            <a:avLst/>
          </a:prstGeom>
          <a:noFill/>
          <a:ln cap="flat" cmpd="sng" w="127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9"/>
          <p:cNvSpPr/>
          <p:nvPr/>
        </p:nvSpPr>
        <p:spPr>
          <a:xfrm>
            <a:off x="4361688" y="56052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361688" y="560527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2.500 €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7772400" y="169164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7973568" y="189280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JAN · GROWTH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973568" y="2194560"/>
            <a:ext cx="2889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Neujahrs-Pipeline-Push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7973568" y="292608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7973568" y="3154680"/>
            <a:ext cx="2889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 Neukunden – Launch Partnerprogramm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973568" y="416052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KANÄLE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973568" y="4389120"/>
            <a:ext cx="2889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LinkedIn Ads, Partnerprogramm, E-Mail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9"/>
          <p:cNvCxnSpPr/>
          <p:nvPr/>
        </p:nvCxnSpPr>
        <p:spPr>
          <a:xfrm>
            <a:off x="7973568" y="5486400"/>
            <a:ext cx="2889504" cy="0"/>
          </a:xfrm>
          <a:prstGeom prst="straightConnector1">
            <a:avLst/>
          </a:prstGeom>
          <a:noFill/>
          <a:ln cap="flat" cmpd="sng" w="127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9"/>
          <p:cNvSpPr/>
          <p:nvPr/>
        </p:nvSpPr>
        <p:spPr>
          <a:xfrm>
            <a:off x="7973568" y="56052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7973568" y="560527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4.250 €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Budget je Monat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694944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/>
          <p:nvPr/>
        </p:nvSpPr>
        <p:spPr>
          <a:xfrm>
            <a:off x="7863840" y="1691640"/>
            <a:ext cx="3200400" cy="1828800"/>
          </a:xfrm>
          <a:prstGeom prst="roundRect">
            <a:avLst>
              <a:gd fmla="val 4000" name="adj"/>
            </a:avLst>
          </a:prstGeom>
          <a:solidFill>
            <a:srgbClr val="20242C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8092440" y="1874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GESAMTBUDGET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8092440" y="21488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19.375 €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092440" y="2788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von 20.250 € Halbjahresbudget (Fortschreibung 2025) – ~875 € Kontingenz-Puffer.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7863840" y="3794760"/>
            <a:ext cx="3200400" cy="2103120"/>
          </a:xfrm>
          <a:prstGeom prst="roundRect">
            <a:avLst>
              <a:gd fmla="val 3478" name="adj"/>
            </a:avLst>
          </a:prstGeom>
          <a:solidFill>
            <a:srgbClr val="20242C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8092440" y="3977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HÖCHSTES MONATSBUDGET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8092440" y="42519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Januar · 4.250 €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8092440" y="46177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Neujahrs-Pipeline-Push inkl. Launch Partnerprogramm.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KANALSTRATEGIE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Kanal-Mix-Entwicklung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2377440" y="14630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3794760" y="14630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212080" y="14630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Okt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629400" y="14630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8046720" y="14630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9464040" y="14630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48640" y="208483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2958084" y="2167128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4411980" y="2203704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5829300" y="2203704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7210044" y="2167128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8700516" y="2240280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10044684" y="2167128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548640" y="28346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E-Mail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2994660" y="2953512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375404" y="2916936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5829300" y="2953512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7283196" y="2990088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8627364" y="2916936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10081260" y="2953512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548640" y="358444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Blog/SEO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2994660" y="3703320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4448556" y="3739896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5792724" y="3666744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7246620" y="3703320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8700516" y="3739896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10117836" y="3739896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548640" y="433425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Paid/Ads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3031236" y="4489704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448556" y="4489704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5829300" y="4453128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7283196" y="4489704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8700516" y="4489704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10044684" y="4416552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548640" y="5084064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PR/Earned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3031236" y="5239512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4448556" y="5239512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5829300" y="5202936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7210044" y="5166360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8700516" y="5239512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10081260" y="5202936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2377440" y="6035040"/>
            <a:ext cx="146304" cy="146304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2606040" y="59618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Hoch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206240" y="6035040"/>
            <a:ext cx="146304" cy="146304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4434840" y="59618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Mittel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035040" y="6035040"/>
            <a:ext cx="146304" cy="146304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6263640" y="59618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Niedrig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ZU BEOBACHTEN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Risiken auf Planungsebene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548640" y="1737360"/>
            <a:ext cx="5097780" cy="1737360"/>
          </a:xfrm>
          <a:prstGeom prst="roundRect">
            <a:avLst>
              <a:gd fmla="val 421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804672" y="1993392"/>
            <a:ext cx="420624" cy="420624"/>
          </a:xfrm>
          <a:prstGeom prst="ellipse">
            <a:avLst/>
          </a:prstGeom>
          <a:solidFill>
            <a:srgbClr val="2A1F1A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804672" y="19933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1417320" y="1993392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Runway-Risiko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1417320" y="2359152"/>
            <a:ext cx="40005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Laufzeit endet ca. Ende Q1 2027 – jede Kampagne braucht einen klaren ROI-Nachweis.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5966460" y="1737360"/>
            <a:ext cx="5097780" cy="1737360"/>
          </a:xfrm>
          <a:prstGeom prst="roundRect">
            <a:avLst>
              <a:gd fmla="val 421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6222492" y="1993392"/>
            <a:ext cx="420624" cy="420624"/>
          </a:xfrm>
          <a:prstGeom prst="ellipse">
            <a:avLst/>
          </a:prstGeom>
          <a:solidFill>
            <a:srgbClr val="2A1F1A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6222492" y="19933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835140" y="1993392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Saisonalität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835140" y="2359152"/>
            <a:ext cx="40005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Dezember ist B2B-seitig traditionell schwach – Erwartungen entsprechend dämpfen.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548640" y="3794760"/>
            <a:ext cx="5097780" cy="1737360"/>
          </a:xfrm>
          <a:prstGeom prst="roundRect">
            <a:avLst>
              <a:gd fmla="val 421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804672" y="4050792"/>
            <a:ext cx="420624" cy="420624"/>
          </a:xfrm>
          <a:prstGeom prst="ellipse">
            <a:avLst/>
          </a:prstGeom>
          <a:solidFill>
            <a:srgbClr val="2A1F1A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804672" y="40507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417320" y="4050792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Abhängigkeit von Produkt/Tech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1417320" y="4416552"/>
            <a:ext cx="40005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KI-Scoring-Adoption kann Marketing nicht allein heben, wenn die Onboarding-UX nicht mitzieht.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5966460" y="3794760"/>
            <a:ext cx="5097780" cy="1737360"/>
          </a:xfrm>
          <a:prstGeom prst="roundRect">
            <a:avLst>
              <a:gd fmla="val 421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6222492" y="4050792"/>
            <a:ext cx="420624" cy="420624"/>
          </a:xfrm>
          <a:prstGeom prst="ellipse">
            <a:avLst/>
          </a:prstGeom>
          <a:solidFill>
            <a:srgbClr val="2A1F1A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6222492" y="40507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6835140" y="4050792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Wettbewerbsdruck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6835140" y="4416552"/>
            <a:ext cx="40005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Pipedrive/HubSpot senken ihre Einstiegshürden weiter und könnten den Einfachheits-Vorteil einholen.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Google Shape;328;p13"/>
          <p:cNvCxnSpPr/>
          <p:nvPr/>
        </p:nvCxnSpPr>
        <p:spPr>
          <a:xfrm flipH="1" rot="10800000">
            <a:off x="10428732" y="598932"/>
            <a:ext cx="537667" cy="358445"/>
          </a:xfrm>
          <a:prstGeom prst="straightConnector1">
            <a:avLst/>
          </a:prstGeom>
          <a:noFill/>
          <a:ln cap="flat" cmpd="sng" w="15875">
            <a:solidFill>
              <a:srgbClr val="00D9C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13"/>
          <p:cNvCxnSpPr/>
          <p:nvPr/>
        </p:nvCxnSpPr>
        <p:spPr>
          <a:xfrm>
            <a:off x="10428732" y="957377"/>
            <a:ext cx="384048" cy="281635"/>
          </a:xfrm>
          <a:prstGeom prst="straightConnector1">
            <a:avLst/>
          </a:prstGeom>
          <a:noFill/>
          <a:ln cap="flat" cmpd="sng" w="15875">
            <a:solidFill>
              <a:srgbClr val="00D9C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3"/>
          <p:cNvSpPr/>
          <p:nvPr/>
        </p:nvSpPr>
        <p:spPr>
          <a:xfrm>
            <a:off x="10332720" y="861365"/>
            <a:ext cx="192024" cy="192024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10870387" y="502920"/>
            <a:ext cx="128016" cy="128016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10716768" y="1143000"/>
            <a:ext cx="115214" cy="115214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NÄCHSTE SCHRITTE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Bereit für den Start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548640" y="1783080"/>
            <a:ext cx="310896" cy="310896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548640" y="17830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051560" y="1755648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Freigabe der Roadmap und des Budgets durch die Geschäftsführung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48640" y="2350008"/>
            <a:ext cx="310896" cy="310896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548640" y="23500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1051560" y="232257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LeadPilot-Connect-Sprint (August) wie im Kampagnenbrief starten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548640" y="2916936"/>
            <a:ext cx="310896" cy="310896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548640" y="291693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051560" y="2889504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Monatliches KPI-Dashboard entlang der Faktenblatt-Kennzahlen einrichten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548640" y="3483864"/>
            <a:ext cx="310896" cy="310896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548640" y="348386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1051560" y="3456432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Vertiefte Reviews Ende September und Ende Dezember einplanen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548640" y="4050792"/>
            <a:ext cx="310896" cy="310896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548640" y="405079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051560" y="402336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Verantwortlichkeiten je Monat im Marketing-Team zuweisen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48640" y="4754880"/>
            <a:ext cx="10515600" cy="1234440"/>
          </a:xfrm>
          <a:prstGeom prst="roundRect">
            <a:avLst>
              <a:gd fmla="val 5926" name="adj"/>
            </a:avLst>
          </a:prstGeom>
          <a:solidFill>
            <a:srgbClr val="20242C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868680" y="4983480"/>
            <a:ext cx="9875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800"/>
              <a:buFont typeface="Calibri"/>
              <a:buNone/>
            </a:pPr>
            <a:r>
              <a:rPr b="1" i="1" lang="en-US" sz="18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„LeadPilot verbindet sich – kein Lead bleibt zurück.“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