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759c2567f54ce4" /><Relationship Type="http://schemas.openxmlformats.org/officeDocument/2006/relationships/extended-properties" Target="/docProps/app.xml" Id="R1a815d873a594062" /><Relationship Type="http://schemas.openxmlformats.org/officeDocument/2006/relationships/officeDocument" Target="/ppt/presentation.xml" Id="Rb43402e7e27348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1f44a137c64031"/>
  </p:sldMasterIdLst>
  <p:notesMasterIdLst>
    <p:notesMasterId xmlns:r="http://schemas.openxmlformats.org/officeDocument/2006/relationships" r:id="R2d17d10b318b4587"/>
  </p:notesMasterIdLst>
  <p:sldIdLst>
    <p:sldId xmlns:r="http://schemas.openxmlformats.org/officeDocument/2006/relationships" id="256" r:id="Rd445d6358b4b482a"/>
    <p:sldId xmlns:r="http://schemas.openxmlformats.org/officeDocument/2006/relationships" id="257" r:id="Rdc1cb17504e04e41"/>
    <p:sldId xmlns:r="http://schemas.openxmlformats.org/officeDocument/2006/relationships" id="258" r:id="Rd1b16b49cd0c48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1d6fb13e554b90" /><Relationship Type="http://schemas.openxmlformats.org/officeDocument/2006/relationships/slideMaster" Target="/ppt/slideMasters/slideMaster1.xml" Id="R871f44a137c64031" /><Relationship Type="http://schemas.openxmlformats.org/officeDocument/2006/relationships/notesMaster" Target="/ppt/notesMasters/notesMaster1.xml" Id="R2d17d10b318b4587" /><Relationship Type="http://schemas.openxmlformats.org/officeDocument/2006/relationships/presProps" Target="/ppt/presProps.xml" Id="Rdbcefff8b7dd4e22" /><Relationship Type="http://schemas.openxmlformats.org/officeDocument/2006/relationships/tableStyles" Target="/ppt/tableStyles.xml" Id="Rc86761aeb96e4215" /><Relationship Type="http://schemas.openxmlformats.org/officeDocument/2006/relationships/slide" Target="/ppt/slides/slide1.xml" Id="Rd445d6358b4b482a" /><Relationship Type="http://schemas.openxmlformats.org/officeDocument/2006/relationships/slide" Target="/ppt/slides/slide2.xml" Id="Rdc1cb17504e04e41" /><Relationship Type="http://schemas.openxmlformats.org/officeDocument/2006/relationships/slide" Target="/ppt/slides/slide3.xml" Id="Rd1b16b49cd0c48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04cdee841b43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916734176b4d16" /><Relationship Type="http://schemas.openxmlformats.org/officeDocument/2006/relationships/notesMaster" Target="/ppt/notesMasters/notesMaster1.xml" Id="Rbe88441a10b449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e202fb83dc46d5" /><Relationship Type="http://schemas.openxmlformats.org/officeDocument/2006/relationships/notesMaster" Target="/ppt/notesMasters/notesMaster1.xml" Id="R207df2c5eb0d4b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80253736294d4d" /><Relationship Type="http://schemas.openxmlformats.org/officeDocument/2006/relationships/notesMaster" Target="/ppt/notesMasters/notesMaster1.xml" Id="R6d73826d623346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Fiktives Zukunftskonzept. Ausgangsproblem 150.000 EUR aus dem gelieferten Kundenszenario, keine Einspargarantie. Quellen: LeadPilot Pitch für Jens Hartwig Kopie.pptx; LeadPilot-Pitch-Hartwig-hell-2-bis-4 Kopie.pptx. Faktenblatt v1.2 Abschnitte 1, 9, 16: Mobile App bisher ausdrücklich ausgeschlossen. Expo ist hier eine neue Planungsidee. Funktionsvorbild https://www.mystandleads.com/de/ (13.10.2026). *Szenarioannahme des Kundenpitches. Bild KI-generiert, Konzeptvisualisierung.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Geplante Funktionen, keine Bestandsbehauptung. Funktionsumfang: https://www.mystandleads.com/de/ und bereitgestellte Screens in lp_mobile_feature/features_singleview. 13 Ansichten: Aktivierung, Datenvisualisierung, Cardview, Karten scannen, Kommunikation, Ratings, Fragebögen, Notizen, Dokumente versenden, Fotos, Unterschriften, Freihandskizzen, Präsentieren. Ergänzend Schnellstart, Teamwork, kontaktarme Nutzung, Export und Datenschutzanforderungen. LeadPilot-Anschluss an bestehende automatische Aufgaben-Zuweisung, KI-Scoring und Automatisierungen nach Paket: Faktenblatt v1.2 Abschnitte 2 und 16. 48 Stunden ist ein neu vorgeschlagenes Pilotziel; eine Wiedervorlage bedeutet nicht, dass schon Kontakt aufgenommen wurde. Smartphone-Ansicht: eigenständig gestalteter Prototyp, Beispieldaten.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Preisquelle: LeadPilot Faktenblatt v1.2 Abschnitt 2 und Persona Abschnitt 13: Growth 89 EUR pro Nutzer/Monat, 7 Nutzer = 623 EUR/Monat bzw. 7.476 EUR/Jahr vor Jahresrabatt, zzgl. Setup. Keine Paketpreise pro Account. Expo ohne separaten Modulaufschlag ist eine neue Konzeptentscheidung, kein bestehendes Angebot. 14 Tage Test, kein Freemium. Pro auf individuelles Angebot. Netto-B2B-Preise sind Konzeptannahme. Pilotziele sind nicht bereits erreicht. Frühestens Q3 2027 Vollumfang ist eine neue Planung unter Kapazitäts- und Datenschutzvorbehalt; bestehende v2.0/v2.1-Status bleiben unberührt. Keine Einsparungs- oder Umsatzgarantie. CTA bezeichnet einen Gesprächsvorschlag, keinen gebuchten Termin.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e69a5e3ea49c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cdcf4f560042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9e96bd6ed140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072dbf647412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fc76a70b1744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22ce263b145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FDCC1C0-F00A-4D1C-9350-4598AE6F2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6857F8C-D0D9-4D6F-ABD3-032C1B9348B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7DE55FA-C03D-48DE-B69D-73E79298B0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E44AD9-FB71-4F4D-A1DD-D90ED72CC0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71B1F3-7F11-44C4-8680-E0ED6ADF43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E64073F-47CA-4B8A-9BD9-BCA91A305E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19D726-98B1-4BBF-A8C6-F061C419B8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CC60E70-1745-4930-810D-12CFEEABEA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83A89FE-16A9-4AAD-A099-10D8D7649C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6960B03-C758-41BB-9DEB-73A5082543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a51bcd8a5e470a" /><Relationship Type="http://schemas.openxmlformats.org/officeDocument/2006/relationships/slideLayout" Target="/ppt/slideLayouts/slideLayout1.xml" Id="Rda5d4bea6b1e40c0" /><Relationship Type="http://schemas.openxmlformats.org/officeDocument/2006/relationships/slideLayout" Target="/ppt/slideLayouts/slideLayout2.xml" Id="R02569616d3b24012" /><Relationship Type="http://schemas.openxmlformats.org/officeDocument/2006/relationships/slideLayout" Target="/ppt/slideLayouts/slideLayout3.xml" Id="R0a638b28de2d4203" /><Relationship Type="http://schemas.openxmlformats.org/officeDocument/2006/relationships/slideLayout" Target="/ppt/slideLayouts/slideLayout4.xml" Id="Rd02c938002834510" /><Relationship Type="http://schemas.openxmlformats.org/officeDocument/2006/relationships/slideLayout" Target="/ppt/slideLayouts/slideLayout5.xml" Id="Rdcc260d266624308" /><Relationship Type="http://schemas.openxmlformats.org/officeDocument/2006/relationships/slideLayout" Target="/ppt/slideLayouts/slideLayout6.xml" Id="R4111078a0b8d45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5d4bea6b1e40c0"/>
    <p:sldLayoutId xmlns:r="http://schemas.openxmlformats.org/officeDocument/2006/relationships" id="2147483650" r:id="R02569616d3b24012"/>
    <p:sldLayoutId xmlns:r="http://schemas.openxmlformats.org/officeDocument/2006/relationships" id="2147483651" r:id="R0a638b28de2d4203"/>
    <p:sldLayoutId xmlns:r="http://schemas.openxmlformats.org/officeDocument/2006/relationships" id="2147483652" r:id="Rd02c938002834510"/>
    <p:sldLayoutId xmlns:r="http://schemas.openxmlformats.org/officeDocument/2006/relationships" id="2147483653" r:id="Rdcc260d266624308"/>
    <p:sldLayoutId xmlns:r="http://schemas.openxmlformats.org/officeDocument/2006/relationships" id="2147483654" r:id="R4111078a0b8d45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46f6a3e5ae4089" /><Relationship Type="http://schemas.openxmlformats.org/officeDocument/2006/relationships/image" Target="/ppt/media/image.png" Id="R773f021243e240be" /><Relationship Type="http://schemas.openxmlformats.org/officeDocument/2006/relationships/image" Target="/ppt/media/image2.png" Id="Rd697bbcc34864e29" /><Relationship Type="http://schemas.openxmlformats.org/officeDocument/2006/relationships/notesSlide" Target="/ppt/notesSlides/notesSlide1.xml" Id="R2134dab22d1444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753e25bbaa4d3f" /><Relationship Type="http://schemas.openxmlformats.org/officeDocument/2006/relationships/image" Target="/ppt/media/image3.png" Id="R71cd807402a8421a" /><Relationship Type="http://schemas.openxmlformats.org/officeDocument/2006/relationships/image" Target="/ppt/media/image4.png" Id="Ra69f9cbb2e7f4903" /><Relationship Type="http://schemas.openxmlformats.org/officeDocument/2006/relationships/notesSlide" Target="/ppt/notesSlides/notesSlide2.xml" Id="Ra7897c415bac40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0399afd5b54174" /><Relationship Type="http://schemas.openxmlformats.org/officeDocument/2006/relationships/image" Target="/ppt/media/image5.png" Id="R20731ff33a7643e9" /><Relationship Type="http://schemas.openxmlformats.org/officeDocument/2006/relationships/notesSlide" Target="/ppt/notesSlides/notesSlide3.xml" Id="R291487905d4d4b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E630D-B22C-451B-A619-9C8E3C8A2BA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f021243e240b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0FE4C-B97E-4EAC-B27D-54295BB9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10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11F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D5730-326D-4C10-B5D1-E979BA2EB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0"/>
            <a:ext cx="142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11F"/>
          </a:solidFill>
          <a:ln xmlns:a="http://schemas.openxmlformats.org/drawingml/2006/main" w="0">
            <a:noFill/>
          </a:ln>
        </p:spPr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BADF7-2189-44C5-920B-4DC6111A8A9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7bbcc34864e29"/>
          <a:stretch xmlns:a="http://schemas.openxmlformats.org/drawingml/2006/main"/>
        </p:blipFill>
        <p:spPr>
          <a:xfrm xmlns:a="http://schemas.openxmlformats.org/drawingml/2006/main">
            <a:off x="609600" y="384879"/>
            <a:ext cx="1571625" cy="70661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D2DA14-5719-4E9E-9FFE-565E6A53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00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1">
                <a:solidFill>
                  <a:srgbClr val="FF7A3D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1">
                <a:solidFill>
                  <a:srgbClr val="FF7A3D"/>
                </a:solidFill>
                <a:latin typeface="Inter"/>
                <a:ea typeface="Inter"/>
                <a:cs typeface="Inter"/>
              </a:defRPr>
            </a:pPr>
            <a:r>
              <a:rPr sz="1050" b="1">
                <a:solidFill>
                  <a:srgbClr val="FF7A3D"/>
                </a:solidFill>
                <a:latin typeface="Inter"/>
                <a:ea typeface="Inter"/>
                <a:cs typeface="Inter"/>
              </a:rPr>
              <a:t>NEU GEDACHT FÜR JENS HARTWIG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0A7A17-7917-4CEA-8C7A-A566D69D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595312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6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6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Messekontakte brauchen</a:t>
            </a:r>
          </a:p>
          <a:p xmlns:a="http://schemas.openxmlformats.org/drawingml/2006/main">
            <a:pPr>
              <a:defRPr sz="36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6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einen nächsten Schritt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E85CD-06EE-4712-A1AF-C409D0E1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528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00D9C6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D9C6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00D9C6"/>
                </a:solidFill>
                <a:latin typeface="Space Grotesk"/>
                <a:ea typeface="Space Grotesk"/>
                <a:cs typeface="Space Grotesk"/>
              </a:rPr>
              <a:t>LeadPilot Expo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0D04C-E6E8-415F-9F8B-4A67D60F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571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B2CEC6"/>
                </a:solidFill>
                <a:latin typeface="Inter"/>
                <a:ea typeface="Inter"/>
                <a:cs typeface="Inter"/>
              </a:rPr>
              <a:t>Das geplante Messe-Modul Ihrer mobilen</a:t>
            </a:r>
          </a:p>
          <a:p xmlns:a="http://schemas.openxmlformats.org/drawingml/2006/main">
            <a:pPr>
              <a:defRPr sz="1800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pPr>
            <a:r>
              <a:rPr sz="1800" b="0">
                <a:solidFill>
                  <a:srgbClr val="B2CEC6"/>
                </a:solidFill>
                <a:latin typeface="Inter"/>
                <a:ea typeface="Inter"/>
                <a:cs typeface="Inter"/>
              </a:rPr>
              <a:t>LeadPilot-CRM-Version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32E51-733F-4DAA-AE91-49D692BD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5524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10302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221782-A9B6-4246-B425-3A93B9C2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72075"/>
            <a:ext cx="2333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00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defRPr>
            </a:pPr>
            <a:r>
              <a:rPr sz="2700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rPr>
              <a:t>150.000 €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F6A0D-5AD5-4FC0-B00E-80F86618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629275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2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jährlicher Erstumsatz im Risiko*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51F82-FC3E-423F-A669-6AF0133D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600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pPr>
            <a:r>
              <a:rPr sz="825" b="0">
                <a:solidFill>
                  <a:srgbClr val="B2CEC6"/>
                </a:solidFill>
                <a:latin typeface="Inter"/>
                <a:ea typeface="Inter"/>
                <a:cs typeface="Inter"/>
              </a:rPr>
              <a:t>*Aus Hartwigs fiktivem Kundenszenario; keine Einspargarantie.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F2226C-554C-402A-BAEF-45563E87D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406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C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9A485-3B7E-4F06-A89B-8098FF1A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rPr>
              <a:t>LEADPILOT EXPO · FIKTIVES ZUKUNFTSKONZEPT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7D51F9-0BE3-4955-AD5D-C53AAAC2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rPr>
              <a:t>1 / 3</a:t>
            </a:r>
          </a:p>
        </p:txBody>
      </p:sp>
    </p:spTree>
    <p:extLst>
      <p:ext uri="{BB962C8B-B14F-4D97-AF65-F5344CB8AC3E}">
        <p14:creationId xmlns:p14="http://schemas.microsoft.com/office/powerpoint/2010/main" val="9996791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AF6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3622C-F74E-4AD8-BA9D-26F05D5ABC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d807402a8421a"/>
          <a:stretch xmlns:a="http://schemas.openxmlformats.org/drawingml/2006/main"/>
        </p:blipFill>
        <p:spPr>
          <a:xfrm xmlns:a="http://schemas.openxmlformats.org/drawingml/2006/main">
            <a:off x="609600" y="308567"/>
            <a:ext cx="1000125" cy="44966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76CAF-A60A-4F8F-9420-F7726B66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0477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796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0796E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796E"/>
                </a:solidFill>
                <a:latin typeface="Inter"/>
                <a:ea typeface="Inter"/>
                <a:cs typeface="Inter"/>
              </a:rPr>
              <a:t>VOM MESSESTAND IN IHRE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A4464-73B3-4A5B-95A9-17830151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10906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225" b="1">
                <a:solidFill>
                  <a:srgbClr val="0B211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0B211F"/>
                </a:solidFill>
                <a:latin typeface="Space Grotesk"/>
                <a:ea typeface="Space Grotesk"/>
                <a:cs typeface="Space Grotesk"/>
              </a:defRPr>
            </a:pPr>
            <a:r>
              <a:rPr sz="3225" b="1">
                <a:solidFill>
                  <a:srgbClr val="0B211F"/>
                </a:solidFill>
                <a:latin typeface="Space Grotesk"/>
                <a:ea typeface="Space Grotesk"/>
                <a:cs typeface="Space Grotesk"/>
              </a:rPr>
              <a:t>Am Stand erfassen. Im CRM weiterarbeiten.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D6E6F7-FAF2-4155-8A3E-CCA0FD14CD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f9cbb2e7f4903"/>
          <a:stretch xmlns:a="http://schemas.openxmlformats.org/drawingml/2006/main"/>
        </p:blipFill>
        <p:spPr>
          <a:xfrm xmlns:a="http://schemas.openxmlformats.org/drawingml/2006/main">
            <a:off x="942933" y="2286000"/>
            <a:ext cx="1905084" cy="3857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F877A6-B39C-43D3-9D14-A262C64E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28875"/>
            <a:ext cx="7981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302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B1B95-C895-4A9D-A646-037DF1BB0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09850"/>
            <a:ext cx="57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257F4C-C4D0-4FAA-9BE9-C5B18AB1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666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Kontakt erfassen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8FE30-57E9-4DCA-A875-3FBE828BF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24175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1E5DE"/>
                </a:solidFill>
                <a:latin typeface="Inter"/>
                <a:ea typeface="Inter"/>
                <a:cs typeface="Inter"/>
              </a:rPr>
              <a:t>Visitenkarte scannen und Angaben prüfen.</a:t>
            </a:r>
          </a:p>
          <a:p xmlns:a="http://schemas.openxmlformats.org/drawingml/2006/main">
            <a: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1E5DE"/>
                </a:solidFill>
                <a:latin typeface="Inter"/>
                <a:ea typeface="Inter"/>
                <a:cs typeface="Inter"/>
              </a:rPr>
              <a:t>Kein späteres Abtippen aus dem Kartenstapel.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88268-72D7-4C4F-AF5B-5CEBD2BE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629025"/>
            <a:ext cx="7981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302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B8158-B7F8-450D-B2DB-2B7FA41E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10000"/>
            <a:ext cx="57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03F67E-C448-40E9-8B63-BDE51AF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752850"/>
            <a:ext cx="666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Bedarf festhalten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7D135-F959-4CF1-B9F1-C8EB6E2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124325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1E5DE"/>
                </a:solidFill>
                <a:latin typeface="Inter"/>
                <a:ea typeface="Inter"/>
                <a:cs typeface="Inter"/>
              </a:rPr>
              <a:t>Fragebogen, Ratings, Notizen, Fotos und Skizzen.</a:t>
            </a:r>
          </a:p>
          <a:p xmlns:a="http://schemas.openxmlformats.org/drawingml/2006/main">
            <a: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1E5DE"/>
                </a:solidFill>
                <a:latin typeface="Inter"/>
                <a:ea typeface="Inter"/>
                <a:cs typeface="Inter"/>
              </a:rPr>
              <a:t>Das technische Gespräch bleibt nachvollziehbar.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AE0046-3170-48A0-A52F-0BF44C76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29175"/>
            <a:ext cx="7981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30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75EC6-18D8-4CC5-BD44-D18407C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010150"/>
            <a:ext cx="57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875" b="1">
                <a:solidFill>
                  <a:srgbClr val="00D9C6"/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90C4D-1BC9-48D0-A180-1E2F9539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53000"/>
            <a:ext cx="6667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Verbindlich nachfassen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D8477B-BB7E-4E66-B9A3-370CC3C0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24475"/>
            <a:ext cx="666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1E5DE"/>
                </a:solidFill>
                <a:latin typeface="Inter"/>
                <a:ea typeface="Inter"/>
                <a:cs typeface="Inter"/>
              </a:rPr>
              <a:t>Zuständige Person und Wiedervorlage im CRM.</a:t>
            </a:r>
          </a:p>
          <a:p xmlns:a="http://schemas.openxmlformats.org/drawingml/2006/main">
            <a:pPr>
              <a:defRPr sz="1350" b="0">
                <a:solidFill>
                  <a:srgbClr val="D1E5DE"/>
                </a:solidFill>
                <a:latin typeface="Inter"/>
                <a:ea typeface="Inter"/>
                <a:cs typeface="Inter"/>
              </a:defRPr>
            </a:pPr>
            <a:r>
              <a:rPr sz="1350" b="0">
                <a:solidFill>
                  <a:srgbClr val="D1E5DE"/>
                </a:solidFill>
                <a:latin typeface="Inter"/>
                <a:ea typeface="Inter"/>
                <a:cs typeface="Inter"/>
              </a:rPr>
              <a:t>48 Stunden als vereinbartes Pilotziel.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E89451-5EB3-4B51-92E6-D4912A28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6115050"/>
            <a:ext cx="798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31564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31564E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31564E"/>
                </a:solidFill>
                <a:latin typeface="Inter"/>
                <a:ea typeface="Inter"/>
                <a:cs typeface="Inter"/>
              </a:rPr>
              <a:t>Außerdem: Unterlagen präsentieren und versenden · Team-Erfassung · Exporte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60B12F-118D-45D5-AB85-E65A1C61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8128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C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DDA2FE-B465-4262-BB8E-C8B59B33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31564E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31564E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31564E"/>
                </a:solidFill>
                <a:latin typeface="JetBrains Mono"/>
                <a:ea typeface="JetBrains Mono"/>
                <a:cs typeface="JetBrains Mono"/>
              </a:rPr>
              <a:t>LEADPILOT EXPO · FIKTIVES ZUKUNFTSKONZEPT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DCEB8D-044B-4810-9381-12F672C7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31564E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31564E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31564E"/>
                </a:solidFill>
                <a:latin typeface="JetBrains Mono"/>
                <a:ea typeface="JetBrains Mono"/>
                <a:cs typeface="JetBrains Mono"/>
              </a:rPr>
              <a:t>2 / 3</a:t>
            </a:r>
          </a:p>
        </p:txBody>
      </p:sp>
    </p:spTree>
    <p:extLst>
      <p:ext uri="{BB962C8B-B14F-4D97-AF65-F5344CB8AC3E}">
        <p14:creationId xmlns:p14="http://schemas.microsoft.com/office/powerpoint/2010/main" val="3291182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2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A9CE6-7B10-4B63-94AE-1CE83F6B6B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731ff33a7643e9"/>
          <a:stretch xmlns:a="http://schemas.openxmlformats.org/drawingml/2006/main"/>
        </p:blipFill>
        <p:spPr>
          <a:xfrm xmlns:a="http://schemas.openxmlformats.org/drawingml/2006/main">
            <a:off x="609600" y="308567"/>
            <a:ext cx="1000125" cy="44966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DB798-220F-4373-9092-32AB0B68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76325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1">
                <a:solidFill>
                  <a:srgbClr val="00D9C6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00D9C6"/>
                </a:solidFill>
                <a:latin typeface="Inter"/>
                <a:ea typeface="Inter"/>
                <a:cs typeface="Inter"/>
              </a:defRPr>
            </a:pPr>
            <a:r>
              <a:rPr sz="975" b="1">
                <a:solidFill>
                  <a:srgbClr val="00D9C6"/>
                </a:solidFill>
                <a:latin typeface="Inter"/>
                <a:ea typeface="Inter"/>
                <a:cs typeface="Inter"/>
              </a:rPr>
              <a:t>IHR NÄCHSTER SCHRITT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8A752-5842-45C2-8132-EF885A71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3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3375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Ein Messe-Pilot mit Ihrem Siebener-Team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971D88-1B28-422A-BB3B-CB976A46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4667250" cy="3095625"/>
          </a:xfrm>
          <a:prstGeom xmlns:a="http://schemas.openxmlformats.org/drawingml/2006/main" prst="roundRect">
            <a:avLst>
              <a:gd name="adj" fmla="val 2462"/>
            </a:avLst>
          </a:prstGeom>
          <a:solidFill xmlns:a="http://schemas.openxmlformats.org/drawingml/2006/main">
            <a:srgbClr val="10302C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B5D883-C228-4152-BB54-DEC458C1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050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pPr>
            <a:r>
              <a:rPr sz="1050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rPr>
              <a:t>GROWTH · 7 NUTZER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6EE92-81CA-4790-95D1-5ACD7577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527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5700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defRPr>
            </a:pPr>
            <a:r>
              <a:rPr sz="5700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rPr>
              <a:t>623 €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1C4730-E8B3-4AA3-9AF9-979621C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87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pro Monat · 7 × 89 €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FBE13-C2D5-4978-BF5F-6AF91C5C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B2CEC6"/>
                </a:solidFill>
                <a:latin typeface="Inter"/>
                <a:ea typeface="Inter"/>
                <a:cs typeface="Inter"/>
              </a:rPr>
              <a:t>Expo ohne separaten Modulaufschlag*</a:t>
            </a:r>
          </a:p>
          <a:p xmlns:a="http://schemas.openxmlformats.org/drawingml/2006/main">
            <a:pPr>
              <a:defRPr sz="1500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pPr>
            <a:r>
              <a:rPr sz="1500" b="0">
                <a:solidFill>
                  <a:srgbClr val="B2CEC6"/>
                </a:solidFill>
                <a:latin typeface="Inter"/>
                <a:ea typeface="Inter"/>
                <a:cs typeface="Inter"/>
              </a:rPr>
              <a:t>14 Tage Test zum Pilotstart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B1637F-7242-447B-AABD-431D4865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552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00D9C6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0D9C6"/>
                </a:solidFill>
                <a:latin typeface="Space Grotesk"/>
                <a:ea typeface="Space Grotesk"/>
                <a:cs typeface="Space Grotesk"/>
              </a:defRPr>
            </a:pPr>
            <a:r>
              <a:rPr sz="2250" b="1">
                <a:solidFill>
                  <a:srgbClr val="00D9C6"/>
                </a:solidFill>
                <a:latin typeface="Space Grotesk"/>
                <a:ea typeface="Space Grotesk"/>
                <a:cs typeface="Space Grotesk"/>
              </a:rPr>
              <a:t>Im Pilot gemeinsam messen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094F5-F97C-4256-90DA-3282D6FF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01   Jeder gespeicherte Kontakt hat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       eine Zuständigkeit und nächste Aufgabe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76676-8BA6-40FC-AD67-FBDF6DB50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38600"/>
            <a:ext cx="552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02   Erstaktionen innerhalb von 48 Stunden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FFFFFF"/>
                </a:solidFill>
                <a:latin typeface="Inter"/>
                <a:ea typeface="Inter"/>
                <a:cs typeface="Inter"/>
              </a:rPr>
              <a:t>       nachvollziehbar auswerten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1CBB3-27A3-4D4C-8B4C-BA342A69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62525"/>
            <a:ext cx="5524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rPr>
              <a:t>30 Minuten: Messe, Fragebogen und</a:t>
            </a:r>
          </a:p>
          <a:p xmlns:a="http://schemas.openxmlformats.org/drawingml/2006/main">
            <a:pPr>
              <a:defRPr sz="1875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FF7A3D"/>
                </a:solidFill>
                <a:latin typeface="Space Grotesk"/>
                <a:ea typeface="Space Grotesk"/>
                <a:cs typeface="Space Grotesk"/>
              </a:rPr>
              <a:t>Verantwortliche gemeinsam festlegen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912A5-8EFB-4695-80EA-8A9C2A25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5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2CEC6"/>
                </a:solidFill>
                <a:latin typeface="Inter"/>
                <a:ea typeface="Inter"/>
                <a:cs typeface="Inter"/>
              </a:defRPr>
            </a:pPr>
            <a:r>
              <a:rPr sz="975" b="0">
                <a:solidFill>
                  <a:srgbClr val="B2CEC6"/>
                </a:solidFill>
                <a:latin typeface="Inter"/>
                <a:ea typeface="Inter"/>
                <a:cs typeface="Inter"/>
              </a:rPr>
              <a:t>*Preisvorschlag · netto zzgl. USt. · einmaliges Setup nach Angebot · Einführung frühestens Q3 2027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45BE3-1CD7-454B-8107-8FF734EC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180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9C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85C8D-BC2D-4210-A4E9-5CC26408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82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pPr>
            <a:r>
              <a:rPr sz="82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rPr>
              <a:t>LEADPILOT EXPO · FIKTIVES ZUKUNFTSKONZEPT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33771-B421-43FA-862F-8BC9D06E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381750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97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defRPr>
            </a:pPr>
            <a:r>
              <a:rPr sz="975" b="0">
                <a:solidFill>
                  <a:srgbClr val="B2CEC6"/>
                </a:solidFill>
                <a:latin typeface="JetBrains Mono"/>
                <a:ea typeface="JetBrains Mono"/>
                <a:cs typeface="JetBrains Mono"/>
              </a:rPr>
              <a:t>3 / 3</a:t>
            </a:r>
          </a:p>
        </p:txBody>
      </p:sp>
    </p:spTree>
    <p:extLst>
      <p:ext uri="{BB962C8B-B14F-4D97-AF65-F5344CB8AC3E}">
        <p14:creationId xmlns:p14="http://schemas.microsoft.com/office/powerpoint/2010/main" val="9057490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2026-10-13T08:54:52.7730000Z</dcterms:created>
  <dcterms:modified xsi:type="dcterms:W3CDTF">2026-10-13T08:54:52.7730000Z</dcterms:modified>
</coreProperties>
</file>